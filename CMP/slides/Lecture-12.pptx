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2"/>
  </p:notesMasterIdLst>
  <p:sldIdLst>
    <p:sldId id="256" r:id="rId2"/>
    <p:sldId id="575" r:id="rId3"/>
    <p:sldId id="723" r:id="rId4"/>
    <p:sldId id="337" r:id="rId5"/>
    <p:sldId id="340" r:id="rId6"/>
    <p:sldId id="724" r:id="rId7"/>
    <p:sldId id="725" r:id="rId8"/>
    <p:sldId id="622" r:id="rId9"/>
    <p:sldId id="623" r:id="rId10"/>
    <p:sldId id="726" r:id="rId11"/>
    <p:sldId id="663" r:id="rId12"/>
    <p:sldId id="741" r:id="rId13"/>
    <p:sldId id="742" r:id="rId14"/>
    <p:sldId id="634" r:id="rId15"/>
    <p:sldId id="646" r:id="rId16"/>
    <p:sldId id="635" r:id="rId17"/>
    <p:sldId id="748" r:id="rId18"/>
    <p:sldId id="637" r:id="rId19"/>
    <p:sldId id="636" r:id="rId20"/>
    <p:sldId id="639" r:id="rId21"/>
    <p:sldId id="645" r:id="rId22"/>
    <p:sldId id="743" r:id="rId23"/>
    <p:sldId id="744" r:id="rId24"/>
    <p:sldId id="746" r:id="rId25"/>
    <p:sldId id="747" r:id="rId26"/>
    <p:sldId id="644" r:id="rId27"/>
    <p:sldId id="666" r:id="rId28"/>
    <p:sldId id="257" r:id="rId29"/>
    <p:sldId id="628" r:id="rId30"/>
    <p:sldId id="258" r:id="rId31"/>
    <p:sldId id="259" r:id="rId32"/>
    <p:sldId id="335" r:id="rId33"/>
    <p:sldId id="260" r:id="rId34"/>
    <p:sldId id="262" r:id="rId35"/>
    <p:sldId id="263" r:id="rId36"/>
    <p:sldId id="629" r:id="rId37"/>
    <p:sldId id="727" r:id="rId38"/>
    <p:sldId id="264" r:id="rId39"/>
    <p:sldId id="630" r:id="rId40"/>
    <p:sldId id="711" r:id="rId41"/>
    <p:sldId id="265" r:id="rId42"/>
    <p:sldId id="266" r:id="rId43"/>
    <p:sldId id="267" r:id="rId44"/>
    <p:sldId id="353" r:id="rId45"/>
    <p:sldId id="354" r:id="rId46"/>
    <p:sldId id="268" r:id="rId47"/>
    <p:sldId id="269" r:id="rId48"/>
    <p:sldId id="270" r:id="rId49"/>
    <p:sldId id="271" r:id="rId50"/>
    <p:sldId id="272" r:id="rId51"/>
    <p:sldId id="273" r:id="rId52"/>
    <p:sldId id="274" r:id="rId53"/>
    <p:sldId id="355" r:id="rId54"/>
    <p:sldId id="275" r:id="rId55"/>
    <p:sldId id="276" r:id="rId56"/>
    <p:sldId id="277" r:id="rId57"/>
    <p:sldId id="278" r:id="rId58"/>
    <p:sldId id="279" r:id="rId59"/>
    <p:sldId id="280" r:id="rId60"/>
    <p:sldId id="357" r:id="rId61"/>
    <p:sldId id="358" r:id="rId62"/>
    <p:sldId id="282" r:id="rId63"/>
    <p:sldId id="283" r:id="rId64"/>
    <p:sldId id="289" r:id="rId65"/>
    <p:sldId id="284" r:id="rId66"/>
    <p:sldId id="285" r:id="rId67"/>
    <p:sldId id="286" r:id="rId68"/>
    <p:sldId id="287" r:id="rId69"/>
    <p:sldId id="288" r:id="rId70"/>
    <p:sldId id="290" r:id="rId71"/>
    <p:sldId id="291" r:id="rId72"/>
    <p:sldId id="292" r:id="rId73"/>
    <p:sldId id="293" r:id="rId74"/>
    <p:sldId id="294" r:id="rId75"/>
    <p:sldId id="295" r:id="rId76"/>
    <p:sldId id="751" r:id="rId77"/>
    <p:sldId id="664" r:id="rId78"/>
    <p:sldId id="297" r:id="rId79"/>
    <p:sldId id="298" r:id="rId80"/>
    <p:sldId id="300" r:id="rId81"/>
    <p:sldId id="301" r:id="rId82"/>
    <p:sldId id="302" r:id="rId83"/>
    <p:sldId id="303" r:id="rId84"/>
    <p:sldId id="304" r:id="rId85"/>
    <p:sldId id="305" r:id="rId86"/>
    <p:sldId id="306" r:id="rId87"/>
    <p:sldId id="307" r:id="rId88"/>
    <p:sldId id="665" r:id="rId89"/>
    <p:sldId id="308" r:id="rId90"/>
    <p:sldId id="310" r:id="rId91"/>
    <p:sldId id="311" r:id="rId92"/>
    <p:sldId id="312" r:id="rId93"/>
    <p:sldId id="313" r:id="rId94"/>
    <p:sldId id="314" r:id="rId95"/>
    <p:sldId id="315" r:id="rId96"/>
    <p:sldId id="316" r:id="rId97"/>
    <p:sldId id="317" r:id="rId98"/>
    <p:sldId id="624" r:id="rId99"/>
    <p:sldId id="319" r:id="rId100"/>
    <p:sldId id="320" r:id="rId101"/>
    <p:sldId id="321" r:id="rId102"/>
    <p:sldId id="322" r:id="rId103"/>
    <p:sldId id="333" r:id="rId104"/>
    <p:sldId id="323" r:id="rId105"/>
    <p:sldId id="324" r:id="rId106"/>
    <p:sldId id="325" r:id="rId107"/>
    <p:sldId id="326" r:id="rId108"/>
    <p:sldId id="327" r:id="rId109"/>
    <p:sldId id="328" r:id="rId110"/>
    <p:sldId id="329" r:id="rId111"/>
    <p:sldId id="330" r:id="rId112"/>
    <p:sldId id="331" r:id="rId113"/>
    <p:sldId id="625" r:id="rId114"/>
    <p:sldId id="626" r:id="rId115"/>
    <p:sldId id="627" r:id="rId116"/>
    <p:sldId id="750" r:id="rId117"/>
    <p:sldId id="352" r:id="rId118"/>
    <p:sldId id="728" r:id="rId119"/>
    <p:sldId id="729" r:id="rId120"/>
    <p:sldId id="712"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16-02-2024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a:t>
            </a:fld>
            <a:endParaRPr lang="en-IN"/>
          </a:p>
        </p:txBody>
      </p:sp>
    </p:spTree>
    <p:extLst>
      <p:ext uri="{BB962C8B-B14F-4D97-AF65-F5344CB8AC3E}">
        <p14:creationId xmlns:p14="http://schemas.microsoft.com/office/powerpoint/2010/main" val="338881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3</a:t>
            </a:fld>
            <a:endParaRPr lang="en-IN"/>
          </a:p>
        </p:txBody>
      </p:sp>
    </p:spTree>
    <p:extLst>
      <p:ext uri="{BB962C8B-B14F-4D97-AF65-F5344CB8AC3E}">
        <p14:creationId xmlns:p14="http://schemas.microsoft.com/office/powerpoint/2010/main" val="1940531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pointers are a special case of reference counting where the application can store at most one reference to an object.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a:t>
            </a:fld>
            <a:endParaRPr lang="en-IN"/>
          </a:p>
        </p:txBody>
      </p:sp>
    </p:spTree>
    <p:extLst>
      <p:ext uri="{BB962C8B-B14F-4D97-AF65-F5344CB8AC3E}">
        <p14:creationId xmlns:p14="http://schemas.microsoft.com/office/powerpoint/2010/main" val="3443945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object is created, the reference count is set to one. We can't create a copy of a unique pointer. However, we can transfer a pointer's ownership to another pointer using the std::move construct. After transferring the ownership, the object can't be accessed using the previous owner. When a unique pointer is overwritten or goes out of scope, the object referenced by the unique pointer previously is deleted.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a:t>
            </a:fld>
            <a:endParaRPr lang="en-IN"/>
          </a:p>
        </p:txBody>
      </p:sp>
    </p:spTree>
    <p:extLst>
      <p:ext uri="{BB962C8B-B14F-4D97-AF65-F5344CB8AC3E}">
        <p14:creationId xmlns:p14="http://schemas.microsoft.com/office/powerpoint/2010/main" val="879169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a:t>
            </a:fld>
            <a:endParaRPr lang="en-IN"/>
          </a:p>
        </p:txBody>
      </p:sp>
    </p:spTree>
    <p:extLst>
      <p:ext uri="{BB962C8B-B14F-4D97-AF65-F5344CB8AC3E}">
        <p14:creationId xmlns:p14="http://schemas.microsoft.com/office/powerpoint/2010/main" val="3944681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a:t>
            </a:fld>
            <a:endParaRPr lang="en-IN"/>
          </a:p>
        </p:txBody>
      </p:sp>
    </p:spTree>
    <p:extLst>
      <p:ext uri="{BB962C8B-B14F-4D97-AF65-F5344CB8AC3E}">
        <p14:creationId xmlns:p14="http://schemas.microsoft.com/office/powerpoint/2010/main" val="11559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a:t>
            </a:fld>
            <a:endParaRPr lang="en-IN"/>
          </a:p>
        </p:txBody>
      </p:sp>
    </p:spTree>
    <p:extLst>
      <p:ext uri="{BB962C8B-B14F-4D97-AF65-F5344CB8AC3E}">
        <p14:creationId xmlns:p14="http://schemas.microsoft.com/office/powerpoint/2010/main" val="446253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a:t>
            </a:fld>
            <a:endParaRPr lang="en-IN"/>
          </a:p>
        </p:txBody>
      </p:sp>
    </p:spTree>
    <p:extLst>
      <p:ext uri="{BB962C8B-B14F-4D97-AF65-F5344CB8AC3E}">
        <p14:creationId xmlns:p14="http://schemas.microsoft.com/office/powerpoint/2010/main" val="3516873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5 -&gt; 1 is a back-edge because 1 dominates 5. 1 -&gt; 2 is not a back-edge because 2 doesn’t dominate 1. 4 -&gt; 1 is a back-edge.</a:t>
            </a:r>
          </a:p>
        </p:txBody>
      </p:sp>
      <p:sp>
        <p:nvSpPr>
          <p:cNvPr id="4" name="Slide Number Placeholder 3"/>
          <p:cNvSpPr>
            <a:spLocks noGrp="1"/>
          </p:cNvSpPr>
          <p:nvPr>
            <p:ph type="sldNum" sz="quarter" idx="5"/>
          </p:nvPr>
        </p:nvSpPr>
        <p:spPr/>
        <p:txBody>
          <a:bodyPr/>
          <a:lstStyle/>
          <a:p>
            <a:fld id="{941CD276-996C-461A-BA18-C0461C4B1E84}" type="slidenum">
              <a:rPr lang="en-IN" smtClean="0"/>
              <a:t>12</a:t>
            </a:fld>
            <a:endParaRPr lang="en-IN"/>
          </a:p>
        </p:txBody>
      </p:sp>
    </p:spTree>
    <p:extLst>
      <p:ext uri="{BB962C8B-B14F-4D97-AF65-F5344CB8AC3E}">
        <p14:creationId xmlns:p14="http://schemas.microsoft.com/office/powerpoint/2010/main" val="904147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this case, both 5 -&gt; 1 and 4 -&gt; 1 are not back-edges because the tails don’t dominate heads.</a:t>
            </a:r>
          </a:p>
        </p:txBody>
      </p:sp>
      <p:sp>
        <p:nvSpPr>
          <p:cNvPr id="4" name="Slide Number Placeholder 3"/>
          <p:cNvSpPr>
            <a:spLocks noGrp="1"/>
          </p:cNvSpPr>
          <p:nvPr>
            <p:ph type="sldNum" sz="quarter" idx="5"/>
          </p:nvPr>
        </p:nvSpPr>
        <p:spPr/>
        <p:txBody>
          <a:bodyPr/>
          <a:lstStyle/>
          <a:p>
            <a:fld id="{941CD276-996C-461A-BA18-C0461C4B1E84}" type="slidenum">
              <a:rPr lang="en-IN" smtClean="0"/>
              <a:t>13</a:t>
            </a:fld>
            <a:endParaRPr lang="en-IN"/>
          </a:p>
        </p:txBody>
      </p:sp>
    </p:spTree>
    <p:extLst>
      <p:ext uri="{BB962C8B-B14F-4D97-AF65-F5344CB8AC3E}">
        <p14:creationId xmlns:p14="http://schemas.microsoft.com/office/powerpoint/2010/main" val="1656454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14</a:t>
            </a:fld>
            <a:endParaRPr lang="en-IN"/>
          </a:p>
        </p:txBody>
      </p:sp>
    </p:spTree>
    <p:extLst>
      <p:ext uri="{BB962C8B-B14F-4D97-AF65-F5344CB8AC3E}">
        <p14:creationId xmlns:p14="http://schemas.microsoft.com/office/powerpoint/2010/main" val="1600497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15</a:t>
            </a:fld>
            <a:endParaRPr lang="en-IN"/>
          </a:p>
        </p:txBody>
      </p:sp>
    </p:spTree>
    <p:extLst>
      <p:ext uri="{BB962C8B-B14F-4D97-AF65-F5344CB8AC3E}">
        <p14:creationId xmlns:p14="http://schemas.microsoft.com/office/powerpoint/2010/main" val="1507974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back-edge n -&gt; d, if there is a path from a basic block b to n that doesn't include d, then b is in the loop corresponding to the back-edge n -&gt; d. For example, 2 is in the loop corresponding to back-edge 5 -&gt; 1 because we can reach from 2 to 5 using the path 2 -&gt; 3 -&gt; 5, and the path doesn't include 1.</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16</a:t>
            </a:fld>
            <a:endParaRPr lang="en-IN"/>
          </a:p>
        </p:txBody>
      </p:sp>
    </p:spTree>
    <p:extLst>
      <p:ext uri="{BB962C8B-B14F-4D97-AF65-F5344CB8AC3E}">
        <p14:creationId xmlns:p14="http://schemas.microsoft.com/office/powerpoint/2010/main" val="2291103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9D1A-8CF0-07A7-3329-CE3C91080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6E698-B427-12CE-DFE1-87E626B6F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39CEB-979D-0956-9E5D-1AE1E02A5959}"/>
              </a:ext>
            </a:extLst>
          </p:cNvPr>
          <p:cNvSpPr>
            <a:spLocks noGrp="1"/>
          </p:cNvSpPr>
          <p:nvPr>
            <p:ph type="body" idx="1"/>
          </p:nvPr>
        </p:nvSpPr>
        <p:spPr/>
        <p:txBody>
          <a:bodyPr/>
          <a:lstStyle/>
          <a:p>
            <a:r>
              <a:rPr lang="en-US" dirty="0"/>
              <a:t>This is the reversed graph. The reversed back edges are shown in red. If we start a graph traversal at 5 in this reversed graph, we can discover all the paths that can reach 5 in the original graph. Because the loop header 1 dominates 5 in the original graph, all the paths encountered during the graph traversal must include 1. To find the basic blocks in the loop, we can stop exploring the path further when we reach 1 or any other node that has already been discovered to be inside the loop.</a:t>
            </a:r>
            <a:endParaRPr lang="en-IN" dirty="0"/>
          </a:p>
        </p:txBody>
      </p:sp>
      <p:sp>
        <p:nvSpPr>
          <p:cNvPr id="4" name="Slide Number Placeholder 3">
            <a:extLst>
              <a:ext uri="{FF2B5EF4-FFF2-40B4-BE49-F238E27FC236}">
                <a16:creationId xmlns:a16="http://schemas.microsoft.com/office/drawing/2014/main" id="{4643211E-A47D-3416-FCC3-4BF69837BEDD}"/>
              </a:ext>
            </a:extLst>
          </p:cNvPr>
          <p:cNvSpPr>
            <a:spLocks noGrp="1"/>
          </p:cNvSpPr>
          <p:nvPr>
            <p:ph type="sldNum" sz="quarter" idx="5"/>
          </p:nvPr>
        </p:nvSpPr>
        <p:spPr/>
        <p:txBody>
          <a:bodyPr/>
          <a:lstStyle/>
          <a:p>
            <a:fld id="{941CD276-996C-461A-BA18-C0461C4B1E84}" type="slidenum">
              <a:rPr lang="en-IN" smtClean="0"/>
              <a:t>17</a:t>
            </a:fld>
            <a:endParaRPr lang="en-IN"/>
          </a:p>
        </p:txBody>
      </p:sp>
    </p:spTree>
    <p:extLst>
      <p:ext uri="{BB962C8B-B14F-4D97-AF65-F5344CB8AC3E}">
        <p14:creationId xmlns:p14="http://schemas.microsoft.com/office/powerpoint/2010/main" val="2079402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18</a:t>
            </a:fld>
            <a:endParaRPr lang="en-IN"/>
          </a:p>
        </p:txBody>
      </p:sp>
    </p:spTree>
    <p:extLst>
      <p:ext uri="{BB962C8B-B14F-4D97-AF65-F5344CB8AC3E}">
        <p14:creationId xmlns:p14="http://schemas.microsoft.com/office/powerpoint/2010/main" val="1915779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19</a:t>
            </a:fld>
            <a:endParaRPr lang="en-IN"/>
          </a:p>
        </p:txBody>
      </p:sp>
    </p:spTree>
    <p:extLst>
      <p:ext uri="{BB962C8B-B14F-4D97-AF65-F5344CB8AC3E}">
        <p14:creationId xmlns:p14="http://schemas.microsoft.com/office/powerpoint/2010/main" val="43660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20</a:t>
            </a:fld>
            <a:endParaRPr lang="en-IN"/>
          </a:p>
        </p:txBody>
      </p:sp>
    </p:spTree>
    <p:extLst>
      <p:ext uri="{BB962C8B-B14F-4D97-AF65-F5344CB8AC3E}">
        <p14:creationId xmlns:p14="http://schemas.microsoft.com/office/powerpoint/2010/main" val="2214495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21</a:t>
            </a:fld>
            <a:endParaRPr lang="en-IN"/>
          </a:p>
        </p:txBody>
      </p:sp>
    </p:spTree>
    <p:extLst>
      <p:ext uri="{BB962C8B-B14F-4D97-AF65-F5344CB8AC3E}">
        <p14:creationId xmlns:p14="http://schemas.microsoft.com/office/powerpoint/2010/main" val="2552812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 of loop unrolling is that the processor needs to execute fewer branch instructions, which can benefit hardware for which the cost of branch instruction is high. However, unrolling with a large factor may increase the code size. Loop unrolling also enables vectorization, as we will see next.</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22</a:t>
            </a:fld>
            <a:endParaRPr lang="en-IN"/>
          </a:p>
        </p:txBody>
      </p:sp>
    </p:spTree>
    <p:extLst>
      <p:ext uri="{BB962C8B-B14F-4D97-AF65-F5344CB8AC3E}">
        <p14:creationId xmlns:p14="http://schemas.microsoft.com/office/powerpoint/2010/main" val="2354186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nsolas" panose="020B0609020204030204" pitchFamily="49" charset="0"/>
              </a:rPr>
              <a:t>The statement arr1[i:i+3] = arr2[i:i+3] signifies that copying from arr2[</a:t>
            </a:r>
            <a:r>
              <a:rPr lang="en-US" dirty="0" err="1">
                <a:latin typeface="Consolas" panose="020B0609020204030204" pitchFamily="49" charset="0"/>
              </a:rPr>
              <a:t>i</a:t>
            </a:r>
            <a:r>
              <a:rPr lang="en-US" dirty="0">
                <a:latin typeface="Consolas" panose="020B0609020204030204" pitchFamily="49" charset="0"/>
              </a:rPr>
              <a:t>] to arr1[</a:t>
            </a:r>
            <a:r>
              <a:rPr lang="en-US" dirty="0" err="1">
                <a:latin typeface="Consolas" panose="020B0609020204030204" pitchFamily="49" charset="0"/>
              </a:rPr>
              <a:t>i</a:t>
            </a:r>
            <a:r>
              <a:rPr lang="en-US" dirty="0">
                <a:latin typeface="Consolas" panose="020B0609020204030204" pitchFamily="49" charset="0"/>
              </a:rPr>
              <a:t>], arr2[i+1] to arr1[i+1], arr2[i+2] to arr1[i+1], and arr2[i+3] to arr1[i+3] is happening concurrently.</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23</a:t>
            </a:fld>
            <a:endParaRPr lang="en-IN"/>
          </a:p>
        </p:txBody>
      </p:sp>
    </p:spTree>
    <p:extLst>
      <p:ext uri="{BB962C8B-B14F-4D97-AF65-F5344CB8AC3E}">
        <p14:creationId xmlns:p14="http://schemas.microsoft.com/office/powerpoint/2010/main" val="1240122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07364-21CC-3234-ACCA-E2A0CD69A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A6F61-FEB5-2620-C0B6-A2EF1930B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D6BD-AD5E-C9FB-33F1-C882E050B5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6E8D796-F52E-60CF-A56B-94AA168FE11A}"/>
              </a:ext>
            </a:extLst>
          </p:cNvPr>
          <p:cNvSpPr>
            <a:spLocks noGrp="1"/>
          </p:cNvSpPr>
          <p:nvPr>
            <p:ph type="sldNum" sz="quarter" idx="5"/>
          </p:nvPr>
        </p:nvSpPr>
        <p:spPr/>
        <p:txBody>
          <a:bodyPr/>
          <a:lstStyle/>
          <a:p>
            <a:fld id="{941CD276-996C-461A-BA18-C0461C4B1E84}" type="slidenum">
              <a:rPr lang="en-IN" smtClean="0"/>
              <a:t>24</a:t>
            </a:fld>
            <a:endParaRPr lang="en-IN"/>
          </a:p>
        </p:txBody>
      </p:sp>
    </p:spTree>
    <p:extLst>
      <p:ext uri="{BB962C8B-B14F-4D97-AF65-F5344CB8AC3E}">
        <p14:creationId xmlns:p14="http://schemas.microsoft.com/office/powerpoint/2010/main" val="558120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FBB7-26CF-389A-B157-61879DF8A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2AB03-EB4D-6702-D41E-02E422B59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6A24A-4CEB-FFFF-1EB5-7D9BFE3FF39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37E596F-8857-471D-5E97-009E31B375C7}"/>
              </a:ext>
            </a:extLst>
          </p:cNvPr>
          <p:cNvSpPr>
            <a:spLocks noGrp="1"/>
          </p:cNvSpPr>
          <p:nvPr>
            <p:ph type="sldNum" sz="quarter" idx="5"/>
          </p:nvPr>
        </p:nvSpPr>
        <p:spPr/>
        <p:txBody>
          <a:bodyPr/>
          <a:lstStyle/>
          <a:p>
            <a:fld id="{941CD276-996C-461A-BA18-C0461C4B1E84}" type="slidenum">
              <a:rPr lang="en-IN" smtClean="0"/>
              <a:t>25</a:t>
            </a:fld>
            <a:endParaRPr lang="en-IN"/>
          </a:p>
        </p:txBody>
      </p:sp>
    </p:spTree>
    <p:extLst>
      <p:ext uri="{BB962C8B-B14F-4D97-AF65-F5344CB8AC3E}">
        <p14:creationId xmlns:p14="http://schemas.microsoft.com/office/powerpoint/2010/main" val="3640112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26</a:t>
            </a:fld>
            <a:endParaRPr lang="en-IN"/>
          </a:p>
        </p:txBody>
      </p:sp>
    </p:spTree>
    <p:extLst>
      <p:ext uri="{BB962C8B-B14F-4D97-AF65-F5344CB8AC3E}">
        <p14:creationId xmlns:p14="http://schemas.microsoft.com/office/powerpoint/2010/main" val="9418379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28</a:t>
            </a:fld>
            <a:endParaRPr lang="en-IN"/>
          </a:p>
        </p:txBody>
      </p:sp>
    </p:spTree>
    <p:extLst>
      <p:ext uri="{BB962C8B-B14F-4D97-AF65-F5344CB8AC3E}">
        <p14:creationId xmlns:p14="http://schemas.microsoft.com/office/powerpoint/2010/main" val="90536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29</a:t>
            </a:fld>
            <a:endParaRPr lang="en-IN"/>
          </a:p>
        </p:txBody>
      </p:sp>
    </p:spTree>
    <p:extLst>
      <p:ext uri="{BB962C8B-B14F-4D97-AF65-F5344CB8AC3E}">
        <p14:creationId xmlns:p14="http://schemas.microsoft.com/office/powerpoint/2010/main" val="30484940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1760175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25289114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31526514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33</a:t>
            </a:fld>
            <a:endParaRPr lang="en-IN"/>
          </a:p>
        </p:txBody>
      </p:sp>
    </p:spTree>
    <p:extLst>
      <p:ext uri="{BB962C8B-B14F-4D97-AF65-F5344CB8AC3E}">
        <p14:creationId xmlns:p14="http://schemas.microsoft.com/office/powerpoint/2010/main" val="674124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34</a:t>
            </a:fld>
            <a:endParaRPr lang="en-IN"/>
          </a:p>
        </p:txBody>
      </p:sp>
    </p:spTree>
    <p:extLst>
      <p:ext uri="{BB962C8B-B14F-4D97-AF65-F5344CB8AC3E}">
        <p14:creationId xmlns:p14="http://schemas.microsoft.com/office/powerpoint/2010/main" val="3559185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35</a:t>
            </a:fld>
            <a:endParaRPr lang="en-IN"/>
          </a:p>
        </p:txBody>
      </p:sp>
    </p:spTree>
    <p:extLst>
      <p:ext uri="{BB962C8B-B14F-4D97-AF65-F5344CB8AC3E}">
        <p14:creationId xmlns:p14="http://schemas.microsoft.com/office/powerpoint/2010/main" val="27509195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we can’t assign the same register to two variables connected using an edge because they are live simultaneously at some program point.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36</a:t>
            </a:fld>
            <a:endParaRPr lang="en-IN"/>
          </a:p>
        </p:txBody>
      </p:sp>
    </p:spTree>
    <p:extLst>
      <p:ext uri="{BB962C8B-B14F-4D97-AF65-F5344CB8AC3E}">
        <p14:creationId xmlns:p14="http://schemas.microsoft.com/office/powerpoint/2010/main" val="25326820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38</a:t>
            </a:fld>
            <a:endParaRPr lang="en-IN"/>
          </a:p>
        </p:txBody>
      </p:sp>
    </p:spTree>
    <p:extLst>
      <p:ext uri="{BB962C8B-B14F-4D97-AF65-F5344CB8AC3E}">
        <p14:creationId xmlns:p14="http://schemas.microsoft.com/office/powerpoint/2010/main" val="4489843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the assignment is shown on this slide.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39</a:t>
            </a:fld>
            <a:endParaRPr lang="en-IN"/>
          </a:p>
        </p:txBody>
      </p:sp>
    </p:spTree>
    <p:extLst>
      <p:ext uri="{BB962C8B-B14F-4D97-AF65-F5344CB8AC3E}">
        <p14:creationId xmlns:p14="http://schemas.microsoft.com/office/powerpoint/2010/main" val="30914479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number of available is four, we can check if the graph can be colored using four colors. Here, each color represents a unique register. If the coloring is successful, each variable will be mapped to a color. The color is the corresponding register assignment.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40</a:t>
            </a:fld>
            <a:endParaRPr lang="en-IN"/>
          </a:p>
        </p:txBody>
      </p:sp>
    </p:spTree>
    <p:extLst>
      <p:ext uri="{BB962C8B-B14F-4D97-AF65-F5344CB8AC3E}">
        <p14:creationId xmlns:p14="http://schemas.microsoft.com/office/powerpoint/2010/main" val="7644779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41</a:t>
            </a:fld>
            <a:endParaRPr lang="en-IN"/>
          </a:p>
        </p:txBody>
      </p:sp>
    </p:spTree>
    <p:extLst>
      <p:ext uri="{BB962C8B-B14F-4D97-AF65-F5344CB8AC3E}">
        <p14:creationId xmlns:p14="http://schemas.microsoft.com/office/powerpoint/2010/main" val="27945868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42</a:t>
            </a:fld>
            <a:endParaRPr lang="en-IN"/>
          </a:p>
        </p:txBody>
      </p:sp>
    </p:spTree>
    <p:extLst>
      <p:ext uri="{BB962C8B-B14F-4D97-AF65-F5344CB8AC3E}">
        <p14:creationId xmlns:p14="http://schemas.microsoft.com/office/powerpoint/2010/main" val="3622357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43</a:t>
            </a:fld>
            <a:endParaRPr lang="en-IN"/>
          </a:p>
        </p:txBody>
      </p:sp>
    </p:spTree>
    <p:extLst>
      <p:ext uri="{BB962C8B-B14F-4D97-AF65-F5344CB8AC3E}">
        <p14:creationId xmlns:p14="http://schemas.microsoft.com/office/powerpoint/2010/main" val="16657333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44</a:t>
            </a:fld>
            <a:endParaRPr lang="en-IN"/>
          </a:p>
        </p:txBody>
      </p:sp>
    </p:spTree>
    <p:extLst>
      <p:ext uri="{BB962C8B-B14F-4D97-AF65-F5344CB8AC3E}">
        <p14:creationId xmlns:p14="http://schemas.microsoft.com/office/powerpoint/2010/main" val="20805013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45</a:t>
            </a:fld>
            <a:endParaRPr lang="en-IN"/>
          </a:p>
        </p:txBody>
      </p:sp>
    </p:spTree>
    <p:extLst>
      <p:ext uri="{BB962C8B-B14F-4D97-AF65-F5344CB8AC3E}">
        <p14:creationId xmlns:p14="http://schemas.microsoft.com/office/powerpoint/2010/main" val="30785269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 a node x that has less than five edges, and try to color the rest of the graph using 5-colors. The main idea is that if we can color the rest of the graph (after removing x) using 5-colors, we can assign a color to x that is different from its neighbors. Remember, x has less than five neighbors.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46</a:t>
            </a:fld>
            <a:endParaRPr lang="en-IN"/>
          </a:p>
        </p:txBody>
      </p:sp>
    </p:spTree>
    <p:extLst>
      <p:ext uri="{BB962C8B-B14F-4D97-AF65-F5344CB8AC3E}">
        <p14:creationId xmlns:p14="http://schemas.microsoft.com/office/powerpoint/2010/main" val="42560955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Removing a.</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47</a:t>
            </a:fld>
            <a:endParaRPr lang="en-IN"/>
          </a:p>
        </p:txBody>
      </p:sp>
    </p:spTree>
    <p:extLst>
      <p:ext uri="{BB962C8B-B14F-4D97-AF65-F5344CB8AC3E}">
        <p14:creationId xmlns:p14="http://schemas.microsoft.com/office/powerpoint/2010/main" val="41056816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Removing b.</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48</a:t>
            </a:fld>
            <a:endParaRPr lang="en-IN"/>
          </a:p>
        </p:txBody>
      </p:sp>
    </p:spTree>
    <p:extLst>
      <p:ext uri="{BB962C8B-B14F-4D97-AF65-F5344CB8AC3E}">
        <p14:creationId xmlns:p14="http://schemas.microsoft.com/office/powerpoint/2010/main" val="25944331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Removing 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49</a:t>
            </a:fld>
            <a:endParaRPr lang="en-IN"/>
          </a:p>
        </p:txBody>
      </p:sp>
    </p:spTree>
    <p:extLst>
      <p:ext uri="{BB962C8B-B14F-4D97-AF65-F5344CB8AC3E}">
        <p14:creationId xmlns:p14="http://schemas.microsoft.com/office/powerpoint/2010/main" val="11506434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Removing c.</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50</a:t>
            </a:fld>
            <a:endParaRPr lang="en-IN"/>
          </a:p>
        </p:txBody>
      </p:sp>
    </p:spTree>
    <p:extLst>
      <p:ext uri="{BB962C8B-B14F-4D97-AF65-F5344CB8AC3E}">
        <p14:creationId xmlns:p14="http://schemas.microsoft.com/office/powerpoint/2010/main" val="39128359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Removing 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51</a:t>
            </a:fld>
            <a:endParaRPr lang="en-IN"/>
          </a:p>
        </p:txBody>
      </p:sp>
    </p:spTree>
    <p:extLst>
      <p:ext uri="{BB962C8B-B14F-4D97-AF65-F5344CB8AC3E}">
        <p14:creationId xmlns:p14="http://schemas.microsoft.com/office/powerpoint/2010/main" val="42788594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Removing f.</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52</a:t>
            </a:fld>
            <a:endParaRPr lang="en-IN"/>
          </a:p>
        </p:txBody>
      </p:sp>
    </p:spTree>
    <p:extLst>
      <p:ext uri="{BB962C8B-B14F-4D97-AF65-F5344CB8AC3E}">
        <p14:creationId xmlns:p14="http://schemas.microsoft.com/office/powerpoint/2010/main" val="19378486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53</a:t>
            </a:fld>
            <a:endParaRPr lang="en-IN"/>
          </a:p>
        </p:txBody>
      </p:sp>
    </p:spTree>
    <p:extLst>
      <p:ext uri="{BB962C8B-B14F-4D97-AF65-F5344CB8AC3E}">
        <p14:creationId xmlns:p14="http://schemas.microsoft.com/office/powerpoint/2010/main" val="22517042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add the nodes back in the graph and assign a different color from its neighbors. After adding f, we can assign any color between one to five because it has no neighbor right now.</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54</a:t>
            </a:fld>
            <a:endParaRPr lang="en-IN"/>
          </a:p>
        </p:txBody>
      </p:sp>
    </p:spTree>
    <p:extLst>
      <p:ext uri="{BB962C8B-B14F-4D97-AF65-F5344CB8AC3E}">
        <p14:creationId xmlns:p14="http://schemas.microsoft.com/office/powerpoint/2010/main" val="28333428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add e now and assign any color other than one.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55</a:t>
            </a:fld>
            <a:endParaRPr lang="en-IN"/>
          </a:p>
        </p:txBody>
      </p:sp>
    </p:spTree>
    <p:extLst>
      <p:ext uri="{BB962C8B-B14F-4D97-AF65-F5344CB8AC3E}">
        <p14:creationId xmlns:p14="http://schemas.microsoft.com/office/powerpoint/2010/main" val="41200119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c.</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56</a:t>
            </a:fld>
            <a:endParaRPr lang="en-IN"/>
          </a:p>
        </p:txBody>
      </p:sp>
    </p:spTree>
    <p:extLst>
      <p:ext uri="{BB962C8B-B14F-4D97-AF65-F5344CB8AC3E}">
        <p14:creationId xmlns:p14="http://schemas.microsoft.com/office/powerpoint/2010/main" val="42328082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57</a:t>
            </a:fld>
            <a:endParaRPr lang="en-IN"/>
          </a:p>
        </p:txBody>
      </p:sp>
    </p:spTree>
    <p:extLst>
      <p:ext uri="{BB962C8B-B14F-4D97-AF65-F5344CB8AC3E}">
        <p14:creationId xmlns:p14="http://schemas.microsoft.com/office/powerpoint/2010/main" val="13130316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b.</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58</a:t>
            </a:fld>
            <a:endParaRPr lang="en-IN"/>
          </a:p>
        </p:txBody>
      </p:sp>
    </p:spTree>
    <p:extLst>
      <p:ext uri="{BB962C8B-B14F-4D97-AF65-F5344CB8AC3E}">
        <p14:creationId xmlns:p14="http://schemas.microsoft.com/office/powerpoint/2010/main" val="6967181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a. Register allocation is done. We could have assigned color-5 to a instead of color-2.</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59</a:t>
            </a:fld>
            <a:endParaRPr lang="en-IN"/>
          </a:p>
        </p:txBody>
      </p:sp>
    </p:spTree>
    <p:extLst>
      <p:ext uri="{BB962C8B-B14F-4D97-AF65-F5344CB8AC3E}">
        <p14:creationId xmlns:p14="http://schemas.microsoft.com/office/powerpoint/2010/main" val="21951432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60</a:t>
            </a:fld>
            <a:endParaRPr lang="en-IN"/>
          </a:p>
        </p:txBody>
      </p:sp>
    </p:spTree>
    <p:extLst>
      <p:ext uri="{BB962C8B-B14F-4D97-AF65-F5344CB8AC3E}">
        <p14:creationId xmlns:p14="http://schemas.microsoft.com/office/powerpoint/2010/main" val="41714035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61</a:t>
            </a:fld>
            <a:endParaRPr lang="en-IN"/>
          </a:p>
        </p:txBody>
      </p:sp>
    </p:spTree>
    <p:extLst>
      <p:ext uri="{BB962C8B-B14F-4D97-AF65-F5344CB8AC3E}">
        <p14:creationId xmlns:p14="http://schemas.microsoft.com/office/powerpoint/2010/main" val="6709763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try to color this graph using four colors.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62</a:t>
            </a:fld>
            <a:endParaRPr lang="en-IN"/>
          </a:p>
        </p:txBody>
      </p:sp>
    </p:spTree>
    <p:extLst>
      <p:ext uri="{BB962C8B-B14F-4D97-AF65-F5344CB8AC3E}">
        <p14:creationId xmlns:p14="http://schemas.microsoft.com/office/powerpoint/2010/main" val="9359722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node has less than four neighbors. Select a node for spilling and continue the coloring. Spilling means that instead of using a register, we will allocate the variable on the stack.</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63</a:t>
            </a:fld>
            <a:endParaRPr lang="en-IN"/>
          </a:p>
        </p:txBody>
      </p:sp>
    </p:spTree>
    <p:extLst>
      <p:ext uri="{BB962C8B-B14F-4D97-AF65-F5344CB8AC3E}">
        <p14:creationId xmlns:p14="http://schemas.microsoft.com/office/powerpoint/2010/main" val="31595636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64</a:t>
            </a:fld>
            <a:endParaRPr lang="en-IN"/>
          </a:p>
        </p:txBody>
      </p:sp>
    </p:spTree>
    <p:extLst>
      <p:ext uri="{BB962C8B-B14F-4D97-AF65-F5344CB8AC3E}">
        <p14:creationId xmlns:p14="http://schemas.microsoft.com/office/powerpoint/2010/main" val="28978948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65</a:t>
            </a:fld>
            <a:endParaRPr lang="en-IN"/>
          </a:p>
        </p:txBody>
      </p:sp>
    </p:spTree>
    <p:extLst>
      <p:ext uri="{BB962C8B-B14F-4D97-AF65-F5344CB8AC3E}">
        <p14:creationId xmlns:p14="http://schemas.microsoft.com/office/powerpoint/2010/main" val="34573155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66</a:t>
            </a:fld>
            <a:endParaRPr lang="en-IN"/>
          </a:p>
        </p:txBody>
      </p:sp>
    </p:spTree>
    <p:extLst>
      <p:ext uri="{BB962C8B-B14F-4D97-AF65-F5344CB8AC3E}">
        <p14:creationId xmlns:p14="http://schemas.microsoft.com/office/powerpoint/2010/main" val="41569019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67</a:t>
            </a:fld>
            <a:endParaRPr lang="en-IN"/>
          </a:p>
        </p:txBody>
      </p:sp>
    </p:spTree>
    <p:extLst>
      <p:ext uri="{BB962C8B-B14F-4D97-AF65-F5344CB8AC3E}">
        <p14:creationId xmlns:p14="http://schemas.microsoft.com/office/powerpoint/2010/main" val="940231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68</a:t>
            </a:fld>
            <a:endParaRPr lang="en-IN"/>
          </a:p>
        </p:txBody>
      </p:sp>
    </p:spTree>
    <p:extLst>
      <p:ext uri="{BB962C8B-B14F-4D97-AF65-F5344CB8AC3E}">
        <p14:creationId xmlns:p14="http://schemas.microsoft.com/office/powerpoint/2010/main" val="23194571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69</a:t>
            </a:fld>
            <a:endParaRPr lang="en-IN"/>
          </a:p>
        </p:txBody>
      </p:sp>
    </p:spTree>
    <p:extLst>
      <p:ext uri="{BB962C8B-B14F-4D97-AF65-F5344CB8AC3E}">
        <p14:creationId xmlns:p14="http://schemas.microsoft.com/office/powerpoint/2010/main" val="36190276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add the nodes back to the graph.</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70</a:t>
            </a:fld>
            <a:endParaRPr lang="en-IN"/>
          </a:p>
        </p:txBody>
      </p:sp>
    </p:spTree>
    <p:extLst>
      <p:ext uri="{BB962C8B-B14F-4D97-AF65-F5344CB8AC3E}">
        <p14:creationId xmlns:p14="http://schemas.microsoft.com/office/powerpoint/2010/main" val="38289980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71</a:t>
            </a:fld>
            <a:endParaRPr lang="en-IN"/>
          </a:p>
        </p:txBody>
      </p:sp>
    </p:spTree>
    <p:extLst>
      <p:ext uri="{BB962C8B-B14F-4D97-AF65-F5344CB8AC3E}">
        <p14:creationId xmlns:p14="http://schemas.microsoft.com/office/powerpoint/2010/main" val="34018336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72</a:t>
            </a:fld>
            <a:endParaRPr lang="en-IN"/>
          </a:p>
        </p:txBody>
      </p:sp>
    </p:spTree>
    <p:extLst>
      <p:ext uri="{BB962C8B-B14F-4D97-AF65-F5344CB8AC3E}">
        <p14:creationId xmlns:p14="http://schemas.microsoft.com/office/powerpoint/2010/main" val="30897723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73</a:t>
            </a:fld>
            <a:endParaRPr lang="en-IN"/>
          </a:p>
        </p:txBody>
      </p:sp>
    </p:spTree>
    <p:extLst>
      <p:ext uri="{BB962C8B-B14F-4D97-AF65-F5344CB8AC3E}">
        <p14:creationId xmlns:p14="http://schemas.microsoft.com/office/powerpoint/2010/main" val="36544470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continued the coloring even after we decided to spill b. The reason behind that was that sometimes it is possible that we may find a color for the spilled node when we add the edges back in the graph. Remember, the graph coloring algorithm is based on heuristics. We don’t have an efficient solution to this problem. Unfortunately, in this case, we didn’t find a color for b.</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74</a:t>
            </a:fld>
            <a:endParaRPr lang="en-IN"/>
          </a:p>
        </p:txBody>
      </p:sp>
    </p:spTree>
    <p:extLst>
      <p:ext uri="{BB962C8B-B14F-4D97-AF65-F5344CB8AC3E}">
        <p14:creationId xmlns:p14="http://schemas.microsoft.com/office/powerpoint/2010/main" val="32145974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75</a:t>
            </a:fld>
            <a:endParaRPr lang="en-IN"/>
          </a:p>
        </p:txBody>
      </p:sp>
    </p:spTree>
    <p:extLst>
      <p:ext uri="{BB962C8B-B14F-4D97-AF65-F5344CB8AC3E}">
        <p14:creationId xmlns:p14="http://schemas.microsoft.com/office/powerpoint/2010/main" val="6957441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2A26B-3AA1-9134-AA50-DD2BB520D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FF197-A924-B68F-1D72-EB21683D61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6E4BF-D629-3857-E755-221B9C53FEE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5DDE0AD-4642-FB9F-522A-2F001BF99EFF}"/>
              </a:ext>
            </a:extLst>
          </p:cNvPr>
          <p:cNvSpPr>
            <a:spLocks noGrp="1"/>
          </p:cNvSpPr>
          <p:nvPr>
            <p:ph type="sldNum" sz="quarter" idx="5"/>
          </p:nvPr>
        </p:nvSpPr>
        <p:spPr/>
        <p:txBody>
          <a:bodyPr/>
          <a:lstStyle/>
          <a:p>
            <a:fld id="{CF2F1F0A-2707-458D-9A3B-BF545ABFB61C}" type="slidenum">
              <a:rPr lang="en-IN" smtClean="0"/>
              <a:t>76</a:t>
            </a:fld>
            <a:endParaRPr lang="en-IN"/>
          </a:p>
        </p:txBody>
      </p:sp>
    </p:spTree>
    <p:extLst>
      <p:ext uri="{BB962C8B-B14F-4D97-AF65-F5344CB8AC3E}">
        <p14:creationId xmlns:p14="http://schemas.microsoft.com/office/powerpoint/2010/main" val="33610035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77</a:t>
            </a:fld>
            <a:endParaRPr lang="en-IN"/>
          </a:p>
        </p:txBody>
      </p:sp>
    </p:spTree>
    <p:extLst>
      <p:ext uri="{BB962C8B-B14F-4D97-AF65-F5344CB8AC3E}">
        <p14:creationId xmlns:p14="http://schemas.microsoft.com/office/powerpoint/2010/main" val="29120269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that after spilling b, it is only live during the small intervals, e.g., between the load and its use in the program, and these short intervals don’t interfere with each other. On the other hand, previously</a:t>
            </a:r>
            <a:r>
              <a:rPr lang="en-US"/>
              <a:t>, b </a:t>
            </a:r>
            <a:r>
              <a:rPr lang="en-US" dirty="0"/>
              <a:t>was live for a very long interval and interfering with lots of variables.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78</a:t>
            </a:fld>
            <a:endParaRPr lang="en-IN"/>
          </a:p>
        </p:txBody>
      </p:sp>
    </p:spTree>
    <p:extLst>
      <p:ext uri="{BB962C8B-B14F-4D97-AF65-F5344CB8AC3E}">
        <p14:creationId xmlns:p14="http://schemas.microsoft.com/office/powerpoint/2010/main" val="20319532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goal is to do the register allocation for the new IR created after spilling b.</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79</a:t>
            </a:fld>
            <a:endParaRPr lang="en-IN"/>
          </a:p>
        </p:txBody>
      </p:sp>
    </p:spTree>
    <p:extLst>
      <p:ext uri="{BB962C8B-B14F-4D97-AF65-F5344CB8AC3E}">
        <p14:creationId xmlns:p14="http://schemas.microsoft.com/office/powerpoint/2010/main" val="240082402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80</a:t>
            </a:fld>
            <a:endParaRPr lang="en-IN"/>
          </a:p>
        </p:txBody>
      </p:sp>
    </p:spTree>
    <p:extLst>
      <p:ext uri="{BB962C8B-B14F-4D97-AF65-F5344CB8AC3E}">
        <p14:creationId xmlns:p14="http://schemas.microsoft.com/office/powerpoint/2010/main" val="123354715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81</a:t>
            </a:fld>
            <a:endParaRPr lang="en-IN"/>
          </a:p>
        </p:txBody>
      </p:sp>
    </p:spTree>
    <p:extLst>
      <p:ext uri="{BB962C8B-B14F-4D97-AF65-F5344CB8AC3E}">
        <p14:creationId xmlns:p14="http://schemas.microsoft.com/office/powerpoint/2010/main" val="328118895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82</a:t>
            </a:fld>
            <a:endParaRPr lang="en-IN"/>
          </a:p>
        </p:txBody>
      </p:sp>
    </p:spTree>
    <p:extLst>
      <p:ext uri="{BB962C8B-B14F-4D97-AF65-F5344CB8AC3E}">
        <p14:creationId xmlns:p14="http://schemas.microsoft.com/office/powerpoint/2010/main" val="1576236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83</a:t>
            </a:fld>
            <a:endParaRPr lang="en-IN"/>
          </a:p>
        </p:txBody>
      </p:sp>
    </p:spTree>
    <p:extLst>
      <p:ext uri="{BB962C8B-B14F-4D97-AF65-F5344CB8AC3E}">
        <p14:creationId xmlns:p14="http://schemas.microsoft.com/office/powerpoint/2010/main" val="10712751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84</a:t>
            </a:fld>
            <a:endParaRPr lang="en-IN"/>
          </a:p>
        </p:txBody>
      </p:sp>
    </p:spTree>
    <p:extLst>
      <p:ext uri="{BB962C8B-B14F-4D97-AF65-F5344CB8AC3E}">
        <p14:creationId xmlns:p14="http://schemas.microsoft.com/office/powerpoint/2010/main" val="1006282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85</a:t>
            </a:fld>
            <a:endParaRPr lang="en-IN"/>
          </a:p>
        </p:txBody>
      </p:sp>
    </p:spTree>
    <p:extLst>
      <p:ext uri="{BB962C8B-B14F-4D97-AF65-F5344CB8AC3E}">
        <p14:creationId xmlns:p14="http://schemas.microsoft.com/office/powerpoint/2010/main" val="424612193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86</a:t>
            </a:fld>
            <a:endParaRPr lang="en-IN"/>
          </a:p>
        </p:txBody>
      </p:sp>
    </p:spTree>
    <p:extLst>
      <p:ext uri="{BB962C8B-B14F-4D97-AF65-F5344CB8AC3E}">
        <p14:creationId xmlns:p14="http://schemas.microsoft.com/office/powerpoint/2010/main" val="30889563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spill f. Because there is an edge between every pair of vertices in the rest of the graph, the optimistic solution will not work.</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87</a:t>
            </a:fld>
            <a:endParaRPr lang="en-IN"/>
          </a:p>
        </p:txBody>
      </p:sp>
    </p:spTree>
    <p:extLst>
      <p:ext uri="{BB962C8B-B14F-4D97-AF65-F5344CB8AC3E}">
        <p14:creationId xmlns:p14="http://schemas.microsoft.com/office/powerpoint/2010/main" val="12107744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88</a:t>
            </a:fld>
            <a:endParaRPr lang="en-IN"/>
          </a:p>
        </p:txBody>
      </p:sp>
    </p:spTree>
    <p:extLst>
      <p:ext uri="{BB962C8B-B14F-4D97-AF65-F5344CB8AC3E}">
        <p14:creationId xmlns:p14="http://schemas.microsoft.com/office/powerpoint/2010/main" val="3420593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Spilling f.</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89</a:t>
            </a:fld>
            <a:endParaRPr lang="en-IN"/>
          </a:p>
        </p:txBody>
      </p:sp>
    </p:spTree>
    <p:extLst>
      <p:ext uri="{BB962C8B-B14F-4D97-AF65-F5344CB8AC3E}">
        <p14:creationId xmlns:p14="http://schemas.microsoft.com/office/powerpoint/2010/main" val="398552337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90</a:t>
            </a:fld>
            <a:endParaRPr lang="en-IN"/>
          </a:p>
        </p:txBody>
      </p:sp>
    </p:spTree>
    <p:extLst>
      <p:ext uri="{BB962C8B-B14F-4D97-AF65-F5344CB8AC3E}">
        <p14:creationId xmlns:p14="http://schemas.microsoft.com/office/powerpoint/2010/main" val="397922932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91</a:t>
            </a:fld>
            <a:endParaRPr lang="en-IN"/>
          </a:p>
        </p:txBody>
      </p:sp>
    </p:spTree>
    <p:extLst>
      <p:ext uri="{BB962C8B-B14F-4D97-AF65-F5344CB8AC3E}">
        <p14:creationId xmlns:p14="http://schemas.microsoft.com/office/powerpoint/2010/main" val="75820065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92</a:t>
            </a:fld>
            <a:endParaRPr lang="en-IN"/>
          </a:p>
        </p:txBody>
      </p:sp>
    </p:spTree>
    <p:extLst>
      <p:ext uri="{BB962C8B-B14F-4D97-AF65-F5344CB8AC3E}">
        <p14:creationId xmlns:p14="http://schemas.microsoft.com/office/powerpoint/2010/main" val="319184956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93</a:t>
            </a:fld>
            <a:endParaRPr lang="en-IN"/>
          </a:p>
        </p:txBody>
      </p:sp>
    </p:spTree>
    <p:extLst>
      <p:ext uri="{BB962C8B-B14F-4D97-AF65-F5344CB8AC3E}">
        <p14:creationId xmlns:p14="http://schemas.microsoft.com/office/powerpoint/2010/main" val="166553956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94</a:t>
            </a:fld>
            <a:endParaRPr lang="en-IN"/>
          </a:p>
        </p:txBody>
      </p:sp>
    </p:spTree>
    <p:extLst>
      <p:ext uri="{BB962C8B-B14F-4D97-AF65-F5344CB8AC3E}">
        <p14:creationId xmlns:p14="http://schemas.microsoft.com/office/powerpoint/2010/main" val="300185414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95</a:t>
            </a:fld>
            <a:endParaRPr lang="en-IN"/>
          </a:p>
        </p:txBody>
      </p:sp>
    </p:spTree>
    <p:extLst>
      <p:ext uri="{BB962C8B-B14F-4D97-AF65-F5344CB8AC3E}">
        <p14:creationId xmlns:p14="http://schemas.microsoft.com/office/powerpoint/2010/main" val="343636654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96</a:t>
            </a:fld>
            <a:endParaRPr lang="en-IN"/>
          </a:p>
        </p:txBody>
      </p:sp>
    </p:spTree>
    <p:extLst>
      <p:ext uri="{BB962C8B-B14F-4D97-AF65-F5344CB8AC3E}">
        <p14:creationId xmlns:p14="http://schemas.microsoft.com/office/powerpoint/2010/main" val="356748411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97</a:t>
            </a:fld>
            <a:endParaRPr lang="en-IN"/>
          </a:p>
        </p:txBody>
      </p:sp>
    </p:spTree>
    <p:extLst>
      <p:ext uri="{BB962C8B-B14F-4D97-AF65-F5344CB8AC3E}">
        <p14:creationId xmlns:p14="http://schemas.microsoft.com/office/powerpoint/2010/main" val="359364077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98</a:t>
            </a:fld>
            <a:endParaRPr lang="en-IN"/>
          </a:p>
        </p:txBody>
      </p:sp>
    </p:spTree>
    <p:extLst>
      <p:ext uri="{BB962C8B-B14F-4D97-AF65-F5344CB8AC3E}">
        <p14:creationId xmlns:p14="http://schemas.microsoft.com/office/powerpoint/2010/main" val="238372445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99</a:t>
            </a:fld>
            <a:endParaRPr lang="en-IN"/>
          </a:p>
        </p:txBody>
      </p:sp>
    </p:spTree>
    <p:extLst>
      <p:ext uri="{BB962C8B-B14F-4D97-AF65-F5344CB8AC3E}">
        <p14:creationId xmlns:p14="http://schemas.microsoft.com/office/powerpoint/2010/main" val="44620504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100</a:t>
            </a:fld>
            <a:endParaRPr lang="en-IN"/>
          </a:p>
        </p:txBody>
      </p:sp>
    </p:spTree>
    <p:extLst>
      <p:ext uri="{BB962C8B-B14F-4D97-AF65-F5344CB8AC3E}">
        <p14:creationId xmlns:p14="http://schemas.microsoft.com/office/powerpoint/2010/main" val="212018554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101</a:t>
            </a:fld>
            <a:endParaRPr lang="en-IN"/>
          </a:p>
        </p:txBody>
      </p:sp>
    </p:spTree>
    <p:extLst>
      <p:ext uri="{BB962C8B-B14F-4D97-AF65-F5344CB8AC3E}">
        <p14:creationId xmlns:p14="http://schemas.microsoft.com/office/powerpoint/2010/main" val="406232135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102</a:t>
            </a:fld>
            <a:endParaRPr lang="en-IN"/>
          </a:p>
        </p:txBody>
      </p:sp>
    </p:spTree>
    <p:extLst>
      <p:ext uri="{BB962C8B-B14F-4D97-AF65-F5344CB8AC3E}">
        <p14:creationId xmlns:p14="http://schemas.microsoft.com/office/powerpoint/2010/main" val="168137757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103</a:t>
            </a:fld>
            <a:endParaRPr lang="en-IN"/>
          </a:p>
        </p:txBody>
      </p:sp>
    </p:spTree>
    <p:extLst>
      <p:ext uri="{BB962C8B-B14F-4D97-AF65-F5344CB8AC3E}">
        <p14:creationId xmlns:p14="http://schemas.microsoft.com/office/powerpoint/2010/main" val="26507792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104</a:t>
            </a:fld>
            <a:endParaRPr lang="en-IN"/>
          </a:p>
        </p:txBody>
      </p:sp>
    </p:spTree>
    <p:extLst>
      <p:ext uri="{BB962C8B-B14F-4D97-AF65-F5344CB8AC3E}">
        <p14:creationId xmlns:p14="http://schemas.microsoft.com/office/powerpoint/2010/main" val="121568062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105</a:t>
            </a:fld>
            <a:endParaRPr lang="en-IN"/>
          </a:p>
        </p:txBody>
      </p:sp>
    </p:spTree>
    <p:extLst>
      <p:ext uri="{BB962C8B-B14F-4D97-AF65-F5344CB8AC3E}">
        <p14:creationId xmlns:p14="http://schemas.microsoft.com/office/powerpoint/2010/main" val="367544586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106</a:t>
            </a:fld>
            <a:endParaRPr lang="en-IN"/>
          </a:p>
        </p:txBody>
      </p:sp>
    </p:spTree>
    <p:extLst>
      <p:ext uri="{BB962C8B-B14F-4D97-AF65-F5344CB8AC3E}">
        <p14:creationId xmlns:p14="http://schemas.microsoft.com/office/powerpoint/2010/main" val="271776691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107</a:t>
            </a:fld>
            <a:endParaRPr lang="en-IN"/>
          </a:p>
        </p:txBody>
      </p:sp>
    </p:spTree>
    <p:extLst>
      <p:ext uri="{BB962C8B-B14F-4D97-AF65-F5344CB8AC3E}">
        <p14:creationId xmlns:p14="http://schemas.microsoft.com/office/powerpoint/2010/main" val="65292280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108</a:t>
            </a:fld>
            <a:endParaRPr lang="en-IN"/>
          </a:p>
        </p:txBody>
      </p:sp>
    </p:spTree>
    <p:extLst>
      <p:ext uri="{BB962C8B-B14F-4D97-AF65-F5344CB8AC3E}">
        <p14:creationId xmlns:p14="http://schemas.microsoft.com/office/powerpoint/2010/main" val="159209855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109</a:t>
            </a:fld>
            <a:endParaRPr lang="en-IN"/>
          </a:p>
        </p:txBody>
      </p:sp>
    </p:spTree>
    <p:extLst>
      <p:ext uri="{BB962C8B-B14F-4D97-AF65-F5344CB8AC3E}">
        <p14:creationId xmlns:p14="http://schemas.microsoft.com/office/powerpoint/2010/main" val="276533348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110</a:t>
            </a:fld>
            <a:endParaRPr lang="en-IN"/>
          </a:p>
        </p:txBody>
      </p:sp>
    </p:spTree>
    <p:extLst>
      <p:ext uri="{BB962C8B-B14F-4D97-AF65-F5344CB8AC3E}">
        <p14:creationId xmlns:p14="http://schemas.microsoft.com/office/powerpoint/2010/main" val="81358822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111</a:t>
            </a:fld>
            <a:endParaRPr lang="en-IN"/>
          </a:p>
        </p:txBody>
      </p:sp>
    </p:spTree>
    <p:extLst>
      <p:ext uri="{BB962C8B-B14F-4D97-AF65-F5344CB8AC3E}">
        <p14:creationId xmlns:p14="http://schemas.microsoft.com/office/powerpoint/2010/main" val="29583268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112</a:t>
            </a:fld>
            <a:endParaRPr lang="en-IN"/>
          </a:p>
        </p:txBody>
      </p:sp>
    </p:spTree>
    <p:extLst>
      <p:ext uri="{BB962C8B-B14F-4D97-AF65-F5344CB8AC3E}">
        <p14:creationId xmlns:p14="http://schemas.microsoft.com/office/powerpoint/2010/main" val="273541699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113</a:t>
            </a:fld>
            <a:endParaRPr lang="en-IN"/>
          </a:p>
        </p:txBody>
      </p:sp>
    </p:spTree>
    <p:extLst>
      <p:ext uri="{BB962C8B-B14F-4D97-AF65-F5344CB8AC3E}">
        <p14:creationId xmlns:p14="http://schemas.microsoft.com/office/powerpoint/2010/main" val="213461822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114</a:t>
            </a:fld>
            <a:endParaRPr lang="en-IN"/>
          </a:p>
        </p:txBody>
      </p:sp>
    </p:spTree>
    <p:extLst>
      <p:ext uri="{BB962C8B-B14F-4D97-AF65-F5344CB8AC3E}">
        <p14:creationId xmlns:p14="http://schemas.microsoft.com/office/powerpoint/2010/main" val="366692192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115</a:t>
            </a:fld>
            <a:endParaRPr lang="en-IN"/>
          </a:p>
        </p:txBody>
      </p:sp>
    </p:spTree>
    <p:extLst>
      <p:ext uri="{BB962C8B-B14F-4D97-AF65-F5344CB8AC3E}">
        <p14:creationId xmlns:p14="http://schemas.microsoft.com/office/powerpoint/2010/main" val="363318008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BB701-4FFA-6226-9C3A-A49FBE848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7494E-7920-A85D-E6F6-18024E855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1D745D-3D88-358F-138C-3BE961E2F05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FB6CFE7-5C64-E6BB-579F-57E055E30436}"/>
              </a:ext>
            </a:extLst>
          </p:cNvPr>
          <p:cNvSpPr>
            <a:spLocks noGrp="1"/>
          </p:cNvSpPr>
          <p:nvPr>
            <p:ph type="sldNum" sz="quarter" idx="5"/>
          </p:nvPr>
        </p:nvSpPr>
        <p:spPr/>
        <p:txBody>
          <a:bodyPr/>
          <a:lstStyle/>
          <a:p>
            <a:fld id="{CF2F1F0A-2707-458D-9A3B-BF545ABFB61C}" type="slidenum">
              <a:rPr lang="en-IN" smtClean="0"/>
              <a:t>116</a:t>
            </a:fld>
            <a:endParaRPr lang="en-IN"/>
          </a:p>
        </p:txBody>
      </p:sp>
    </p:spTree>
    <p:extLst>
      <p:ext uri="{BB962C8B-B14F-4D97-AF65-F5344CB8AC3E}">
        <p14:creationId xmlns:p14="http://schemas.microsoft.com/office/powerpoint/2010/main" val="69180695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117</a:t>
            </a:fld>
            <a:endParaRPr lang="en-IN"/>
          </a:p>
        </p:txBody>
      </p:sp>
    </p:spTree>
    <p:extLst>
      <p:ext uri="{BB962C8B-B14F-4D97-AF65-F5344CB8AC3E}">
        <p14:creationId xmlns:p14="http://schemas.microsoft.com/office/powerpoint/2010/main" val="3625646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16-02-2024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16-02-2024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Lecture-12</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FFC73-488A-4B6A-AAFF-B8CF79FBDC69}"/>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F702FD0E-3C59-4974-80F2-0742184A512F}"/>
              </a:ext>
            </a:extLst>
          </p:cNvPr>
          <p:cNvSpPr>
            <a:spLocks noGrp="1"/>
          </p:cNvSpPr>
          <p:nvPr>
            <p:ph idx="1"/>
          </p:nvPr>
        </p:nvSpPr>
        <p:spPr/>
        <p:txBody>
          <a:bodyPr>
            <a:normAutofit/>
          </a:bodyPr>
          <a:lstStyle/>
          <a:p>
            <a:r>
              <a:rPr lang="en-US" dirty="0"/>
              <a:t>Unique pointers</a:t>
            </a:r>
          </a:p>
          <a:p>
            <a:r>
              <a:rPr lang="en-US" dirty="0"/>
              <a:t>Natural Loop</a:t>
            </a:r>
          </a:p>
          <a:p>
            <a:r>
              <a:rPr lang="en-US" dirty="0"/>
              <a:t>Register allocation</a:t>
            </a:r>
          </a:p>
          <a:p>
            <a:pPr lvl="1"/>
            <a:endParaRPr lang="en-US" dirty="0"/>
          </a:p>
        </p:txBody>
      </p:sp>
    </p:spTree>
    <p:extLst>
      <p:ext uri="{BB962C8B-B14F-4D97-AF65-F5344CB8AC3E}">
        <p14:creationId xmlns:p14="http://schemas.microsoft.com/office/powerpoint/2010/main" val="436607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3118-02DA-64FD-07AE-6CAA67EEBB8A}"/>
              </a:ext>
            </a:extLst>
          </p:cNvPr>
          <p:cNvSpPr>
            <a:spLocks noGrp="1"/>
          </p:cNvSpPr>
          <p:nvPr>
            <p:ph type="title"/>
          </p:nvPr>
        </p:nvSpPr>
        <p:spPr/>
        <p:txBody>
          <a:bodyPr/>
          <a:lstStyle/>
          <a:p>
            <a:r>
              <a:rPr lang="en-US" dirty="0"/>
              <a:t>Unique pointers</a:t>
            </a:r>
            <a:endParaRPr lang="en-IN" dirty="0"/>
          </a:p>
        </p:txBody>
      </p:sp>
      <p:sp>
        <p:nvSpPr>
          <p:cNvPr id="3" name="Text Placeholder 2">
            <a:extLst>
              <a:ext uri="{FF2B5EF4-FFF2-40B4-BE49-F238E27FC236}">
                <a16:creationId xmlns:a16="http://schemas.microsoft.com/office/drawing/2014/main" id="{0A7412A5-7867-551C-0BE8-3099E1BC46D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404884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477C9-AB56-4FE4-8772-BCAC739AA670}"/>
              </a:ext>
            </a:extLst>
          </p:cNvPr>
          <p:cNvSpPr>
            <a:spLocks noGrp="1"/>
          </p:cNvSpPr>
          <p:nvPr>
            <p:ph type="title"/>
          </p:nvPr>
        </p:nvSpPr>
        <p:spPr/>
        <p:txBody>
          <a:bodyPr/>
          <a:lstStyle/>
          <a:p>
            <a:r>
              <a:rPr lang="en-US" dirty="0"/>
              <a:t>Unique pointers</a:t>
            </a:r>
          </a:p>
        </p:txBody>
      </p:sp>
      <p:sp>
        <p:nvSpPr>
          <p:cNvPr id="3" name="Content Placeholder 2">
            <a:extLst>
              <a:ext uri="{FF2B5EF4-FFF2-40B4-BE49-F238E27FC236}">
                <a16:creationId xmlns:a16="http://schemas.microsoft.com/office/drawing/2014/main" id="{383E2FCB-CACE-468B-9818-60F428A41BBF}"/>
              </a:ext>
            </a:extLst>
          </p:cNvPr>
          <p:cNvSpPr>
            <a:spLocks noGrp="1"/>
          </p:cNvSpPr>
          <p:nvPr>
            <p:ph idx="1"/>
          </p:nvPr>
        </p:nvSpPr>
        <p:spPr/>
        <p:txBody>
          <a:bodyPr/>
          <a:lstStyle/>
          <a:p>
            <a:r>
              <a:rPr lang="en-US" dirty="0"/>
              <a:t>At most one reference is allowed for objects managed using unique pointers</a:t>
            </a:r>
          </a:p>
          <a:p>
            <a:pPr lvl="1"/>
            <a:r>
              <a:rPr lang="en-US" dirty="0"/>
              <a:t>called the owner of the object</a:t>
            </a:r>
          </a:p>
          <a:p>
            <a:pPr lvl="1"/>
            <a:r>
              <a:rPr lang="en-US" dirty="0"/>
              <a:t>the object pointed by a unique pointer is deallocated whenever the unique pointer is overwritten or goes out of scope</a:t>
            </a:r>
          </a:p>
          <a:p>
            <a:pPr lvl="1"/>
            <a:r>
              <a:rPr lang="en-US" dirty="0"/>
              <a:t>the programmer can explicitly transfer ownership to another unique pointer</a:t>
            </a:r>
          </a:p>
        </p:txBody>
      </p:sp>
    </p:spTree>
    <p:extLst>
      <p:ext uri="{BB962C8B-B14F-4D97-AF65-F5344CB8AC3E}">
        <p14:creationId xmlns:p14="http://schemas.microsoft.com/office/powerpoint/2010/main" val="2229835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8C9BF-2249-4143-9E05-4DC2AD479213}"/>
              </a:ext>
            </a:extLst>
          </p:cNvPr>
          <p:cNvSpPr>
            <a:spLocks noGrp="1"/>
          </p:cNvSpPr>
          <p:nvPr>
            <p:ph type="title"/>
          </p:nvPr>
        </p:nvSpPr>
        <p:spPr/>
        <p:txBody>
          <a:bodyPr/>
          <a:lstStyle/>
          <a:p>
            <a:r>
              <a:rPr lang="en-US" dirty="0"/>
              <a:t>Unique pointers</a:t>
            </a:r>
          </a:p>
        </p:txBody>
      </p:sp>
      <p:sp>
        <p:nvSpPr>
          <p:cNvPr id="3" name="Content Placeholder 2">
            <a:extLst>
              <a:ext uri="{FF2B5EF4-FFF2-40B4-BE49-F238E27FC236}">
                <a16:creationId xmlns:a16="http://schemas.microsoft.com/office/drawing/2014/main" id="{F283B8CC-B6BD-460C-B586-5801F4908026}"/>
              </a:ext>
            </a:extLst>
          </p:cNvPr>
          <p:cNvSpPr>
            <a:spLocks noGrp="1"/>
          </p:cNvSpPr>
          <p:nvPr>
            <p:ph idx="1"/>
          </p:nvPr>
        </p:nvSpPr>
        <p:spPr/>
        <p:txBody>
          <a:bodyPr>
            <a:normAutofit fontScale="92500" lnSpcReduction="20000"/>
          </a:bodyPr>
          <a:lstStyle/>
          <a:p>
            <a:pPr marL="0" indent="0">
              <a:buNone/>
            </a:pPr>
            <a:r>
              <a:rPr lang="en-US" dirty="0"/>
              <a:t>main() {</a:t>
            </a:r>
          </a:p>
          <a:p>
            <a:pPr marL="0" indent="0">
              <a:buNone/>
            </a:pPr>
            <a:r>
              <a:rPr lang="en-US" dirty="0"/>
              <a:t>	std::</a:t>
            </a:r>
            <a:r>
              <a:rPr lang="en-US" dirty="0" err="1"/>
              <a:t>unique_ptr</a:t>
            </a:r>
            <a:r>
              <a:rPr lang="en-US" dirty="0"/>
              <a:t>&lt;int&gt; </a:t>
            </a:r>
            <a:r>
              <a:rPr lang="en-US" dirty="0" err="1"/>
              <a:t>ptr</a:t>
            </a:r>
            <a:r>
              <a:rPr lang="en-US" dirty="0"/>
              <a:t>(new int);</a:t>
            </a:r>
          </a:p>
          <a:p>
            <a:pPr marL="0" indent="0">
              <a:buNone/>
            </a:pPr>
            <a:r>
              <a:rPr lang="en-US" dirty="0"/>
              <a:t>	std::</a:t>
            </a:r>
            <a:r>
              <a:rPr lang="en-US" dirty="0" err="1"/>
              <a:t>unique_ptr</a:t>
            </a:r>
            <a:r>
              <a:rPr lang="en-US" dirty="0"/>
              <a:t>&lt;int&gt; ptr1 = </a:t>
            </a:r>
            <a:r>
              <a:rPr lang="en-US" dirty="0" err="1"/>
              <a:t>ptr</a:t>
            </a:r>
            <a:r>
              <a:rPr lang="en-US" dirty="0"/>
              <a:t>; // compiler error</a:t>
            </a:r>
          </a:p>
          <a:p>
            <a:pPr marL="0" indent="0">
              <a:buNone/>
            </a:pPr>
            <a:r>
              <a:rPr lang="en-US" dirty="0"/>
              <a:t>	std::</a:t>
            </a:r>
            <a:r>
              <a:rPr lang="en-US" dirty="0" err="1"/>
              <a:t>unique_ptr</a:t>
            </a:r>
            <a:r>
              <a:rPr lang="en-US" dirty="0"/>
              <a:t>&lt;int&gt; ptr1 = std::move(</a:t>
            </a:r>
            <a:r>
              <a:rPr lang="en-US" dirty="0" err="1"/>
              <a:t>ptr</a:t>
            </a:r>
            <a:r>
              <a:rPr lang="en-US" dirty="0"/>
              <a:t>); // ptr1 is the new owner</a:t>
            </a:r>
          </a:p>
          <a:p>
            <a:pPr marL="0" indent="0">
              <a:buNone/>
            </a:pPr>
            <a:r>
              <a:rPr lang="en-US" dirty="0"/>
              <a:t>	*</a:t>
            </a:r>
            <a:r>
              <a:rPr lang="en-US" dirty="0" err="1"/>
              <a:t>ptr</a:t>
            </a:r>
            <a:r>
              <a:rPr lang="en-US" dirty="0"/>
              <a:t>= 100; // segmentation fault</a:t>
            </a:r>
          </a:p>
          <a:p>
            <a:pPr marL="0" indent="0">
              <a:buNone/>
            </a:pPr>
            <a:r>
              <a:rPr lang="en-US" dirty="0"/>
              <a:t>	foo(ptr1); // compiler error</a:t>
            </a:r>
          </a:p>
          <a:p>
            <a:pPr marL="0" indent="0">
              <a:buNone/>
            </a:pPr>
            <a:r>
              <a:rPr lang="en-US" dirty="0"/>
              <a:t>	foo(std::move(ptr1));</a:t>
            </a:r>
          </a:p>
          <a:p>
            <a:pPr marL="0" indent="0">
              <a:buNone/>
            </a:pPr>
            <a:r>
              <a:rPr lang="en-US" dirty="0"/>
              <a:t>	*ptr1 = 100; // segmentation fault</a:t>
            </a:r>
          </a:p>
          <a:p>
            <a:pPr marL="0" indent="0">
              <a:buNone/>
            </a:pPr>
            <a:r>
              <a:rPr lang="en-US" dirty="0"/>
              <a:t>	ptr1 = std::</a:t>
            </a:r>
            <a:r>
              <a:rPr lang="en-US" dirty="0" err="1"/>
              <a:t>unique_ptr</a:t>
            </a:r>
            <a:r>
              <a:rPr lang="en-US" dirty="0"/>
              <a:t>&lt;int&gt;(new int);</a:t>
            </a:r>
          </a:p>
          <a:p>
            <a:pPr marL="0" indent="0">
              <a:buNone/>
            </a:pPr>
            <a:r>
              <a:rPr lang="en-US" dirty="0"/>
              <a:t>} </a:t>
            </a:r>
            <a:r>
              <a:rPr lang="en-US" dirty="0">
                <a:solidFill>
                  <a:srgbClr val="FF0000"/>
                </a:solidFill>
              </a:rPr>
              <a:t>/ * ptr1 goes out of scope free second new*/</a:t>
            </a:r>
          </a:p>
        </p:txBody>
      </p:sp>
    </p:spTree>
    <p:extLst>
      <p:ext uri="{BB962C8B-B14F-4D97-AF65-F5344CB8AC3E}">
        <p14:creationId xmlns:p14="http://schemas.microsoft.com/office/powerpoint/2010/main" val="4035511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477C9-AB56-4FE4-8772-BCAC739AA670}"/>
              </a:ext>
            </a:extLst>
          </p:cNvPr>
          <p:cNvSpPr>
            <a:spLocks noGrp="1"/>
          </p:cNvSpPr>
          <p:nvPr>
            <p:ph type="title"/>
          </p:nvPr>
        </p:nvSpPr>
        <p:spPr/>
        <p:txBody>
          <a:bodyPr/>
          <a:lstStyle/>
          <a:p>
            <a:r>
              <a:rPr lang="en-US" dirty="0"/>
              <a:t>Unique pointers</a:t>
            </a:r>
          </a:p>
        </p:txBody>
      </p:sp>
      <p:sp>
        <p:nvSpPr>
          <p:cNvPr id="3" name="Content Placeholder 2">
            <a:extLst>
              <a:ext uri="{FF2B5EF4-FFF2-40B4-BE49-F238E27FC236}">
                <a16:creationId xmlns:a16="http://schemas.microsoft.com/office/drawing/2014/main" id="{383E2FCB-CACE-468B-9818-60F428A41BBF}"/>
              </a:ext>
            </a:extLst>
          </p:cNvPr>
          <p:cNvSpPr>
            <a:spLocks noGrp="1"/>
          </p:cNvSpPr>
          <p:nvPr>
            <p:ph idx="1"/>
          </p:nvPr>
        </p:nvSpPr>
        <p:spPr/>
        <p:txBody>
          <a:bodyPr>
            <a:normAutofit/>
          </a:bodyPr>
          <a:lstStyle/>
          <a:p>
            <a:r>
              <a:rPr lang="en-US" dirty="0"/>
              <a:t>What is the advantage of unique pointers?</a:t>
            </a:r>
          </a:p>
          <a:p>
            <a:pPr marL="457200" lvl="1" indent="0">
              <a:buNone/>
            </a:pPr>
            <a:endParaRPr lang="en-US" dirty="0"/>
          </a:p>
          <a:p>
            <a:endParaRPr lang="en-US" dirty="0"/>
          </a:p>
          <a:p>
            <a:r>
              <a:rPr lang="en-US" dirty="0"/>
              <a:t>Can we implement all applications just using the unique pointers?</a:t>
            </a:r>
          </a:p>
          <a:p>
            <a:pPr marL="457200" lvl="1" indent="0">
              <a:buNone/>
            </a:pPr>
            <a:endParaRPr lang="en-US" dirty="0"/>
          </a:p>
          <a:p>
            <a:endParaRPr lang="en-US" dirty="0"/>
          </a:p>
        </p:txBody>
      </p:sp>
    </p:spTree>
    <p:extLst>
      <p:ext uri="{BB962C8B-B14F-4D97-AF65-F5344CB8AC3E}">
        <p14:creationId xmlns:p14="http://schemas.microsoft.com/office/powerpoint/2010/main" val="1077448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477C9-AB56-4FE4-8772-BCAC739AA670}"/>
              </a:ext>
            </a:extLst>
          </p:cNvPr>
          <p:cNvSpPr>
            <a:spLocks noGrp="1"/>
          </p:cNvSpPr>
          <p:nvPr>
            <p:ph type="title"/>
          </p:nvPr>
        </p:nvSpPr>
        <p:spPr/>
        <p:txBody>
          <a:bodyPr/>
          <a:lstStyle/>
          <a:p>
            <a:r>
              <a:rPr lang="en-US" dirty="0"/>
              <a:t>Unique pointers</a:t>
            </a:r>
          </a:p>
        </p:txBody>
      </p:sp>
      <p:sp>
        <p:nvSpPr>
          <p:cNvPr id="3" name="Content Placeholder 2">
            <a:extLst>
              <a:ext uri="{FF2B5EF4-FFF2-40B4-BE49-F238E27FC236}">
                <a16:creationId xmlns:a16="http://schemas.microsoft.com/office/drawing/2014/main" id="{383E2FCB-CACE-468B-9818-60F428A41BBF}"/>
              </a:ext>
            </a:extLst>
          </p:cNvPr>
          <p:cNvSpPr>
            <a:spLocks noGrp="1"/>
          </p:cNvSpPr>
          <p:nvPr>
            <p:ph idx="1"/>
          </p:nvPr>
        </p:nvSpPr>
        <p:spPr/>
        <p:txBody>
          <a:bodyPr>
            <a:normAutofit/>
          </a:bodyPr>
          <a:lstStyle/>
          <a:p>
            <a:r>
              <a:rPr lang="en-US" dirty="0"/>
              <a:t>What is the advantage of unique pointers?</a:t>
            </a:r>
          </a:p>
          <a:p>
            <a:pPr lvl="1"/>
            <a:r>
              <a:rPr lang="en-US" dirty="0"/>
              <a:t>no need to do expensive reference counting</a:t>
            </a:r>
          </a:p>
          <a:p>
            <a:endParaRPr lang="en-US" dirty="0"/>
          </a:p>
          <a:p>
            <a:r>
              <a:rPr lang="en-US" dirty="0"/>
              <a:t>Can we implement all applications just using the unique pointers?</a:t>
            </a:r>
          </a:p>
          <a:p>
            <a:pPr lvl="1"/>
            <a:r>
              <a:rPr lang="en-US" dirty="0"/>
              <a:t>No, e.g., we can’t implement a doubly linked list</a:t>
            </a:r>
          </a:p>
          <a:p>
            <a:endParaRPr lang="en-US" dirty="0"/>
          </a:p>
        </p:txBody>
      </p:sp>
    </p:spTree>
    <p:extLst>
      <p:ext uri="{BB962C8B-B14F-4D97-AF65-F5344CB8AC3E}">
        <p14:creationId xmlns:p14="http://schemas.microsoft.com/office/powerpoint/2010/main" val="3004619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F6E1-A758-4902-B904-D42E9ECF3583}"/>
              </a:ext>
            </a:extLst>
          </p:cNvPr>
          <p:cNvSpPr>
            <a:spLocks noGrp="1"/>
          </p:cNvSpPr>
          <p:nvPr>
            <p:ph type="title"/>
          </p:nvPr>
        </p:nvSpPr>
        <p:spPr/>
        <p:txBody>
          <a:bodyPr/>
          <a:lstStyle/>
          <a:p>
            <a:r>
              <a:rPr lang="en-US" dirty="0"/>
              <a:t>Automatic memory management</a:t>
            </a:r>
            <a:endParaRPr lang="en-IN" dirty="0"/>
          </a:p>
        </p:txBody>
      </p:sp>
      <p:sp>
        <p:nvSpPr>
          <p:cNvPr id="3" name="Content Placeholder 2">
            <a:extLst>
              <a:ext uri="{FF2B5EF4-FFF2-40B4-BE49-F238E27FC236}">
                <a16:creationId xmlns:a16="http://schemas.microsoft.com/office/drawing/2014/main" id="{DA11AD2A-87C5-448B-9836-D4E9043E939E}"/>
              </a:ext>
            </a:extLst>
          </p:cNvPr>
          <p:cNvSpPr>
            <a:spLocks noGrp="1"/>
          </p:cNvSpPr>
          <p:nvPr>
            <p:ph idx="1"/>
          </p:nvPr>
        </p:nvSpPr>
        <p:spPr/>
        <p:txBody>
          <a:bodyPr/>
          <a:lstStyle/>
          <a:p>
            <a:r>
              <a:rPr lang="en-US" dirty="0"/>
              <a:t>Pros</a:t>
            </a:r>
          </a:p>
          <a:p>
            <a:pPr lvl="1"/>
            <a:r>
              <a:rPr lang="en-US" dirty="0"/>
              <a:t>no use-after-free bug</a:t>
            </a:r>
          </a:p>
          <a:p>
            <a:pPr lvl="1"/>
            <a:r>
              <a:rPr lang="en-US" dirty="0"/>
              <a:t>temporal safety</a:t>
            </a:r>
          </a:p>
          <a:p>
            <a:pPr lvl="1"/>
            <a:endParaRPr lang="en-US" dirty="0"/>
          </a:p>
          <a:p>
            <a:r>
              <a:rPr lang="en-US" dirty="0"/>
              <a:t>Cons</a:t>
            </a:r>
          </a:p>
          <a:p>
            <a:pPr lvl="1"/>
            <a:r>
              <a:rPr lang="en-US" dirty="0"/>
              <a:t>may cause long pauses</a:t>
            </a:r>
          </a:p>
          <a:p>
            <a:pPr lvl="1"/>
            <a:r>
              <a:rPr lang="en-US" dirty="0"/>
              <a:t>may degrade the overall performance of the applications</a:t>
            </a:r>
            <a:endParaRPr lang="en-IN" dirty="0"/>
          </a:p>
        </p:txBody>
      </p:sp>
    </p:spTree>
    <p:extLst>
      <p:ext uri="{BB962C8B-B14F-4D97-AF65-F5344CB8AC3E}">
        <p14:creationId xmlns:p14="http://schemas.microsoft.com/office/powerpoint/2010/main" val="4080394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93FF-1FF8-48BC-A650-C70F2268C922}"/>
              </a:ext>
            </a:extLst>
          </p:cNvPr>
          <p:cNvSpPr>
            <a:spLocks noGrp="1"/>
          </p:cNvSpPr>
          <p:nvPr>
            <p:ph type="title"/>
          </p:nvPr>
        </p:nvSpPr>
        <p:spPr/>
        <p:txBody>
          <a:bodyPr/>
          <a:lstStyle/>
          <a:p>
            <a:r>
              <a:rPr lang="en-US" dirty="0"/>
              <a:t>Automatic memory management</a:t>
            </a:r>
            <a:endParaRPr lang="en-IN" dirty="0"/>
          </a:p>
        </p:txBody>
      </p:sp>
      <p:sp>
        <p:nvSpPr>
          <p:cNvPr id="3" name="Content Placeholder 2">
            <a:extLst>
              <a:ext uri="{FF2B5EF4-FFF2-40B4-BE49-F238E27FC236}">
                <a16:creationId xmlns:a16="http://schemas.microsoft.com/office/drawing/2014/main" id="{C3989270-600E-43C3-AE61-957EDD3F83B0}"/>
              </a:ext>
            </a:extLst>
          </p:cNvPr>
          <p:cNvSpPr>
            <a:spLocks noGrp="1"/>
          </p:cNvSpPr>
          <p:nvPr>
            <p:ph idx="1"/>
          </p:nvPr>
        </p:nvSpPr>
        <p:spPr/>
        <p:txBody>
          <a:bodyPr>
            <a:normAutofit/>
          </a:bodyPr>
          <a:lstStyle/>
          <a:p>
            <a:r>
              <a:rPr lang="en-US" dirty="0"/>
              <a:t>Garbage collection is generally not used in systems software (e.g., OS, Web Servers, etc.) or real-time applications, which are sensitive to performance/latency</a:t>
            </a:r>
          </a:p>
          <a:p>
            <a:pPr lvl="1"/>
            <a:r>
              <a:rPr lang="en-US" dirty="0"/>
              <a:t>e.g., a timer can expire due to the garbage collection pause</a:t>
            </a:r>
          </a:p>
          <a:p>
            <a:pPr lvl="1"/>
            <a:endParaRPr lang="en-US" dirty="0"/>
          </a:p>
          <a:p>
            <a:pPr lvl="1"/>
            <a:endParaRPr lang="en-US" dirty="0"/>
          </a:p>
          <a:p>
            <a:r>
              <a:rPr lang="en-US" dirty="0">
                <a:solidFill>
                  <a:schemeClr val="accent1"/>
                </a:solidFill>
              </a:rPr>
              <a:t>Rust</a:t>
            </a:r>
            <a:r>
              <a:rPr lang="en-US" dirty="0"/>
              <a:t> is a popular memory-safe language for systems code</a:t>
            </a:r>
          </a:p>
          <a:p>
            <a:pPr lvl="1"/>
            <a:r>
              <a:rPr lang="en-US" dirty="0"/>
              <a:t>In addition to unique pointers and reference counting, </a:t>
            </a:r>
            <a:r>
              <a:rPr lang="en-US" dirty="0">
                <a:solidFill>
                  <a:schemeClr val="accent1"/>
                </a:solidFill>
              </a:rPr>
              <a:t>Rust</a:t>
            </a:r>
            <a:r>
              <a:rPr lang="en-US" dirty="0"/>
              <a:t> uses borrowing of references and some other features to manage memory efficiently</a:t>
            </a:r>
          </a:p>
          <a:p>
            <a:pPr lvl="1"/>
            <a:r>
              <a:rPr lang="en-US" dirty="0">
                <a:solidFill>
                  <a:schemeClr val="accent1"/>
                </a:solidFill>
              </a:rPr>
              <a:t>Rust</a:t>
            </a:r>
            <a:r>
              <a:rPr lang="en-US" dirty="0"/>
              <a:t> doesn’t use garbage collection (no long pauses </a:t>
            </a:r>
            <a:r>
              <a:rPr lang="en-US" dirty="0">
                <a:sym typeface="Wingdings" panose="05000000000000000000" pitchFamily="2" charset="2"/>
              </a:rPr>
              <a:t></a:t>
            </a:r>
            <a:r>
              <a:rPr lang="en-US" dirty="0"/>
              <a:t>)</a:t>
            </a:r>
            <a:endParaRPr lang="en-IN" dirty="0"/>
          </a:p>
        </p:txBody>
      </p:sp>
    </p:spTree>
    <p:extLst>
      <p:ext uri="{BB962C8B-B14F-4D97-AF65-F5344CB8AC3E}">
        <p14:creationId xmlns:p14="http://schemas.microsoft.com/office/powerpoint/2010/main" val="2122001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92FD-0B52-06A4-4C53-BE2733AE069A}"/>
              </a:ext>
            </a:extLst>
          </p:cNvPr>
          <p:cNvSpPr>
            <a:spLocks noGrp="1"/>
          </p:cNvSpPr>
          <p:nvPr>
            <p:ph type="title"/>
          </p:nvPr>
        </p:nvSpPr>
        <p:spPr/>
        <p:txBody>
          <a:bodyPr/>
          <a:lstStyle/>
          <a:p>
            <a:r>
              <a:rPr lang="en-US" dirty="0"/>
              <a:t>Loop optimizations</a:t>
            </a:r>
            <a:endParaRPr lang="en-IN" dirty="0"/>
          </a:p>
        </p:txBody>
      </p:sp>
      <p:sp>
        <p:nvSpPr>
          <p:cNvPr id="3" name="Text Placeholder 2">
            <a:extLst>
              <a:ext uri="{FF2B5EF4-FFF2-40B4-BE49-F238E27FC236}">
                <a16:creationId xmlns:a16="http://schemas.microsoft.com/office/drawing/2014/main" id="{C0B18940-0474-45CE-0727-963595C50DF6}"/>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115786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85BFB-FA18-47DE-2279-1D9A36A22018}"/>
              </a:ext>
            </a:extLst>
          </p:cNvPr>
          <p:cNvSpPr>
            <a:spLocks noGrp="1"/>
          </p:cNvSpPr>
          <p:nvPr>
            <p:ph type="title"/>
          </p:nvPr>
        </p:nvSpPr>
        <p:spPr/>
        <p:txBody>
          <a:bodyPr/>
          <a:lstStyle/>
          <a:p>
            <a:r>
              <a:rPr lang="en-US" dirty="0"/>
              <a:t>Loop optimizations</a:t>
            </a:r>
            <a:endParaRPr lang="en-IN" dirty="0"/>
          </a:p>
        </p:txBody>
      </p:sp>
      <p:sp>
        <p:nvSpPr>
          <p:cNvPr id="3" name="Content Placeholder 2">
            <a:extLst>
              <a:ext uri="{FF2B5EF4-FFF2-40B4-BE49-F238E27FC236}">
                <a16:creationId xmlns:a16="http://schemas.microsoft.com/office/drawing/2014/main" id="{999CC3AF-EA09-7DC4-EAF1-F9F0275F76A4}"/>
              </a:ext>
            </a:extLst>
          </p:cNvPr>
          <p:cNvSpPr>
            <a:spLocks noGrp="1"/>
          </p:cNvSpPr>
          <p:nvPr>
            <p:ph idx="1"/>
          </p:nvPr>
        </p:nvSpPr>
        <p:spPr/>
        <p:txBody>
          <a:bodyPr/>
          <a:lstStyle/>
          <a:p>
            <a:r>
              <a:rPr lang="en-US" dirty="0"/>
              <a:t>The applications spend most of their time in loops</a:t>
            </a:r>
          </a:p>
          <a:p>
            <a:pPr lvl="1"/>
            <a:r>
              <a:rPr lang="en-US" dirty="0"/>
              <a:t>The total number of instructions in an executable is very small compared to the actual number of instructions executed at runtime</a:t>
            </a:r>
          </a:p>
          <a:p>
            <a:r>
              <a:rPr lang="en-US" dirty="0"/>
              <a:t>Therefore, most useful compiler optimizations target loops</a:t>
            </a:r>
            <a:endParaRPr lang="en-IN" dirty="0"/>
          </a:p>
        </p:txBody>
      </p:sp>
    </p:spTree>
    <p:extLst>
      <p:ext uri="{BB962C8B-B14F-4D97-AF65-F5344CB8AC3E}">
        <p14:creationId xmlns:p14="http://schemas.microsoft.com/office/powerpoint/2010/main" val="1816274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8FF28-8FBB-4352-BDD6-79560868F903}"/>
              </a:ext>
            </a:extLst>
          </p:cNvPr>
          <p:cNvSpPr>
            <a:spLocks noGrp="1"/>
          </p:cNvSpPr>
          <p:nvPr>
            <p:ph type="title"/>
          </p:nvPr>
        </p:nvSpPr>
        <p:spPr/>
        <p:txBody>
          <a:bodyPr/>
          <a:lstStyle/>
          <a:p>
            <a:r>
              <a:rPr lang="en-US" dirty="0"/>
              <a:t>Back-edge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5812A3-13C0-4D15-9CB7-ADFC8BD37ADD}"/>
                  </a:ext>
                </a:extLst>
              </p:cNvPr>
              <p:cNvSpPr>
                <a:spLocks noGrp="1"/>
              </p:cNvSpPr>
              <p:nvPr>
                <p:ph idx="1"/>
              </p:nvPr>
            </p:nvSpPr>
            <p:spPr/>
            <p:txBody>
              <a:bodyPr/>
              <a:lstStyle/>
              <a:p>
                <a:r>
                  <a:rPr lang="en-US" dirty="0"/>
                  <a:t>A back-edge is an edge </a:t>
                </a:r>
                <a14:m>
                  <m:oMath xmlns:m="http://schemas.openxmlformats.org/officeDocument/2006/math">
                    <m:r>
                      <a:rPr lang="en-US" i="1">
                        <a:solidFill>
                          <a:schemeClr val="accent1"/>
                        </a:solidFill>
                        <a:latin typeface="Cambria Math" panose="02040503050406030204" pitchFamily="18" charset="0"/>
                      </a:rPr>
                      <m:t>𝑎</m:t>
                    </m:r>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rPr>
                      <m:t>𝑏</m:t>
                    </m:r>
                  </m:oMath>
                </a14:m>
                <a:r>
                  <a:rPr lang="en-IN" dirty="0">
                    <a:solidFill>
                      <a:schemeClr val="accent1"/>
                    </a:solidFill>
                  </a:rPr>
                  <a:t> </a:t>
                </a:r>
                <a:r>
                  <a:rPr lang="en-IN" dirty="0"/>
                  <a:t>whose head </a:t>
                </a:r>
                <a14:m>
                  <m:oMath xmlns:m="http://schemas.openxmlformats.org/officeDocument/2006/math">
                    <m:r>
                      <a:rPr lang="en-IN" i="1" dirty="0">
                        <a:solidFill>
                          <a:schemeClr val="accent1"/>
                        </a:solidFill>
                        <a:latin typeface="Cambria Math" panose="02040503050406030204" pitchFamily="18" charset="0"/>
                      </a:rPr>
                      <m:t>𝑏</m:t>
                    </m:r>
                  </m:oMath>
                </a14:m>
                <a:r>
                  <a:rPr lang="en-IN" dirty="0"/>
                  <a:t> dominates its tail </a:t>
                </a:r>
                <a14:m>
                  <m:oMath xmlns:m="http://schemas.openxmlformats.org/officeDocument/2006/math">
                    <m:r>
                      <a:rPr lang="en-IN" i="1" dirty="0">
                        <a:solidFill>
                          <a:schemeClr val="accent1"/>
                        </a:solidFill>
                        <a:latin typeface="Cambria Math" panose="02040503050406030204" pitchFamily="18" charset="0"/>
                      </a:rPr>
                      <m:t>𝑎</m:t>
                    </m:r>
                  </m:oMath>
                </a14:m>
                <a:endParaRPr lang="en-IN" dirty="0"/>
              </a:p>
            </p:txBody>
          </p:sp>
        </mc:Choice>
        <mc:Fallback xmlns="">
          <p:sp>
            <p:nvSpPr>
              <p:cNvPr id="3" name="Content Placeholder 2">
                <a:extLst>
                  <a:ext uri="{FF2B5EF4-FFF2-40B4-BE49-F238E27FC236}">
                    <a16:creationId xmlns:a16="http://schemas.microsoft.com/office/drawing/2014/main" id="{035812A3-13C0-4D15-9CB7-ADFC8BD37ADD}"/>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27578A60-A655-46D0-A07A-A28641AC970B}"/>
              </a:ext>
            </a:extLst>
          </p:cNvPr>
          <p:cNvSpPr/>
          <p:nvPr/>
        </p:nvSpPr>
        <p:spPr>
          <a:xfrm>
            <a:off x="4470400" y="278384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5" name="Oval 4">
            <a:extLst>
              <a:ext uri="{FF2B5EF4-FFF2-40B4-BE49-F238E27FC236}">
                <a16:creationId xmlns:a16="http://schemas.microsoft.com/office/drawing/2014/main" id="{06C13010-F814-4380-9B0A-6FF3657490A8}"/>
              </a:ext>
            </a:extLst>
          </p:cNvPr>
          <p:cNvSpPr/>
          <p:nvPr/>
        </p:nvSpPr>
        <p:spPr>
          <a:xfrm>
            <a:off x="4470400" y="371856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6" name="Oval 5">
            <a:extLst>
              <a:ext uri="{FF2B5EF4-FFF2-40B4-BE49-F238E27FC236}">
                <a16:creationId xmlns:a16="http://schemas.microsoft.com/office/drawing/2014/main" id="{3E85050F-4B8A-4408-9901-80CD6B3ABE36}"/>
              </a:ext>
            </a:extLst>
          </p:cNvPr>
          <p:cNvSpPr/>
          <p:nvPr/>
        </p:nvSpPr>
        <p:spPr>
          <a:xfrm>
            <a:off x="3698240" y="44196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7" name="Oval 6">
            <a:extLst>
              <a:ext uri="{FF2B5EF4-FFF2-40B4-BE49-F238E27FC236}">
                <a16:creationId xmlns:a16="http://schemas.microsoft.com/office/drawing/2014/main" id="{37357AEE-B62F-4F0E-8EF5-1BA2EEFA69DF}"/>
              </a:ext>
            </a:extLst>
          </p:cNvPr>
          <p:cNvSpPr/>
          <p:nvPr/>
        </p:nvSpPr>
        <p:spPr>
          <a:xfrm>
            <a:off x="2997200" y="5130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8" name="Oval 7">
            <a:extLst>
              <a:ext uri="{FF2B5EF4-FFF2-40B4-BE49-F238E27FC236}">
                <a16:creationId xmlns:a16="http://schemas.microsoft.com/office/drawing/2014/main" id="{580A2FA8-7FEC-4981-9924-FDDDF20DF96E}"/>
              </a:ext>
            </a:extLst>
          </p:cNvPr>
          <p:cNvSpPr/>
          <p:nvPr/>
        </p:nvSpPr>
        <p:spPr>
          <a:xfrm>
            <a:off x="4500880" y="5130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9" name="Oval 8">
            <a:extLst>
              <a:ext uri="{FF2B5EF4-FFF2-40B4-BE49-F238E27FC236}">
                <a16:creationId xmlns:a16="http://schemas.microsoft.com/office/drawing/2014/main" id="{B68AA045-C601-4DA7-BA28-DE6FED738736}"/>
              </a:ext>
            </a:extLst>
          </p:cNvPr>
          <p:cNvSpPr/>
          <p:nvPr/>
        </p:nvSpPr>
        <p:spPr>
          <a:xfrm>
            <a:off x="5344160" y="4368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cxnSp>
        <p:nvCxnSpPr>
          <p:cNvPr id="11" name="Straight Arrow Connector 10">
            <a:extLst>
              <a:ext uri="{FF2B5EF4-FFF2-40B4-BE49-F238E27FC236}">
                <a16:creationId xmlns:a16="http://schemas.microsoft.com/office/drawing/2014/main" id="{9C27DA63-3691-47F4-B1C6-645AF608D1AD}"/>
              </a:ext>
            </a:extLst>
          </p:cNvPr>
          <p:cNvCxnSpPr/>
          <p:nvPr/>
        </p:nvCxnSpPr>
        <p:spPr>
          <a:xfrm>
            <a:off x="4724400" y="2377440"/>
            <a:ext cx="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F9DFE92-BEFB-4CCC-87D0-019C2F6C6A02}"/>
              </a:ext>
            </a:extLst>
          </p:cNvPr>
          <p:cNvCxnSpPr>
            <a:stCxn id="4" idx="4"/>
            <a:endCxn id="5" idx="0"/>
          </p:cNvCxnSpPr>
          <p:nvPr/>
        </p:nvCxnSpPr>
        <p:spPr>
          <a:xfrm>
            <a:off x="4714240" y="3312160"/>
            <a:ext cx="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9635C38-C10B-478F-BB4C-3C68D586AA6C}"/>
              </a:ext>
            </a:extLst>
          </p:cNvPr>
          <p:cNvCxnSpPr>
            <a:stCxn id="5" idx="3"/>
            <a:endCxn id="6" idx="7"/>
          </p:cNvCxnSpPr>
          <p:nvPr/>
        </p:nvCxnSpPr>
        <p:spPr>
          <a:xfrm flipH="1">
            <a:off x="4114501" y="4169509"/>
            <a:ext cx="427318" cy="32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23ADA26-C6D1-4EED-9D10-2EBB12030607}"/>
              </a:ext>
            </a:extLst>
          </p:cNvPr>
          <p:cNvCxnSpPr>
            <a:cxnSpLocks/>
            <a:stCxn id="5" idx="5"/>
            <a:endCxn id="9" idx="1"/>
          </p:cNvCxnSpPr>
          <p:nvPr/>
        </p:nvCxnSpPr>
        <p:spPr>
          <a:xfrm>
            <a:off x="4886661" y="4169509"/>
            <a:ext cx="528918" cy="276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288C8B3-799E-42D7-B11E-033524253B32}"/>
              </a:ext>
            </a:extLst>
          </p:cNvPr>
          <p:cNvCxnSpPr>
            <a:stCxn id="6" idx="5"/>
            <a:endCxn id="8" idx="1"/>
          </p:cNvCxnSpPr>
          <p:nvPr/>
        </p:nvCxnSpPr>
        <p:spPr>
          <a:xfrm>
            <a:off x="4114501" y="4870549"/>
            <a:ext cx="4577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89B7DF8-AEC6-41E1-90D8-50E3C214E08C}"/>
              </a:ext>
            </a:extLst>
          </p:cNvPr>
          <p:cNvCxnSpPr>
            <a:stCxn id="9" idx="3"/>
            <a:endCxn id="8" idx="7"/>
          </p:cNvCxnSpPr>
          <p:nvPr/>
        </p:nvCxnSpPr>
        <p:spPr>
          <a:xfrm flipH="1">
            <a:off x="4917141" y="4819749"/>
            <a:ext cx="498438" cy="388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4429AD5-3712-4BBB-8833-4C6EF725E5B6}"/>
              </a:ext>
            </a:extLst>
          </p:cNvPr>
          <p:cNvCxnSpPr>
            <a:stCxn id="6" idx="3"/>
            <a:endCxn id="7" idx="7"/>
          </p:cNvCxnSpPr>
          <p:nvPr/>
        </p:nvCxnSpPr>
        <p:spPr>
          <a:xfrm flipH="1">
            <a:off x="3413461" y="4870549"/>
            <a:ext cx="3561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80C68213-9DEE-4AD9-82BE-F71C25FE2EB2}"/>
              </a:ext>
            </a:extLst>
          </p:cNvPr>
          <p:cNvCxnSpPr>
            <a:stCxn id="7" idx="2"/>
            <a:endCxn id="4" idx="1"/>
          </p:cNvCxnSpPr>
          <p:nvPr/>
        </p:nvCxnSpPr>
        <p:spPr>
          <a:xfrm rot="10800000" flipH="1">
            <a:off x="2997199" y="2861212"/>
            <a:ext cx="1544619" cy="2533749"/>
          </a:xfrm>
          <a:prstGeom prst="curvedConnector4">
            <a:avLst>
              <a:gd name="adj1" fmla="val -14800"/>
              <a:gd name="adj2" fmla="val 11207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2C9989B3-F552-4C24-89C4-12175D7D3595}"/>
              </a:ext>
            </a:extLst>
          </p:cNvPr>
          <p:cNvCxnSpPr>
            <a:stCxn id="9" idx="6"/>
            <a:endCxn id="4" idx="7"/>
          </p:cNvCxnSpPr>
          <p:nvPr/>
        </p:nvCxnSpPr>
        <p:spPr>
          <a:xfrm flipH="1" flipV="1">
            <a:off x="4886661" y="2861211"/>
            <a:ext cx="945179" cy="1771749"/>
          </a:xfrm>
          <a:prstGeom prst="curvedConnector4">
            <a:avLst>
              <a:gd name="adj1" fmla="val -24186"/>
              <a:gd name="adj2" fmla="val 11726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9508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8FF28-8FBB-4352-BDD6-79560868F903}"/>
              </a:ext>
            </a:extLst>
          </p:cNvPr>
          <p:cNvSpPr>
            <a:spLocks noGrp="1"/>
          </p:cNvSpPr>
          <p:nvPr>
            <p:ph type="title"/>
          </p:nvPr>
        </p:nvSpPr>
        <p:spPr/>
        <p:txBody>
          <a:bodyPr/>
          <a:lstStyle/>
          <a:p>
            <a:r>
              <a:rPr lang="en-US" dirty="0"/>
              <a:t>Back-edge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5812A3-13C0-4D15-9CB7-ADFC8BD37ADD}"/>
                  </a:ext>
                </a:extLst>
              </p:cNvPr>
              <p:cNvSpPr>
                <a:spLocks noGrp="1"/>
              </p:cNvSpPr>
              <p:nvPr>
                <p:ph idx="1"/>
              </p:nvPr>
            </p:nvSpPr>
            <p:spPr/>
            <p:txBody>
              <a:bodyPr/>
              <a:lstStyle/>
              <a:p>
                <a:r>
                  <a:rPr lang="en-US" dirty="0"/>
                  <a:t>A back-edge is an edge </a:t>
                </a:r>
                <a14:m>
                  <m:oMath xmlns:m="http://schemas.openxmlformats.org/officeDocument/2006/math">
                    <m:r>
                      <a:rPr lang="en-US" i="1" smtClean="0">
                        <a:solidFill>
                          <a:schemeClr val="accent1"/>
                        </a:solidFill>
                        <a:latin typeface="Cambria Math" panose="02040503050406030204" pitchFamily="18" charset="0"/>
                      </a:rPr>
                      <m:t>𝑎</m:t>
                    </m:r>
                    <m:r>
                      <a:rPr lang="en-US" i="1" smtClean="0">
                        <a:solidFill>
                          <a:schemeClr val="accent1"/>
                        </a:solidFill>
                        <a:latin typeface="Cambria Math" panose="02040503050406030204" pitchFamily="18" charset="0"/>
                      </a:rPr>
                      <m:t>→</m:t>
                    </m:r>
                    <m:r>
                      <a:rPr lang="en-US" i="1" smtClean="0">
                        <a:solidFill>
                          <a:schemeClr val="accent1"/>
                        </a:solidFill>
                        <a:latin typeface="Cambria Math" panose="02040503050406030204" pitchFamily="18" charset="0"/>
                      </a:rPr>
                      <m:t>𝑏</m:t>
                    </m:r>
                  </m:oMath>
                </a14:m>
                <a:r>
                  <a:rPr lang="en-IN" dirty="0">
                    <a:solidFill>
                      <a:schemeClr val="accent1"/>
                    </a:solidFill>
                  </a:rPr>
                  <a:t> </a:t>
                </a:r>
                <a:r>
                  <a:rPr lang="en-IN" dirty="0"/>
                  <a:t>whose head </a:t>
                </a:r>
                <a14:m>
                  <m:oMath xmlns:m="http://schemas.openxmlformats.org/officeDocument/2006/math">
                    <m:r>
                      <a:rPr lang="en-IN" i="1" dirty="0" smtClean="0">
                        <a:solidFill>
                          <a:schemeClr val="accent1"/>
                        </a:solidFill>
                        <a:latin typeface="Cambria Math" panose="02040503050406030204" pitchFamily="18" charset="0"/>
                      </a:rPr>
                      <m:t>𝑏</m:t>
                    </m:r>
                  </m:oMath>
                </a14:m>
                <a:r>
                  <a:rPr lang="en-IN" dirty="0"/>
                  <a:t> dominates its tail </a:t>
                </a:r>
                <a14:m>
                  <m:oMath xmlns:m="http://schemas.openxmlformats.org/officeDocument/2006/math">
                    <m:r>
                      <a:rPr lang="en-IN" i="1" dirty="0" smtClean="0">
                        <a:solidFill>
                          <a:schemeClr val="accent1"/>
                        </a:solidFill>
                        <a:latin typeface="Cambria Math" panose="02040503050406030204" pitchFamily="18" charset="0"/>
                      </a:rPr>
                      <m:t>𝑎</m:t>
                    </m:r>
                  </m:oMath>
                </a14:m>
                <a:endParaRPr lang="en-IN" dirty="0"/>
              </a:p>
            </p:txBody>
          </p:sp>
        </mc:Choice>
        <mc:Fallback xmlns="">
          <p:sp>
            <p:nvSpPr>
              <p:cNvPr id="3" name="Content Placeholder 2">
                <a:extLst>
                  <a:ext uri="{FF2B5EF4-FFF2-40B4-BE49-F238E27FC236}">
                    <a16:creationId xmlns:a16="http://schemas.microsoft.com/office/drawing/2014/main" id="{035812A3-13C0-4D15-9CB7-ADFC8BD37ADD}"/>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27578A60-A655-46D0-A07A-A28641AC970B}"/>
              </a:ext>
            </a:extLst>
          </p:cNvPr>
          <p:cNvSpPr/>
          <p:nvPr/>
        </p:nvSpPr>
        <p:spPr>
          <a:xfrm>
            <a:off x="4470400" y="373888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5" name="Oval 4">
            <a:extLst>
              <a:ext uri="{FF2B5EF4-FFF2-40B4-BE49-F238E27FC236}">
                <a16:creationId xmlns:a16="http://schemas.microsoft.com/office/drawing/2014/main" id="{06C13010-F814-4380-9B0A-6FF3657490A8}"/>
              </a:ext>
            </a:extLst>
          </p:cNvPr>
          <p:cNvSpPr/>
          <p:nvPr/>
        </p:nvSpPr>
        <p:spPr>
          <a:xfrm>
            <a:off x="4470400" y="455168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6" name="Oval 5">
            <a:extLst>
              <a:ext uri="{FF2B5EF4-FFF2-40B4-BE49-F238E27FC236}">
                <a16:creationId xmlns:a16="http://schemas.microsoft.com/office/drawing/2014/main" id="{3E85050F-4B8A-4408-9901-80CD6B3ABE36}"/>
              </a:ext>
            </a:extLst>
          </p:cNvPr>
          <p:cNvSpPr/>
          <p:nvPr/>
        </p:nvSpPr>
        <p:spPr>
          <a:xfrm>
            <a:off x="3698240" y="525272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7" name="Oval 6">
            <a:extLst>
              <a:ext uri="{FF2B5EF4-FFF2-40B4-BE49-F238E27FC236}">
                <a16:creationId xmlns:a16="http://schemas.microsoft.com/office/drawing/2014/main" id="{37357AEE-B62F-4F0E-8EF5-1BA2EEFA69DF}"/>
              </a:ext>
            </a:extLst>
          </p:cNvPr>
          <p:cNvSpPr/>
          <p:nvPr/>
        </p:nvSpPr>
        <p:spPr>
          <a:xfrm>
            <a:off x="2997200" y="596392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8" name="Oval 7">
            <a:extLst>
              <a:ext uri="{FF2B5EF4-FFF2-40B4-BE49-F238E27FC236}">
                <a16:creationId xmlns:a16="http://schemas.microsoft.com/office/drawing/2014/main" id="{580A2FA8-7FEC-4981-9924-FDDDF20DF96E}"/>
              </a:ext>
            </a:extLst>
          </p:cNvPr>
          <p:cNvSpPr/>
          <p:nvPr/>
        </p:nvSpPr>
        <p:spPr>
          <a:xfrm>
            <a:off x="4500880" y="596392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9" name="Oval 8">
            <a:extLst>
              <a:ext uri="{FF2B5EF4-FFF2-40B4-BE49-F238E27FC236}">
                <a16:creationId xmlns:a16="http://schemas.microsoft.com/office/drawing/2014/main" id="{B68AA045-C601-4DA7-BA28-DE6FED738736}"/>
              </a:ext>
            </a:extLst>
          </p:cNvPr>
          <p:cNvSpPr/>
          <p:nvPr/>
        </p:nvSpPr>
        <p:spPr>
          <a:xfrm>
            <a:off x="5344160" y="520192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cxnSp>
        <p:nvCxnSpPr>
          <p:cNvPr id="11" name="Straight Arrow Connector 10">
            <a:extLst>
              <a:ext uri="{FF2B5EF4-FFF2-40B4-BE49-F238E27FC236}">
                <a16:creationId xmlns:a16="http://schemas.microsoft.com/office/drawing/2014/main" id="{9C27DA63-3691-47F4-B1C6-645AF608D1AD}"/>
              </a:ext>
            </a:extLst>
          </p:cNvPr>
          <p:cNvCxnSpPr/>
          <p:nvPr/>
        </p:nvCxnSpPr>
        <p:spPr>
          <a:xfrm>
            <a:off x="4724400" y="2377440"/>
            <a:ext cx="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F9DFE92-BEFB-4CCC-87D0-019C2F6C6A02}"/>
              </a:ext>
            </a:extLst>
          </p:cNvPr>
          <p:cNvCxnSpPr>
            <a:cxnSpLocks/>
            <a:stCxn id="4" idx="4"/>
            <a:endCxn id="5" idx="0"/>
          </p:cNvCxnSpPr>
          <p:nvPr/>
        </p:nvCxnSpPr>
        <p:spPr>
          <a:xfrm>
            <a:off x="4714240" y="4267200"/>
            <a:ext cx="0" cy="284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9635C38-C10B-478F-BB4C-3C68D586AA6C}"/>
              </a:ext>
            </a:extLst>
          </p:cNvPr>
          <p:cNvCxnSpPr>
            <a:stCxn id="5" idx="3"/>
            <a:endCxn id="6" idx="7"/>
          </p:cNvCxnSpPr>
          <p:nvPr/>
        </p:nvCxnSpPr>
        <p:spPr>
          <a:xfrm flipH="1">
            <a:off x="4114501" y="5002629"/>
            <a:ext cx="427318" cy="32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23ADA26-C6D1-4EED-9D10-2EBB12030607}"/>
              </a:ext>
            </a:extLst>
          </p:cNvPr>
          <p:cNvCxnSpPr>
            <a:cxnSpLocks/>
            <a:stCxn id="5" idx="5"/>
            <a:endCxn id="9" idx="1"/>
          </p:cNvCxnSpPr>
          <p:nvPr/>
        </p:nvCxnSpPr>
        <p:spPr>
          <a:xfrm>
            <a:off x="4886661" y="5002629"/>
            <a:ext cx="528918" cy="276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288C8B3-799E-42D7-B11E-033524253B32}"/>
              </a:ext>
            </a:extLst>
          </p:cNvPr>
          <p:cNvCxnSpPr>
            <a:stCxn id="6" idx="5"/>
            <a:endCxn id="8" idx="1"/>
          </p:cNvCxnSpPr>
          <p:nvPr/>
        </p:nvCxnSpPr>
        <p:spPr>
          <a:xfrm>
            <a:off x="4114501" y="5703669"/>
            <a:ext cx="4577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89B7DF8-AEC6-41E1-90D8-50E3C214E08C}"/>
              </a:ext>
            </a:extLst>
          </p:cNvPr>
          <p:cNvCxnSpPr>
            <a:stCxn id="9" idx="3"/>
            <a:endCxn id="8" idx="7"/>
          </p:cNvCxnSpPr>
          <p:nvPr/>
        </p:nvCxnSpPr>
        <p:spPr>
          <a:xfrm flipH="1">
            <a:off x="4917141" y="5652869"/>
            <a:ext cx="498438" cy="388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4429AD5-3712-4BBB-8833-4C6EF725E5B6}"/>
              </a:ext>
            </a:extLst>
          </p:cNvPr>
          <p:cNvCxnSpPr>
            <a:stCxn id="6" idx="3"/>
            <a:endCxn id="7" idx="7"/>
          </p:cNvCxnSpPr>
          <p:nvPr/>
        </p:nvCxnSpPr>
        <p:spPr>
          <a:xfrm flipH="1">
            <a:off x="3413461" y="5703669"/>
            <a:ext cx="3561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80C68213-9DEE-4AD9-82BE-F71C25FE2EB2}"/>
              </a:ext>
            </a:extLst>
          </p:cNvPr>
          <p:cNvCxnSpPr>
            <a:cxnSpLocks/>
            <a:stCxn id="7" idx="2"/>
            <a:endCxn id="4" idx="1"/>
          </p:cNvCxnSpPr>
          <p:nvPr/>
        </p:nvCxnSpPr>
        <p:spPr>
          <a:xfrm rot="10800000" flipH="1">
            <a:off x="2997199" y="3816252"/>
            <a:ext cx="1544619" cy="2411829"/>
          </a:xfrm>
          <a:prstGeom prst="curvedConnector4">
            <a:avLst>
              <a:gd name="adj1" fmla="val -14800"/>
              <a:gd name="adj2" fmla="val 11268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2C9989B3-F552-4C24-89C4-12175D7D3595}"/>
              </a:ext>
            </a:extLst>
          </p:cNvPr>
          <p:cNvCxnSpPr>
            <a:cxnSpLocks/>
            <a:stCxn id="9" idx="6"/>
            <a:endCxn id="4" idx="7"/>
          </p:cNvCxnSpPr>
          <p:nvPr/>
        </p:nvCxnSpPr>
        <p:spPr>
          <a:xfrm flipH="1" flipV="1">
            <a:off x="4886661" y="3816251"/>
            <a:ext cx="945179" cy="1649829"/>
          </a:xfrm>
          <a:prstGeom prst="curvedConnector4">
            <a:avLst>
              <a:gd name="adj1" fmla="val -24186"/>
              <a:gd name="adj2" fmla="val 118546"/>
            </a:avLst>
          </a:prstGeom>
          <a:ln>
            <a:tailEnd type="triangle"/>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ED51DD19-FDBE-43E9-8BF4-F7004BDBC51E}"/>
              </a:ext>
            </a:extLst>
          </p:cNvPr>
          <p:cNvSpPr/>
          <p:nvPr/>
        </p:nvSpPr>
        <p:spPr>
          <a:xfrm>
            <a:off x="4480560" y="278384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cxnSp>
        <p:nvCxnSpPr>
          <p:cNvPr id="145" name="Straight Arrow Connector 144">
            <a:extLst>
              <a:ext uri="{FF2B5EF4-FFF2-40B4-BE49-F238E27FC236}">
                <a16:creationId xmlns:a16="http://schemas.microsoft.com/office/drawing/2014/main" id="{DC2B1651-2DF6-4FB1-ADB5-4847857B3AA9}"/>
              </a:ext>
            </a:extLst>
          </p:cNvPr>
          <p:cNvCxnSpPr>
            <a:stCxn id="143" idx="4"/>
            <a:endCxn id="4" idx="0"/>
          </p:cNvCxnSpPr>
          <p:nvPr/>
        </p:nvCxnSpPr>
        <p:spPr>
          <a:xfrm flipH="1">
            <a:off x="4714240" y="3312160"/>
            <a:ext cx="10160" cy="426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Connector: Curved 146">
            <a:extLst>
              <a:ext uri="{FF2B5EF4-FFF2-40B4-BE49-F238E27FC236}">
                <a16:creationId xmlns:a16="http://schemas.microsoft.com/office/drawing/2014/main" id="{D2BFD7ED-55FE-442B-A835-B3C8D987802C}"/>
              </a:ext>
            </a:extLst>
          </p:cNvPr>
          <p:cNvCxnSpPr>
            <a:stCxn id="143" idx="5"/>
            <a:endCxn id="5" idx="6"/>
          </p:cNvCxnSpPr>
          <p:nvPr/>
        </p:nvCxnSpPr>
        <p:spPr>
          <a:xfrm rot="16200000" flipH="1">
            <a:off x="4136925" y="3994684"/>
            <a:ext cx="1581051" cy="61259"/>
          </a:xfrm>
          <a:prstGeom prst="curvedConnector4">
            <a:avLst>
              <a:gd name="adj1" fmla="val 3855"/>
              <a:gd name="adj2" fmla="val 489755"/>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648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E60F-D68F-4546-841C-AF9842D7DCB4}"/>
              </a:ext>
            </a:extLst>
          </p:cNvPr>
          <p:cNvSpPr>
            <a:spLocks noGrp="1"/>
          </p:cNvSpPr>
          <p:nvPr>
            <p:ph type="title"/>
          </p:nvPr>
        </p:nvSpPr>
        <p:spPr/>
        <p:txBody>
          <a:bodyPr/>
          <a:lstStyle/>
          <a:p>
            <a:r>
              <a:rPr lang="en-US" dirty="0"/>
              <a:t>Natural loop</a:t>
            </a:r>
            <a:endParaRPr lang="en-IN" dirty="0"/>
          </a:p>
        </p:txBody>
      </p:sp>
      <p:sp>
        <p:nvSpPr>
          <p:cNvPr id="3" name="Content Placeholder 2">
            <a:extLst>
              <a:ext uri="{FF2B5EF4-FFF2-40B4-BE49-F238E27FC236}">
                <a16:creationId xmlns:a16="http://schemas.microsoft.com/office/drawing/2014/main" id="{756137C3-E6FD-4C00-8D8F-B58F7CC38CA1}"/>
              </a:ext>
            </a:extLst>
          </p:cNvPr>
          <p:cNvSpPr>
            <a:spLocks noGrp="1"/>
          </p:cNvSpPr>
          <p:nvPr>
            <p:ph idx="1"/>
          </p:nvPr>
        </p:nvSpPr>
        <p:spPr/>
        <p:txBody>
          <a:bodyPr/>
          <a:lstStyle/>
          <a:p>
            <a:r>
              <a:rPr lang="en-US" dirty="0"/>
              <a:t>A </a:t>
            </a:r>
            <a:r>
              <a:rPr lang="en-US" dirty="0">
                <a:solidFill>
                  <a:schemeClr val="accent1"/>
                </a:solidFill>
              </a:rPr>
              <a:t>natural loop </a:t>
            </a:r>
            <a:r>
              <a:rPr lang="en-US" dirty="0"/>
              <a:t>has the following properties</a:t>
            </a:r>
          </a:p>
          <a:p>
            <a:pPr lvl="1"/>
            <a:r>
              <a:rPr lang="en-US" dirty="0"/>
              <a:t>It has a single-entry node called </a:t>
            </a:r>
            <a:r>
              <a:rPr lang="en-US" dirty="0">
                <a:solidFill>
                  <a:schemeClr val="accent1"/>
                </a:solidFill>
              </a:rPr>
              <a:t>header</a:t>
            </a:r>
            <a:r>
              <a:rPr lang="en-US" dirty="0"/>
              <a:t> that dominates all the nodes in the loop</a:t>
            </a:r>
          </a:p>
          <a:p>
            <a:pPr lvl="1"/>
            <a:r>
              <a:rPr lang="en-US" dirty="0"/>
              <a:t>There must be a </a:t>
            </a:r>
            <a:r>
              <a:rPr lang="en-US" dirty="0">
                <a:solidFill>
                  <a:schemeClr val="accent1"/>
                </a:solidFill>
              </a:rPr>
              <a:t>back edge </a:t>
            </a:r>
            <a:r>
              <a:rPr lang="en-US" dirty="0"/>
              <a:t>to the </a:t>
            </a:r>
            <a:r>
              <a:rPr lang="en-US" dirty="0">
                <a:solidFill>
                  <a:schemeClr val="accent1"/>
                </a:solidFill>
              </a:rPr>
              <a:t>loop header</a:t>
            </a:r>
          </a:p>
          <a:p>
            <a:pPr lvl="1"/>
            <a:endParaRPr lang="en-US" dirty="0"/>
          </a:p>
          <a:p>
            <a:r>
              <a:rPr lang="en-US" dirty="0"/>
              <a:t>Natural loops are easy to optimize</a:t>
            </a:r>
          </a:p>
          <a:p>
            <a:r>
              <a:rPr lang="en-US" dirty="0"/>
              <a:t>Most loops (e.g., for, while, do-while, etc.) are natural loop</a:t>
            </a:r>
            <a:endParaRPr lang="en-IN" dirty="0"/>
          </a:p>
        </p:txBody>
      </p:sp>
    </p:spTree>
    <p:extLst>
      <p:ext uri="{BB962C8B-B14F-4D97-AF65-F5344CB8AC3E}">
        <p14:creationId xmlns:p14="http://schemas.microsoft.com/office/powerpoint/2010/main" val="107848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C0DBE-9E78-43B5-8495-2ADE60B06D52}"/>
              </a:ext>
            </a:extLst>
          </p:cNvPr>
          <p:cNvSpPr>
            <a:spLocks noGrp="1"/>
          </p:cNvSpPr>
          <p:nvPr>
            <p:ph type="title"/>
          </p:nvPr>
        </p:nvSpPr>
        <p:spPr/>
        <p:txBody>
          <a:bodyPr/>
          <a:lstStyle/>
          <a:p>
            <a:r>
              <a:rPr lang="en-US" dirty="0"/>
              <a:t>Natural loop</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64353A-57D9-4854-AE05-FFAD73600E06}"/>
                  </a:ext>
                </a:extLst>
              </p:cNvPr>
              <p:cNvSpPr>
                <a:spLocks noGrp="1"/>
              </p:cNvSpPr>
              <p:nvPr>
                <p:ph idx="1"/>
              </p:nvPr>
            </p:nvSpPr>
            <p:spPr/>
            <p:txBody>
              <a:bodyPr/>
              <a:lstStyle/>
              <a:p>
                <a:r>
                  <a:rPr lang="en-US" dirty="0"/>
                  <a:t>Given a back edge </a:t>
                </a:r>
                <a14:m>
                  <m:oMath xmlns:m="http://schemas.openxmlformats.org/officeDocument/2006/math">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𝑑</m:t>
                    </m:r>
                  </m:oMath>
                </a14:m>
                <a:r>
                  <a:rPr lang="en-IN" dirty="0"/>
                  <a:t>, the natural loop of edge consists of node </a:t>
                </a:r>
                <a14:m>
                  <m:oMath xmlns:m="http://schemas.openxmlformats.org/officeDocument/2006/math">
                    <m:r>
                      <a:rPr lang="en-IN" i="1" dirty="0" smtClean="0">
                        <a:solidFill>
                          <a:schemeClr val="accent1"/>
                        </a:solidFill>
                        <a:latin typeface="Cambria Math" panose="02040503050406030204" pitchFamily="18" charset="0"/>
                      </a:rPr>
                      <m:t>𝑑</m:t>
                    </m:r>
                  </m:oMath>
                </a14:m>
                <a:r>
                  <a:rPr lang="en-IN" dirty="0"/>
                  <a:t> and all the nodes that can reach </a:t>
                </a:r>
                <a14:m>
                  <m:oMath xmlns:m="http://schemas.openxmlformats.org/officeDocument/2006/math">
                    <m:r>
                      <a:rPr lang="en-IN" i="1" dirty="0" smtClean="0">
                        <a:solidFill>
                          <a:schemeClr val="accent1"/>
                        </a:solidFill>
                        <a:latin typeface="Cambria Math" panose="02040503050406030204" pitchFamily="18" charset="0"/>
                      </a:rPr>
                      <m:t>𝑛</m:t>
                    </m:r>
                  </m:oMath>
                </a14:m>
                <a:r>
                  <a:rPr lang="en-IN" dirty="0"/>
                  <a:t> without going through </a:t>
                </a:r>
                <a14:m>
                  <m:oMath xmlns:m="http://schemas.openxmlformats.org/officeDocument/2006/math">
                    <m:r>
                      <a:rPr lang="en-IN" i="1" dirty="0" smtClean="0">
                        <a:solidFill>
                          <a:schemeClr val="accent1"/>
                        </a:solidFill>
                        <a:latin typeface="Cambria Math" panose="02040503050406030204" pitchFamily="18" charset="0"/>
                      </a:rPr>
                      <m:t>𝑑</m:t>
                    </m:r>
                  </m:oMath>
                </a14:m>
                <a:endParaRPr lang="en-IN" dirty="0"/>
              </a:p>
              <a:p>
                <a:endParaRPr lang="en-IN" dirty="0"/>
              </a:p>
              <a:p>
                <a:r>
                  <a:rPr lang="en-IN" dirty="0"/>
                  <a:t>Node </a:t>
                </a:r>
                <a14:m>
                  <m:oMath xmlns:m="http://schemas.openxmlformats.org/officeDocument/2006/math">
                    <m:r>
                      <a:rPr lang="en-IN" i="1" dirty="0" smtClean="0">
                        <a:solidFill>
                          <a:schemeClr val="accent1"/>
                        </a:solidFill>
                        <a:latin typeface="Cambria Math" panose="02040503050406030204" pitchFamily="18" charset="0"/>
                      </a:rPr>
                      <m:t>𝑑</m:t>
                    </m:r>
                  </m:oMath>
                </a14:m>
                <a:r>
                  <a:rPr lang="en-IN" dirty="0"/>
                  <a:t> is the header of the loop</a:t>
                </a:r>
              </a:p>
              <a:p>
                <a:endParaRPr lang="en-IN" dirty="0"/>
              </a:p>
              <a:p>
                <a:endParaRPr lang="en-IN" dirty="0"/>
              </a:p>
              <a:p>
                <a:endParaRPr lang="en-IN" dirty="0"/>
              </a:p>
              <a:p>
                <a:r>
                  <a:rPr lang="en-IN" dirty="0"/>
                  <a:t>Read Section-9.6.6 from the dragon book</a:t>
                </a:r>
              </a:p>
            </p:txBody>
          </p:sp>
        </mc:Choice>
        <mc:Fallback xmlns="">
          <p:sp>
            <p:nvSpPr>
              <p:cNvPr id="3" name="Content Placeholder 2">
                <a:extLst>
                  <a:ext uri="{FF2B5EF4-FFF2-40B4-BE49-F238E27FC236}">
                    <a16:creationId xmlns:a16="http://schemas.microsoft.com/office/drawing/2014/main" id="{6E64353A-57D9-4854-AE05-FFAD73600E06}"/>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669240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8FF28-8FBB-4352-BDD6-79560868F903}"/>
              </a:ext>
            </a:extLst>
          </p:cNvPr>
          <p:cNvSpPr>
            <a:spLocks noGrp="1"/>
          </p:cNvSpPr>
          <p:nvPr>
            <p:ph type="title"/>
          </p:nvPr>
        </p:nvSpPr>
        <p:spPr/>
        <p:txBody>
          <a:bodyPr/>
          <a:lstStyle/>
          <a:p>
            <a:r>
              <a:rPr lang="en-US" dirty="0"/>
              <a:t>Natural loop</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5812A3-13C0-4D15-9CB7-ADFC8BD37ADD}"/>
                  </a:ext>
                </a:extLst>
              </p:cNvPr>
              <p:cNvSpPr>
                <a:spLocks noGrp="1"/>
              </p:cNvSpPr>
              <p:nvPr>
                <p:ph idx="1"/>
              </p:nvPr>
            </p:nvSpPr>
            <p:spPr/>
            <p:txBody>
              <a:bodyPr/>
              <a:lstStyle/>
              <a:p>
                <a:r>
                  <a:rPr lang="en-US" dirty="0"/>
                  <a:t>Finding all basic-blocks in the loop corresponding to back edge </a:t>
                </a:r>
                <a14:m>
                  <m:oMath xmlns:m="http://schemas.openxmlformats.org/officeDocument/2006/math">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𝑑</m:t>
                    </m:r>
                  </m:oMath>
                </a14:m>
                <a:endParaRPr lang="en-IN" dirty="0"/>
              </a:p>
            </p:txBody>
          </p:sp>
        </mc:Choice>
        <mc:Fallback xmlns="">
          <p:sp>
            <p:nvSpPr>
              <p:cNvPr id="3" name="Content Placeholder 2">
                <a:extLst>
                  <a:ext uri="{FF2B5EF4-FFF2-40B4-BE49-F238E27FC236}">
                    <a16:creationId xmlns:a16="http://schemas.microsoft.com/office/drawing/2014/main" id="{035812A3-13C0-4D15-9CB7-ADFC8BD37ADD}"/>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27578A60-A655-46D0-A07A-A28641AC970B}"/>
              </a:ext>
            </a:extLst>
          </p:cNvPr>
          <p:cNvSpPr/>
          <p:nvPr/>
        </p:nvSpPr>
        <p:spPr>
          <a:xfrm>
            <a:off x="4470400" y="278384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5" name="Oval 4">
            <a:extLst>
              <a:ext uri="{FF2B5EF4-FFF2-40B4-BE49-F238E27FC236}">
                <a16:creationId xmlns:a16="http://schemas.microsoft.com/office/drawing/2014/main" id="{06C13010-F814-4380-9B0A-6FF3657490A8}"/>
              </a:ext>
            </a:extLst>
          </p:cNvPr>
          <p:cNvSpPr/>
          <p:nvPr/>
        </p:nvSpPr>
        <p:spPr>
          <a:xfrm>
            <a:off x="4470400" y="371856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6" name="Oval 5">
            <a:extLst>
              <a:ext uri="{FF2B5EF4-FFF2-40B4-BE49-F238E27FC236}">
                <a16:creationId xmlns:a16="http://schemas.microsoft.com/office/drawing/2014/main" id="{3E85050F-4B8A-4408-9901-80CD6B3ABE36}"/>
              </a:ext>
            </a:extLst>
          </p:cNvPr>
          <p:cNvSpPr/>
          <p:nvPr/>
        </p:nvSpPr>
        <p:spPr>
          <a:xfrm>
            <a:off x="3698240" y="44196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7" name="Oval 6">
            <a:extLst>
              <a:ext uri="{FF2B5EF4-FFF2-40B4-BE49-F238E27FC236}">
                <a16:creationId xmlns:a16="http://schemas.microsoft.com/office/drawing/2014/main" id="{37357AEE-B62F-4F0E-8EF5-1BA2EEFA69DF}"/>
              </a:ext>
            </a:extLst>
          </p:cNvPr>
          <p:cNvSpPr/>
          <p:nvPr/>
        </p:nvSpPr>
        <p:spPr>
          <a:xfrm>
            <a:off x="2997200" y="5130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8" name="Oval 7">
            <a:extLst>
              <a:ext uri="{FF2B5EF4-FFF2-40B4-BE49-F238E27FC236}">
                <a16:creationId xmlns:a16="http://schemas.microsoft.com/office/drawing/2014/main" id="{580A2FA8-7FEC-4981-9924-FDDDF20DF96E}"/>
              </a:ext>
            </a:extLst>
          </p:cNvPr>
          <p:cNvSpPr/>
          <p:nvPr/>
        </p:nvSpPr>
        <p:spPr>
          <a:xfrm>
            <a:off x="4500880" y="5130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9" name="Oval 8">
            <a:extLst>
              <a:ext uri="{FF2B5EF4-FFF2-40B4-BE49-F238E27FC236}">
                <a16:creationId xmlns:a16="http://schemas.microsoft.com/office/drawing/2014/main" id="{B68AA045-C601-4DA7-BA28-DE6FED738736}"/>
              </a:ext>
            </a:extLst>
          </p:cNvPr>
          <p:cNvSpPr/>
          <p:nvPr/>
        </p:nvSpPr>
        <p:spPr>
          <a:xfrm>
            <a:off x="5344160" y="4368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cxnSp>
        <p:nvCxnSpPr>
          <p:cNvPr id="11" name="Straight Arrow Connector 10">
            <a:extLst>
              <a:ext uri="{FF2B5EF4-FFF2-40B4-BE49-F238E27FC236}">
                <a16:creationId xmlns:a16="http://schemas.microsoft.com/office/drawing/2014/main" id="{9C27DA63-3691-47F4-B1C6-645AF608D1AD}"/>
              </a:ext>
            </a:extLst>
          </p:cNvPr>
          <p:cNvCxnSpPr/>
          <p:nvPr/>
        </p:nvCxnSpPr>
        <p:spPr>
          <a:xfrm>
            <a:off x="4724400" y="2377440"/>
            <a:ext cx="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F9DFE92-BEFB-4CCC-87D0-019C2F6C6A02}"/>
              </a:ext>
            </a:extLst>
          </p:cNvPr>
          <p:cNvCxnSpPr>
            <a:stCxn id="4" idx="4"/>
            <a:endCxn id="5" idx="0"/>
          </p:cNvCxnSpPr>
          <p:nvPr/>
        </p:nvCxnSpPr>
        <p:spPr>
          <a:xfrm>
            <a:off x="4714240" y="3312160"/>
            <a:ext cx="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9635C38-C10B-478F-BB4C-3C68D586AA6C}"/>
              </a:ext>
            </a:extLst>
          </p:cNvPr>
          <p:cNvCxnSpPr>
            <a:stCxn id="5" idx="3"/>
            <a:endCxn id="6" idx="7"/>
          </p:cNvCxnSpPr>
          <p:nvPr/>
        </p:nvCxnSpPr>
        <p:spPr>
          <a:xfrm flipH="1">
            <a:off x="4114501" y="4169509"/>
            <a:ext cx="427318" cy="32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23ADA26-C6D1-4EED-9D10-2EBB12030607}"/>
              </a:ext>
            </a:extLst>
          </p:cNvPr>
          <p:cNvCxnSpPr>
            <a:cxnSpLocks/>
            <a:stCxn id="5" idx="5"/>
            <a:endCxn id="9" idx="1"/>
          </p:cNvCxnSpPr>
          <p:nvPr/>
        </p:nvCxnSpPr>
        <p:spPr>
          <a:xfrm>
            <a:off x="4886661" y="4169509"/>
            <a:ext cx="528918" cy="276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288C8B3-799E-42D7-B11E-033524253B32}"/>
              </a:ext>
            </a:extLst>
          </p:cNvPr>
          <p:cNvCxnSpPr>
            <a:stCxn id="6" idx="5"/>
            <a:endCxn id="8" idx="1"/>
          </p:cNvCxnSpPr>
          <p:nvPr/>
        </p:nvCxnSpPr>
        <p:spPr>
          <a:xfrm>
            <a:off x="4114501" y="4870549"/>
            <a:ext cx="4577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89B7DF8-AEC6-41E1-90D8-50E3C214E08C}"/>
              </a:ext>
            </a:extLst>
          </p:cNvPr>
          <p:cNvCxnSpPr>
            <a:stCxn id="9" idx="3"/>
            <a:endCxn id="8" idx="7"/>
          </p:cNvCxnSpPr>
          <p:nvPr/>
        </p:nvCxnSpPr>
        <p:spPr>
          <a:xfrm flipH="1">
            <a:off x="4917141" y="4819749"/>
            <a:ext cx="498438" cy="388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4429AD5-3712-4BBB-8833-4C6EF725E5B6}"/>
              </a:ext>
            </a:extLst>
          </p:cNvPr>
          <p:cNvCxnSpPr>
            <a:stCxn id="6" idx="3"/>
            <a:endCxn id="7" idx="7"/>
          </p:cNvCxnSpPr>
          <p:nvPr/>
        </p:nvCxnSpPr>
        <p:spPr>
          <a:xfrm flipH="1">
            <a:off x="3413461" y="4870549"/>
            <a:ext cx="3561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80C68213-9DEE-4AD9-82BE-F71C25FE2EB2}"/>
              </a:ext>
            </a:extLst>
          </p:cNvPr>
          <p:cNvCxnSpPr>
            <a:stCxn id="7" idx="2"/>
            <a:endCxn id="4" idx="1"/>
          </p:cNvCxnSpPr>
          <p:nvPr/>
        </p:nvCxnSpPr>
        <p:spPr>
          <a:xfrm rot="10800000" flipH="1">
            <a:off x="2997199" y="2861212"/>
            <a:ext cx="1544619" cy="2533749"/>
          </a:xfrm>
          <a:prstGeom prst="curvedConnector4">
            <a:avLst>
              <a:gd name="adj1" fmla="val -14800"/>
              <a:gd name="adj2" fmla="val 11207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2C9989B3-F552-4C24-89C4-12175D7D3595}"/>
              </a:ext>
            </a:extLst>
          </p:cNvPr>
          <p:cNvCxnSpPr>
            <a:stCxn id="9" idx="6"/>
            <a:endCxn id="4" idx="7"/>
          </p:cNvCxnSpPr>
          <p:nvPr/>
        </p:nvCxnSpPr>
        <p:spPr>
          <a:xfrm flipH="1" flipV="1">
            <a:off x="4886661" y="2861211"/>
            <a:ext cx="945179" cy="1771749"/>
          </a:xfrm>
          <a:prstGeom prst="curvedConnector4">
            <a:avLst>
              <a:gd name="adj1" fmla="val -24186"/>
              <a:gd name="adj2" fmla="val 11726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932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85D74-E6BB-8451-08E3-9E8A319DD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2BDBE-DF43-20D3-B5F7-11E97C7BFE3D}"/>
              </a:ext>
            </a:extLst>
          </p:cNvPr>
          <p:cNvSpPr>
            <a:spLocks noGrp="1"/>
          </p:cNvSpPr>
          <p:nvPr>
            <p:ph type="title"/>
          </p:nvPr>
        </p:nvSpPr>
        <p:spPr/>
        <p:txBody>
          <a:bodyPr/>
          <a:lstStyle/>
          <a:p>
            <a:r>
              <a:rPr lang="en-US" dirty="0"/>
              <a:t>Natural loop</a:t>
            </a:r>
            <a:endParaRPr lang="en-IN" dirty="0"/>
          </a:p>
        </p:txBody>
      </p:sp>
      <p:sp>
        <p:nvSpPr>
          <p:cNvPr id="3" name="Content Placeholder 2">
            <a:extLst>
              <a:ext uri="{FF2B5EF4-FFF2-40B4-BE49-F238E27FC236}">
                <a16:creationId xmlns:a16="http://schemas.microsoft.com/office/drawing/2014/main" id="{A2578C5A-1B1C-0814-6C4B-69962FA6E667}"/>
              </a:ext>
            </a:extLst>
          </p:cNvPr>
          <p:cNvSpPr>
            <a:spLocks noGrp="1"/>
          </p:cNvSpPr>
          <p:nvPr>
            <p:ph idx="1"/>
          </p:nvPr>
        </p:nvSpPr>
        <p:spPr/>
        <p:txBody>
          <a:bodyPr/>
          <a:lstStyle/>
          <a:p>
            <a:r>
              <a:rPr lang="en-US" dirty="0"/>
              <a:t>Reversed graph</a:t>
            </a:r>
            <a:endParaRPr lang="en-IN" dirty="0"/>
          </a:p>
        </p:txBody>
      </p:sp>
      <p:sp>
        <p:nvSpPr>
          <p:cNvPr id="4" name="Oval 3">
            <a:extLst>
              <a:ext uri="{FF2B5EF4-FFF2-40B4-BE49-F238E27FC236}">
                <a16:creationId xmlns:a16="http://schemas.microsoft.com/office/drawing/2014/main" id="{65CCF07D-A173-1801-71BF-A50120D5BB4E}"/>
              </a:ext>
            </a:extLst>
          </p:cNvPr>
          <p:cNvSpPr/>
          <p:nvPr/>
        </p:nvSpPr>
        <p:spPr>
          <a:xfrm>
            <a:off x="4470400" y="278384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5" name="Oval 4">
            <a:extLst>
              <a:ext uri="{FF2B5EF4-FFF2-40B4-BE49-F238E27FC236}">
                <a16:creationId xmlns:a16="http://schemas.microsoft.com/office/drawing/2014/main" id="{79943E11-2F02-4FFF-61D3-F0B3CFD785A4}"/>
              </a:ext>
            </a:extLst>
          </p:cNvPr>
          <p:cNvSpPr/>
          <p:nvPr/>
        </p:nvSpPr>
        <p:spPr>
          <a:xfrm>
            <a:off x="4470400" y="371856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6" name="Oval 5">
            <a:extLst>
              <a:ext uri="{FF2B5EF4-FFF2-40B4-BE49-F238E27FC236}">
                <a16:creationId xmlns:a16="http://schemas.microsoft.com/office/drawing/2014/main" id="{D1C13D0E-267A-48E0-54DB-41B7A82F4F2D}"/>
              </a:ext>
            </a:extLst>
          </p:cNvPr>
          <p:cNvSpPr/>
          <p:nvPr/>
        </p:nvSpPr>
        <p:spPr>
          <a:xfrm>
            <a:off x="3698240" y="44196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7" name="Oval 6">
            <a:extLst>
              <a:ext uri="{FF2B5EF4-FFF2-40B4-BE49-F238E27FC236}">
                <a16:creationId xmlns:a16="http://schemas.microsoft.com/office/drawing/2014/main" id="{731878DF-1E1B-A41E-D93E-4E6989A9D874}"/>
              </a:ext>
            </a:extLst>
          </p:cNvPr>
          <p:cNvSpPr/>
          <p:nvPr/>
        </p:nvSpPr>
        <p:spPr>
          <a:xfrm>
            <a:off x="2997200" y="5130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8" name="Oval 7">
            <a:extLst>
              <a:ext uri="{FF2B5EF4-FFF2-40B4-BE49-F238E27FC236}">
                <a16:creationId xmlns:a16="http://schemas.microsoft.com/office/drawing/2014/main" id="{38A4072F-E3C8-7EE3-1732-D12DB0AD3DC4}"/>
              </a:ext>
            </a:extLst>
          </p:cNvPr>
          <p:cNvSpPr/>
          <p:nvPr/>
        </p:nvSpPr>
        <p:spPr>
          <a:xfrm>
            <a:off x="4500880" y="5130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9" name="Oval 8">
            <a:extLst>
              <a:ext uri="{FF2B5EF4-FFF2-40B4-BE49-F238E27FC236}">
                <a16:creationId xmlns:a16="http://schemas.microsoft.com/office/drawing/2014/main" id="{6CF0B461-9244-91EF-0106-6875B0383152}"/>
              </a:ext>
            </a:extLst>
          </p:cNvPr>
          <p:cNvSpPr/>
          <p:nvPr/>
        </p:nvSpPr>
        <p:spPr>
          <a:xfrm>
            <a:off x="5344160" y="4368800"/>
            <a:ext cx="487680" cy="528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cxnSp>
        <p:nvCxnSpPr>
          <p:cNvPr id="13" name="Straight Arrow Connector 12">
            <a:extLst>
              <a:ext uri="{FF2B5EF4-FFF2-40B4-BE49-F238E27FC236}">
                <a16:creationId xmlns:a16="http://schemas.microsoft.com/office/drawing/2014/main" id="{855A1BC0-7142-AE64-C4E8-CCE073870B08}"/>
              </a:ext>
            </a:extLst>
          </p:cNvPr>
          <p:cNvCxnSpPr>
            <a:cxnSpLocks/>
          </p:cNvCxnSpPr>
          <p:nvPr/>
        </p:nvCxnSpPr>
        <p:spPr>
          <a:xfrm flipH="1" flipV="1">
            <a:off x="4714240" y="3312160"/>
            <a:ext cx="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or: Curved 11">
            <a:extLst>
              <a:ext uri="{FF2B5EF4-FFF2-40B4-BE49-F238E27FC236}">
                <a16:creationId xmlns:a16="http://schemas.microsoft.com/office/drawing/2014/main" id="{665B62F4-F593-AE76-D107-2B3346497C7F}"/>
              </a:ext>
            </a:extLst>
          </p:cNvPr>
          <p:cNvCxnSpPr>
            <a:stCxn id="4" idx="2"/>
            <a:endCxn id="7" idx="2"/>
          </p:cNvCxnSpPr>
          <p:nvPr/>
        </p:nvCxnSpPr>
        <p:spPr>
          <a:xfrm rot="10800000" flipV="1">
            <a:off x="2997200" y="3048000"/>
            <a:ext cx="1473200" cy="2346960"/>
          </a:xfrm>
          <a:prstGeom prst="curvedConnector3">
            <a:avLst>
              <a:gd name="adj1" fmla="val 11551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69038612-ED3E-BF73-0F62-F87AEADED579}"/>
              </a:ext>
            </a:extLst>
          </p:cNvPr>
          <p:cNvCxnSpPr>
            <a:stCxn id="4" idx="7"/>
            <a:endCxn id="9" idx="6"/>
          </p:cNvCxnSpPr>
          <p:nvPr/>
        </p:nvCxnSpPr>
        <p:spPr>
          <a:xfrm rot="16200000" flipH="1">
            <a:off x="4473375" y="3274496"/>
            <a:ext cx="1771749" cy="945179"/>
          </a:xfrm>
          <a:prstGeom prst="curvedConnector4">
            <a:avLst>
              <a:gd name="adj1" fmla="val -17269"/>
              <a:gd name="adj2" fmla="val 124186"/>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E6AA82B-5A00-9487-2FE8-8B73780FA3D4}"/>
              </a:ext>
            </a:extLst>
          </p:cNvPr>
          <p:cNvCxnSpPr>
            <a:stCxn id="7" idx="7"/>
            <a:endCxn id="6" idx="3"/>
          </p:cNvCxnSpPr>
          <p:nvPr/>
        </p:nvCxnSpPr>
        <p:spPr>
          <a:xfrm flipV="1">
            <a:off x="3413461" y="4870549"/>
            <a:ext cx="3561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E859688-4D1F-8F6B-ED8E-E41842EF0B49}"/>
              </a:ext>
            </a:extLst>
          </p:cNvPr>
          <p:cNvCxnSpPr>
            <a:stCxn id="6" idx="7"/>
            <a:endCxn id="5" idx="3"/>
          </p:cNvCxnSpPr>
          <p:nvPr/>
        </p:nvCxnSpPr>
        <p:spPr>
          <a:xfrm flipV="1">
            <a:off x="4114501" y="4169509"/>
            <a:ext cx="427318" cy="32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3B684F-831E-8765-156E-1D0E29EF9A56}"/>
              </a:ext>
            </a:extLst>
          </p:cNvPr>
          <p:cNvCxnSpPr>
            <a:stCxn id="8" idx="1"/>
            <a:endCxn id="6" idx="5"/>
          </p:cNvCxnSpPr>
          <p:nvPr/>
        </p:nvCxnSpPr>
        <p:spPr>
          <a:xfrm flipH="1" flipV="1">
            <a:off x="4114501" y="4870549"/>
            <a:ext cx="457798" cy="33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E7C124F-8FED-39A4-9DEB-B8D84618D229}"/>
              </a:ext>
            </a:extLst>
          </p:cNvPr>
          <p:cNvCxnSpPr>
            <a:stCxn id="8" idx="7"/>
            <a:endCxn id="9" idx="3"/>
          </p:cNvCxnSpPr>
          <p:nvPr/>
        </p:nvCxnSpPr>
        <p:spPr>
          <a:xfrm flipV="1">
            <a:off x="4917141" y="4819749"/>
            <a:ext cx="498438" cy="388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D9F2333-B043-CC0F-1E2F-AED7D7808311}"/>
              </a:ext>
            </a:extLst>
          </p:cNvPr>
          <p:cNvCxnSpPr>
            <a:stCxn id="9" idx="1"/>
            <a:endCxn id="5" idx="5"/>
          </p:cNvCxnSpPr>
          <p:nvPr/>
        </p:nvCxnSpPr>
        <p:spPr>
          <a:xfrm flipH="1" flipV="1">
            <a:off x="4886661" y="4169509"/>
            <a:ext cx="528918" cy="276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3CE6D2A-95B9-64A4-4A31-017A052BD2D8}"/>
              </a:ext>
            </a:extLst>
          </p:cNvPr>
          <p:cNvCxnSpPr>
            <a:stCxn id="4" idx="0"/>
          </p:cNvCxnSpPr>
          <p:nvPr/>
        </p:nvCxnSpPr>
        <p:spPr>
          <a:xfrm flipV="1">
            <a:off x="4714240" y="2329543"/>
            <a:ext cx="0" cy="4542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0927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8FF28-8FBB-4352-BDD6-79560868F903}"/>
              </a:ext>
            </a:extLst>
          </p:cNvPr>
          <p:cNvSpPr>
            <a:spLocks noGrp="1"/>
          </p:cNvSpPr>
          <p:nvPr>
            <p:ph type="title"/>
          </p:nvPr>
        </p:nvSpPr>
        <p:spPr/>
        <p:txBody>
          <a:bodyPr/>
          <a:lstStyle/>
          <a:p>
            <a:r>
              <a:rPr lang="en-US" dirty="0"/>
              <a:t>Natural loop</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5812A3-13C0-4D15-9CB7-ADFC8BD37ADD}"/>
                  </a:ext>
                </a:extLst>
              </p:cNvPr>
              <p:cNvSpPr>
                <a:spLocks noGrp="1"/>
              </p:cNvSpPr>
              <p:nvPr>
                <p:ph idx="1"/>
              </p:nvPr>
            </p:nvSpPr>
            <p:spPr/>
            <p:txBody>
              <a:bodyPr/>
              <a:lstStyle/>
              <a:p>
                <a:r>
                  <a:rPr lang="en-US" dirty="0"/>
                  <a:t>Finding all basic-blocks in a loop corresponding to back edge </a:t>
                </a:r>
                <a14:m>
                  <m:oMath xmlns:m="http://schemas.openxmlformats.org/officeDocument/2006/math">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𝑑</m:t>
                    </m:r>
                  </m:oMath>
                </a14:m>
                <a:endParaRPr lang="en-US" b="0" dirty="0"/>
              </a:p>
              <a:p>
                <a:pPr lvl="1"/>
                <a:r>
                  <a:rPr lang="en-IN" dirty="0"/>
                  <a:t>Reverse the CFG</a:t>
                </a:r>
              </a:p>
              <a:p>
                <a:pPr lvl="1"/>
                <a:r>
                  <a:rPr lang="en-IN" dirty="0"/>
                  <a:t>Perform a depth-first search or breadth-first search starting from node </a:t>
                </a:r>
                <a14:m>
                  <m:oMath xmlns:m="http://schemas.openxmlformats.org/officeDocument/2006/math">
                    <m:r>
                      <a:rPr lang="en-IN" i="1" dirty="0" smtClean="0">
                        <a:solidFill>
                          <a:schemeClr val="accent1"/>
                        </a:solidFill>
                        <a:latin typeface="Cambria Math" panose="02040503050406030204" pitchFamily="18" charset="0"/>
                      </a:rPr>
                      <m:t>𝑛</m:t>
                    </m:r>
                  </m:oMath>
                </a14:m>
                <a:r>
                  <a:rPr lang="en-IN" dirty="0"/>
                  <a:t> that stops at </a:t>
                </a:r>
                <a14:m>
                  <m:oMath xmlns:m="http://schemas.openxmlformats.org/officeDocument/2006/math">
                    <m:r>
                      <a:rPr lang="en-IN" i="1" dirty="0" smtClean="0">
                        <a:solidFill>
                          <a:schemeClr val="accent1"/>
                        </a:solidFill>
                        <a:latin typeface="Cambria Math" panose="02040503050406030204" pitchFamily="18" charset="0"/>
                      </a:rPr>
                      <m:t>𝑑</m:t>
                    </m:r>
                  </m:oMath>
                </a14:m>
                <a:endParaRPr lang="en-IN" dirty="0"/>
              </a:p>
            </p:txBody>
          </p:sp>
        </mc:Choice>
        <mc:Fallback xmlns="">
          <p:sp>
            <p:nvSpPr>
              <p:cNvPr id="3" name="Content Placeholder 2">
                <a:extLst>
                  <a:ext uri="{FF2B5EF4-FFF2-40B4-BE49-F238E27FC236}">
                    <a16:creationId xmlns:a16="http://schemas.microsoft.com/office/drawing/2014/main" id="{035812A3-13C0-4D15-9CB7-ADFC8BD37ADD}"/>
                  </a:ext>
                </a:extLst>
              </p:cNvPr>
              <p:cNvSpPr>
                <a:spLocks noGrp="1" noRot="1" noChangeAspect="1" noMove="1" noResize="1" noEditPoints="1" noAdjustHandles="1" noChangeArrowheads="1" noChangeShapeType="1" noTextEdit="1"/>
              </p:cNvSpPr>
              <p:nvPr>
                <p:ph idx="1"/>
              </p:nvPr>
            </p:nvSpPr>
            <p:spPr>
              <a:blipFill>
                <a:blip r:embed="rId3"/>
                <a:stretch>
                  <a:fillRect l="-1043" t="-2241" r="-290"/>
                </a:stretch>
              </a:blipFill>
            </p:spPr>
            <p:txBody>
              <a:bodyPr/>
              <a:lstStyle/>
              <a:p>
                <a:r>
                  <a:rPr lang="en-IN">
                    <a:noFill/>
                  </a:rPr>
                  <a:t> </a:t>
                </a:r>
              </a:p>
            </p:txBody>
          </p:sp>
        </mc:Fallback>
      </mc:AlternateContent>
    </p:spTree>
    <p:extLst>
      <p:ext uri="{BB962C8B-B14F-4D97-AF65-F5344CB8AC3E}">
        <p14:creationId xmlns:p14="http://schemas.microsoft.com/office/powerpoint/2010/main" val="297914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8FF28-8FBB-4352-BDD6-79560868F903}"/>
              </a:ext>
            </a:extLst>
          </p:cNvPr>
          <p:cNvSpPr>
            <a:spLocks noGrp="1"/>
          </p:cNvSpPr>
          <p:nvPr>
            <p:ph type="title"/>
          </p:nvPr>
        </p:nvSpPr>
        <p:spPr/>
        <p:txBody>
          <a:bodyPr/>
          <a:lstStyle/>
          <a:p>
            <a:r>
              <a:rPr lang="en-US" dirty="0"/>
              <a:t>Natural loop</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5812A3-13C0-4D15-9CB7-ADFC8BD37ADD}"/>
                  </a:ext>
                </a:extLst>
              </p:cNvPr>
              <p:cNvSpPr>
                <a:spLocks noGrp="1"/>
              </p:cNvSpPr>
              <p:nvPr>
                <p:ph idx="1"/>
              </p:nvPr>
            </p:nvSpPr>
            <p:spPr/>
            <p:txBody>
              <a:bodyPr>
                <a:normAutofit/>
              </a:bodyPr>
              <a:lstStyle/>
              <a:p>
                <a:r>
                  <a:rPr lang="en-US" dirty="0"/>
                  <a:t>Finding all basic-blocks in a loop corresponding to back edge </a:t>
                </a:r>
                <a14:m>
                  <m:oMath xmlns:m="http://schemas.openxmlformats.org/officeDocument/2006/math">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𝑑</m:t>
                    </m:r>
                  </m:oMath>
                </a14:m>
                <a:endParaRPr lang="en-US" b="0" dirty="0"/>
              </a:p>
            </p:txBody>
          </p:sp>
        </mc:Choice>
        <mc:Fallback xmlns="">
          <p:sp>
            <p:nvSpPr>
              <p:cNvPr id="3" name="Content Placeholder 2">
                <a:extLst>
                  <a:ext uri="{FF2B5EF4-FFF2-40B4-BE49-F238E27FC236}">
                    <a16:creationId xmlns:a16="http://schemas.microsoft.com/office/drawing/2014/main" id="{035812A3-13C0-4D15-9CB7-ADFC8BD37ADD}"/>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271D129F-71CA-4D8C-B59C-692EC5E16A2B}"/>
              </a:ext>
            </a:extLst>
          </p:cNvPr>
          <p:cNvSpPr txBox="1"/>
          <p:nvPr/>
        </p:nvSpPr>
        <p:spPr>
          <a:xfrm>
            <a:off x="2540000" y="2611120"/>
            <a:ext cx="7538720" cy="3477875"/>
          </a:xfrm>
          <a:prstGeom prst="rect">
            <a:avLst/>
          </a:prstGeom>
          <a:noFill/>
        </p:spPr>
        <p:txBody>
          <a:bodyPr wrap="square" rtlCol="0">
            <a:spAutoFit/>
          </a:bodyPr>
          <a:lstStyle/>
          <a:p>
            <a:pPr marL="0" indent="0">
              <a:buNone/>
            </a:pPr>
            <a:r>
              <a:rPr lang="en-IN" sz="2000" dirty="0" err="1">
                <a:latin typeface="Consolas" panose="020B0609020204030204" pitchFamily="49" charset="0"/>
                <a:cs typeface="Arial" panose="020B0604020202020204" pitchFamily="34" charset="0"/>
              </a:rPr>
              <a:t>LoopBody</a:t>
            </a:r>
            <a:r>
              <a:rPr lang="en-IN" sz="2000" dirty="0">
                <a:latin typeface="Consolas" panose="020B0609020204030204" pitchFamily="49" charset="0"/>
                <a:cs typeface="Arial" panose="020B0604020202020204" pitchFamily="34" charset="0"/>
              </a:rPr>
              <a:t> = {d}</a:t>
            </a:r>
          </a:p>
          <a:p>
            <a:pPr marL="0" indent="0">
              <a:buNone/>
            </a:pPr>
            <a:r>
              <a:rPr lang="en-IN" sz="2000" dirty="0" err="1">
                <a:latin typeface="Consolas" panose="020B0609020204030204" pitchFamily="49" charset="0"/>
                <a:cs typeface="Arial" panose="020B0604020202020204" pitchFamily="34" charset="0"/>
              </a:rPr>
              <a:t>WorkList</a:t>
            </a:r>
            <a:r>
              <a:rPr lang="en-IN" sz="2000" dirty="0">
                <a:latin typeface="Consolas" panose="020B0609020204030204" pitchFamily="49" charset="0"/>
                <a:cs typeface="Arial" panose="020B0604020202020204" pitchFamily="34" charset="0"/>
              </a:rPr>
              <a:t> = {n}</a:t>
            </a:r>
          </a:p>
          <a:p>
            <a:pPr marL="0" indent="0">
              <a:buNone/>
            </a:pPr>
            <a:r>
              <a:rPr lang="en-IN" sz="2000" dirty="0">
                <a:latin typeface="Consolas" panose="020B0609020204030204" pitchFamily="49" charset="0"/>
                <a:cs typeface="Arial" panose="020B0604020202020204" pitchFamily="34" charset="0"/>
              </a:rPr>
              <a:t>while (!</a:t>
            </a:r>
            <a:r>
              <a:rPr lang="en-IN" sz="2000" dirty="0" err="1">
                <a:latin typeface="Consolas" panose="020B0609020204030204" pitchFamily="49" charset="0"/>
                <a:cs typeface="Arial" panose="020B0604020202020204" pitchFamily="34" charset="0"/>
              </a:rPr>
              <a:t>WorkList.empty</a:t>
            </a:r>
            <a:r>
              <a:rPr lang="en-IN" sz="2000" dirty="0">
                <a:latin typeface="Consolas" panose="020B0609020204030204" pitchFamily="49" charset="0"/>
                <a:cs typeface="Arial" panose="020B0604020202020204" pitchFamily="34" charset="0"/>
              </a:rPr>
              <a:t>()) {</a:t>
            </a:r>
          </a:p>
          <a:p>
            <a:pPr marL="0" indent="0">
              <a:buNone/>
            </a:pPr>
            <a:r>
              <a:rPr lang="en-IN" sz="2000" dirty="0">
                <a:latin typeface="Consolas" panose="020B0609020204030204" pitchFamily="49" charset="0"/>
                <a:cs typeface="Arial" panose="020B0604020202020204" pitchFamily="34" charset="0"/>
              </a:rPr>
              <a:t>    b = </a:t>
            </a:r>
            <a:r>
              <a:rPr lang="en-IN" sz="2000" dirty="0" err="1">
                <a:latin typeface="Consolas" panose="020B0609020204030204" pitchFamily="49" charset="0"/>
                <a:cs typeface="Arial" panose="020B0604020202020204" pitchFamily="34" charset="0"/>
              </a:rPr>
              <a:t>WorkList.pop</a:t>
            </a:r>
            <a:r>
              <a:rPr lang="en-IN" sz="2000" dirty="0">
                <a:latin typeface="Consolas" panose="020B0609020204030204" pitchFamily="49" charset="0"/>
                <a:cs typeface="Arial" panose="020B0604020202020204" pitchFamily="34" charset="0"/>
              </a:rPr>
              <a:t>();</a:t>
            </a:r>
          </a:p>
          <a:p>
            <a:pPr marL="0" indent="0">
              <a:buNone/>
            </a:pPr>
            <a:r>
              <a:rPr lang="en-IN" sz="2000" dirty="0">
                <a:latin typeface="Consolas" panose="020B0609020204030204" pitchFamily="49" charset="0"/>
                <a:cs typeface="Arial" panose="020B0604020202020204" pitchFamily="34" charset="0"/>
              </a:rPr>
              <a:t>    if (!</a:t>
            </a:r>
            <a:r>
              <a:rPr lang="en-IN" sz="2000" dirty="0" err="1">
                <a:latin typeface="Consolas" panose="020B0609020204030204" pitchFamily="49" charset="0"/>
                <a:cs typeface="Arial" panose="020B0604020202020204" pitchFamily="34" charset="0"/>
              </a:rPr>
              <a:t>LoopBody.contains</a:t>
            </a:r>
            <a:r>
              <a:rPr lang="en-IN" sz="2000" dirty="0">
                <a:latin typeface="Consolas" panose="020B0609020204030204" pitchFamily="49" charset="0"/>
                <a:cs typeface="Arial" panose="020B0604020202020204" pitchFamily="34" charset="0"/>
              </a:rPr>
              <a:t>(b)) {</a:t>
            </a:r>
          </a:p>
          <a:p>
            <a:pPr marL="0" indent="0">
              <a:buNone/>
            </a:pPr>
            <a:r>
              <a:rPr lang="en-IN" sz="2000" dirty="0">
                <a:latin typeface="Consolas" panose="020B0609020204030204" pitchFamily="49" charset="0"/>
                <a:cs typeface="Arial" panose="020B0604020202020204" pitchFamily="34" charset="0"/>
              </a:rPr>
              <a:t>         </a:t>
            </a:r>
            <a:r>
              <a:rPr lang="en-IN" sz="2000" dirty="0" err="1">
                <a:latin typeface="Consolas" panose="020B0609020204030204" pitchFamily="49" charset="0"/>
                <a:cs typeface="Arial" panose="020B0604020202020204" pitchFamily="34" charset="0"/>
              </a:rPr>
              <a:t>LoopBody.insert</a:t>
            </a:r>
            <a:r>
              <a:rPr lang="en-IN" sz="2000" dirty="0">
                <a:latin typeface="Consolas" panose="020B0609020204030204" pitchFamily="49" charset="0"/>
                <a:cs typeface="Arial" panose="020B0604020202020204" pitchFamily="34" charset="0"/>
              </a:rPr>
              <a:t>(b);</a:t>
            </a:r>
          </a:p>
          <a:p>
            <a:pPr marL="0" indent="0">
              <a:buNone/>
            </a:pPr>
            <a:r>
              <a:rPr lang="en-IN" sz="2000" dirty="0">
                <a:latin typeface="Consolas" panose="020B0609020204030204" pitchFamily="49" charset="0"/>
                <a:cs typeface="Arial" panose="020B0604020202020204" pitchFamily="34" charset="0"/>
              </a:rPr>
              <a:t>         foreach (predecessor p of b) {</a:t>
            </a:r>
          </a:p>
          <a:p>
            <a:pPr marL="0" indent="0">
              <a:buNone/>
            </a:pPr>
            <a:r>
              <a:rPr lang="en-IN" sz="2000" dirty="0">
                <a:latin typeface="Consolas" panose="020B0609020204030204" pitchFamily="49" charset="0"/>
                <a:cs typeface="Arial" panose="020B0604020202020204" pitchFamily="34" charset="0"/>
              </a:rPr>
              <a:t>           </a:t>
            </a:r>
            <a:r>
              <a:rPr lang="en-IN" sz="2000" dirty="0" err="1">
                <a:latin typeface="Consolas" panose="020B0609020204030204" pitchFamily="49" charset="0"/>
                <a:cs typeface="Arial" panose="020B0604020202020204" pitchFamily="34" charset="0"/>
              </a:rPr>
              <a:t>WorkList.insert</a:t>
            </a:r>
            <a:r>
              <a:rPr lang="en-IN" sz="2000" dirty="0">
                <a:latin typeface="Consolas" panose="020B0609020204030204" pitchFamily="49" charset="0"/>
                <a:cs typeface="Arial" panose="020B0604020202020204" pitchFamily="34" charset="0"/>
              </a:rPr>
              <a:t>(p);</a:t>
            </a:r>
          </a:p>
          <a:p>
            <a:pPr marL="0" indent="0">
              <a:buNone/>
            </a:pPr>
            <a:r>
              <a:rPr lang="en-IN" sz="2000" dirty="0">
                <a:latin typeface="Consolas" panose="020B0609020204030204" pitchFamily="49" charset="0"/>
                <a:cs typeface="Arial" panose="020B0604020202020204" pitchFamily="34" charset="0"/>
              </a:rPr>
              <a:t>         }           </a:t>
            </a:r>
          </a:p>
          <a:p>
            <a:pPr marL="0" indent="0">
              <a:buNone/>
            </a:pPr>
            <a:r>
              <a:rPr lang="en-IN" sz="2000" dirty="0">
                <a:latin typeface="Consolas" panose="020B0609020204030204" pitchFamily="49" charset="0"/>
                <a:cs typeface="Arial" panose="020B0604020202020204" pitchFamily="34" charset="0"/>
              </a:rPr>
              <a:t>    }</a:t>
            </a:r>
          </a:p>
          <a:p>
            <a:pPr marL="0" indent="0">
              <a:buNone/>
            </a:pPr>
            <a:r>
              <a:rPr lang="en-IN" sz="2000" dirty="0">
                <a:latin typeface="Consolas" panose="020B0609020204030204" pitchFamily="49" charset="0"/>
                <a:cs typeface="Arial" panose="020B0604020202020204" pitchFamily="34" charset="0"/>
              </a:rPr>
              <a:t>}</a:t>
            </a:r>
          </a:p>
        </p:txBody>
      </p:sp>
    </p:spTree>
    <p:extLst>
      <p:ext uri="{BB962C8B-B14F-4D97-AF65-F5344CB8AC3E}">
        <p14:creationId xmlns:p14="http://schemas.microsoft.com/office/powerpoint/2010/main" val="1045427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2C22-CB90-4268-9EE4-F95E4EA2D7F8}"/>
              </a:ext>
            </a:extLst>
          </p:cNvPr>
          <p:cNvSpPr>
            <a:spLocks noGrp="1"/>
          </p:cNvSpPr>
          <p:nvPr>
            <p:ph type="title"/>
          </p:nvPr>
        </p:nvSpPr>
        <p:spPr/>
        <p:txBody>
          <a:bodyPr/>
          <a:lstStyle/>
          <a:p>
            <a:r>
              <a:rPr lang="en-US" dirty="0"/>
              <a:t>Loop optimizations</a:t>
            </a:r>
            <a:endParaRPr lang="en-IN" dirty="0"/>
          </a:p>
        </p:txBody>
      </p:sp>
      <p:sp>
        <p:nvSpPr>
          <p:cNvPr id="3" name="Content Placeholder 2">
            <a:extLst>
              <a:ext uri="{FF2B5EF4-FFF2-40B4-BE49-F238E27FC236}">
                <a16:creationId xmlns:a16="http://schemas.microsoft.com/office/drawing/2014/main" id="{E8819E20-BB77-4B0F-A5DC-0532726490B0}"/>
              </a:ext>
            </a:extLst>
          </p:cNvPr>
          <p:cNvSpPr>
            <a:spLocks noGrp="1"/>
          </p:cNvSpPr>
          <p:nvPr>
            <p:ph idx="1"/>
          </p:nvPr>
        </p:nvSpPr>
        <p:spPr/>
        <p:txBody>
          <a:bodyPr/>
          <a:lstStyle/>
          <a:p>
            <a:r>
              <a:rPr lang="en-US"/>
              <a:t>Loop-invariant </a:t>
            </a:r>
            <a:r>
              <a:rPr lang="en-US" dirty="0"/>
              <a:t>code motion</a:t>
            </a:r>
          </a:p>
          <a:p>
            <a:r>
              <a:rPr lang="en-US" dirty="0"/>
              <a:t>Loop unrolling</a:t>
            </a:r>
          </a:p>
          <a:p>
            <a:r>
              <a:rPr lang="en-US" dirty="0"/>
              <a:t>Loop vectorization</a:t>
            </a:r>
          </a:p>
          <a:p>
            <a:r>
              <a:rPr lang="en-US" dirty="0"/>
              <a:t>Optimizing loop for parallelism and locality</a:t>
            </a:r>
            <a:endParaRPr lang="en-IN" dirty="0"/>
          </a:p>
        </p:txBody>
      </p:sp>
    </p:spTree>
    <p:extLst>
      <p:ext uri="{BB962C8B-B14F-4D97-AF65-F5344CB8AC3E}">
        <p14:creationId xmlns:p14="http://schemas.microsoft.com/office/powerpoint/2010/main" val="3810184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28103-F688-42A2-81C4-BE55EF18D79E}"/>
              </a:ext>
            </a:extLst>
          </p:cNvPr>
          <p:cNvSpPr>
            <a:spLocks noGrp="1"/>
          </p:cNvSpPr>
          <p:nvPr>
            <p:ph type="title"/>
          </p:nvPr>
        </p:nvSpPr>
        <p:spPr/>
        <p:txBody>
          <a:bodyPr/>
          <a:lstStyle/>
          <a:p>
            <a:r>
              <a:rPr lang="en-US" dirty="0"/>
              <a:t>Loop-invariant code motion</a:t>
            </a:r>
            <a:endParaRPr lang="en-IN" dirty="0"/>
          </a:p>
        </p:txBody>
      </p:sp>
      <p:sp>
        <p:nvSpPr>
          <p:cNvPr id="3" name="Content Placeholder 2">
            <a:extLst>
              <a:ext uri="{FF2B5EF4-FFF2-40B4-BE49-F238E27FC236}">
                <a16:creationId xmlns:a16="http://schemas.microsoft.com/office/drawing/2014/main" id="{34B4D114-FCBF-4969-9E75-E87B91EB808A}"/>
              </a:ext>
            </a:extLst>
          </p:cNvPr>
          <p:cNvSpPr>
            <a:spLocks noGrp="1"/>
          </p:cNvSpPr>
          <p:nvPr>
            <p:ph idx="1"/>
          </p:nvPr>
        </p:nvSpPr>
        <p:spPr/>
        <p:txBody>
          <a:bodyPr/>
          <a:lstStyle/>
          <a:p>
            <a:r>
              <a:rPr lang="en-US" dirty="0"/>
              <a:t>Loop-invariant code consists of statements inside the loop body that only depend on the definitions outside the loop body or other loop-invariant code</a:t>
            </a:r>
          </a:p>
          <a:p>
            <a:pPr marL="0" indent="0">
              <a:buNone/>
            </a:pPr>
            <a:endParaRPr lang="en-US" dirty="0"/>
          </a:p>
          <a:p>
            <a:pPr marL="0" indent="0">
              <a:buNone/>
            </a:pPr>
            <a:endParaRPr lang="en-US" dirty="0"/>
          </a:p>
          <a:p>
            <a:endParaRPr lang="en-US" dirty="0"/>
          </a:p>
        </p:txBody>
      </p:sp>
      <p:sp>
        <p:nvSpPr>
          <p:cNvPr id="4" name="TextBox 3">
            <a:extLst>
              <a:ext uri="{FF2B5EF4-FFF2-40B4-BE49-F238E27FC236}">
                <a16:creationId xmlns:a16="http://schemas.microsoft.com/office/drawing/2014/main" id="{18C47782-E6B9-4094-AB54-491B16F31468}"/>
              </a:ext>
            </a:extLst>
          </p:cNvPr>
          <p:cNvSpPr txBox="1"/>
          <p:nvPr/>
        </p:nvSpPr>
        <p:spPr>
          <a:xfrm>
            <a:off x="3037840" y="3220720"/>
            <a:ext cx="4155440" cy="3139321"/>
          </a:xfrm>
          <a:prstGeom prst="rect">
            <a:avLst/>
          </a:prstGeom>
          <a:noFill/>
        </p:spPr>
        <p:txBody>
          <a:bodyPr wrap="square" rtlCol="0">
            <a:spAutoFit/>
          </a:bodyPr>
          <a:lstStyle/>
          <a:p>
            <a:pPr marL="0" indent="0">
              <a:buNone/>
            </a:pPr>
            <a:r>
              <a:rPr lang="en-US" dirty="0">
                <a:latin typeface="Consolas" panose="020B0609020204030204" pitchFamily="49" charset="0"/>
              </a:rPr>
              <a:t>Before optimization:</a:t>
            </a:r>
          </a:p>
          <a:p>
            <a:pPr marL="0" indent="0">
              <a:buNone/>
            </a:pPr>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pPr marL="0" indent="0">
              <a:buNone/>
            </a:pPr>
            <a:r>
              <a:rPr lang="en-US" dirty="0">
                <a:latin typeface="Consolas" panose="020B0609020204030204" pitchFamily="49" charset="0"/>
              </a:rPr>
              <a:t>   t = x * y;</a:t>
            </a:r>
          </a:p>
          <a:p>
            <a:pPr marL="0" indent="0">
              <a:buNone/>
            </a:pPr>
            <a:r>
              <a:rPr lang="en-US" dirty="0">
                <a:latin typeface="Consolas" panose="020B0609020204030204" pitchFamily="49" charset="0"/>
              </a:rPr>
              <a:t>   </a:t>
            </a:r>
            <a:r>
              <a:rPr lang="en-US" dirty="0" err="1">
                <a:latin typeface="Consolas" panose="020B0609020204030204" pitchFamily="49" charset="0"/>
              </a:rPr>
              <a:t>arr</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 = t * z;</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After optimization:</a:t>
            </a:r>
          </a:p>
          <a:p>
            <a:pPr marL="0" indent="0">
              <a:buNone/>
            </a:pPr>
            <a:r>
              <a:rPr lang="en-US" dirty="0">
                <a:latin typeface="Consolas" panose="020B0609020204030204" pitchFamily="49" charset="0"/>
              </a:rPr>
              <a:t>t = x * y;</a:t>
            </a:r>
          </a:p>
          <a:p>
            <a:pPr marL="0" indent="0">
              <a:buNone/>
            </a:pPr>
            <a:r>
              <a:rPr lang="en-US" dirty="0">
                <a:latin typeface="Consolas" panose="020B0609020204030204" pitchFamily="49" charset="0"/>
              </a:rPr>
              <a:t>t1 = t * z;</a:t>
            </a:r>
          </a:p>
          <a:p>
            <a:pPr marL="0" indent="0">
              <a:buNone/>
            </a:pPr>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pPr marL="0" indent="0">
              <a:buNone/>
            </a:pPr>
            <a:r>
              <a:rPr lang="en-US" dirty="0">
                <a:latin typeface="Consolas" panose="020B0609020204030204" pitchFamily="49" charset="0"/>
              </a:rPr>
              <a:t>   </a:t>
            </a:r>
            <a:r>
              <a:rPr lang="en-US" dirty="0" err="1">
                <a:latin typeface="Consolas" panose="020B0609020204030204" pitchFamily="49" charset="0"/>
              </a:rPr>
              <a:t>arr</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 = t1;</a:t>
            </a:r>
          </a:p>
          <a:p>
            <a:pPr marL="0" indent="0">
              <a:buNone/>
            </a:pPr>
            <a:r>
              <a:rPr lang="en-US" dirty="0">
                <a:latin typeface="Consolas" panose="020B0609020204030204" pitchFamily="49" charset="0"/>
              </a:rPr>
              <a:t>}</a:t>
            </a:r>
          </a:p>
        </p:txBody>
      </p:sp>
    </p:spTree>
    <p:extLst>
      <p:ext uri="{BB962C8B-B14F-4D97-AF65-F5344CB8AC3E}">
        <p14:creationId xmlns:p14="http://schemas.microsoft.com/office/powerpoint/2010/main" val="3778513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7DCE-0E43-49D8-9A0A-3D7314B24B86}"/>
              </a:ext>
            </a:extLst>
          </p:cNvPr>
          <p:cNvSpPr>
            <a:spLocks noGrp="1"/>
          </p:cNvSpPr>
          <p:nvPr>
            <p:ph type="title"/>
          </p:nvPr>
        </p:nvSpPr>
        <p:spPr/>
        <p:txBody>
          <a:bodyPr/>
          <a:lstStyle/>
          <a:p>
            <a:r>
              <a:rPr lang="en-US" dirty="0"/>
              <a:t>Loop unrolling</a:t>
            </a:r>
            <a:endParaRPr lang="en-IN" dirty="0"/>
          </a:p>
        </p:txBody>
      </p:sp>
      <p:sp>
        <p:nvSpPr>
          <p:cNvPr id="4" name="TextBox 3">
            <a:extLst>
              <a:ext uri="{FF2B5EF4-FFF2-40B4-BE49-F238E27FC236}">
                <a16:creationId xmlns:a16="http://schemas.microsoft.com/office/drawing/2014/main" id="{9AB65428-EA0F-4E6C-8B87-F5FC6B356AF8}"/>
              </a:ext>
            </a:extLst>
          </p:cNvPr>
          <p:cNvSpPr txBox="1"/>
          <p:nvPr/>
        </p:nvSpPr>
        <p:spPr>
          <a:xfrm>
            <a:off x="2265680" y="1849120"/>
            <a:ext cx="4094480" cy="4247317"/>
          </a:xfrm>
          <a:prstGeom prst="rect">
            <a:avLst/>
          </a:prstGeom>
          <a:noFill/>
        </p:spPr>
        <p:txBody>
          <a:bodyPr wrap="square" rtlCol="0">
            <a:spAutoFit/>
          </a:bodyPr>
          <a:lstStyle/>
          <a:p>
            <a:r>
              <a:rPr lang="en-US" dirty="0">
                <a:latin typeface="Consolas" panose="020B0609020204030204" pitchFamily="49" charset="0"/>
              </a:rPr>
              <a:t>Before unrolling:</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arr2[i];</a:t>
            </a:r>
          </a:p>
          <a:p>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After unrolling:</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arr1[i+1] = arr2[i+1];</a:t>
            </a:r>
          </a:p>
          <a:p>
            <a:r>
              <a:rPr lang="en-US" dirty="0">
                <a:latin typeface="Consolas" panose="020B0609020204030204" pitchFamily="49" charset="0"/>
              </a:rPr>
              <a:t>     arr1[i+2] = arr2[i+2];</a:t>
            </a:r>
          </a:p>
          <a:p>
            <a:r>
              <a:rPr lang="en-US" dirty="0">
                <a:latin typeface="Consolas" panose="020B0609020204030204" pitchFamily="49" charset="0"/>
              </a:rPr>
              <a:t>     arr1[i+3] = arr2[i+3];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arr2[i];</a:t>
            </a:r>
          </a:p>
          <a:p>
            <a:r>
              <a:rPr lang="en-US" dirty="0">
                <a:latin typeface="Consolas" panose="020B0609020204030204" pitchFamily="49" charset="0"/>
              </a:rPr>
              <a:t>}</a:t>
            </a:r>
          </a:p>
        </p:txBody>
      </p:sp>
    </p:spTree>
    <p:extLst>
      <p:ext uri="{BB962C8B-B14F-4D97-AF65-F5344CB8AC3E}">
        <p14:creationId xmlns:p14="http://schemas.microsoft.com/office/powerpoint/2010/main" val="2610746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7DCE-0E43-49D8-9A0A-3D7314B24B86}"/>
              </a:ext>
            </a:extLst>
          </p:cNvPr>
          <p:cNvSpPr>
            <a:spLocks noGrp="1"/>
          </p:cNvSpPr>
          <p:nvPr>
            <p:ph type="title"/>
          </p:nvPr>
        </p:nvSpPr>
        <p:spPr/>
        <p:txBody>
          <a:bodyPr/>
          <a:lstStyle/>
          <a:p>
            <a:r>
              <a:rPr lang="en-US" dirty="0"/>
              <a:t>Loop vectorization</a:t>
            </a:r>
            <a:endParaRPr lang="en-IN" dirty="0"/>
          </a:p>
        </p:txBody>
      </p:sp>
      <p:sp>
        <p:nvSpPr>
          <p:cNvPr id="4" name="TextBox 3">
            <a:extLst>
              <a:ext uri="{FF2B5EF4-FFF2-40B4-BE49-F238E27FC236}">
                <a16:creationId xmlns:a16="http://schemas.microsoft.com/office/drawing/2014/main" id="{9AB65428-EA0F-4E6C-8B87-F5FC6B356AF8}"/>
              </a:ext>
            </a:extLst>
          </p:cNvPr>
          <p:cNvSpPr txBox="1"/>
          <p:nvPr/>
        </p:nvSpPr>
        <p:spPr>
          <a:xfrm>
            <a:off x="1960880" y="1666240"/>
            <a:ext cx="4541520" cy="4801314"/>
          </a:xfrm>
          <a:prstGeom prst="rect">
            <a:avLst/>
          </a:prstGeom>
          <a:noFill/>
        </p:spPr>
        <p:txBody>
          <a:bodyPr wrap="square" rtlCol="0">
            <a:spAutoFit/>
          </a:bodyPr>
          <a:lstStyle/>
          <a:p>
            <a:r>
              <a:rPr lang="en-US" dirty="0">
                <a:latin typeface="Consolas" panose="020B0609020204030204" pitchFamily="49" charset="0"/>
              </a:rPr>
              <a:t>Before vectorization:</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arr1[i+1] = arr2[i+1];</a:t>
            </a:r>
          </a:p>
          <a:p>
            <a:r>
              <a:rPr lang="en-US" dirty="0">
                <a:latin typeface="Consolas" panose="020B0609020204030204" pitchFamily="49" charset="0"/>
              </a:rPr>
              <a:t>     arr1[i+2] = arr2[i+2];</a:t>
            </a:r>
          </a:p>
          <a:p>
            <a:r>
              <a:rPr lang="en-US" dirty="0">
                <a:latin typeface="Consolas" panose="020B0609020204030204" pitchFamily="49" charset="0"/>
              </a:rPr>
              <a:t>     arr1[i+3] = arr2[i+3];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arr2[i];</a:t>
            </a:r>
          </a:p>
          <a:p>
            <a:r>
              <a:rPr lang="en-US" dirty="0">
                <a:latin typeface="Consolas" panose="020B0609020204030204" pitchFamily="49" charset="0"/>
              </a:rPr>
              <a:t>}</a:t>
            </a:r>
          </a:p>
          <a:p>
            <a:r>
              <a:rPr lang="en-US" dirty="0">
                <a:latin typeface="Consolas" panose="020B0609020204030204" pitchFamily="49" charset="0"/>
              </a:rPr>
              <a:t>After vectorization:</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arr1[i:i+3] = arr2[i:i+3];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a:t>
            </a:r>
          </a:p>
        </p:txBody>
      </p:sp>
      <p:sp>
        <p:nvSpPr>
          <p:cNvPr id="5" name="TextBox 4">
            <a:extLst>
              <a:ext uri="{FF2B5EF4-FFF2-40B4-BE49-F238E27FC236}">
                <a16:creationId xmlns:a16="http://schemas.microsoft.com/office/drawing/2014/main" id="{689EFE07-B5CC-4ED9-A2CA-4CAAC582B152}"/>
              </a:ext>
            </a:extLst>
          </p:cNvPr>
          <p:cNvSpPr txBox="1"/>
          <p:nvPr/>
        </p:nvSpPr>
        <p:spPr>
          <a:xfrm>
            <a:off x="7548880" y="2834640"/>
            <a:ext cx="3804920" cy="2677656"/>
          </a:xfrm>
          <a:prstGeom prst="rect">
            <a:avLst/>
          </a:prstGeom>
          <a:noFill/>
        </p:spPr>
        <p:txBody>
          <a:bodyPr wrap="square" rtlCol="0">
            <a:spAutoFit/>
          </a:bodyPr>
          <a:lstStyle/>
          <a:p>
            <a:r>
              <a:rPr lang="en-US" sz="2400" dirty="0">
                <a:solidFill>
                  <a:schemeClr val="accent1"/>
                </a:solidFill>
              </a:rPr>
              <a:t>A vector processor can perform multiple operations in parallel using a single instruction. In other words, the vector operations roughly take the same time as one scalar operation.  </a:t>
            </a:r>
            <a:endParaRPr lang="en-IN" sz="2400" dirty="0">
              <a:solidFill>
                <a:schemeClr val="accent1"/>
              </a:solidFill>
            </a:endParaRPr>
          </a:p>
        </p:txBody>
      </p:sp>
    </p:spTree>
    <p:extLst>
      <p:ext uri="{BB962C8B-B14F-4D97-AF65-F5344CB8AC3E}">
        <p14:creationId xmlns:p14="http://schemas.microsoft.com/office/powerpoint/2010/main" val="597614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5496-FD59-1B24-D2E8-39B3FEF1B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CD2EC-703E-519C-28F3-CF853DF06502}"/>
              </a:ext>
            </a:extLst>
          </p:cNvPr>
          <p:cNvSpPr>
            <a:spLocks noGrp="1"/>
          </p:cNvSpPr>
          <p:nvPr>
            <p:ph type="title"/>
          </p:nvPr>
        </p:nvSpPr>
        <p:spPr/>
        <p:txBody>
          <a:bodyPr/>
          <a:lstStyle/>
          <a:p>
            <a:r>
              <a:rPr lang="en-US" dirty="0"/>
              <a:t>Loop vectorization</a:t>
            </a:r>
            <a:endParaRPr lang="en-IN" dirty="0"/>
          </a:p>
        </p:txBody>
      </p:sp>
      <p:sp>
        <p:nvSpPr>
          <p:cNvPr id="4" name="TextBox 3">
            <a:extLst>
              <a:ext uri="{FF2B5EF4-FFF2-40B4-BE49-F238E27FC236}">
                <a16:creationId xmlns:a16="http://schemas.microsoft.com/office/drawing/2014/main" id="{0E17F4CD-DF14-BC87-2D98-C78BEC8E5C2D}"/>
              </a:ext>
            </a:extLst>
          </p:cNvPr>
          <p:cNvSpPr txBox="1"/>
          <p:nvPr/>
        </p:nvSpPr>
        <p:spPr>
          <a:xfrm>
            <a:off x="1960880" y="1666240"/>
            <a:ext cx="4541520" cy="4801314"/>
          </a:xfrm>
          <a:prstGeom prst="rect">
            <a:avLst/>
          </a:prstGeom>
          <a:noFill/>
        </p:spPr>
        <p:txBody>
          <a:bodyPr wrap="square" rtlCol="0">
            <a:spAutoFit/>
          </a:bodyPr>
          <a:lstStyle/>
          <a:p>
            <a:r>
              <a:rPr lang="en-US" dirty="0">
                <a:latin typeface="Consolas" panose="020B0609020204030204" pitchFamily="49" charset="0"/>
              </a:rPr>
              <a:t>Before vectorization:</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arr1[i+1] = arr2[i+1];</a:t>
            </a:r>
          </a:p>
          <a:p>
            <a:r>
              <a:rPr lang="en-US" dirty="0">
                <a:latin typeface="Consolas" panose="020B0609020204030204" pitchFamily="49" charset="0"/>
              </a:rPr>
              <a:t>     arr1[i+2] = arr2[i+2];</a:t>
            </a:r>
          </a:p>
          <a:p>
            <a:r>
              <a:rPr lang="en-US" dirty="0">
                <a:latin typeface="Consolas" panose="020B0609020204030204" pitchFamily="49" charset="0"/>
              </a:rPr>
              <a:t>     arr1[i+3] = arr2[i+3];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arr2[i];</a:t>
            </a:r>
          </a:p>
          <a:p>
            <a:r>
              <a:rPr lang="en-US" dirty="0">
                <a:latin typeface="Consolas" panose="020B0609020204030204" pitchFamily="49" charset="0"/>
              </a:rPr>
              <a:t>}</a:t>
            </a:r>
          </a:p>
          <a:p>
            <a:r>
              <a:rPr lang="en-US" dirty="0">
                <a:latin typeface="Consolas" panose="020B0609020204030204" pitchFamily="49" charset="0"/>
              </a:rPr>
              <a:t>After vectorization:</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arr1[i:i+3] = arr2[i:i+3];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a:t>
            </a:r>
          </a:p>
        </p:txBody>
      </p:sp>
      <p:sp>
        <p:nvSpPr>
          <p:cNvPr id="5" name="TextBox 4">
            <a:extLst>
              <a:ext uri="{FF2B5EF4-FFF2-40B4-BE49-F238E27FC236}">
                <a16:creationId xmlns:a16="http://schemas.microsoft.com/office/drawing/2014/main" id="{901E57C9-EF6C-5354-55E4-9C67C7DBAD36}"/>
              </a:ext>
            </a:extLst>
          </p:cNvPr>
          <p:cNvSpPr txBox="1"/>
          <p:nvPr/>
        </p:nvSpPr>
        <p:spPr>
          <a:xfrm>
            <a:off x="7548880" y="2834640"/>
            <a:ext cx="3489234" cy="1938992"/>
          </a:xfrm>
          <a:prstGeom prst="rect">
            <a:avLst/>
          </a:prstGeom>
          <a:noFill/>
        </p:spPr>
        <p:txBody>
          <a:bodyPr wrap="square" rtlCol="0">
            <a:spAutoFit/>
          </a:bodyPr>
          <a:lstStyle/>
          <a:p>
            <a:r>
              <a:rPr lang="en-US" sz="2400" dirty="0">
                <a:solidFill>
                  <a:srgbClr val="FF0000"/>
                </a:solidFill>
              </a:rPr>
              <a:t>Does this optimization work if arr1 and arr2 point to the same array but at different offsets?</a:t>
            </a:r>
          </a:p>
          <a:p>
            <a:endParaRPr lang="en-US" sz="2400" dirty="0">
              <a:solidFill>
                <a:schemeClr val="accent1"/>
              </a:solidFill>
            </a:endParaRPr>
          </a:p>
        </p:txBody>
      </p:sp>
    </p:spTree>
    <p:extLst>
      <p:ext uri="{BB962C8B-B14F-4D97-AF65-F5344CB8AC3E}">
        <p14:creationId xmlns:p14="http://schemas.microsoft.com/office/powerpoint/2010/main" val="233127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A8835-E33C-DFB1-582D-471110085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8B002-3573-3EEA-F1B9-56E3828A24FB}"/>
              </a:ext>
            </a:extLst>
          </p:cNvPr>
          <p:cNvSpPr>
            <a:spLocks noGrp="1"/>
          </p:cNvSpPr>
          <p:nvPr>
            <p:ph type="title"/>
          </p:nvPr>
        </p:nvSpPr>
        <p:spPr/>
        <p:txBody>
          <a:bodyPr/>
          <a:lstStyle/>
          <a:p>
            <a:r>
              <a:rPr lang="en-US" dirty="0"/>
              <a:t>Loop vectorization</a:t>
            </a:r>
            <a:endParaRPr lang="en-IN" dirty="0"/>
          </a:p>
        </p:txBody>
      </p:sp>
      <p:sp>
        <p:nvSpPr>
          <p:cNvPr id="4" name="TextBox 3">
            <a:extLst>
              <a:ext uri="{FF2B5EF4-FFF2-40B4-BE49-F238E27FC236}">
                <a16:creationId xmlns:a16="http://schemas.microsoft.com/office/drawing/2014/main" id="{580900EB-C184-A728-31B9-A6C0163E9C52}"/>
              </a:ext>
            </a:extLst>
          </p:cNvPr>
          <p:cNvSpPr txBox="1"/>
          <p:nvPr/>
        </p:nvSpPr>
        <p:spPr>
          <a:xfrm>
            <a:off x="1960880" y="1666240"/>
            <a:ext cx="4541520" cy="4801314"/>
          </a:xfrm>
          <a:prstGeom prst="rect">
            <a:avLst/>
          </a:prstGeom>
          <a:noFill/>
        </p:spPr>
        <p:txBody>
          <a:bodyPr wrap="square" rtlCol="0">
            <a:spAutoFit/>
          </a:bodyPr>
          <a:lstStyle/>
          <a:p>
            <a:r>
              <a:rPr lang="en-US" dirty="0">
                <a:latin typeface="Consolas" panose="020B0609020204030204" pitchFamily="49" charset="0"/>
              </a:rPr>
              <a:t>Before vectorization:</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arr1[i+1] = arr2[i+1];</a:t>
            </a:r>
          </a:p>
          <a:p>
            <a:r>
              <a:rPr lang="en-US" dirty="0">
                <a:latin typeface="Consolas" panose="020B0609020204030204" pitchFamily="49" charset="0"/>
              </a:rPr>
              <a:t>     arr1[i+2] = arr2[i+2];</a:t>
            </a:r>
          </a:p>
          <a:p>
            <a:r>
              <a:rPr lang="en-US" dirty="0">
                <a:latin typeface="Consolas" panose="020B0609020204030204" pitchFamily="49" charset="0"/>
              </a:rPr>
              <a:t>     arr1[i+3] = arr2[i+3];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arr2[i];</a:t>
            </a:r>
          </a:p>
          <a:p>
            <a:r>
              <a:rPr lang="en-US" dirty="0">
                <a:latin typeface="Consolas" panose="020B0609020204030204" pitchFamily="49" charset="0"/>
              </a:rPr>
              <a:t>}</a:t>
            </a:r>
          </a:p>
          <a:p>
            <a:r>
              <a:rPr lang="en-US" dirty="0">
                <a:latin typeface="Consolas" panose="020B0609020204030204" pitchFamily="49" charset="0"/>
              </a:rPr>
              <a:t>After vectorization:</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arr1[i:i+3] = arr2[i:i+3];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a:t>
            </a:r>
          </a:p>
        </p:txBody>
      </p:sp>
      <p:sp>
        <p:nvSpPr>
          <p:cNvPr id="5" name="TextBox 4">
            <a:extLst>
              <a:ext uri="{FF2B5EF4-FFF2-40B4-BE49-F238E27FC236}">
                <a16:creationId xmlns:a16="http://schemas.microsoft.com/office/drawing/2014/main" id="{17BCC971-40F8-3D47-DCC3-625771E26D5D}"/>
              </a:ext>
            </a:extLst>
          </p:cNvPr>
          <p:cNvSpPr txBox="1"/>
          <p:nvPr/>
        </p:nvSpPr>
        <p:spPr>
          <a:xfrm>
            <a:off x="7548880" y="2834640"/>
            <a:ext cx="3489234" cy="2677656"/>
          </a:xfrm>
          <a:prstGeom prst="rect">
            <a:avLst/>
          </a:prstGeom>
          <a:noFill/>
        </p:spPr>
        <p:txBody>
          <a:bodyPr wrap="square" rtlCol="0">
            <a:spAutoFit/>
          </a:bodyPr>
          <a:lstStyle/>
          <a:p>
            <a:r>
              <a:rPr lang="en-US" sz="2400" dirty="0">
                <a:solidFill>
                  <a:srgbClr val="FF0000"/>
                </a:solidFill>
              </a:rPr>
              <a:t>Does this optimization work if arr1 and arr2 point to the same array but at different offsets?</a:t>
            </a:r>
          </a:p>
          <a:p>
            <a:endParaRPr lang="en-US" sz="2400" dirty="0">
              <a:solidFill>
                <a:schemeClr val="accent1"/>
              </a:solidFill>
            </a:endParaRPr>
          </a:p>
          <a:p>
            <a:r>
              <a:rPr lang="en-US" sz="2400" dirty="0">
                <a:solidFill>
                  <a:schemeClr val="accent1"/>
                </a:solidFill>
              </a:rPr>
              <a:t>No, it won’t work when, e.g., &amp;arr1[</a:t>
            </a:r>
            <a:r>
              <a:rPr lang="en-US" sz="2400" dirty="0" err="1">
                <a:solidFill>
                  <a:schemeClr val="accent1"/>
                </a:solidFill>
              </a:rPr>
              <a:t>i</a:t>
            </a:r>
            <a:r>
              <a:rPr lang="en-US" sz="2400" dirty="0">
                <a:solidFill>
                  <a:schemeClr val="accent1"/>
                </a:solidFill>
              </a:rPr>
              <a:t>] == &amp;arr2[i-1] </a:t>
            </a:r>
            <a:endParaRPr lang="en-IN" sz="2400" dirty="0">
              <a:solidFill>
                <a:schemeClr val="accent1"/>
              </a:solidFill>
            </a:endParaRPr>
          </a:p>
        </p:txBody>
      </p:sp>
    </p:spTree>
    <p:extLst>
      <p:ext uri="{BB962C8B-B14F-4D97-AF65-F5344CB8AC3E}">
        <p14:creationId xmlns:p14="http://schemas.microsoft.com/office/powerpoint/2010/main" val="538537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7DCE-0E43-49D8-9A0A-3D7314B24B86}"/>
              </a:ext>
            </a:extLst>
          </p:cNvPr>
          <p:cNvSpPr>
            <a:spLocks noGrp="1"/>
          </p:cNvSpPr>
          <p:nvPr>
            <p:ph type="title"/>
          </p:nvPr>
        </p:nvSpPr>
        <p:spPr/>
        <p:txBody>
          <a:bodyPr/>
          <a:lstStyle/>
          <a:p>
            <a:r>
              <a:rPr lang="en-US" dirty="0"/>
              <a:t>Loop vectorization</a:t>
            </a:r>
            <a:endParaRPr lang="en-IN" dirty="0"/>
          </a:p>
        </p:txBody>
      </p:sp>
      <p:sp>
        <p:nvSpPr>
          <p:cNvPr id="4" name="TextBox 3">
            <a:extLst>
              <a:ext uri="{FF2B5EF4-FFF2-40B4-BE49-F238E27FC236}">
                <a16:creationId xmlns:a16="http://schemas.microsoft.com/office/drawing/2014/main" id="{9AB65428-EA0F-4E6C-8B87-F5FC6B356AF8}"/>
              </a:ext>
            </a:extLst>
          </p:cNvPr>
          <p:cNvSpPr txBox="1"/>
          <p:nvPr/>
        </p:nvSpPr>
        <p:spPr>
          <a:xfrm>
            <a:off x="1036320" y="2529840"/>
            <a:ext cx="4541520" cy="2862322"/>
          </a:xfrm>
          <a:prstGeom prst="rect">
            <a:avLst/>
          </a:prstGeom>
          <a:noFill/>
        </p:spPr>
        <p:txBody>
          <a:bodyPr wrap="square" rtlCol="0">
            <a:spAutoFit/>
          </a:bodyPr>
          <a:lstStyle/>
          <a:p>
            <a:r>
              <a:rPr lang="en-US" dirty="0">
                <a:latin typeface="Consolas" panose="020B0609020204030204" pitchFamily="49" charset="0"/>
              </a:rPr>
              <a:t>Before vectorization:</a:t>
            </a:r>
          </a:p>
          <a:p>
            <a:r>
              <a:rPr lang="en-US" dirty="0">
                <a:latin typeface="Consolas" panose="020B0609020204030204" pitchFamily="49" charset="0"/>
              </a:rPr>
              <a:t>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arr1[i+1] = arr2[i+1];</a:t>
            </a:r>
          </a:p>
          <a:p>
            <a:r>
              <a:rPr lang="en-US" dirty="0">
                <a:latin typeface="Consolas" panose="020B0609020204030204" pitchFamily="49" charset="0"/>
              </a:rPr>
              <a:t>     arr1[i+2] = arr2[i+2];</a:t>
            </a:r>
          </a:p>
          <a:p>
            <a:r>
              <a:rPr lang="en-US" dirty="0">
                <a:latin typeface="Consolas" panose="020B0609020204030204" pitchFamily="49" charset="0"/>
              </a:rPr>
              <a:t>     arr1[i+3] = arr2[i+3];</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arr2[i];</a:t>
            </a:r>
          </a:p>
          <a:p>
            <a:r>
              <a:rPr lang="en-US" dirty="0">
                <a:latin typeface="Consolas" panose="020B0609020204030204" pitchFamily="49" charset="0"/>
              </a:rPr>
              <a:t>}</a:t>
            </a:r>
          </a:p>
        </p:txBody>
      </p:sp>
      <p:sp>
        <p:nvSpPr>
          <p:cNvPr id="6" name="TextBox 5">
            <a:extLst>
              <a:ext uri="{FF2B5EF4-FFF2-40B4-BE49-F238E27FC236}">
                <a16:creationId xmlns:a16="http://schemas.microsoft.com/office/drawing/2014/main" id="{CA77D6AE-DC10-4FE9-8CF1-482F5BB0AC8F}"/>
              </a:ext>
            </a:extLst>
          </p:cNvPr>
          <p:cNvSpPr txBox="1"/>
          <p:nvPr/>
        </p:nvSpPr>
        <p:spPr>
          <a:xfrm>
            <a:off x="5506720" y="1209040"/>
            <a:ext cx="5974080" cy="4801314"/>
          </a:xfrm>
          <a:prstGeom prst="rect">
            <a:avLst/>
          </a:prstGeom>
          <a:noFill/>
        </p:spPr>
        <p:txBody>
          <a:bodyPr wrap="square" rtlCol="0">
            <a:spAutoFit/>
          </a:bodyPr>
          <a:lstStyle/>
          <a:p>
            <a:r>
              <a:rPr lang="en-US" dirty="0">
                <a:latin typeface="Consolas" panose="020B0609020204030204" pitchFamily="49" charset="0"/>
              </a:rPr>
              <a:t>After vectorization:</a:t>
            </a:r>
          </a:p>
          <a:p>
            <a:r>
              <a:rPr lang="en-US" dirty="0">
                <a:latin typeface="Consolas" panose="020B0609020204030204" pitchFamily="49" charset="0"/>
              </a:rPr>
              <a:t>if (arr1[0:n] and arr2[0:n] don’t overlap) {</a:t>
            </a:r>
          </a:p>
          <a:p>
            <a:r>
              <a:rPr lang="en-US" dirty="0">
                <a:latin typeface="Consolas" panose="020B0609020204030204" pitchFamily="49" charset="0"/>
              </a:rPr>
              <a:t>   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arr1[i:i+3] = arr2[i:i+3];</a:t>
            </a:r>
          </a:p>
          <a:p>
            <a:r>
              <a:rPr lang="en-US" dirty="0">
                <a:latin typeface="Consolas" panose="020B0609020204030204" pitchFamily="49" charset="0"/>
              </a:rPr>
              <a:t>   }</a:t>
            </a:r>
          </a:p>
          <a:p>
            <a:r>
              <a:rPr lang="en-US" dirty="0">
                <a:latin typeface="Consolas" panose="020B0609020204030204" pitchFamily="49" charset="0"/>
              </a:rPr>
              <a:t>}</a:t>
            </a:r>
          </a:p>
          <a:p>
            <a:r>
              <a:rPr lang="en-US" dirty="0">
                <a:latin typeface="Consolas" panose="020B0609020204030204" pitchFamily="49" charset="0"/>
              </a:rPr>
              <a:t>else {</a:t>
            </a:r>
          </a:p>
          <a:p>
            <a:r>
              <a:rPr lang="en-US" dirty="0">
                <a:latin typeface="Consolas" panose="020B0609020204030204" pitchFamily="49" charset="0"/>
              </a:rPr>
              <a:t>  for (</a:t>
            </a:r>
            <a:r>
              <a:rPr lang="en-US" dirty="0" err="1">
                <a:latin typeface="Consolas" panose="020B0609020204030204" pitchFamily="49" charset="0"/>
              </a:rPr>
              <a:t>i</a:t>
            </a:r>
            <a:r>
              <a:rPr lang="en-US" dirty="0">
                <a:latin typeface="Consolas" panose="020B0609020204030204" pitchFamily="49" charset="0"/>
              </a:rPr>
              <a:t> = 0; i+4 &lt; n; </a:t>
            </a:r>
            <a:r>
              <a:rPr lang="en-US" dirty="0" err="1">
                <a:latin typeface="Consolas" panose="020B0609020204030204" pitchFamily="49" charset="0"/>
              </a:rPr>
              <a:t>i</a:t>
            </a:r>
            <a:r>
              <a:rPr lang="en-US" dirty="0">
                <a:latin typeface="Consolas" panose="020B0609020204030204" pitchFamily="49" charset="0"/>
              </a:rPr>
              <a:t>+=4)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arr1[i+1] = arr2[i+1];</a:t>
            </a:r>
          </a:p>
          <a:p>
            <a:r>
              <a:rPr lang="en-US" dirty="0">
                <a:latin typeface="Consolas" panose="020B0609020204030204" pitchFamily="49" charset="0"/>
              </a:rPr>
              <a:t>     arr1[i+2] = arr2[i+2];</a:t>
            </a:r>
          </a:p>
          <a:p>
            <a:r>
              <a:rPr lang="en-US" dirty="0">
                <a:latin typeface="Consolas" panose="020B0609020204030204" pitchFamily="49" charset="0"/>
              </a:rPr>
              <a:t>     arr1[i+3] = arr2[i+3];</a:t>
            </a:r>
          </a:p>
          <a:p>
            <a:r>
              <a:rPr lang="en-US" dirty="0">
                <a:latin typeface="Consolas" panose="020B0609020204030204" pitchFamily="49" charset="0"/>
              </a:rPr>
              <a:t>  }</a:t>
            </a:r>
          </a:p>
          <a:p>
            <a:r>
              <a:rPr lang="en-US" dirty="0">
                <a:latin typeface="Consolas" panose="020B0609020204030204" pitchFamily="49" charset="0"/>
              </a:rPr>
              <a:t>}</a:t>
            </a:r>
          </a:p>
          <a:p>
            <a:r>
              <a:rPr lang="en-US" dirty="0">
                <a:latin typeface="Consolas" panose="020B0609020204030204" pitchFamily="49" charset="0"/>
              </a:rPr>
              <a:t>for (;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arr1[</a:t>
            </a:r>
            <a:r>
              <a:rPr lang="en-US" dirty="0" err="1">
                <a:latin typeface="Consolas" panose="020B0609020204030204" pitchFamily="49" charset="0"/>
              </a:rPr>
              <a:t>i</a:t>
            </a:r>
            <a:r>
              <a:rPr lang="en-US" dirty="0">
                <a:latin typeface="Consolas" panose="020B0609020204030204" pitchFamily="49" charset="0"/>
              </a:rPr>
              <a:t>] = arr2[</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a:t>
            </a:r>
          </a:p>
        </p:txBody>
      </p:sp>
    </p:spTree>
    <p:extLst>
      <p:ext uri="{BB962C8B-B14F-4D97-AF65-F5344CB8AC3E}">
        <p14:creationId xmlns:p14="http://schemas.microsoft.com/office/powerpoint/2010/main" val="437581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C59C-B5DC-909D-9914-7D69407AC43F}"/>
              </a:ext>
            </a:extLst>
          </p:cNvPr>
          <p:cNvSpPr>
            <a:spLocks noGrp="1"/>
          </p:cNvSpPr>
          <p:nvPr>
            <p:ph type="title"/>
          </p:nvPr>
        </p:nvSpPr>
        <p:spPr/>
        <p:txBody>
          <a:bodyPr/>
          <a:lstStyle/>
          <a:p>
            <a:r>
              <a:rPr lang="en-US" dirty="0"/>
              <a:t>Register allocation</a:t>
            </a:r>
            <a:endParaRPr lang="en-IN" dirty="0"/>
          </a:p>
        </p:txBody>
      </p:sp>
      <p:sp>
        <p:nvSpPr>
          <p:cNvPr id="3" name="Text Placeholder 2">
            <a:extLst>
              <a:ext uri="{FF2B5EF4-FFF2-40B4-BE49-F238E27FC236}">
                <a16:creationId xmlns:a16="http://schemas.microsoft.com/office/drawing/2014/main" id="{25E7B556-366D-E4E9-B468-306FA28A6BB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82403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A5209-4AAA-4FA6-9A49-09002F595319}"/>
              </a:ext>
            </a:extLst>
          </p:cNvPr>
          <p:cNvSpPr>
            <a:spLocks noGrp="1"/>
          </p:cNvSpPr>
          <p:nvPr>
            <p:ph type="title"/>
          </p:nvPr>
        </p:nvSpPr>
        <p:spPr/>
        <p:txBody>
          <a:bodyPr/>
          <a:lstStyle/>
          <a:p>
            <a:r>
              <a:rPr lang="en-US" dirty="0"/>
              <a:t>Register allocation</a:t>
            </a:r>
          </a:p>
        </p:txBody>
      </p:sp>
      <p:sp>
        <p:nvSpPr>
          <p:cNvPr id="3" name="Content Placeholder 2">
            <a:extLst>
              <a:ext uri="{FF2B5EF4-FFF2-40B4-BE49-F238E27FC236}">
                <a16:creationId xmlns:a16="http://schemas.microsoft.com/office/drawing/2014/main" id="{1A596263-DBCB-4AAA-9B8A-853E5599278A}"/>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628A59AE-E5B8-4510-BC84-5F52C8EAE7D1}"/>
              </a:ext>
            </a:extLst>
          </p:cNvPr>
          <p:cNvSpPr/>
          <p:nvPr/>
        </p:nvSpPr>
        <p:spPr>
          <a:xfrm>
            <a:off x="4027714" y="2982686"/>
            <a:ext cx="3799115"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Register</a:t>
            </a:r>
          </a:p>
          <a:p>
            <a:pPr algn="ctr"/>
            <a:r>
              <a:rPr lang="en-US" sz="2400" dirty="0"/>
              <a:t>Allocator</a:t>
            </a:r>
          </a:p>
        </p:txBody>
      </p:sp>
      <p:cxnSp>
        <p:nvCxnSpPr>
          <p:cNvPr id="6" name="Straight Arrow Connector 5">
            <a:extLst>
              <a:ext uri="{FF2B5EF4-FFF2-40B4-BE49-F238E27FC236}">
                <a16:creationId xmlns:a16="http://schemas.microsoft.com/office/drawing/2014/main" id="{F20D70DE-EBD0-4A19-8904-C4EF200CE0D0}"/>
              </a:ext>
            </a:extLst>
          </p:cNvPr>
          <p:cNvCxnSpPr/>
          <p:nvPr/>
        </p:nvCxnSpPr>
        <p:spPr>
          <a:xfrm>
            <a:off x="1937657" y="3505200"/>
            <a:ext cx="1992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FFE215B-D39D-4D66-BAF0-7EE681ECC674}"/>
              </a:ext>
            </a:extLst>
          </p:cNvPr>
          <p:cNvCxnSpPr>
            <a:stCxn id="4" idx="3"/>
          </p:cNvCxnSpPr>
          <p:nvPr/>
        </p:nvCxnSpPr>
        <p:spPr>
          <a:xfrm>
            <a:off x="7826829" y="3554186"/>
            <a:ext cx="1491342" cy="27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9ACD777-A515-4999-9EB5-A36761532387}"/>
              </a:ext>
            </a:extLst>
          </p:cNvPr>
          <p:cNvSpPr txBox="1"/>
          <p:nvPr/>
        </p:nvSpPr>
        <p:spPr>
          <a:xfrm>
            <a:off x="2133600" y="3037120"/>
            <a:ext cx="2220686" cy="369332"/>
          </a:xfrm>
          <a:prstGeom prst="rect">
            <a:avLst/>
          </a:prstGeom>
          <a:noFill/>
        </p:spPr>
        <p:txBody>
          <a:bodyPr wrap="square" rtlCol="0">
            <a:spAutoFit/>
          </a:bodyPr>
          <a:lstStyle/>
          <a:p>
            <a:r>
              <a:rPr lang="en-US" dirty="0"/>
              <a:t>Input program</a:t>
            </a:r>
          </a:p>
        </p:txBody>
      </p:sp>
      <p:sp>
        <p:nvSpPr>
          <p:cNvPr id="10" name="TextBox 9">
            <a:extLst>
              <a:ext uri="{FF2B5EF4-FFF2-40B4-BE49-F238E27FC236}">
                <a16:creationId xmlns:a16="http://schemas.microsoft.com/office/drawing/2014/main" id="{1659FF7B-D2ED-4CE3-B81D-379143A4131C}"/>
              </a:ext>
            </a:extLst>
          </p:cNvPr>
          <p:cNvSpPr txBox="1"/>
          <p:nvPr/>
        </p:nvSpPr>
        <p:spPr>
          <a:xfrm>
            <a:off x="8098965" y="3080663"/>
            <a:ext cx="2220686" cy="369332"/>
          </a:xfrm>
          <a:prstGeom prst="rect">
            <a:avLst/>
          </a:prstGeom>
          <a:noFill/>
        </p:spPr>
        <p:txBody>
          <a:bodyPr wrap="square" rtlCol="0">
            <a:spAutoFit/>
          </a:bodyPr>
          <a:lstStyle/>
          <a:p>
            <a:r>
              <a:rPr lang="en-US" dirty="0"/>
              <a:t>Output program</a:t>
            </a:r>
          </a:p>
        </p:txBody>
      </p:sp>
      <p:sp>
        <p:nvSpPr>
          <p:cNvPr id="11" name="TextBox 10">
            <a:extLst>
              <a:ext uri="{FF2B5EF4-FFF2-40B4-BE49-F238E27FC236}">
                <a16:creationId xmlns:a16="http://schemas.microsoft.com/office/drawing/2014/main" id="{A8DA9B50-FA6E-4FB9-8F09-8B76D1AB1E97}"/>
              </a:ext>
            </a:extLst>
          </p:cNvPr>
          <p:cNvSpPr txBox="1"/>
          <p:nvPr/>
        </p:nvSpPr>
        <p:spPr>
          <a:xfrm>
            <a:off x="2242458" y="3581405"/>
            <a:ext cx="2220686" cy="369332"/>
          </a:xfrm>
          <a:prstGeom prst="rect">
            <a:avLst/>
          </a:prstGeom>
          <a:noFill/>
        </p:spPr>
        <p:txBody>
          <a:bodyPr wrap="square" rtlCol="0">
            <a:spAutoFit/>
          </a:bodyPr>
          <a:lstStyle/>
          <a:p>
            <a:r>
              <a:rPr lang="en-US" dirty="0"/>
              <a:t>n registers</a:t>
            </a:r>
          </a:p>
        </p:txBody>
      </p:sp>
      <p:sp>
        <p:nvSpPr>
          <p:cNvPr id="12" name="TextBox 11">
            <a:extLst>
              <a:ext uri="{FF2B5EF4-FFF2-40B4-BE49-F238E27FC236}">
                <a16:creationId xmlns:a16="http://schemas.microsoft.com/office/drawing/2014/main" id="{BE8B3098-ED0E-4D23-9B10-EC57FEDC2684}"/>
              </a:ext>
            </a:extLst>
          </p:cNvPr>
          <p:cNvSpPr txBox="1"/>
          <p:nvPr/>
        </p:nvSpPr>
        <p:spPr>
          <a:xfrm>
            <a:off x="8196938" y="3668492"/>
            <a:ext cx="2220686" cy="369332"/>
          </a:xfrm>
          <a:prstGeom prst="rect">
            <a:avLst/>
          </a:prstGeom>
          <a:noFill/>
        </p:spPr>
        <p:txBody>
          <a:bodyPr wrap="square" rtlCol="0">
            <a:spAutoFit/>
          </a:bodyPr>
          <a:lstStyle/>
          <a:p>
            <a:r>
              <a:rPr lang="en-US" dirty="0"/>
              <a:t>m registers</a:t>
            </a:r>
          </a:p>
        </p:txBody>
      </p:sp>
    </p:spTree>
    <p:extLst>
      <p:ext uri="{BB962C8B-B14F-4D97-AF65-F5344CB8AC3E}">
        <p14:creationId xmlns:p14="http://schemas.microsoft.com/office/powerpoint/2010/main" val="2180594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6090B-C6BD-4E30-8ACD-D46809B2719E}"/>
              </a:ext>
            </a:extLst>
          </p:cNvPr>
          <p:cNvSpPr>
            <a:spLocks noGrp="1"/>
          </p:cNvSpPr>
          <p:nvPr>
            <p:ph type="title"/>
          </p:nvPr>
        </p:nvSpPr>
        <p:spPr/>
        <p:txBody>
          <a:bodyPr/>
          <a:lstStyle/>
          <a:p>
            <a:r>
              <a:rPr lang="en-US" dirty="0"/>
              <a:t>Can we generate code without registers?</a:t>
            </a:r>
            <a:endParaRPr lang="en-IN" dirty="0"/>
          </a:p>
        </p:txBody>
      </p:sp>
      <p:sp>
        <p:nvSpPr>
          <p:cNvPr id="3" name="Content Placeholder 2">
            <a:extLst>
              <a:ext uri="{FF2B5EF4-FFF2-40B4-BE49-F238E27FC236}">
                <a16:creationId xmlns:a16="http://schemas.microsoft.com/office/drawing/2014/main" id="{E23D0BD7-476A-4865-AF1B-74B6F48CB59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87193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DE394-A084-49EC-BDE3-AEC104D7908B}"/>
              </a:ext>
            </a:extLst>
          </p:cNvPr>
          <p:cNvSpPr>
            <a:spLocks noGrp="1"/>
          </p:cNvSpPr>
          <p:nvPr>
            <p:ph type="title"/>
          </p:nvPr>
        </p:nvSpPr>
        <p:spPr/>
        <p:txBody>
          <a:bodyPr/>
          <a:lstStyle/>
          <a:p>
            <a:r>
              <a:rPr lang="en-US" dirty="0"/>
              <a:t>Register allocation</a:t>
            </a:r>
          </a:p>
        </p:txBody>
      </p:sp>
      <p:sp>
        <p:nvSpPr>
          <p:cNvPr id="3" name="Content Placeholder 2">
            <a:extLst>
              <a:ext uri="{FF2B5EF4-FFF2-40B4-BE49-F238E27FC236}">
                <a16:creationId xmlns:a16="http://schemas.microsoft.com/office/drawing/2014/main" id="{6E4B8F22-C544-406C-AA52-99AA7830ED83}"/>
              </a:ext>
            </a:extLst>
          </p:cNvPr>
          <p:cNvSpPr>
            <a:spLocks noGrp="1"/>
          </p:cNvSpPr>
          <p:nvPr>
            <p:ph idx="1"/>
          </p:nvPr>
        </p:nvSpPr>
        <p:spPr/>
        <p:txBody>
          <a:bodyPr>
            <a:normAutofit lnSpcReduction="10000"/>
          </a:bodyPr>
          <a:lstStyle/>
          <a:p>
            <a:r>
              <a:rPr lang="en-US" dirty="0"/>
              <a:t>In most machine architectures, some or all the operands of an operation must be in register to perform the operation</a:t>
            </a:r>
          </a:p>
          <a:p>
            <a:pPr marL="0" indent="0">
              <a:buNone/>
            </a:pPr>
            <a:r>
              <a:rPr lang="en-US" dirty="0"/>
              <a:t> </a:t>
            </a:r>
          </a:p>
          <a:p>
            <a:pPr marL="0" indent="0">
              <a:buNone/>
            </a:pPr>
            <a:r>
              <a:rPr lang="en-US" dirty="0"/>
              <a:t>var3 = var1 + var2</a:t>
            </a:r>
          </a:p>
          <a:p>
            <a:pPr marL="0" indent="0">
              <a:buNone/>
            </a:pPr>
            <a:endParaRPr lang="en-US" dirty="0"/>
          </a:p>
          <a:p>
            <a:pPr marL="0" indent="0">
              <a:buNone/>
            </a:pPr>
            <a:r>
              <a:rPr lang="en-US" dirty="0"/>
              <a:t>r1 =</a:t>
            </a:r>
            <a:r>
              <a:rPr lang="en-US" dirty="0">
                <a:sym typeface="Wingdings" panose="05000000000000000000" pitchFamily="2" charset="2"/>
              </a:rPr>
              <a:t> load var1</a:t>
            </a:r>
          </a:p>
          <a:p>
            <a:pPr marL="0" indent="0">
              <a:buNone/>
            </a:pPr>
            <a:r>
              <a:rPr lang="en-US" dirty="0">
                <a:sym typeface="Wingdings" panose="05000000000000000000" pitchFamily="2" charset="2"/>
              </a:rPr>
              <a:t>r2 = load var2</a:t>
            </a:r>
            <a:endParaRPr lang="en-US" dirty="0"/>
          </a:p>
          <a:p>
            <a:pPr marL="0" indent="0">
              <a:buNone/>
            </a:pPr>
            <a:r>
              <a:rPr lang="en-US" dirty="0"/>
              <a:t>r3 </a:t>
            </a:r>
            <a:r>
              <a:rPr lang="en-US" dirty="0">
                <a:sym typeface="Wingdings" panose="05000000000000000000" pitchFamily="2" charset="2"/>
              </a:rPr>
              <a:t>= r1 op r2</a:t>
            </a:r>
          </a:p>
          <a:p>
            <a:pPr marL="0" indent="0">
              <a:buNone/>
            </a:pPr>
            <a:r>
              <a:rPr lang="en-US" dirty="0">
                <a:sym typeface="Wingdings" panose="05000000000000000000" pitchFamily="2" charset="2"/>
              </a:rPr>
              <a:t>store r3, var3</a:t>
            </a:r>
          </a:p>
          <a:p>
            <a:pPr marL="0" indent="0">
              <a:buNone/>
            </a:pPr>
            <a:endParaRPr lang="en-US" dirty="0"/>
          </a:p>
        </p:txBody>
      </p:sp>
    </p:spTree>
    <p:extLst>
      <p:ext uri="{BB962C8B-B14F-4D97-AF65-F5344CB8AC3E}">
        <p14:creationId xmlns:p14="http://schemas.microsoft.com/office/powerpoint/2010/main" val="1272323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FDAB2-AB4E-491F-91D8-09BFAF5AD3EA}"/>
              </a:ext>
            </a:extLst>
          </p:cNvPr>
          <p:cNvSpPr>
            <a:spLocks noGrp="1"/>
          </p:cNvSpPr>
          <p:nvPr>
            <p:ph type="title"/>
          </p:nvPr>
        </p:nvSpPr>
        <p:spPr/>
        <p:txBody>
          <a:bodyPr/>
          <a:lstStyle/>
          <a:p>
            <a:r>
              <a:rPr lang="en-US" dirty="0"/>
              <a:t>Register allocation</a:t>
            </a:r>
          </a:p>
        </p:txBody>
      </p:sp>
      <p:sp>
        <p:nvSpPr>
          <p:cNvPr id="3" name="Content Placeholder 2">
            <a:extLst>
              <a:ext uri="{FF2B5EF4-FFF2-40B4-BE49-F238E27FC236}">
                <a16:creationId xmlns:a16="http://schemas.microsoft.com/office/drawing/2014/main" id="{E865DC1D-A45D-4DD5-AE16-32ACD2655560}"/>
              </a:ext>
            </a:extLst>
          </p:cNvPr>
          <p:cNvSpPr>
            <a:spLocks noGrp="1"/>
          </p:cNvSpPr>
          <p:nvPr>
            <p:ph idx="1"/>
          </p:nvPr>
        </p:nvSpPr>
        <p:spPr/>
        <p:txBody>
          <a:bodyPr/>
          <a:lstStyle/>
          <a:p>
            <a:r>
              <a:rPr lang="en-US" dirty="0"/>
              <a:t>During register allocation, we select the set of variables that reside in registers at each point in the program</a:t>
            </a:r>
          </a:p>
          <a:p>
            <a:endParaRPr lang="en-US" dirty="0"/>
          </a:p>
          <a:p>
            <a:r>
              <a:rPr lang="en-US" dirty="0"/>
              <a:t>The rest of the variables are accessed using load and store instructions</a:t>
            </a:r>
          </a:p>
        </p:txBody>
      </p:sp>
    </p:spTree>
    <p:extLst>
      <p:ext uri="{BB962C8B-B14F-4D97-AF65-F5344CB8AC3E}">
        <p14:creationId xmlns:p14="http://schemas.microsoft.com/office/powerpoint/2010/main" val="2388356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534C-4840-4440-9905-EC0EF35784FC}"/>
              </a:ext>
            </a:extLst>
          </p:cNvPr>
          <p:cNvSpPr>
            <a:spLocks noGrp="1"/>
          </p:cNvSpPr>
          <p:nvPr>
            <p:ph type="title"/>
          </p:nvPr>
        </p:nvSpPr>
        <p:spPr/>
        <p:txBody>
          <a:bodyPr/>
          <a:lstStyle/>
          <a:p>
            <a:r>
              <a:rPr lang="en-US" dirty="0"/>
              <a:t>Global register allocation</a:t>
            </a:r>
          </a:p>
        </p:txBody>
      </p:sp>
      <p:sp>
        <p:nvSpPr>
          <p:cNvPr id="3" name="Content Placeholder 2">
            <a:extLst>
              <a:ext uri="{FF2B5EF4-FFF2-40B4-BE49-F238E27FC236}">
                <a16:creationId xmlns:a16="http://schemas.microsoft.com/office/drawing/2014/main" id="{65B943FA-1D79-43B7-8EA3-F3E453B538F3}"/>
              </a:ext>
            </a:extLst>
          </p:cNvPr>
          <p:cNvSpPr>
            <a:spLocks noGrp="1"/>
          </p:cNvSpPr>
          <p:nvPr>
            <p:ph idx="1"/>
          </p:nvPr>
        </p:nvSpPr>
        <p:spPr/>
        <p:txBody>
          <a:bodyPr/>
          <a:lstStyle/>
          <a:p>
            <a:r>
              <a:rPr lang="en-US" dirty="0"/>
              <a:t>The idea behind global register allocation is: if two variables are never live at the same time, the same register can be allocated to both of them</a:t>
            </a:r>
          </a:p>
          <a:p>
            <a:endParaRPr lang="en-US" dirty="0"/>
          </a:p>
          <a:p>
            <a:endParaRPr lang="en-US" dirty="0"/>
          </a:p>
          <a:p>
            <a:endParaRPr lang="en-US" dirty="0"/>
          </a:p>
          <a:p>
            <a:endParaRPr lang="en-US" dirty="0"/>
          </a:p>
          <a:p>
            <a:endParaRPr lang="en-US" dirty="0"/>
          </a:p>
          <a:p>
            <a:pPr marL="0" indent="0">
              <a:buNone/>
            </a:pPr>
            <a:r>
              <a:rPr lang="en-US" dirty="0"/>
              <a:t>Section 8.8.4: </a:t>
            </a:r>
            <a:r>
              <a:rPr lang="en-US" dirty="0" err="1"/>
              <a:t>Aho</a:t>
            </a:r>
            <a:r>
              <a:rPr lang="en-US" dirty="0"/>
              <a:t>, </a:t>
            </a:r>
            <a:r>
              <a:rPr lang="en-US" dirty="0" err="1"/>
              <a:t>Ullam</a:t>
            </a:r>
            <a:r>
              <a:rPr lang="en-US" dirty="0"/>
              <a:t>, Lam, </a:t>
            </a:r>
            <a:r>
              <a:rPr lang="en-US" dirty="0" err="1"/>
              <a:t>Sethi</a:t>
            </a:r>
            <a:endParaRPr lang="en-US" dirty="0"/>
          </a:p>
        </p:txBody>
      </p:sp>
    </p:spTree>
    <p:extLst>
      <p:ext uri="{BB962C8B-B14F-4D97-AF65-F5344CB8AC3E}">
        <p14:creationId xmlns:p14="http://schemas.microsoft.com/office/powerpoint/2010/main" val="2312476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288925"/>
            <a:ext cx="10515600" cy="1325563"/>
          </a:xfrm>
        </p:spPr>
        <p:txBody>
          <a:bodyPr/>
          <a:lstStyle/>
          <a:p>
            <a:r>
              <a:rPr lang="en-US" dirty="0"/>
              <a:t>Register allocation</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800600" y="242751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942116" y="2503714"/>
            <a:ext cx="1643742" cy="923330"/>
          </a:xfrm>
          <a:prstGeom prst="rect">
            <a:avLst/>
          </a:prstGeom>
          <a:noFill/>
        </p:spPr>
        <p:txBody>
          <a:bodyPr wrap="square" rtlCol="0">
            <a:spAutoFit/>
          </a:bodyPr>
          <a:lstStyle/>
          <a:p>
            <a:r>
              <a:rPr lang="en-US" dirty="0"/>
              <a:t>  a = b + c</a:t>
            </a:r>
          </a:p>
          <a:p>
            <a:r>
              <a:rPr lang="en-US" dirty="0"/>
              <a:t>  d = d – c</a:t>
            </a:r>
          </a:p>
          <a:p>
            <a:r>
              <a:rPr lang="en-US" dirty="0"/>
              <a:t>  e = a + f</a:t>
            </a:r>
          </a:p>
        </p:txBody>
      </p:sp>
      <p:sp>
        <p:nvSpPr>
          <p:cNvPr id="6" name="Rectangle 5">
            <a:extLst>
              <a:ext uri="{FF2B5EF4-FFF2-40B4-BE49-F238E27FC236}">
                <a16:creationId xmlns:a16="http://schemas.microsoft.com/office/drawing/2014/main" id="{A105924F-CD40-4F9B-9A3E-110017B6A40B}"/>
              </a:ext>
            </a:extLst>
          </p:cNvPr>
          <p:cNvSpPr/>
          <p:nvPr/>
        </p:nvSpPr>
        <p:spPr>
          <a:xfrm>
            <a:off x="2688773" y="414745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862946" y="4223658"/>
            <a:ext cx="1643742" cy="369332"/>
          </a:xfrm>
          <a:prstGeom prst="rect">
            <a:avLst/>
          </a:prstGeom>
          <a:noFill/>
        </p:spPr>
        <p:txBody>
          <a:bodyPr wrap="square" rtlCol="0">
            <a:spAutoFit/>
          </a:bodyPr>
          <a:lstStyle/>
          <a:p>
            <a:r>
              <a:rPr lang="en-US" dirty="0"/>
              <a:t>  f = e - d</a:t>
            </a:r>
          </a:p>
        </p:txBody>
      </p:sp>
      <p:sp>
        <p:nvSpPr>
          <p:cNvPr id="8" name="Rectangle 7">
            <a:extLst>
              <a:ext uri="{FF2B5EF4-FFF2-40B4-BE49-F238E27FC236}">
                <a16:creationId xmlns:a16="http://schemas.microsoft.com/office/drawing/2014/main" id="{2EC3F743-5E0D-4ACC-9B26-321C6ADA35C1}"/>
              </a:ext>
            </a:extLst>
          </p:cNvPr>
          <p:cNvSpPr/>
          <p:nvPr/>
        </p:nvSpPr>
        <p:spPr>
          <a:xfrm>
            <a:off x="4822370" y="527957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963886" y="5584374"/>
            <a:ext cx="1643742" cy="369332"/>
          </a:xfrm>
          <a:prstGeom prst="rect">
            <a:avLst/>
          </a:prstGeom>
          <a:noFill/>
        </p:spPr>
        <p:txBody>
          <a:bodyPr wrap="square" rtlCol="0">
            <a:spAutoFit/>
          </a:bodyPr>
          <a:lstStyle/>
          <a:p>
            <a:r>
              <a:rPr lang="en-US" dirty="0"/>
              <a:t>   b = d + c</a:t>
            </a:r>
          </a:p>
        </p:txBody>
      </p:sp>
      <p:sp>
        <p:nvSpPr>
          <p:cNvPr id="10" name="Rectangle 9">
            <a:extLst>
              <a:ext uri="{FF2B5EF4-FFF2-40B4-BE49-F238E27FC236}">
                <a16:creationId xmlns:a16="http://schemas.microsoft.com/office/drawing/2014/main" id="{104E023B-01F4-4FFA-B4BA-2BC5B5ECA16D}"/>
              </a:ext>
            </a:extLst>
          </p:cNvPr>
          <p:cNvSpPr/>
          <p:nvPr/>
        </p:nvSpPr>
        <p:spPr>
          <a:xfrm>
            <a:off x="7326084" y="388620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532914" y="4016830"/>
            <a:ext cx="1643742" cy="646331"/>
          </a:xfrm>
          <a:prstGeom prst="rect">
            <a:avLst/>
          </a:prstGeom>
          <a:noFill/>
        </p:spPr>
        <p:txBody>
          <a:bodyPr wrap="square" rtlCol="0">
            <a:spAutoFit/>
          </a:bodyPr>
          <a:lstStyle/>
          <a:p>
            <a:r>
              <a:rPr lang="en-US" dirty="0"/>
              <a:t>b = c + f</a:t>
            </a:r>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3510644" y="463653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6705600" y="472440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3510644" y="342704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6705600" y="342704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731327" y="182131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727370" y="628106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969826" y="472440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83485" y="5312231"/>
            <a:ext cx="2247900" cy="369332"/>
          </a:xfrm>
          <a:prstGeom prst="rect">
            <a:avLst/>
          </a:prstGeom>
          <a:noFill/>
        </p:spPr>
        <p:txBody>
          <a:bodyPr wrap="square" rtlCol="0">
            <a:spAutoFit/>
          </a:bodyPr>
          <a:lstStyle/>
          <a:p>
            <a:r>
              <a:rPr lang="en-US" dirty="0" err="1">
                <a:solidFill>
                  <a:srgbClr val="FF0000"/>
                </a:solidFill>
              </a:rPr>
              <a:t>b,d,e,f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946569" y="6400807"/>
            <a:ext cx="2247900" cy="369332"/>
          </a:xfrm>
          <a:prstGeom prst="rect">
            <a:avLst/>
          </a:prstGeom>
          <a:noFill/>
        </p:spPr>
        <p:txBody>
          <a:bodyPr wrap="square" rtlCol="0">
            <a:spAutoFit/>
          </a:bodyPr>
          <a:lstStyle/>
          <a:p>
            <a:r>
              <a:rPr lang="en-US" dirty="0" err="1">
                <a:solidFill>
                  <a:srgbClr val="FF0000"/>
                </a:solidFill>
              </a:rPr>
              <a:t>b,c,d,e,f</a:t>
            </a:r>
            <a:r>
              <a:rPr lang="en-US" dirty="0">
                <a:solidFill>
                  <a:srgbClr val="FF0000"/>
                </a:solidFill>
              </a:rPr>
              <a:t> live</a:t>
            </a:r>
          </a:p>
        </p:txBody>
      </p:sp>
      <p:cxnSp>
        <p:nvCxnSpPr>
          <p:cNvPr id="13" name="Connector: Curved 12">
            <a:extLst>
              <a:ext uri="{FF2B5EF4-FFF2-40B4-BE49-F238E27FC236}">
                <a16:creationId xmlns:a16="http://schemas.microsoft.com/office/drawing/2014/main" id="{400FCAC2-1A59-4D3B-9623-843A9583D0E3}"/>
              </a:ext>
            </a:extLst>
          </p:cNvPr>
          <p:cNvCxnSpPr>
            <a:cxnSpLocks/>
          </p:cNvCxnSpPr>
          <p:nvPr/>
        </p:nvCxnSpPr>
        <p:spPr>
          <a:xfrm rot="5400000" flipH="1">
            <a:off x="3771899" y="4408716"/>
            <a:ext cx="3777346" cy="10883"/>
          </a:xfrm>
          <a:prstGeom prst="curvedConnector5">
            <a:avLst>
              <a:gd name="adj1" fmla="val -6052"/>
              <a:gd name="adj2" fmla="val 39559864"/>
              <a:gd name="adj3" fmla="val 10605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427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p:txBody>
          <a:bodyPr/>
          <a:lstStyle/>
          <a:p>
            <a:r>
              <a:rPr lang="en-US" dirty="0"/>
              <a:t>Live variable analysis</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800600" y="242751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942116" y="2503714"/>
            <a:ext cx="1643742" cy="923330"/>
          </a:xfrm>
          <a:prstGeom prst="rect">
            <a:avLst/>
          </a:prstGeom>
          <a:noFill/>
        </p:spPr>
        <p:txBody>
          <a:bodyPr wrap="square" rtlCol="0">
            <a:spAutoFit/>
          </a:bodyPr>
          <a:lstStyle/>
          <a:p>
            <a:r>
              <a:rPr lang="en-US" dirty="0"/>
              <a:t>  a = b + c</a:t>
            </a:r>
          </a:p>
          <a:p>
            <a:r>
              <a:rPr lang="en-US" dirty="0"/>
              <a:t>  d = d – c</a:t>
            </a:r>
          </a:p>
          <a:p>
            <a:r>
              <a:rPr lang="en-US" dirty="0"/>
              <a:t>  e = a + f</a:t>
            </a:r>
          </a:p>
        </p:txBody>
      </p:sp>
      <p:sp>
        <p:nvSpPr>
          <p:cNvPr id="6" name="Rectangle 5">
            <a:extLst>
              <a:ext uri="{FF2B5EF4-FFF2-40B4-BE49-F238E27FC236}">
                <a16:creationId xmlns:a16="http://schemas.microsoft.com/office/drawing/2014/main" id="{A105924F-CD40-4F9B-9A3E-110017B6A40B}"/>
              </a:ext>
            </a:extLst>
          </p:cNvPr>
          <p:cNvSpPr/>
          <p:nvPr/>
        </p:nvSpPr>
        <p:spPr>
          <a:xfrm>
            <a:off x="2688773" y="414745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862946" y="4223658"/>
            <a:ext cx="1643742" cy="369332"/>
          </a:xfrm>
          <a:prstGeom prst="rect">
            <a:avLst/>
          </a:prstGeom>
          <a:noFill/>
        </p:spPr>
        <p:txBody>
          <a:bodyPr wrap="square" rtlCol="0">
            <a:spAutoFit/>
          </a:bodyPr>
          <a:lstStyle/>
          <a:p>
            <a:r>
              <a:rPr lang="en-US" dirty="0"/>
              <a:t>  f = e - d</a:t>
            </a:r>
          </a:p>
        </p:txBody>
      </p:sp>
      <p:sp>
        <p:nvSpPr>
          <p:cNvPr id="8" name="Rectangle 7">
            <a:extLst>
              <a:ext uri="{FF2B5EF4-FFF2-40B4-BE49-F238E27FC236}">
                <a16:creationId xmlns:a16="http://schemas.microsoft.com/office/drawing/2014/main" id="{2EC3F743-5E0D-4ACC-9B26-321C6ADA35C1}"/>
              </a:ext>
            </a:extLst>
          </p:cNvPr>
          <p:cNvSpPr/>
          <p:nvPr/>
        </p:nvSpPr>
        <p:spPr>
          <a:xfrm>
            <a:off x="4822370" y="527957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963886" y="5595261"/>
            <a:ext cx="1643742" cy="369332"/>
          </a:xfrm>
          <a:prstGeom prst="rect">
            <a:avLst/>
          </a:prstGeom>
          <a:noFill/>
        </p:spPr>
        <p:txBody>
          <a:bodyPr wrap="square" rtlCol="0">
            <a:spAutoFit/>
          </a:bodyPr>
          <a:lstStyle/>
          <a:p>
            <a:r>
              <a:rPr lang="en-US" dirty="0"/>
              <a:t>  </a:t>
            </a:r>
          </a:p>
        </p:txBody>
      </p:sp>
      <p:sp>
        <p:nvSpPr>
          <p:cNvPr id="10" name="Rectangle 9">
            <a:extLst>
              <a:ext uri="{FF2B5EF4-FFF2-40B4-BE49-F238E27FC236}">
                <a16:creationId xmlns:a16="http://schemas.microsoft.com/office/drawing/2014/main" id="{104E023B-01F4-4FFA-B4BA-2BC5B5ECA16D}"/>
              </a:ext>
            </a:extLst>
          </p:cNvPr>
          <p:cNvSpPr/>
          <p:nvPr/>
        </p:nvSpPr>
        <p:spPr>
          <a:xfrm>
            <a:off x="7326084" y="388620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532914" y="4016830"/>
            <a:ext cx="1643742" cy="646331"/>
          </a:xfrm>
          <a:prstGeom prst="rect">
            <a:avLst/>
          </a:prstGeom>
          <a:noFill/>
        </p:spPr>
        <p:txBody>
          <a:bodyPr wrap="square" rtlCol="0">
            <a:spAutoFit/>
          </a:bodyPr>
          <a:lstStyle/>
          <a:p>
            <a:r>
              <a:rPr lang="en-US" dirty="0"/>
              <a:t>b = c + f</a:t>
            </a:r>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3510644" y="463653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6705600" y="472440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3510644" y="342704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6705600" y="342704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731327" y="182131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727370" y="628106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969826" y="472440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83485" y="5312231"/>
            <a:ext cx="2247900" cy="369332"/>
          </a:xfrm>
          <a:prstGeom prst="rect">
            <a:avLst/>
          </a:prstGeom>
          <a:noFill/>
        </p:spPr>
        <p:txBody>
          <a:bodyPr wrap="square" rtlCol="0">
            <a:spAutoFit/>
          </a:bodyPr>
          <a:lstStyle/>
          <a:p>
            <a:r>
              <a:rPr lang="en-US" dirty="0" err="1">
                <a:solidFill>
                  <a:srgbClr val="FF0000"/>
                </a:solidFill>
              </a:rPr>
              <a:t>b,d,e,f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946569" y="6400807"/>
            <a:ext cx="2247900" cy="369332"/>
          </a:xfrm>
          <a:prstGeom prst="rect">
            <a:avLst/>
          </a:prstGeom>
          <a:noFill/>
        </p:spPr>
        <p:txBody>
          <a:bodyPr wrap="square" rtlCol="0">
            <a:spAutoFit/>
          </a:bodyPr>
          <a:lstStyle/>
          <a:p>
            <a:r>
              <a:rPr lang="en-US" dirty="0" err="1">
                <a:solidFill>
                  <a:srgbClr val="FF0000"/>
                </a:solidFill>
              </a:rPr>
              <a:t>b,c,d,e,f</a:t>
            </a:r>
            <a:r>
              <a:rPr lang="en-US" dirty="0">
                <a:solidFill>
                  <a:srgbClr val="FF0000"/>
                </a:solidFill>
              </a:rPr>
              <a:t> live</a:t>
            </a:r>
          </a:p>
        </p:txBody>
      </p:sp>
      <p:sp>
        <p:nvSpPr>
          <p:cNvPr id="22" name="TextBox 21">
            <a:extLst>
              <a:ext uri="{FF2B5EF4-FFF2-40B4-BE49-F238E27FC236}">
                <a16:creationId xmlns:a16="http://schemas.microsoft.com/office/drawing/2014/main" id="{CF3C1A93-CF80-4E3D-8123-0EAE21EB1A25}"/>
              </a:ext>
            </a:extLst>
          </p:cNvPr>
          <p:cNvSpPr txBox="1"/>
          <p:nvPr/>
        </p:nvSpPr>
        <p:spPr>
          <a:xfrm>
            <a:off x="5072741" y="4865919"/>
            <a:ext cx="2247900" cy="369332"/>
          </a:xfrm>
          <a:prstGeom prst="rect">
            <a:avLst/>
          </a:prstGeom>
          <a:noFill/>
        </p:spPr>
        <p:txBody>
          <a:bodyPr wrap="square" rtlCol="0">
            <a:spAutoFit/>
          </a:bodyPr>
          <a:lstStyle/>
          <a:p>
            <a:r>
              <a:rPr lang="en-US" dirty="0" err="1">
                <a:solidFill>
                  <a:srgbClr val="FF0000"/>
                </a:solidFill>
              </a:rPr>
              <a:t>c,d,e,f</a:t>
            </a:r>
            <a:r>
              <a:rPr lang="en-US" dirty="0">
                <a:solidFill>
                  <a:srgbClr val="FF0000"/>
                </a:solidFill>
              </a:rPr>
              <a:t> </a:t>
            </a:r>
          </a:p>
        </p:txBody>
      </p:sp>
      <p:sp>
        <p:nvSpPr>
          <p:cNvPr id="24" name="TextBox 23">
            <a:extLst>
              <a:ext uri="{FF2B5EF4-FFF2-40B4-BE49-F238E27FC236}">
                <a16:creationId xmlns:a16="http://schemas.microsoft.com/office/drawing/2014/main" id="{3BDCE748-18AC-4901-BE8B-91EC5B24B050}"/>
              </a:ext>
            </a:extLst>
          </p:cNvPr>
          <p:cNvSpPr txBox="1"/>
          <p:nvPr/>
        </p:nvSpPr>
        <p:spPr>
          <a:xfrm>
            <a:off x="8000997" y="4767948"/>
            <a:ext cx="2247900" cy="369332"/>
          </a:xfrm>
          <a:prstGeom prst="rect">
            <a:avLst/>
          </a:prstGeom>
          <a:noFill/>
        </p:spPr>
        <p:txBody>
          <a:bodyPr wrap="square" rtlCol="0">
            <a:spAutoFit/>
          </a:bodyPr>
          <a:lstStyle/>
          <a:p>
            <a:r>
              <a:rPr lang="en-US" dirty="0" err="1">
                <a:solidFill>
                  <a:srgbClr val="FF0000"/>
                </a:solidFill>
              </a:rPr>
              <a:t>b,c,d,e,f</a:t>
            </a:r>
            <a:r>
              <a:rPr lang="en-US" dirty="0">
                <a:solidFill>
                  <a:srgbClr val="FF0000"/>
                </a:solidFill>
              </a:rPr>
              <a:t> </a:t>
            </a:r>
          </a:p>
        </p:txBody>
      </p:sp>
      <p:sp>
        <p:nvSpPr>
          <p:cNvPr id="26" name="TextBox 25">
            <a:extLst>
              <a:ext uri="{FF2B5EF4-FFF2-40B4-BE49-F238E27FC236}">
                <a16:creationId xmlns:a16="http://schemas.microsoft.com/office/drawing/2014/main" id="{10770371-0A55-4DEC-8EDF-D4C9ADEBD012}"/>
              </a:ext>
            </a:extLst>
          </p:cNvPr>
          <p:cNvSpPr txBox="1"/>
          <p:nvPr/>
        </p:nvSpPr>
        <p:spPr>
          <a:xfrm>
            <a:off x="2710545" y="4626434"/>
            <a:ext cx="2247900" cy="369332"/>
          </a:xfrm>
          <a:prstGeom prst="rect">
            <a:avLst/>
          </a:prstGeom>
          <a:noFill/>
        </p:spPr>
        <p:txBody>
          <a:bodyPr wrap="square" rtlCol="0">
            <a:spAutoFit/>
          </a:bodyPr>
          <a:lstStyle/>
          <a:p>
            <a:r>
              <a:rPr lang="en-US" dirty="0" err="1">
                <a:solidFill>
                  <a:srgbClr val="FF0000"/>
                </a:solidFill>
              </a:rPr>
              <a:t>c,d,e,f</a:t>
            </a:r>
            <a:r>
              <a:rPr lang="en-US" dirty="0">
                <a:solidFill>
                  <a:srgbClr val="FF0000"/>
                </a:solidFill>
              </a:rPr>
              <a:t> </a:t>
            </a:r>
          </a:p>
        </p:txBody>
      </p:sp>
      <p:sp>
        <p:nvSpPr>
          <p:cNvPr id="28" name="TextBox 27">
            <a:extLst>
              <a:ext uri="{FF2B5EF4-FFF2-40B4-BE49-F238E27FC236}">
                <a16:creationId xmlns:a16="http://schemas.microsoft.com/office/drawing/2014/main" id="{AF12C7F6-CB07-49A3-9205-AE46C183D512}"/>
              </a:ext>
            </a:extLst>
          </p:cNvPr>
          <p:cNvSpPr txBox="1"/>
          <p:nvPr/>
        </p:nvSpPr>
        <p:spPr>
          <a:xfrm>
            <a:off x="2645231" y="3701149"/>
            <a:ext cx="2247900" cy="369332"/>
          </a:xfrm>
          <a:prstGeom prst="rect">
            <a:avLst/>
          </a:prstGeom>
          <a:noFill/>
        </p:spPr>
        <p:txBody>
          <a:bodyPr wrap="square" rtlCol="0">
            <a:spAutoFit/>
          </a:bodyPr>
          <a:lstStyle/>
          <a:p>
            <a:r>
              <a:rPr lang="en-US" dirty="0" err="1">
                <a:solidFill>
                  <a:srgbClr val="FF0000"/>
                </a:solidFill>
              </a:rPr>
              <a:t>c,d,e</a:t>
            </a:r>
            <a:r>
              <a:rPr lang="en-US" dirty="0">
                <a:solidFill>
                  <a:srgbClr val="FF0000"/>
                </a:solidFill>
              </a:rPr>
              <a:t> </a:t>
            </a:r>
          </a:p>
        </p:txBody>
      </p:sp>
      <p:cxnSp>
        <p:nvCxnSpPr>
          <p:cNvPr id="30" name="Connector: Curved 29">
            <a:extLst>
              <a:ext uri="{FF2B5EF4-FFF2-40B4-BE49-F238E27FC236}">
                <a16:creationId xmlns:a16="http://schemas.microsoft.com/office/drawing/2014/main" id="{525B381F-DAF9-484C-BD50-56B55C074D4C}"/>
              </a:ext>
            </a:extLst>
          </p:cNvPr>
          <p:cNvCxnSpPr>
            <a:cxnSpLocks/>
          </p:cNvCxnSpPr>
          <p:nvPr/>
        </p:nvCxnSpPr>
        <p:spPr>
          <a:xfrm rot="5400000" flipH="1">
            <a:off x="3771899" y="4408716"/>
            <a:ext cx="3777346" cy="10883"/>
          </a:xfrm>
          <a:prstGeom prst="curvedConnector5">
            <a:avLst>
              <a:gd name="adj1" fmla="val -6052"/>
              <a:gd name="adj2" fmla="val 39559864"/>
              <a:gd name="adj3" fmla="val 106052"/>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BC35DCD-A093-4447-A43F-48598E340DAB}"/>
              </a:ext>
            </a:extLst>
          </p:cNvPr>
          <p:cNvSpPr txBox="1"/>
          <p:nvPr/>
        </p:nvSpPr>
        <p:spPr>
          <a:xfrm>
            <a:off x="4963886" y="5584374"/>
            <a:ext cx="1643742" cy="369332"/>
          </a:xfrm>
          <a:prstGeom prst="rect">
            <a:avLst/>
          </a:prstGeom>
          <a:noFill/>
        </p:spPr>
        <p:txBody>
          <a:bodyPr wrap="square" rtlCol="0">
            <a:spAutoFit/>
          </a:bodyPr>
          <a:lstStyle/>
          <a:p>
            <a:r>
              <a:rPr lang="en-US" dirty="0"/>
              <a:t>   b = d + c</a:t>
            </a:r>
          </a:p>
        </p:txBody>
      </p:sp>
      <p:sp>
        <p:nvSpPr>
          <p:cNvPr id="33" name="TextBox 32">
            <a:extLst>
              <a:ext uri="{FF2B5EF4-FFF2-40B4-BE49-F238E27FC236}">
                <a16:creationId xmlns:a16="http://schemas.microsoft.com/office/drawing/2014/main" id="{BAE37676-8F08-4EFB-BAB0-813E88A10B57}"/>
              </a:ext>
            </a:extLst>
          </p:cNvPr>
          <p:cNvSpPr txBox="1"/>
          <p:nvPr/>
        </p:nvSpPr>
        <p:spPr>
          <a:xfrm>
            <a:off x="8066312" y="3516092"/>
            <a:ext cx="2247900" cy="369332"/>
          </a:xfrm>
          <a:prstGeom prst="rect">
            <a:avLst/>
          </a:prstGeom>
          <a:noFill/>
        </p:spPr>
        <p:txBody>
          <a:bodyPr wrap="square" rtlCol="0">
            <a:spAutoFit/>
          </a:bodyPr>
          <a:lstStyle/>
          <a:p>
            <a:r>
              <a:rPr lang="en-US" dirty="0" err="1">
                <a:solidFill>
                  <a:srgbClr val="FF0000"/>
                </a:solidFill>
              </a:rPr>
              <a:t>c,d,f</a:t>
            </a:r>
            <a:r>
              <a:rPr lang="en-US" dirty="0">
                <a:solidFill>
                  <a:srgbClr val="FF0000"/>
                </a:solidFill>
              </a:rPr>
              <a:t> </a:t>
            </a:r>
          </a:p>
        </p:txBody>
      </p:sp>
      <p:sp>
        <p:nvSpPr>
          <p:cNvPr id="34" name="TextBox 33">
            <a:extLst>
              <a:ext uri="{FF2B5EF4-FFF2-40B4-BE49-F238E27FC236}">
                <a16:creationId xmlns:a16="http://schemas.microsoft.com/office/drawing/2014/main" id="{974B1D33-BC76-4CBE-802F-192CC4630DC6}"/>
              </a:ext>
            </a:extLst>
          </p:cNvPr>
          <p:cNvSpPr txBox="1"/>
          <p:nvPr/>
        </p:nvSpPr>
        <p:spPr>
          <a:xfrm>
            <a:off x="5105400" y="3483434"/>
            <a:ext cx="2247900" cy="369332"/>
          </a:xfrm>
          <a:prstGeom prst="rect">
            <a:avLst/>
          </a:prstGeom>
          <a:noFill/>
        </p:spPr>
        <p:txBody>
          <a:bodyPr wrap="square" rtlCol="0">
            <a:spAutoFit/>
          </a:bodyPr>
          <a:lstStyle/>
          <a:p>
            <a:r>
              <a:rPr lang="en-US" dirty="0" err="1">
                <a:solidFill>
                  <a:srgbClr val="FF0000"/>
                </a:solidFill>
              </a:rPr>
              <a:t>c,d,e,f</a:t>
            </a:r>
            <a:r>
              <a:rPr lang="en-US" dirty="0">
                <a:solidFill>
                  <a:srgbClr val="FF0000"/>
                </a:solidFill>
              </a:rPr>
              <a:t> </a:t>
            </a:r>
          </a:p>
        </p:txBody>
      </p:sp>
      <p:sp>
        <p:nvSpPr>
          <p:cNvPr id="35" name="TextBox 34">
            <a:extLst>
              <a:ext uri="{FF2B5EF4-FFF2-40B4-BE49-F238E27FC236}">
                <a16:creationId xmlns:a16="http://schemas.microsoft.com/office/drawing/2014/main" id="{2F2DB499-09B9-41B2-899B-E9A734501DB7}"/>
              </a:ext>
            </a:extLst>
          </p:cNvPr>
          <p:cNvSpPr txBox="1"/>
          <p:nvPr/>
        </p:nvSpPr>
        <p:spPr>
          <a:xfrm>
            <a:off x="6030686" y="1828806"/>
            <a:ext cx="2247900" cy="369332"/>
          </a:xfrm>
          <a:prstGeom prst="rect">
            <a:avLst/>
          </a:prstGeom>
          <a:noFill/>
        </p:spPr>
        <p:txBody>
          <a:bodyPr wrap="square" rtlCol="0">
            <a:spAutoFit/>
          </a:bodyPr>
          <a:lstStyle/>
          <a:p>
            <a:r>
              <a:rPr lang="en-US" dirty="0" err="1">
                <a:solidFill>
                  <a:srgbClr val="FF0000"/>
                </a:solidFill>
              </a:rPr>
              <a:t>b,c,d,f</a:t>
            </a:r>
            <a:r>
              <a:rPr lang="en-US" dirty="0">
                <a:solidFill>
                  <a:srgbClr val="FF0000"/>
                </a:solidFill>
              </a:rPr>
              <a:t> </a:t>
            </a:r>
          </a:p>
        </p:txBody>
      </p:sp>
      <p:sp>
        <p:nvSpPr>
          <p:cNvPr id="36" name="TextBox 35">
            <a:extLst>
              <a:ext uri="{FF2B5EF4-FFF2-40B4-BE49-F238E27FC236}">
                <a16:creationId xmlns:a16="http://schemas.microsoft.com/office/drawing/2014/main" id="{0CDCF19A-996C-49D3-BF7A-12D3EA70A95D}"/>
              </a:ext>
            </a:extLst>
          </p:cNvPr>
          <p:cNvSpPr txBox="1"/>
          <p:nvPr/>
        </p:nvSpPr>
        <p:spPr>
          <a:xfrm>
            <a:off x="3439886" y="6161315"/>
            <a:ext cx="2247900" cy="369332"/>
          </a:xfrm>
          <a:prstGeom prst="rect">
            <a:avLst/>
          </a:prstGeom>
          <a:noFill/>
        </p:spPr>
        <p:txBody>
          <a:bodyPr wrap="square" rtlCol="0">
            <a:spAutoFit/>
          </a:bodyPr>
          <a:lstStyle/>
          <a:p>
            <a:r>
              <a:rPr lang="en-US" dirty="0" err="1">
                <a:solidFill>
                  <a:srgbClr val="FF0000"/>
                </a:solidFill>
              </a:rPr>
              <a:t>b,c,d,f</a:t>
            </a:r>
            <a:r>
              <a:rPr lang="en-US" dirty="0">
                <a:solidFill>
                  <a:srgbClr val="FF0000"/>
                </a:solidFill>
              </a:rPr>
              <a:t> </a:t>
            </a:r>
          </a:p>
        </p:txBody>
      </p:sp>
      <p:cxnSp>
        <p:nvCxnSpPr>
          <p:cNvPr id="13" name="Straight Arrow Connector 12">
            <a:extLst>
              <a:ext uri="{FF2B5EF4-FFF2-40B4-BE49-F238E27FC236}">
                <a16:creationId xmlns:a16="http://schemas.microsoft.com/office/drawing/2014/main" id="{393853F6-1C67-4DE9-B72E-E01CB391DB24}"/>
              </a:ext>
            </a:extLst>
          </p:cNvPr>
          <p:cNvCxnSpPr/>
          <p:nvPr/>
        </p:nvCxnSpPr>
        <p:spPr>
          <a:xfrm>
            <a:off x="8278586" y="4354286"/>
            <a:ext cx="20356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0455C9D-586C-4585-87B4-DD8949672FE9}"/>
              </a:ext>
            </a:extLst>
          </p:cNvPr>
          <p:cNvSpPr txBox="1"/>
          <p:nvPr/>
        </p:nvSpPr>
        <p:spPr>
          <a:xfrm>
            <a:off x="10406740" y="4114806"/>
            <a:ext cx="2247900" cy="369332"/>
          </a:xfrm>
          <a:prstGeom prst="rect">
            <a:avLst/>
          </a:prstGeom>
          <a:noFill/>
        </p:spPr>
        <p:txBody>
          <a:bodyPr wrap="square" rtlCol="0">
            <a:spAutoFit/>
          </a:bodyPr>
          <a:lstStyle/>
          <a:p>
            <a:r>
              <a:rPr lang="en-US" dirty="0" err="1">
                <a:solidFill>
                  <a:srgbClr val="FF0000"/>
                </a:solidFill>
              </a:rPr>
              <a:t>b,c,d,f</a:t>
            </a:r>
            <a:r>
              <a:rPr lang="en-US" dirty="0">
                <a:solidFill>
                  <a:srgbClr val="FF0000"/>
                </a:solidFill>
              </a:rPr>
              <a:t> </a:t>
            </a:r>
          </a:p>
        </p:txBody>
      </p:sp>
      <p:cxnSp>
        <p:nvCxnSpPr>
          <p:cNvPr id="38" name="Straight Arrow Connector 37">
            <a:extLst>
              <a:ext uri="{FF2B5EF4-FFF2-40B4-BE49-F238E27FC236}">
                <a16:creationId xmlns:a16="http://schemas.microsoft.com/office/drawing/2014/main" id="{9EE35018-E218-486D-B9B5-EF48D83D1E64}"/>
              </a:ext>
            </a:extLst>
          </p:cNvPr>
          <p:cNvCxnSpPr/>
          <p:nvPr/>
        </p:nvCxnSpPr>
        <p:spPr>
          <a:xfrm>
            <a:off x="5851075" y="3113314"/>
            <a:ext cx="20356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EE9BBE2-704C-433D-9EDA-6EE14758E2F5}"/>
              </a:ext>
            </a:extLst>
          </p:cNvPr>
          <p:cNvSpPr txBox="1"/>
          <p:nvPr/>
        </p:nvSpPr>
        <p:spPr>
          <a:xfrm>
            <a:off x="7859486" y="2906491"/>
            <a:ext cx="2247900" cy="369332"/>
          </a:xfrm>
          <a:prstGeom prst="rect">
            <a:avLst/>
          </a:prstGeom>
          <a:noFill/>
        </p:spPr>
        <p:txBody>
          <a:bodyPr wrap="square" rtlCol="0">
            <a:spAutoFit/>
          </a:bodyPr>
          <a:lstStyle/>
          <a:p>
            <a:r>
              <a:rPr lang="en-US" dirty="0" err="1">
                <a:solidFill>
                  <a:srgbClr val="FF0000"/>
                </a:solidFill>
              </a:rPr>
              <a:t>a,c,d,f</a:t>
            </a:r>
            <a:r>
              <a:rPr lang="en-US" dirty="0">
                <a:solidFill>
                  <a:srgbClr val="FF0000"/>
                </a:solidFill>
              </a:rPr>
              <a:t> </a:t>
            </a:r>
          </a:p>
        </p:txBody>
      </p:sp>
      <p:cxnSp>
        <p:nvCxnSpPr>
          <p:cNvPr id="40" name="Straight Arrow Connector 39">
            <a:extLst>
              <a:ext uri="{FF2B5EF4-FFF2-40B4-BE49-F238E27FC236}">
                <a16:creationId xmlns:a16="http://schemas.microsoft.com/office/drawing/2014/main" id="{98DF0220-C191-454E-80E2-F3F70F063C42}"/>
              </a:ext>
            </a:extLst>
          </p:cNvPr>
          <p:cNvCxnSpPr/>
          <p:nvPr/>
        </p:nvCxnSpPr>
        <p:spPr>
          <a:xfrm>
            <a:off x="5883729" y="2830284"/>
            <a:ext cx="20356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A3B8A86-B068-4EC0-8005-7A9B333161EE}"/>
              </a:ext>
            </a:extLst>
          </p:cNvPr>
          <p:cNvSpPr txBox="1"/>
          <p:nvPr/>
        </p:nvSpPr>
        <p:spPr>
          <a:xfrm>
            <a:off x="7892143" y="2579917"/>
            <a:ext cx="2247900" cy="369332"/>
          </a:xfrm>
          <a:prstGeom prst="rect">
            <a:avLst/>
          </a:prstGeom>
          <a:noFill/>
        </p:spPr>
        <p:txBody>
          <a:bodyPr wrap="square" rtlCol="0">
            <a:spAutoFit/>
          </a:bodyPr>
          <a:lstStyle/>
          <a:p>
            <a:r>
              <a:rPr lang="en-US" dirty="0" err="1">
                <a:solidFill>
                  <a:srgbClr val="FF0000"/>
                </a:solidFill>
              </a:rPr>
              <a:t>a,c,d,f</a:t>
            </a:r>
            <a:r>
              <a:rPr lang="en-US" dirty="0">
                <a:solidFill>
                  <a:srgbClr val="FF0000"/>
                </a:solidFill>
              </a:rPr>
              <a:t> </a:t>
            </a:r>
          </a:p>
        </p:txBody>
      </p:sp>
    </p:spTree>
    <p:extLst>
      <p:ext uri="{BB962C8B-B14F-4D97-AF65-F5344CB8AC3E}">
        <p14:creationId xmlns:p14="http://schemas.microsoft.com/office/powerpoint/2010/main" val="3799213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Register-interference graph</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sp>
        <p:nvSpPr>
          <p:cNvPr id="5" name="TextBox 4">
            <a:extLst>
              <a:ext uri="{FF2B5EF4-FFF2-40B4-BE49-F238E27FC236}">
                <a16:creationId xmlns:a16="http://schemas.microsoft.com/office/drawing/2014/main" id="{2B3524B0-CBEC-479D-9E5C-3F4D314CF7EE}"/>
              </a:ext>
            </a:extLst>
          </p:cNvPr>
          <p:cNvSpPr txBox="1"/>
          <p:nvPr/>
        </p:nvSpPr>
        <p:spPr>
          <a:xfrm>
            <a:off x="8849360" y="4724400"/>
            <a:ext cx="3189514"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nodes in the register-interference graph are variables, and an edge connects two nodes if both the nodes are live at some program point.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8607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Register-interference graph</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sp>
        <p:nvSpPr>
          <p:cNvPr id="5" name="TextBox 4">
            <a:extLst>
              <a:ext uri="{FF2B5EF4-FFF2-40B4-BE49-F238E27FC236}">
                <a16:creationId xmlns:a16="http://schemas.microsoft.com/office/drawing/2014/main" id="{2B3524B0-CBEC-479D-9E5C-3F4D314CF7EE}"/>
              </a:ext>
            </a:extLst>
          </p:cNvPr>
          <p:cNvSpPr txBox="1"/>
          <p:nvPr/>
        </p:nvSpPr>
        <p:spPr>
          <a:xfrm>
            <a:off x="8849360" y="4998720"/>
            <a:ext cx="3189514"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Can we assign the same register to two variables that are connected using an edge? </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8871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D1568-75CA-B803-89A6-5782017F354D}"/>
              </a:ext>
            </a:extLst>
          </p:cNvPr>
          <p:cNvSpPr>
            <a:spLocks noGrp="1"/>
          </p:cNvSpPr>
          <p:nvPr>
            <p:ph type="title"/>
          </p:nvPr>
        </p:nvSpPr>
        <p:spPr/>
        <p:txBody>
          <a:bodyPr/>
          <a:lstStyle/>
          <a:p>
            <a:r>
              <a:rPr lang="en-US" dirty="0"/>
              <a:t>Graph coloring</a:t>
            </a:r>
            <a:endParaRPr lang="en-IN" dirty="0"/>
          </a:p>
        </p:txBody>
      </p:sp>
      <p:sp>
        <p:nvSpPr>
          <p:cNvPr id="3" name="Text Placeholder 2">
            <a:extLst>
              <a:ext uri="{FF2B5EF4-FFF2-40B4-BE49-F238E27FC236}">
                <a16:creationId xmlns:a16="http://schemas.microsoft.com/office/drawing/2014/main" id="{8C832BFF-650D-2C54-C6E1-7C8C6672B40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552944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AA95F-E795-407D-9F67-B194AEEE42D7}"/>
              </a:ext>
            </a:extLst>
          </p:cNvPr>
          <p:cNvSpPr>
            <a:spLocks noGrp="1"/>
          </p:cNvSpPr>
          <p:nvPr>
            <p:ph type="title"/>
          </p:nvPr>
        </p:nvSpPr>
        <p:spPr/>
        <p:txBody>
          <a:bodyPr/>
          <a:lstStyle/>
          <a:p>
            <a:r>
              <a:rPr lang="en-US" dirty="0"/>
              <a:t>Graph coloring</a:t>
            </a:r>
          </a:p>
        </p:txBody>
      </p:sp>
      <p:sp>
        <p:nvSpPr>
          <p:cNvPr id="3" name="Content Placeholder 2">
            <a:extLst>
              <a:ext uri="{FF2B5EF4-FFF2-40B4-BE49-F238E27FC236}">
                <a16:creationId xmlns:a16="http://schemas.microsoft.com/office/drawing/2014/main" id="{368799B0-C503-4FC1-ABBA-39490BA4C70D}"/>
              </a:ext>
            </a:extLst>
          </p:cNvPr>
          <p:cNvSpPr>
            <a:spLocks noGrp="1"/>
          </p:cNvSpPr>
          <p:nvPr>
            <p:ph idx="1"/>
          </p:nvPr>
        </p:nvSpPr>
        <p:spPr/>
        <p:txBody>
          <a:bodyPr/>
          <a:lstStyle/>
          <a:p>
            <a:r>
              <a:rPr lang="en-US" dirty="0"/>
              <a:t>A graph is colored if each node has been assigned a color in such a way that adjacent nodes have different color</a:t>
            </a:r>
          </a:p>
          <a:p>
            <a:endParaRPr lang="en-US" dirty="0"/>
          </a:p>
          <a:p>
            <a:r>
              <a:rPr lang="en-US" dirty="0"/>
              <a:t>A graph is </a:t>
            </a:r>
            <a:r>
              <a:rPr lang="en-US" dirty="0">
                <a:solidFill>
                  <a:schemeClr val="accent1"/>
                </a:solidFill>
              </a:rPr>
              <a:t>k-colorable</a:t>
            </a:r>
            <a:r>
              <a:rPr lang="en-US" dirty="0"/>
              <a:t> if it can be colored using </a:t>
            </a:r>
            <a:r>
              <a:rPr lang="en-US" dirty="0">
                <a:solidFill>
                  <a:schemeClr val="accent1"/>
                </a:solidFill>
              </a:rPr>
              <a:t>k</a:t>
            </a:r>
            <a:r>
              <a:rPr lang="en-US" dirty="0"/>
              <a:t> colors</a:t>
            </a:r>
          </a:p>
        </p:txBody>
      </p:sp>
    </p:spTree>
    <p:extLst>
      <p:ext uri="{BB962C8B-B14F-4D97-AF65-F5344CB8AC3E}">
        <p14:creationId xmlns:p14="http://schemas.microsoft.com/office/powerpoint/2010/main" val="30241648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23D0F-FF49-467E-9673-3F5A0A5AA1FF}"/>
              </a:ext>
            </a:extLst>
          </p:cNvPr>
          <p:cNvSpPr>
            <a:spLocks noGrp="1"/>
          </p:cNvSpPr>
          <p:nvPr>
            <p:ph type="title"/>
          </p:nvPr>
        </p:nvSpPr>
        <p:spPr/>
        <p:txBody>
          <a:bodyPr/>
          <a:lstStyle/>
          <a:p>
            <a:r>
              <a:rPr lang="en-US" dirty="0"/>
              <a:t>Graph coloring</a:t>
            </a:r>
            <a:endParaRPr lang="en-IN" dirty="0"/>
          </a:p>
        </p:txBody>
      </p:sp>
      <p:sp>
        <p:nvSpPr>
          <p:cNvPr id="3" name="Content Placeholder 2">
            <a:extLst>
              <a:ext uri="{FF2B5EF4-FFF2-40B4-BE49-F238E27FC236}">
                <a16:creationId xmlns:a16="http://schemas.microsoft.com/office/drawing/2014/main" id="{F26FF8EE-FFEB-46E2-A084-BE02C8EB72AA}"/>
              </a:ext>
            </a:extLst>
          </p:cNvPr>
          <p:cNvSpPr>
            <a:spLocks noGrp="1"/>
          </p:cNvSpPr>
          <p:nvPr>
            <p:ph idx="1"/>
          </p:nvPr>
        </p:nvSpPr>
        <p:spPr/>
        <p:txBody>
          <a:bodyPr/>
          <a:lstStyle/>
          <a:p>
            <a:endParaRPr lang="en-IN" dirty="0"/>
          </a:p>
        </p:txBody>
      </p:sp>
      <p:cxnSp>
        <p:nvCxnSpPr>
          <p:cNvPr id="5" name="Straight Connector 4">
            <a:extLst>
              <a:ext uri="{FF2B5EF4-FFF2-40B4-BE49-F238E27FC236}">
                <a16:creationId xmlns:a16="http://schemas.microsoft.com/office/drawing/2014/main" id="{0E5AD032-B546-4480-8C8F-787B248B3720}"/>
              </a:ext>
            </a:extLst>
          </p:cNvPr>
          <p:cNvCxnSpPr/>
          <p:nvPr/>
        </p:nvCxnSpPr>
        <p:spPr>
          <a:xfrm flipV="1">
            <a:off x="3271520" y="2560320"/>
            <a:ext cx="1391920" cy="97536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80065C1-1A99-4592-A218-23E9E9752989}"/>
              </a:ext>
            </a:extLst>
          </p:cNvPr>
          <p:cNvCxnSpPr/>
          <p:nvPr/>
        </p:nvCxnSpPr>
        <p:spPr>
          <a:xfrm>
            <a:off x="4663440" y="2560320"/>
            <a:ext cx="1290320" cy="97536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AC423CA-CE23-46E1-9DDF-E1F97E7295C3}"/>
              </a:ext>
            </a:extLst>
          </p:cNvPr>
          <p:cNvCxnSpPr/>
          <p:nvPr/>
        </p:nvCxnSpPr>
        <p:spPr>
          <a:xfrm>
            <a:off x="3271520" y="3535680"/>
            <a:ext cx="1320800" cy="113792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115218E-DCDD-4CD4-AE7E-32D4221B660C}"/>
              </a:ext>
            </a:extLst>
          </p:cNvPr>
          <p:cNvSpPr txBox="1"/>
          <p:nvPr/>
        </p:nvSpPr>
        <p:spPr>
          <a:xfrm>
            <a:off x="4500880" y="2255520"/>
            <a:ext cx="1188720" cy="369332"/>
          </a:xfrm>
          <a:prstGeom prst="rect">
            <a:avLst/>
          </a:prstGeom>
          <a:noFill/>
        </p:spPr>
        <p:txBody>
          <a:bodyPr wrap="square" rtlCol="0">
            <a:spAutoFit/>
          </a:bodyPr>
          <a:lstStyle/>
          <a:p>
            <a:r>
              <a:rPr lang="en-US" dirty="0"/>
              <a:t>A</a:t>
            </a:r>
            <a:endParaRPr lang="en-IN" dirty="0"/>
          </a:p>
        </p:txBody>
      </p:sp>
      <p:sp>
        <p:nvSpPr>
          <p:cNvPr id="20" name="TextBox 19">
            <a:extLst>
              <a:ext uri="{FF2B5EF4-FFF2-40B4-BE49-F238E27FC236}">
                <a16:creationId xmlns:a16="http://schemas.microsoft.com/office/drawing/2014/main" id="{2C3392DC-9AE5-4A46-9911-6665FC3AA60E}"/>
              </a:ext>
            </a:extLst>
          </p:cNvPr>
          <p:cNvSpPr txBox="1"/>
          <p:nvPr/>
        </p:nvSpPr>
        <p:spPr>
          <a:xfrm>
            <a:off x="2956560" y="3332480"/>
            <a:ext cx="1188720" cy="369332"/>
          </a:xfrm>
          <a:prstGeom prst="rect">
            <a:avLst/>
          </a:prstGeom>
          <a:noFill/>
        </p:spPr>
        <p:txBody>
          <a:bodyPr wrap="square" rtlCol="0">
            <a:spAutoFit/>
          </a:bodyPr>
          <a:lstStyle/>
          <a:p>
            <a:r>
              <a:rPr lang="en-US" dirty="0"/>
              <a:t>B</a:t>
            </a:r>
            <a:endParaRPr lang="en-IN" dirty="0"/>
          </a:p>
        </p:txBody>
      </p:sp>
      <p:sp>
        <p:nvSpPr>
          <p:cNvPr id="22" name="TextBox 21">
            <a:extLst>
              <a:ext uri="{FF2B5EF4-FFF2-40B4-BE49-F238E27FC236}">
                <a16:creationId xmlns:a16="http://schemas.microsoft.com/office/drawing/2014/main" id="{ECC17E1D-4AFA-49CD-A3F9-A2BCBE800254}"/>
              </a:ext>
            </a:extLst>
          </p:cNvPr>
          <p:cNvSpPr txBox="1"/>
          <p:nvPr/>
        </p:nvSpPr>
        <p:spPr>
          <a:xfrm>
            <a:off x="4399280" y="4643120"/>
            <a:ext cx="1188720" cy="369332"/>
          </a:xfrm>
          <a:prstGeom prst="rect">
            <a:avLst/>
          </a:prstGeom>
          <a:noFill/>
        </p:spPr>
        <p:txBody>
          <a:bodyPr wrap="square" rtlCol="0">
            <a:spAutoFit/>
          </a:bodyPr>
          <a:lstStyle/>
          <a:p>
            <a:r>
              <a:rPr lang="en-US" dirty="0"/>
              <a:t>C</a:t>
            </a:r>
            <a:endParaRPr lang="en-IN" dirty="0"/>
          </a:p>
        </p:txBody>
      </p:sp>
      <p:sp>
        <p:nvSpPr>
          <p:cNvPr id="24" name="TextBox 23">
            <a:extLst>
              <a:ext uri="{FF2B5EF4-FFF2-40B4-BE49-F238E27FC236}">
                <a16:creationId xmlns:a16="http://schemas.microsoft.com/office/drawing/2014/main" id="{989AC6BF-3C80-4765-A239-7E5789F688D9}"/>
              </a:ext>
            </a:extLst>
          </p:cNvPr>
          <p:cNvSpPr txBox="1"/>
          <p:nvPr/>
        </p:nvSpPr>
        <p:spPr>
          <a:xfrm>
            <a:off x="5943600" y="3342640"/>
            <a:ext cx="1188720" cy="369332"/>
          </a:xfrm>
          <a:prstGeom prst="rect">
            <a:avLst/>
          </a:prstGeom>
          <a:noFill/>
        </p:spPr>
        <p:txBody>
          <a:bodyPr wrap="square" rtlCol="0">
            <a:spAutoFit/>
          </a:bodyPr>
          <a:lstStyle/>
          <a:p>
            <a:r>
              <a:rPr lang="en-US" dirty="0"/>
              <a:t>D</a:t>
            </a:r>
            <a:endParaRPr lang="en-IN" dirty="0"/>
          </a:p>
        </p:txBody>
      </p:sp>
      <p:sp>
        <p:nvSpPr>
          <p:cNvPr id="25" name="TextBox 24">
            <a:extLst>
              <a:ext uri="{FF2B5EF4-FFF2-40B4-BE49-F238E27FC236}">
                <a16:creationId xmlns:a16="http://schemas.microsoft.com/office/drawing/2014/main" id="{7350FD41-1C0A-497A-9F43-D6A3A5CD65D0}"/>
              </a:ext>
            </a:extLst>
          </p:cNvPr>
          <p:cNvSpPr txBox="1"/>
          <p:nvPr/>
        </p:nvSpPr>
        <p:spPr>
          <a:xfrm>
            <a:off x="8483600" y="2624853"/>
            <a:ext cx="245872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Can we color this graph using three colors: Blue, Red and Green?</a:t>
            </a:r>
            <a:endParaRPr lang="en-IN" dirty="0">
              <a:latin typeface="Arial" panose="020B060402020202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56A96124-3666-4E03-B7C4-F1F551F1CB73}"/>
              </a:ext>
            </a:extLst>
          </p:cNvPr>
          <p:cNvCxnSpPr>
            <a:cxnSpLocks/>
            <a:endCxn id="24" idx="1"/>
          </p:cNvCxnSpPr>
          <p:nvPr/>
        </p:nvCxnSpPr>
        <p:spPr>
          <a:xfrm flipV="1">
            <a:off x="3271520" y="3527306"/>
            <a:ext cx="2672080" cy="8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10DA947-2108-4F2B-A452-83FDB0DE264F}"/>
              </a:ext>
            </a:extLst>
          </p:cNvPr>
          <p:cNvCxnSpPr>
            <a:endCxn id="24" idx="1"/>
          </p:cNvCxnSpPr>
          <p:nvPr/>
        </p:nvCxnSpPr>
        <p:spPr>
          <a:xfrm flipV="1">
            <a:off x="4622800" y="3527306"/>
            <a:ext cx="1320800" cy="1146294"/>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CF6767E-1474-4A3C-8A59-299657B4565D}"/>
              </a:ext>
            </a:extLst>
          </p:cNvPr>
          <p:cNvSpPr txBox="1"/>
          <p:nvPr/>
        </p:nvSpPr>
        <p:spPr>
          <a:xfrm>
            <a:off x="5943600" y="4439920"/>
            <a:ext cx="1188720" cy="369332"/>
          </a:xfrm>
          <a:prstGeom prst="rect">
            <a:avLst/>
          </a:prstGeom>
          <a:noFill/>
        </p:spPr>
        <p:txBody>
          <a:bodyPr wrap="square" rtlCol="0">
            <a:spAutoFit/>
          </a:bodyPr>
          <a:lstStyle/>
          <a:p>
            <a:r>
              <a:rPr lang="en-US" dirty="0"/>
              <a:t>E</a:t>
            </a:r>
            <a:endParaRPr lang="en-IN" dirty="0"/>
          </a:p>
        </p:txBody>
      </p:sp>
      <p:cxnSp>
        <p:nvCxnSpPr>
          <p:cNvPr id="33" name="Straight Connector 32">
            <a:extLst>
              <a:ext uri="{FF2B5EF4-FFF2-40B4-BE49-F238E27FC236}">
                <a16:creationId xmlns:a16="http://schemas.microsoft.com/office/drawing/2014/main" id="{0D7A3E83-51FD-4684-98EA-9E866F34B074}"/>
              </a:ext>
            </a:extLst>
          </p:cNvPr>
          <p:cNvCxnSpPr>
            <a:endCxn id="31" idx="1"/>
          </p:cNvCxnSpPr>
          <p:nvPr/>
        </p:nvCxnSpPr>
        <p:spPr>
          <a:xfrm flipV="1">
            <a:off x="4602480" y="4624586"/>
            <a:ext cx="1341120" cy="1853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CF15BAF-BD93-45F1-8605-315BE27801F5}"/>
              </a:ext>
            </a:extLst>
          </p:cNvPr>
          <p:cNvCxnSpPr>
            <a:stCxn id="24" idx="1"/>
          </p:cNvCxnSpPr>
          <p:nvPr/>
        </p:nvCxnSpPr>
        <p:spPr>
          <a:xfrm>
            <a:off x="5943600" y="3527306"/>
            <a:ext cx="0" cy="109728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086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Register-interference graph</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sp>
        <p:nvSpPr>
          <p:cNvPr id="5" name="TextBox 4">
            <a:extLst>
              <a:ext uri="{FF2B5EF4-FFF2-40B4-BE49-F238E27FC236}">
                <a16:creationId xmlns:a16="http://schemas.microsoft.com/office/drawing/2014/main" id="{2B3524B0-CBEC-479D-9E5C-3F4D314CF7EE}"/>
              </a:ext>
            </a:extLst>
          </p:cNvPr>
          <p:cNvSpPr txBox="1"/>
          <p:nvPr/>
        </p:nvSpPr>
        <p:spPr>
          <a:xfrm>
            <a:off x="8849360" y="4552405"/>
            <a:ext cx="2972526"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Can we use the graph coloring algorithm for register allocation?</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Available registers: 6, 5, 4</a:t>
            </a: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300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05508-9675-44D7-B03B-13B4FE67F669}"/>
              </a:ext>
            </a:extLst>
          </p:cNvPr>
          <p:cNvSpPr>
            <a:spLocks noGrp="1"/>
          </p:cNvSpPr>
          <p:nvPr>
            <p:ph type="title"/>
          </p:nvPr>
        </p:nvSpPr>
        <p:spPr/>
        <p:txBody>
          <a:bodyPr/>
          <a:lstStyle/>
          <a:p>
            <a:r>
              <a:rPr lang="en-US" dirty="0"/>
              <a:t>Register allocation</a:t>
            </a:r>
          </a:p>
        </p:txBody>
      </p:sp>
      <p:sp>
        <p:nvSpPr>
          <p:cNvPr id="3" name="Content Placeholder 2">
            <a:extLst>
              <a:ext uri="{FF2B5EF4-FFF2-40B4-BE49-F238E27FC236}">
                <a16:creationId xmlns:a16="http://schemas.microsoft.com/office/drawing/2014/main" id="{57C4120E-CB99-4467-A6D3-470046F949A7}"/>
              </a:ext>
            </a:extLst>
          </p:cNvPr>
          <p:cNvSpPr>
            <a:spLocks noGrp="1"/>
          </p:cNvSpPr>
          <p:nvPr>
            <p:ph idx="1"/>
          </p:nvPr>
        </p:nvSpPr>
        <p:spPr/>
        <p:txBody>
          <a:bodyPr/>
          <a:lstStyle/>
          <a:p>
            <a:r>
              <a:rPr lang="en-US" dirty="0"/>
              <a:t>Register allocation problem can also be thought as a graph coloring problem</a:t>
            </a:r>
          </a:p>
          <a:p>
            <a:endParaRPr lang="en-US" dirty="0"/>
          </a:p>
          <a:p>
            <a:r>
              <a:rPr lang="en-US" dirty="0"/>
              <a:t>In a register-interference graph two nodes are adjacent if they are live at the same time</a:t>
            </a:r>
          </a:p>
          <a:p>
            <a:pPr lvl="1"/>
            <a:r>
              <a:rPr lang="en-US" dirty="0"/>
              <a:t>It means that we can not assign the same register to both the variables</a:t>
            </a:r>
          </a:p>
          <a:p>
            <a:pPr lvl="1"/>
            <a:endParaRPr lang="en-US" dirty="0"/>
          </a:p>
          <a:p>
            <a:r>
              <a:rPr lang="en-US" dirty="0"/>
              <a:t>If we can color the register-interference graph using “m” colors, where m is the number of available physical registers, then we can assign every variable a unique register </a:t>
            </a:r>
          </a:p>
        </p:txBody>
      </p:sp>
    </p:spTree>
    <p:extLst>
      <p:ext uri="{BB962C8B-B14F-4D97-AF65-F5344CB8AC3E}">
        <p14:creationId xmlns:p14="http://schemas.microsoft.com/office/powerpoint/2010/main" val="38531860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81D80-75BC-4BF6-919B-C9BBA334BFE1}"/>
              </a:ext>
            </a:extLst>
          </p:cNvPr>
          <p:cNvSpPr>
            <a:spLocks noGrp="1"/>
          </p:cNvSpPr>
          <p:nvPr>
            <p:ph type="title"/>
          </p:nvPr>
        </p:nvSpPr>
        <p:spPr/>
        <p:txBody>
          <a:bodyPr/>
          <a:lstStyle/>
          <a:p>
            <a:r>
              <a:rPr lang="en-US" dirty="0"/>
              <a:t>Register allocation</a:t>
            </a:r>
          </a:p>
        </p:txBody>
      </p:sp>
      <p:sp>
        <p:nvSpPr>
          <p:cNvPr id="3" name="Content Placeholder 2">
            <a:extLst>
              <a:ext uri="{FF2B5EF4-FFF2-40B4-BE49-F238E27FC236}">
                <a16:creationId xmlns:a16="http://schemas.microsoft.com/office/drawing/2014/main" id="{CC814D54-FB4B-45C3-8FDD-32A0968AC9E2}"/>
              </a:ext>
            </a:extLst>
          </p:cNvPr>
          <p:cNvSpPr>
            <a:spLocks noGrp="1"/>
          </p:cNvSpPr>
          <p:nvPr>
            <p:ph idx="1"/>
          </p:nvPr>
        </p:nvSpPr>
        <p:spPr/>
        <p:txBody>
          <a:bodyPr/>
          <a:lstStyle/>
          <a:p>
            <a:r>
              <a:rPr lang="en-US" dirty="0"/>
              <a:t>If a register-interference graph is not m-colorable then we may have to spill some variables to memory</a:t>
            </a:r>
          </a:p>
          <a:p>
            <a:endParaRPr lang="en-US" dirty="0"/>
          </a:p>
          <a:p>
            <a:endParaRPr lang="en-US" dirty="0"/>
          </a:p>
          <a:p>
            <a:r>
              <a:rPr lang="en-US" dirty="0"/>
              <a:t>Graph coloring problem is NP-complete</a:t>
            </a:r>
          </a:p>
          <a:p>
            <a:pPr lvl="1"/>
            <a:r>
              <a:rPr lang="en-US" dirty="0"/>
              <a:t>no good solution is known so far</a:t>
            </a:r>
          </a:p>
          <a:p>
            <a:pPr lvl="1"/>
            <a:r>
              <a:rPr lang="en-US" dirty="0"/>
              <a:t>however, some heuristics work well in practice</a:t>
            </a:r>
          </a:p>
        </p:txBody>
      </p:sp>
    </p:spTree>
    <p:extLst>
      <p:ext uri="{BB962C8B-B14F-4D97-AF65-F5344CB8AC3E}">
        <p14:creationId xmlns:p14="http://schemas.microsoft.com/office/powerpoint/2010/main" val="1417564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C372-F3C4-4CBC-BEBD-CFA182DEAF5D}"/>
              </a:ext>
            </a:extLst>
          </p:cNvPr>
          <p:cNvSpPr>
            <a:spLocks noGrp="1"/>
          </p:cNvSpPr>
          <p:nvPr>
            <p:ph type="title"/>
          </p:nvPr>
        </p:nvSpPr>
        <p:spPr/>
        <p:txBody>
          <a:bodyPr/>
          <a:lstStyle/>
          <a:p>
            <a:r>
              <a:rPr lang="en-US" dirty="0"/>
              <a:t>Graph coloring algorithm</a:t>
            </a:r>
          </a:p>
        </p:txBody>
      </p:sp>
      <p:sp>
        <p:nvSpPr>
          <p:cNvPr id="3" name="Content Placeholder 2">
            <a:extLst>
              <a:ext uri="{FF2B5EF4-FFF2-40B4-BE49-F238E27FC236}">
                <a16:creationId xmlns:a16="http://schemas.microsoft.com/office/drawing/2014/main" id="{3304AA02-4025-433C-B5F1-9ADBF745CF5B}"/>
              </a:ext>
            </a:extLst>
          </p:cNvPr>
          <p:cNvSpPr>
            <a:spLocks noGrp="1"/>
          </p:cNvSpPr>
          <p:nvPr>
            <p:ph idx="1"/>
          </p:nvPr>
        </p:nvSpPr>
        <p:spPr/>
        <p:txBody>
          <a:bodyPr/>
          <a:lstStyle/>
          <a:p>
            <a:r>
              <a:rPr lang="en-US" dirty="0"/>
              <a:t>Pick a node n in graph G which has fewer than k edges</a:t>
            </a:r>
          </a:p>
          <a:p>
            <a:endParaRPr lang="en-US" dirty="0"/>
          </a:p>
          <a:p>
            <a:r>
              <a:rPr lang="en-US" dirty="0"/>
              <a:t>Remove n and its edges from G to obtain G’</a:t>
            </a:r>
          </a:p>
          <a:p>
            <a:endParaRPr lang="en-US" dirty="0"/>
          </a:p>
          <a:p>
            <a:r>
              <a:rPr lang="en-US" dirty="0"/>
              <a:t>If G’ can be colored using k colors then the graph is k-colorable</a:t>
            </a:r>
          </a:p>
          <a:p>
            <a:pPr lvl="1"/>
            <a:r>
              <a:rPr lang="en-US" dirty="0"/>
              <a:t>The idea is: if rest of the graph can be colored using “k” colors then node “n” can be colored using a color that is not assigned to its k-1 (at most) neighbors</a:t>
            </a:r>
          </a:p>
        </p:txBody>
      </p:sp>
    </p:spTree>
    <p:extLst>
      <p:ext uri="{BB962C8B-B14F-4D97-AF65-F5344CB8AC3E}">
        <p14:creationId xmlns:p14="http://schemas.microsoft.com/office/powerpoint/2010/main" val="1356417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6BA8D-F80C-439B-AE81-302EC060A115}"/>
              </a:ext>
            </a:extLst>
          </p:cNvPr>
          <p:cNvSpPr>
            <a:spLocks noGrp="1"/>
          </p:cNvSpPr>
          <p:nvPr>
            <p:ph type="title"/>
          </p:nvPr>
        </p:nvSpPr>
        <p:spPr/>
        <p:txBody>
          <a:bodyPr/>
          <a:lstStyle/>
          <a:p>
            <a:r>
              <a:rPr lang="en-US" dirty="0"/>
              <a:t>Graph coloring algorithm</a:t>
            </a:r>
          </a:p>
        </p:txBody>
      </p:sp>
      <p:sp>
        <p:nvSpPr>
          <p:cNvPr id="3" name="Content Placeholder 2">
            <a:extLst>
              <a:ext uri="{FF2B5EF4-FFF2-40B4-BE49-F238E27FC236}">
                <a16:creationId xmlns:a16="http://schemas.microsoft.com/office/drawing/2014/main" id="{742964C0-A326-41FB-A3E6-9205A1C2E369}"/>
              </a:ext>
            </a:extLst>
          </p:cNvPr>
          <p:cNvSpPr>
            <a:spLocks noGrp="1"/>
          </p:cNvSpPr>
          <p:nvPr>
            <p:ph idx="1"/>
          </p:nvPr>
        </p:nvSpPr>
        <p:spPr/>
        <p:txBody>
          <a:bodyPr/>
          <a:lstStyle/>
          <a:p>
            <a:r>
              <a:rPr lang="en-US" dirty="0"/>
              <a:t>A stack is used to record the order in which nodes are removed from the graph coloring algorithm</a:t>
            </a:r>
          </a:p>
          <a:p>
            <a:endParaRPr lang="en-US" dirty="0"/>
          </a:p>
          <a:p>
            <a:r>
              <a:rPr lang="en-US" dirty="0"/>
              <a:t>When the graph is empty, nodes are popped back from the stack and added to the graph followed by the assignment of a color that is distinct from its neighbors</a:t>
            </a:r>
          </a:p>
        </p:txBody>
      </p:sp>
    </p:spTree>
    <p:extLst>
      <p:ext uri="{BB962C8B-B14F-4D97-AF65-F5344CB8AC3E}">
        <p14:creationId xmlns:p14="http://schemas.microsoft.com/office/powerpoint/2010/main" val="21127946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EA2EF-E417-4B6E-91D2-5A322FDC8AD8}"/>
              </a:ext>
            </a:extLst>
          </p:cNvPr>
          <p:cNvSpPr>
            <a:spLocks noGrp="1"/>
          </p:cNvSpPr>
          <p:nvPr>
            <p:ph type="title"/>
          </p:nvPr>
        </p:nvSpPr>
        <p:spPr/>
        <p:txBody>
          <a:bodyPr/>
          <a:lstStyle/>
          <a:p>
            <a:r>
              <a:rPr lang="en-US" dirty="0"/>
              <a:t>Register allocation algorithm</a:t>
            </a:r>
          </a:p>
        </p:txBody>
      </p:sp>
      <p:sp>
        <p:nvSpPr>
          <p:cNvPr id="3" name="Content Placeholder 2">
            <a:extLst>
              <a:ext uri="{FF2B5EF4-FFF2-40B4-BE49-F238E27FC236}">
                <a16:creationId xmlns:a16="http://schemas.microsoft.com/office/drawing/2014/main" id="{9C745209-1F01-4EB2-8DD9-8DB7880CC8A0}"/>
              </a:ext>
            </a:extLst>
          </p:cNvPr>
          <p:cNvSpPr>
            <a:spLocks noGrp="1"/>
          </p:cNvSpPr>
          <p:nvPr>
            <p:ph idx="1"/>
          </p:nvPr>
        </p:nvSpPr>
        <p:spPr/>
        <p:txBody>
          <a:bodyPr/>
          <a:lstStyle/>
          <a:p>
            <a:pPr marL="514350" indent="-514350">
              <a:buFont typeface="+mj-lt"/>
              <a:buAutoNum type="arabicPeriod"/>
            </a:pPr>
            <a:r>
              <a:rPr lang="en-US" dirty="0"/>
              <a:t>Compute liveness</a:t>
            </a:r>
          </a:p>
          <a:p>
            <a:pPr marL="514350" indent="-514350">
              <a:buFont typeface="+mj-lt"/>
              <a:buAutoNum type="arabicPeriod"/>
            </a:pPr>
            <a:r>
              <a:rPr lang="en-US" dirty="0"/>
              <a:t>Construct register-interference graph</a:t>
            </a:r>
          </a:p>
          <a:p>
            <a:pPr marL="514350" indent="-514350">
              <a:buFont typeface="+mj-lt"/>
              <a:buAutoNum type="arabicPeriod"/>
            </a:pPr>
            <a:r>
              <a:rPr lang="en-US" dirty="0"/>
              <a:t>Try to color the register-interference graph with m-colors (m is the number of available physical registers)</a:t>
            </a:r>
          </a:p>
          <a:p>
            <a:pPr marL="514350" indent="-514350">
              <a:buFont typeface="+mj-lt"/>
              <a:buAutoNum type="arabicPeriod"/>
            </a:pPr>
            <a:r>
              <a:rPr lang="en-US" dirty="0"/>
              <a:t>If a coloring succeeds, we are done</a:t>
            </a:r>
          </a:p>
          <a:p>
            <a:pPr marL="514350" indent="-514350">
              <a:buFont typeface="+mj-lt"/>
              <a:buAutoNum type="arabicPeriod"/>
            </a:pPr>
            <a:r>
              <a:rPr lang="en-US" dirty="0"/>
              <a:t>Otherwise, spill a variable and go to step-1</a:t>
            </a:r>
          </a:p>
        </p:txBody>
      </p:sp>
    </p:spTree>
    <p:extLst>
      <p:ext uri="{BB962C8B-B14F-4D97-AF65-F5344CB8AC3E}">
        <p14:creationId xmlns:p14="http://schemas.microsoft.com/office/powerpoint/2010/main" val="22452666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spTree>
    <p:extLst>
      <p:ext uri="{BB962C8B-B14F-4D97-AF65-F5344CB8AC3E}">
        <p14:creationId xmlns:p14="http://schemas.microsoft.com/office/powerpoint/2010/main" val="1370592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7849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559476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0737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9" name="Straight Connector 8">
            <a:extLst>
              <a:ext uri="{FF2B5EF4-FFF2-40B4-BE49-F238E27FC236}">
                <a16:creationId xmlns:a16="http://schemas.microsoft.com/office/drawing/2014/main" id="{C27BCEA6-4F18-44D3-B748-8923B3195CF9}"/>
              </a:ext>
            </a:extLst>
          </p:cNvPr>
          <p:cNvCxnSpPr/>
          <p:nvPr/>
        </p:nvCxnSpPr>
        <p:spPr>
          <a:xfrm>
            <a:off x="6901543" y="2710543"/>
            <a:ext cx="0" cy="22642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99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7849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684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3496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2310548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3496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r>
                        <a:rPr lang="en-US"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15390296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1464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r>
                        <a:rPr lang="en-US" b="1"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r>
                        <a:rPr lang="en-US"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36817347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5C706-C109-48FB-BB45-5D3C2DEDB0F1}"/>
              </a:ext>
            </a:extLst>
          </p:cNvPr>
          <p:cNvSpPr>
            <a:spLocks noGrp="1"/>
          </p:cNvSpPr>
          <p:nvPr>
            <p:ph type="title"/>
          </p:nvPr>
        </p:nvSpPr>
        <p:spPr/>
        <p:txBody>
          <a:bodyPr/>
          <a:lstStyle/>
          <a:p>
            <a:r>
              <a:rPr lang="en-US" dirty="0"/>
              <a:t>Is this graph 5-colorable?</a:t>
            </a:r>
          </a:p>
        </p:txBody>
      </p:sp>
      <p:sp>
        <p:nvSpPr>
          <p:cNvPr id="3" name="Content Placeholder 2">
            <a:extLst>
              <a:ext uri="{FF2B5EF4-FFF2-40B4-BE49-F238E27FC236}">
                <a16:creationId xmlns:a16="http://schemas.microsoft.com/office/drawing/2014/main" id="{A754E3B7-CC57-47DB-8234-455CEAFABF37}"/>
              </a:ext>
            </a:extLst>
          </p:cNvPr>
          <p:cNvSpPr>
            <a:spLocks noGrp="1"/>
          </p:cNvSpPr>
          <p:nvPr>
            <p:ph idx="1"/>
          </p:nvPr>
        </p:nvSpPr>
        <p:spPr/>
        <p:txBody>
          <a:bodyPr/>
          <a:lstStyle/>
          <a:p>
            <a:r>
              <a:rPr lang="en-US" dirty="0"/>
              <a:t>Yes, this graph is 5-colorable</a:t>
            </a:r>
          </a:p>
          <a:p>
            <a:pPr lvl="1"/>
            <a:r>
              <a:rPr lang="en-US" dirty="0"/>
              <a:t>Pop nodes, add them back to the graph and assign a color that is distinct from neighbors</a:t>
            </a:r>
          </a:p>
        </p:txBody>
      </p:sp>
    </p:spTree>
    <p:extLst>
      <p:ext uri="{BB962C8B-B14F-4D97-AF65-F5344CB8AC3E}">
        <p14:creationId xmlns:p14="http://schemas.microsoft.com/office/powerpoint/2010/main" val="39787097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3496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r>
                        <a:rPr lang="en-US"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
        <p:nvSpPr>
          <p:cNvPr id="4" name="TextBox 3">
            <a:extLst>
              <a:ext uri="{FF2B5EF4-FFF2-40B4-BE49-F238E27FC236}">
                <a16:creationId xmlns:a16="http://schemas.microsoft.com/office/drawing/2014/main" id="{D94B3841-E797-5D96-C898-5E669E5D673D}"/>
              </a:ext>
            </a:extLst>
          </p:cNvPr>
          <p:cNvSpPr txBox="1"/>
          <p:nvPr/>
        </p:nvSpPr>
        <p:spPr>
          <a:xfrm>
            <a:off x="6868886" y="794657"/>
            <a:ext cx="4484914" cy="461665"/>
          </a:xfrm>
          <a:prstGeom prst="rect">
            <a:avLst/>
          </a:prstGeom>
          <a:noFill/>
        </p:spPr>
        <p:txBody>
          <a:bodyPr wrap="square" rtlCol="0">
            <a:spAutoFit/>
          </a:bodyPr>
          <a:lstStyle/>
          <a:p>
            <a:r>
              <a:rPr lang="en-IN" sz="2400" dirty="0">
                <a:solidFill>
                  <a:srgbClr val="FF0000"/>
                </a:solidFill>
              </a:rPr>
              <a:t>Which </a:t>
            </a:r>
            <a:r>
              <a:rPr lang="en-IN" sz="2400" dirty="0" err="1">
                <a:solidFill>
                  <a:srgbClr val="FF0000"/>
                </a:solidFill>
              </a:rPr>
              <a:t>colors</a:t>
            </a:r>
            <a:r>
              <a:rPr lang="en-IN" sz="2400" dirty="0">
                <a:solidFill>
                  <a:srgbClr val="FF0000"/>
                </a:solidFill>
              </a:rPr>
              <a:t> can be assigned to f?</a:t>
            </a:r>
          </a:p>
        </p:txBody>
      </p:sp>
    </p:spTree>
    <p:extLst>
      <p:ext uri="{BB962C8B-B14F-4D97-AF65-F5344CB8AC3E}">
        <p14:creationId xmlns:p14="http://schemas.microsoft.com/office/powerpoint/2010/main" val="29094234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5817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
        <p:nvSpPr>
          <p:cNvPr id="4" name="TextBox 3">
            <a:extLst>
              <a:ext uri="{FF2B5EF4-FFF2-40B4-BE49-F238E27FC236}">
                <a16:creationId xmlns:a16="http://schemas.microsoft.com/office/drawing/2014/main" id="{9C6F2FDA-B44F-44F9-5234-FD459E149465}"/>
              </a:ext>
            </a:extLst>
          </p:cNvPr>
          <p:cNvSpPr txBox="1"/>
          <p:nvPr/>
        </p:nvSpPr>
        <p:spPr>
          <a:xfrm>
            <a:off x="6868885" y="794657"/>
            <a:ext cx="4844143" cy="461665"/>
          </a:xfrm>
          <a:prstGeom prst="rect">
            <a:avLst/>
          </a:prstGeom>
          <a:noFill/>
        </p:spPr>
        <p:txBody>
          <a:bodyPr wrap="square" rtlCol="0">
            <a:spAutoFit/>
          </a:bodyPr>
          <a:lstStyle/>
          <a:p>
            <a:r>
              <a:rPr lang="en-IN" sz="2400" dirty="0">
                <a:solidFill>
                  <a:srgbClr val="FF0000"/>
                </a:solidFill>
              </a:rPr>
              <a:t>Which </a:t>
            </a:r>
            <a:r>
              <a:rPr lang="en-IN" sz="2400" dirty="0" err="1">
                <a:solidFill>
                  <a:srgbClr val="FF0000"/>
                </a:solidFill>
              </a:rPr>
              <a:t>colors</a:t>
            </a:r>
            <a:r>
              <a:rPr lang="en-IN" sz="2400" dirty="0">
                <a:solidFill>
                  <a:srgbClr val="FF0000"/>
                </a:solidFill>
              </a:rPr>
              <a:t> can be assigned to e?</a:t>
            </a:r>
          </a:p>
        </p:txBody>
      </p:sp>
    </p:spTree>
    <p:extLst>
      <p:ext uri="{BB962C8B-B14F-4D97-AF65-F5344CB8AC3E}">
        <p14:creationId xmlns:p14="http://schemas.microsoft.com/office/powerpoint/2010/main" val="2423162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c3</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0737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9A0E7DE-56B7-41B3-27C2-4C678DAE112F}"/>
              </a:ext>
            </a:extLst>
          </p:cNvPr>
          <p:cNvSpPr txBox="1"/>
          <p:nvPr/>
        </p:nvSpPr>
        <p:spPr>
          <a:xfrm>
            <a:off x="6868885" y="794657"/>
            <a:ext cx="4844143" cy="461665"/>
          </a:xfrm>
          <a:prstGeom prst="rect">
            <a:avLst/>
          </a:prstGeom>
          <a:noFill/>
        </p:spPr>
        <p:txBody>
          <a:bodyPr wrap="square" rtlCol="0">
            <a:spAutoFit/>
          </a:bodyPr>
          <a:lstStyle/>
          <a:p>
            <a:r>
              <a:rPr lang="en-IN" sz="2400" dirty="0">
                <a:solidFill>
                  <a:srgbClr val="FF0000"/>
                </a:solidFill>
              </a:rPr>
              <a:t>Which </a:t>
            </a:r>
            <a:r>
              <a:rPr lang="en-IN" sz="2400" dirty="0" err="1">
                <a:solidFill>
                  <a:srgbClr val="FF0000"/>
                </a:solidFill>
              </a:rPr>
              <a:t>colors</a:t>
            </a:r>
            <a:r>
              <a:rPr lang="en-IN" sz="2400" dirty="0">
                <a:solidFill>
                  <a:srgbClr val="FF0000"/>
                </a:solidFill>
              </a:rPr>
              <a:t> can be assigned to c?</a:t>
            </a:r>
          </a:p>
        </p:txBody>
      </p:sp>
    </p:spTree>
    <p:extLst>
      <p:ext uri="{BB962C8B-B14F-4D97-AF65-F5344CB8AC3E}">
        <p14:creationId xmlns:p14="http://schemas.microsoft.com/office/powerpoint/2010/main" val="2183789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d4</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c3</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12609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9" name="Straight Connector 8">
            <a:extLst>
              <a:ext uri="{FF2B5EF4-FFF2-40B4-BE49-F238E27FC236}">
                <a16:creationId xmlns:a16="http://schemas.microsoft.com/office/drawing/2014/main" id="{C27BCEA6-4F18-44D3-B748-8923B3195CF9}"/>
              </a:ext>
            </a:extLst>
          </p:cNvPr>
          <p:cNvCxnSpPr/>
          <p:nvPr/>
        </p:nvCxnSpPr>
        <p:spPr>
          <a:xfrm>
            <a:off x="6901543" y="2710543"/>
            <a:ext cx="0" cy="22642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F4D3A68-3DE5-3B8C-712E-504918DAD871}"/>
              </a:ext>
            </a:extLst>
          </p:cNvPr>
          <p:cNvSpPr txBox="1"/>
          <p:nvPr/>
        </p:nvSpPr>
        <p:spPr>
          <a:xfrm>
            <a:off x="6868885" y="794657"/>
            <a:ext cx="4844143" cy="461665"/>
          </a:xfrm>
          <a:prstGeom prst="rect">
            <a:avLst/>
          </a:prstGeom>
          <a:noFill/>
        </p:spPr>
        <p:txBody>
          <a:bodyPr wrap="square" rtlCol="0">
            <a:spAutoFit/>
          </a:bodyPr>
          <a:lstStyle/>
          <a:p>
            <a:r>
              <a:rPr lang="en-IN" sz="2400" dirty="0">
                <a:solidFill>
                  <a:srgbClr val="FF0000"/>
                </a:solidFill>
              </a:rPr>
              <a:t>Which </a:t>
            </a:r>
            <a:r>
              <a:rPr lang="en-IN" sz="2400" dirty="0" err="1">
                <a:solidFill>
                  <a:srgbClr val="FF0000"/>
                </a:solidFill>
              </a:rPr>
              <a:t>colors</a:t>
            </a:r>
            <a:r>
              <a:rPr lang="en-IN" sz="2400" dirty="0">
                <a:solidFill>
                  <a:srgbClr val="FF0000"/>
                </a:solidFill>
              </a:rPr>
              <a:t> can be assigned to d?</a:t>
            </a:r>
          </a:p>
        </p:txBody>
      </p:sp>
    </p:spTree>
    <p:extLst>
      <p:ext uri="{BB962C8B-B14F-4D97-AF65-F5344CB8AC3E}">
        <p14:creationId xmlns:p14="http://schemas.microsoft.com/office/powerpoint/2010/main" val="23462344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b5</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d4</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c3</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0737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
        <p:nvSpPr>
          <p:cNvPr id="7" name="TextBox 6">
            <a:extLst>
              <a:ext uri="{FF2B5EF4-FFF2-40B4-BE49-F238E27FC236}">
                <a16:creationId xmlns:a16="http://schemas.microsoft.com/office/drawing/2014/main" id="{0A72B2E4-FE6D-993D-B798-9B4DF0B3B3FB}"/>
              </a:ext>
            </a:extLst>
          </p:cNvPr>
          <p:cNvSpPr txBox="1"/>
          <p:nvPr/>
        </p:nvSpPr>
        <p:spPr>
          <a:xfrm>
            <a:off x="6868885" y="794657"/>
            <a:ext cx="4844143" cy="461665"/>
          </a:xfrm>
          <a:prstGeom prst="rect">
            <a:avLst/>
          </a:prstGeom>
          <a:noFill/>
        </p:spPr>
        <p:txBody>
          <a:bodyPr wrap="square" rtlCol="0">
            <a:spAutoFit/>
          </a:bodyPr>
          <a:lstStyle/>
          <a:p>
            <a:r>
              <a:rPr lang="en-IN" sz="2400" dirty="0">
                <a:solidFill>
                  <a:srgbClr val="FF0000"/>
                </a:solidFill>
              </a:rPr>
              <a:t>Which </a:t>
            </a:r>
            <a:r>
              <a:rPr lang="en-IN" sz="2400" dirty="0" err="1">
                <a:solidFill>
                  <a:srgbClr val="FF0000"/>
                </a:solidFill>
              </a:rPr>
              <a:t>colors</a:t>
            </a:r>
            <a:r>
              <a:rPr lang="en-IN" sz="2400" dirty="0">
                <a:solidFill>
                  <a:srgbClr val="FF0000"/>
                </a:solidFill>
              </a:rPr>
              <a:t> can be assigned to b?</a:t>
            </a:r>
          </a:p>
        </p:txBody>
      </p:sp>
    </p:spTree>
    <p:extLst>
      <p:ext uri="{BB962C8B-B14F-4D97-AF65-F5344CB8AC3E}">
        <p14:creationId xmlns:p14="http://schemas.microsoft.com/office/powerpoint/2010/main" val="245366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Graph coloring solution</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122716" y="3755572"/>
            <a:ext cx="794657" cy="461665"/>
          </a:xfrm>
          <a:prstGeom prst="rect">
            <a:avLst/>
          </a:prstGeom>
          <a:noFill/>
        </p:spPr>
        <p:txBody>
          <a:bodyPr wrap="square" rtlCol="0">
            <a:spAutoFit/>
          </a:bodyPr>
          <a:lstStyle/>
          <a:p>
            <a:r>
              <a:rPr lang="en-US" sz="2400" b="1" dirty="0"/>
              <a:t>a2</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b5</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d4</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c3</a:t>
            </a:r>
          </a:p>
        </p:txBody>
      </p:sp>
      <p:sp>
        <p:nvSpPr>
          <p:cNvPr id="7" name="TextBox 6">
            <a:extLst>
              <a:ext uri="{FF2B5EF4-FFF2-40B4-BE49-F238E27FC236}">
                <a16:creationId xmlns:a16="http://schemas.microsoft.com/office/drawing/2014/main" id="{2FA5343F-3FF3-C6D2-ACD6-D9013BA15703}"/>
              </a:ext>
            </a:extLst>
          </p:cNvPr>
          <p:cNvSpPr txBox="1"/>
          <p:nvPr/>
        </p:nvSpPr>
        <p:spPr>
          <a:xfrm>
            <a:off x="6868885" y="794657"/>
            <a:ext cx="4844143" cy="461665"/>
          </a:xfrm>
          <a:prstGeom prst="rect">
            <a:avLst/>
          </a:prstGeom>
          <a:noFill/>
        </p:spPr>
        <p:txBody>
          <a:bodyPr wrap="square" rtlCol="0">
            <a:spAutoFit/>
          </a:bodyPr>
          <a:lstStyle/>
          <a:p>
            <a:r>
              <a:rPr lang="en-IN" sz="2400" dirty="0">
                <a:solidFill>
                  <a:srgbClr val="FF0000"/>
                </a:solidFill>
              </a:rPr>
              <a:t>Which </a:t>
            </a:r>
            <a:r>
              <a:rPr lang="en-IN" sz="2400" dirty="0" err="1">
                <a:solidFill>
                  <a:srgbClr val="FF0000"/>
                </a:solidFill>
              </a:rPr>
              <a:t>colors</a:t>
            </a:r>
            <a:r>
              <a:rPr lang="en-IN" sz="2400" dirty="0">
                <a:solidFill>
                  <a:srgbClr val="FF0000"/>
                </a:solidFill>
              </a:rPr>
              <a:t> can be assigned to a?</a:t>
            </a:r>
          </a:p>
        </p:txBody>
      </p:sp>
    </p:spTree>
    <p:extLst>
      <p:ext uri="{BB962C8B-B14F-4D97-AF65-F5344CB8AC3E}">
        <p14:creationId xmlns:p14="http://schemas.microsoft.com/office/powerpoint/2010/main" val="16887943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259715"/>
            <a:ext cx="10515600" cy="1325563"/>
          </a:xfrm>
        </p:spPr>
        <p:txBody>
          <a:bodyPr/>
          <a:lstStyle/>
          <a:p>
            <a:r>
              <a:rPr lang="en-US" dirty="0"/>
              <a:t>Register allocation</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838200" y="127698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800600" y="187887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942116" y="1955074"/>
            <a:ext cx="1643742" cy="923330"/>
          </a:xfrm>
          <a:prstGeom prst="rect">
            <a:avLst/>
          </a:prstGeom>
          <a:noFill/>
        </p:spPr>
        <p:txBody>
          <a:bodyPr wrap="square" rtlCol="0">
            <a:spAutoFit/>
          </a:bodyPr>
          <a:lstStyle/>
          <a:p>
            <a:r>
              <a:rPr lang="en-US" dirty="0"/>
              <a:t>  a = b + c</a:t>
            </a:r>
          </a:p>
          <a:p>
            <a:r>
              <a:rPr lang="en-US" dirty="0"/>
              <a:t>  d = d – c</a:t>
            </a:r>
          </a:p>
          <a:p>
            <a:r>
              <a:rPr lang="en-US" dirty="0"/>
              <a:t>  e = a + f</a:t>
            </a:r>
          </a:p>
        </p:txBody>
      </p:sp>
      <p:sp>
        <p:nvSpPr>
          <p:cNvPr id="6" name="Rectangle 5">
            <a:extLst>
              <a:ext uri="{FF2B5EF4-FFF2-40B4-BE49-F238E27FC236}">
                <a16:creationId xmlns:a16="http://schemas.microsoft.com/office/drawing/2014/main" id="{A105924F-CD40-4F9B-9A3E-110017B6A40B}"/>
              </a:ext>
            </a:extLst>
          </p:cNvPr>
          <p:cNvSpPr/>
          <p:nvPr/>
        </p:nvSpPr>
        <p:spPr>
          <a:xfrm>
            <a:off x="2688773" y="359881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862946" y="3675018"/>
            <a:ext cx="1643742" cy="369332"/>
          </a:xfrm>
          <a:prstGeom prst="rect">
            <a:avLst/>
          </a:prstGeom>
          <a:noFill/>
        </p:spPr>
        <p:txBody>
          <a:bodyPr wrap="square" rtlCol="0">
            <a:spAutoFit/>
          </a:bodyPr>
          <a:lstStyle/>
          <a:p>
            <a:r>
              <a:rPr lang="en-US" dirty="0"/>
              <a:t>  f = e - d</a:t>
            </a:r>
          </a:p>
        </p:txBody>
      </p:sp>
      <p:sp>
        <p:nvSpPr>
          <p:cNvPr id="8" name="Rectangle 7">
            <a:extLst>
              <a:ext uri="{FF2B5EF4-FFF2-40B4-BE49-F238E27FC236}">
                <a16:creationId xmlns:a16="http://schemas.microsoft.com/office/drawing/2014/main" id="{2EC3F743-5E0D-4ACC-9B26-321C6ADA35C1}"/>
              </a:ext>
            </a:extLst>
          </p:cNvPr>
          <p:cNvSpPr/>
          <p:nvPr/>
        </p:nvSpPr>
        <p:spPr>
          <a:xfrm>
            <a:off x="4822370" y="473093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963886" y="5035734"/>
            <a:ext cx="1643742" cy="369332"/>
          </a:xfrm>
          <a:prstGeom prst="rect">
            <a:avLst/>
          </a:prstGeom>
          <a:noFill/>
        </p:spPr>
        <p:txBody>
          <a:bodyPr wrap="square" rtlCol="0">
            <a:spAutoFit/>
          </a:bodyPr>
          <a:lstStyle/>
          <a:p>
            <a:r>
              <a:rPr lang="en-US" dirty="0"/>
              <a:t>   b = d + c</a:t>
            </a:r>
          </a:p>
        </p:txBody>
      </p:sp>
      <p:sp>
        <p:nvSpPr>
          <p:cNvPr id="10" name="Rectangle 9">
            <a:extLst>
              <a:ext uri="{FF2B5EF4-FFF2-40B4-BE49-F238E27FC236}">
                <a16:creationId xmlns:a16="http://schemas.microsoft.com/office/drawing/2014/main" id="{104E023B-01F4-4FFA-B4BA-2BC5B5ECA16D}"/>
              </a:ext>
            </a:extLst>
          </p:cNvPr>
          <p:cNvSpPr/>
          <p:nvPr/>
        </p:nvSpPr>
        <p:spPr>
          <a:xfrm>
            <a:off x="7326084" y="333756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532914" y="3468190"/>
            <a:ext cx="1643742" cy="646331"/>
          </a:xfrm>
          <a:prstGeom prst="rect">
            <a:avLst/>
          </a:prstGeom>
          <a:noFill/>
        </p:spPr>
        <p:txBody>
          <a:bodyPr wrap="square" rtlCol="0">
            <a:spAutoFit/>
          </a:bodyPr>
          <a:lstStyle/>
          <a:p>
            <a:r>
              <a:rPr lang="en-US" dirty="0"/>
              <a:t>b = c + f</a:t>
            </a:r>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3510644" y="408789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6705600" y="417576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3510644" y="287840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6705600" y="287840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731327" y="127267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727370" y="573242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969826" y="417576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83485" y="4763591"/>
            <a:ext cx="2247900" cy="369332"/>
          </a:xfrm>
          <a:prstGeom prst="rect">
            <a:avLst/>
          </a:prstGeom>
          <a:noFill/>
        </p:spPr>
        <p:txBody>
          <a:bodyPr wrap="square" rtlCol="0">
            <a:spAutoFit/>
          </a:bodyPr>
          <a:lstStyle/>
          <a:p>
            <a:r>
              <a:rPr lang="en-US" dirty="0" err="1">
                <a:solidFill>
                  <a:srgbClr val="FF0000"/>
                </a:solidFill>
              </a:rPr>
              <a:t>b,d,e,f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946569" y="5852167"/>
            <a:ext cx="2247900" cy="369332"/>
          </a:xfrm>
          <a:prstGeom prst="rect">
            <a:avLst/>
          </a:prstGeom>
          <a:noFill/>
        </p:spPr>
        <p:txBody>
          <a:bodyPr wrap="square" rtlCol="0">
            <a:spAutoFit/>
          </a:bodyPr>
          <a:lstStyle/>
          <a:p>
            <a:r>
              <a:rPr lang="en-US" dirty="0" err="1">
                <a:solidFill>
                  <a:srgbClr val="FF0000"/>
                </a:solidFill>
              </a:rPr>
              <a:t>b,c,d,e,f</a:t>
            </a:r>
            <a:r>
              <a:rPr lang="en-US" dirty="0">
                <a:solidFill>
                  <a:srgbClr val="FF0000"/>
                </a:solidFill>
              </a:rPr>
              <a:t> live</a:t>
            </a:r>
          </a:p>
        </p:txBody>
      </p:sp>
      <p:cxnSp>
        <p:nvCxnSpPr>
          <p:cNvPr id="13" name="Connector: Curved 12">
            <a:extLst>
              <a:ext uri="{FF2B5EF4-FFF2-40B4-BE49-F238E27FC236}">
                <a16:creationId xmlns:a16="http://schemas.microsoft.com/office/drawing/2014/main" id="{400FCAC2-1A59-4D3B-9623-843A9583D0E3}"/>
              </a:ext>
            </a:extLst>
          </p:cNvPr>
          <p:cNvCxnSpPr>
            <a:cxnSpLocks/>
          </p:cNvCxnSpPr>
          <p:nvPr/>
        </p:nvCxnSpPr>
        <p:spPr>
          <a:xfrm rot="5400000" flipH="1">
            <a:off x="3771899" y="3860076"/>
            <a:ext cx="3777346" cy="10883"/>
          </a:xfrm>
          <a:prstGeom prst="curvedConnector5">
            <a:avLst>
              <a:gd name="adj1" fmla="val -6052"/>
              <a:gd name="adj2" fmla="val 39559864"/>
              <a:gd name="adj3" fmla="val 10605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891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239395"/>
            <a:ext cx="10515600" cy="1325563"/>
          </a:xfrm>
        </p:spPr>
        <p:txBody>
          <a:bodyPr/>
          <a:lstStyle/>
          <a:p>
            <a:r>
              <a:rPr lang="en-US" dirty="0"/>
              <a:t>Register allocation</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838200" y="129730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800600" y="189919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942116" y="1975394"/>
            <a:ext cx="1643742" cy="923330"/>
          </a:xfrm>
          <a:prstGeom prst="rect">
            <a:avLst/>
          </a:prstGeom>
          <a:noFill/>
        </p:spPr>
        <p:txBody>
          <a:bodyPr wrap="square" rtlCol="0">
            <a:spAutoFit/>
          </a:bodyPr>
          <a:lstStyle/>
          <a:p>
            <a:r>
              <a:rPr lang="en-US" dirty="0"/>
              <a:t>  r2 = r5 + r3</a:t>
            </a:r>
          </a:p>
          <a:p>
            <a:r>
              <a:rPr lang="en-US" dirty="0"/>
              <a:t>  r4 = r4 – r3</a:t>
            </a:r>
          </a:p>
          <a:p>
            <a:r>
              <a:rPr lang="en-US" dirty="0"/>
              <a:t>  r2 = r2 + r1</a:t>
            </a:r>
          </a:p>
        </p:txBody>
      </p:sp>
      <p:sp>
        <p:nvSpPr>
          <p:cNvPr id="6" name="Rectangle 5">
            <a:extLst>
              <a:ext uri="{FF2B5EF4-FFF2-40B4-BE49-F238E27FC236}">
                <a16:creationId xmlns:a16="http://schemas.microsoft.com/office/drawing/2014/main" id="{A105924F-CD40-4F9B-9A3E-110017B6A40B}"/>
              </a:ext>
            </a:extLst>
          </p:cNvPr>
          <p:cNvSpPr/>
          <p:nvPr/>
        </p:nvSpPr>
        <p:spPr>
          <a:xfrm>
            <a:off x="2688773" y="361913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862946" y="3695338"/>
            <a:ext cx="1643742" cy="369332"/>
          </a:xfrm>
          <a:prstGeom prst="rect">
            <a:avLst/>
          </a:prstGeom>
          <a:noFill/>
        </p:spPr>
        <p:txBody>
          <a:bodyPr wrap="square" rtlCol="0">
            <a:spAutoFit/>
          </a:bodyPr>
          <a:lstStyle/>
          <a:p>
            <a:r>
              <a:rPr lang="en-US" dirty="0"/>
              <a:t>  r1 = r2 – r4</a:t>
            </a:r>
          </a:p>
        </p:txBody>
      </p:sp>
      <p:sp>
        <p:nvSpPr>
          <p:cNvPr id="8" name="Rectangle 7">
            <a:extLst>
              <a:ext uri="{FF2B5EF4-FFF2-40B4-BE49-F238E27FC236}">
                <a16:creationId xmlns:a16="http://schemas.microsoft.com/office/drawing/2014/main" id="{2EC3F743-5E0D-4ACC-9B26-321C6ADA35C1}"/>
              </a:ext>
            </a:extLst>
          </p:cNvPr>
          <p:cNvSpPr/>
          <p:nvPr/>
        </p:nvSpPr>
        <p:spPr>
          <a:xfrm>
            <a:off x="4822370" y="475125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963886" y="5056054"/>
            <a:ext cx="1643742" cy="369332"/>
          </a:xfrm>
          <a:prstGeom prst="rect">
            <a:avLst/>
          </a:prstGeom>
          <a:noFill/>
        </p:spPr>
        <p:txBody>
          <a:bodyPr wrap="square" rtlCol="0">
            <a:spAutoFit/>
          </a:bodyPr>
          <a:lstStyle/>
          <a:p>
            <a:r>
              <a:rPr lang="en-US" dirty="0"/>
              <a:t>   r5 = r4 + r3</a:t>
            </a:r>
          </a:p>
        </p:txBody>
      </p:sp>
      <p:sp>
        <p:nvSpPr>
          <p:cNvPr id="10" name="Rectangle 9">
            <a:extLst>
              <a:ext uri="{FF2B5EF4-FFF2-40B4-BE49-F238E27FC236}">
                <a16:creationId xmlns:a16="http://schemas.microsoft.com/office/drawing/2014/main" id="{104E023B-01F4-4FFA-B4BA-2BC5B5ECA16D}"/>
              </a:ext>
            </a:extLst>
          </p:cNvPr>
          <p:cNvSpPr/>
          <p:nvPr/>
        </p:nvSpPr>
        <p:spPr>
          <a:xfrm>
            <a:off x="7326084" y="335788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532914" y="3488510"/>
            <a:ext cx="1643742" cy="646331"/>
          </a:xfrm>
          <a:prstGeom prst="rect">
            <a:avLst/>
          </a:prstGeom>
          <a:noFill/>
        </p:spPr>
        <p:txBody>
          <a:bodyPr wrap="square" rtlCol="0">
            <a:spAutoFit/>
          </a:bodyPr>
          <a:lstStyle/>
          <a:p>
            <a:r>
              <a:rPr lang="en-US" dirty="0"/>
              <a:t>r5 = r3 + r1</a:t>
            </a:r>
          </a:p>
          <a:p>
            <a:r>
              <a:rPr lang="en-US" dirty="0"/>
              <a:t>r2 = r4 – r3</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3510644" y="410821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6705600" y="419608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3510644" y="289872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6705600" y="289872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731327" y="129299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727370" y="575274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969826" y="419608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83485" y="4783911"/>
            <a:ext cx="2247900" cy="369332"/>
          </a:xfrm>
          <a:prstGeom prst="rect">
            <a:avLst/>
          </a:prstGeom>
          <a:noFill/>
        </p:spPr>
        <p:txBody>
          <a:bodyPr wrap="square" rtlCol="0">
            <a:spAutoFit/>
          </a:bodyPr>
          <a:lstStyle/>
          <a:p>
            <a:r>
              <a:rPr lang="en-US" dirty="0" err="1">
                <a:solidFill>
                  <a:srgbClr val="FF0000"/>
                </a:solidFill>
              </a:rPr>
              <a:t>b,d,e,f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946569" y="5872487"/>
            <a:ext cx="2247900" cy="369332"/>
          </a:xfrm>
          <a:prstGeom prst="rect">
            <a:avLst/>
          </a:prstGeom>
          <a:noFill/>
        </p:spPr>
        <p:txBody>
          <a:bodyPr wrap="square" rtlCol="0">
            <a:spAutoFit/>
          </a:bodyPr>
          <a:lstStyle/>
          <a:p>
            <a:r>
              <a:rPr lang="en-US" dirty="0" err="1">
                <a:solidFill>
                  <a:srgbClr val="FF0000"/>
                </a:solidFill>
              </a:rPr>
              <a:t>b,c,d,e,f</a:t>
            </a:r>
            <a:r>
              <a:rPr lang="en-US" dirty="0">
                <a:solidFill>
                  <a:srgbClr val="FF0000"/>
                </a:solidFill>
              </a:rPr>
              <a:t> live</a:t>
            </a:r>
          </a:p>
        </p:txBody>
      </p:sp>
      <p:cxnSp>
        <p:nvCxnSpPr>
          <p:cNvPr id="13" name="Connector: Curved 12">
            <a:extLst>
              <a:ext uri="{FF2B5EF4-FFF2-40B4-BE49-F238E27FC236}">
                <a16:creationId xmlns:a16="http://schemas.microsoft.com/office/drawing/2014/main" id="{400FCAC2-1A59-4D3B-9623-843A9583D0E3}"/>
              </a:ext>
            </a:extLst>
          </p:cNvPr>
          <p:cNvCxnSpPr>
            <a:cxnSpLocks/>
          </p:cNvCxnSpPr>
          <p:nvPr/>
        </p:nvCxnSpPr>
        <p:spPr>
          <a:xfrm rot="5400000" flipH="1">
            <a:off x="3771899" y="3880396"/>
            <a:ext cx="3777346" cy="10883"/>
          </a:xfrm>
          <a:prstGeom prst="curvedConnector5">
            <a:avLst>
              <a:gd name="adj1" fmla="val -6052"/>
              <a:gd name="adj2" fmla="val 39559864"/>
              <a:gd name="adj3" fmla="val 10605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32632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spTree>
    <p:extLst>
      <p:ext uri="{BB962C8B-B14F-4D97-AF65-F5344CB8AC3E}">
        <p14:creationId xmlns:p14="http://schemas.microsoft.com/office/powerpoint/2010/main" val="38054500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0448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27562307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C2EC-EB34-4AD7-B981-62693F606755}"/>
              </a:ext>
            </a:extLst>
          </p:cNvPr>
          <p:cNvSpPr>
            <a:spLocks noGrp="1"/>
          </p:cNvSpPr>
          <p:nvPr>
            <p:ph type="title"/>
          </p:nvPr>
        </p:nvSpPr>
        <p:spPr/>
        <p:txBody>
          <a:bodyPr/>
          <a:lstStyle/>
          <a:p>
            <a:r>
              <a:rPr lang="en-US" dirty="0"/>
              <a:t>Spilling</a:t>
            </a:r>
          </a:p>
        </p:txBody>
      </p:sp>
      <p:sp>
        <p:nvSpPr>
          <p:cNvPr id="3" name="Content Placeholder 2">
            <a:extLst>
              <a:ext uri="{FF2B5EF4-FFF2-40B4-BE49-F238E27FC236}">
                <a16:creationId xmlns:a16="http://schemas.microsoft.com/office/drawing/2014/main" id="{C94DFF93-258B-4519-820A-FAF8E4E5DE22}"/>
              </a:ext>
            </a:extLst>
          </p:cNvPr>
          <p:cNvSpPr>
            <a:spLocks noGrp="1"/>
          </p:cNvSpPr>
          <p:nvPr>
            <p:ph idx="1"/>
          </p:nvPr>
        </p:nvSpPr>
        <p:spPr/>
        <p:txBody>
          <a:bodyPr/>
          <a:lstStyle/>
          <a:p>
            <a:r>
              <a:rPr lang="en-US" dirty="0"/>
              <a:t>If no node has less than k-neighbors, then choose one node for spilling, remove from the graph and continue coloring the rest of the graph</a:t>
            </a:r>
          </a:p>
          <a:p>
            <a:endParaRPr lang="en-US" dirty="0"/>
          </a:p>
          <a:p>
            <a:r>
              <a:rPr lang="en-US" dirty="0"/>
              <a:t>The compiler must be careful in selecting a node for spilling</a:t>
            </a:r>
          </a:p>
          <a:p>
            <a:pPr lvl="1"/>
            <a:r>
              <a:rPr lang="en-US" dirty="0"/>
              <a:t>cost of spilling is high (load/store)</a:t>
            </a:r>
          </a:p>
          <a:p>
            <a:pPr lvl="1"/>
            <a:r>
              <a:rPr lang="en-US" dirty="0"/>
              <a:t>If possible, try not to choose a variable which is inside a loop</a:t>
            </a:r>
          </a:p>
        </p:txBody>
      </p:sp>
    </p:spTree>
    <p:extLst>
      <p:ext uri="{BB962C8B-B14F-4D97-AF65-F5344CB8AC3E}">
        <p14:creationId xmlns:p14="http://schemas.microsoft.com/office/powerpoint/2010/main" val="8358881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1972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9" name="Straight Connector 8">
            <a:extLst>
              <a:ext uri="{FF2B5EF4-FFF2-40B4-BE49-F238E27FC236}">
                <a16:creationId xmlns:a16="http://schemas.microsoft.com/office/drawing/2014/main" id="{C27BCEA6-4F18-44D3-B748-8923B3195CF9}"/>
              </a:ext>
            </a:extLst>
          </p:cNvPr>
          <p:cNvCxnSpPr/>
          <p:nvPr/>
        </p:nvCxnSpPr>
        <p:spPr>
          <a:xfrm>
            <a:off x="6901543" y="2710543"/>
            <a:ext cx="0" cy="22642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3129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0737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0373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0737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15624039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31913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r>
                        <a:rPr lang="en-US"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2752601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17689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r>
                        <a:rPr lang="en-US" b="1"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r>
                        <a:rPr lang="en-US"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8904756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1972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r>
                        <a:rPr lang="en-US"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15999629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00907" y="3694476"/>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12609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Tree>
    <p:extLst>
      <p:ext uri="{BB962C8B-B14F-4D97-AF65-F5344CB8AC3E}">
        <p14:creationId xmlns:p14="http://schemas.microsoft.com/office/powerpoint/2010/main" val="7963697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c3</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9881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r>
                        <a:rPr lang="en-US"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7116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95057"/>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d4</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c3</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10577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cxnSp>
        <p:nvCxnSpPr>
          <p:cNvPr id="9" name="Straight Connector 8">
            <a:extLst>
              <a:ext uri="{FF2B5EF4-FFF2-40B4-BE49-F238E27FC236}">
                <a16:creationId xmlns:a16="http://schemas.microsoft.com/office/drawing/2014/main" id="{C27BCEA6-4F18-44D3-B748-8923B3195CF9}"/>
              </a:ext>
            </a:extLst>
          </p:cNvPr>
          <p:cNvCxnSpPr/>
          <p:nvPr/>
        </p:nvCxnSpPr>
        <p:spPr>
          <a:xfrm>
            <a:off x="6901543" y="2710543"/>
            <a:ext cx="0" cy="22642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8BB5FD-DAA7-4356-A7F8-CAB2A10B9183}"/>
              </a:ext>
            </a:extLst>
          </p:cNvPr>
          <p:cNvCxnSpPr/>
          <p:nvPr/>
        </p:nvCxnSpPr>
        <p:spPr>
          <a:xfrm flipH="1">
            <a:off x="4234543" y="4996546"/>
            <a:ext cx="2677886" cy="7619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4899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82A95084-CB59-4078-8BF2-2820D653132D}"/>
              </a:ext>
            </a:extLst>
          </p:cNvPr>
          <p:cNvSpPr/>
          <p:nvPr/>
        </p:nvSpPr>
        <p:spPr>
          <a:xfrm>
            <a:off x="4223657" y="2710543"/>
            <a:ext cx="2677886" cy="23404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4016829"/>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64D5F1-9600-4D26-A803-14A832A42633}"/>
              </a:ext>
            </a:extLst>
          </p:cNvPr>
          <p:cNvCxnSpPr/>
          <p:nvPr/>
        </p:nvCxnSpPr>
        <p:spPr>
          <a:xfrm>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439E80-3E1A-4752-A673-6ED488568749}"/>
              </a:ext>
            </a:extLst>
          </p:cNvPr>
          <p:cNvCxnSpPr/>
          <p:nvPr/>
        </p:nvCxnSpPr>
        <p:spPr>
          <a:xfrm>
            <a:off x="4223657" y="2710543"/>
            <a:ext cx="4669972" cy="1290751"/>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566057" cy="461665"/>
          </a:xfrm>
          <a:prstGeom prst="rect">
            <a:avLst/>
          </a:prstGeom>
          <a:noFill/>
        </p:spPr>
        <p:txBody>
          <a:bodyPr wrap="square" rtlCol="0">
            <a:spAutoFit/>
          </a:bodyPr>
          <a:lstStyle/>
          <a:p>
            <a:r>
              <a:rPr lang="en-US" sz="2400" b="1" dirty="0"/>
              <a:t>b </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d4</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e2</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c3</a:t>
            </a:r>
          </a:p>
        </p:txBody>
      </p:sp>
      <p:graphicFrame>
        <p:nvGraphicFramePr>
          <p:cNvPr id="5" name="Table 4">
            <a:extLst>
              <a:ext uri="{FF2B5EF4-FFF2-40B4-BE49-F238E27FC236}">
                <a16:creationId xmlns:a16="http://schemas.microsoft.com/office/drawing/2014/main" id="{6689768D-EB6D-4947-9C60-55A19D5B674E}"/>
              </a:ext>
            </a:extLst>
          </p:cNvPr>
          <p:cNvGraphicFramePr>
            <a:graphicFrameLocks noGrp="1"/>
          </p:cNvGraphicFramePr>
          <p:nvPr/>
        </p:nvGraphicFramePr>
        <p:xfrm>
          <a:off x="921656" y="2217538"/>
          <a:ext cx="863598" cy="3281616"/>
        </p:xfrm>
        <a:graphic>
          <a:graphicData uri="http://schemas.openxmlformats.org/drawingml/2006/table">
            <a:tbl>
              <a:tblPr bandRow="1">
                <a:tableStyleId>{5C22544A-7EE6-4342-B048-85BDC9FD1C3A}</a:tableStyleId>
              </a:tblPr>
              <a:tblGrid>
                <a:gridCol w="863598">
                  <a:extLst>
                    <a:ext uri="{9D8B030D-6E8A-4147-A177-3AD203B41FA5}">
                      <a16:colId xmlns:a16="http://schemas.microsoft.com/office/drawing/2014/main" val="2752085376"/>
                    </a:ext>
                  </a:extLst>
                </a:gridCol>
              </a:tblGrid>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29571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850377"/>
                  </a:ext>
                </a:extLst>
              </a:tr>
              <a:tr h="5469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92132"/>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54070"/>
                  </a:ext>
                </a:extLst>
              </a:tr>
              <a:tr h="5469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217768"/>
                  </a:ext>
                </a:extLst>
              </a:tr>
              <a:tr h="5469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814641"/>
                  </a:ext>
                </a:extLst>
              </a:tr>
            </a:tbl>
          </a:graphicData>
        </a:graphic>
      </p:graphicFrame>
      <p:sp>
        <p:nvSpPr>
          <p:cNvPr id="7" name="TextBox 6">
            <a:extLst>
              <a:ext uri="{FF2B5EF4-FFF2-40B4-BE49-F238E27FC236}">
                <a16:creationId xmlns:a16="http://schemas.microsoft.com/office/drawing/2014/main" id="{8B7B436C-1B5C-4546-AD42-663BE39B01A7}"/>
              </a:ext>
            </a:extLst>
          </p:cNvPr>
          <p:cNvSpPr txBox="1"/>
          <p:nvPr/>
        </p:nvSpPr>
        <p:spPr>
          <a:xfrm>
            <a:off x="9031515" y="934718"/>
            <a:ext cx="2939144" cy="2585323"/>
          </a:xfrm>
          <a:prstGeom prst="rect">
            <a:avLst/>
          </a:prstGeom>
          <a:noFill/>
        </p:spPr>
        <p:txBody>
          <a:bodyPr wrap="square" rtlCol="0">
            <a:spAutoFit/>
          </a:bodyPr>
          <a:lstStyle/>
          <a:p>
            <a:r>
              <a:rPr lang="en-US" dirty="0"/>
              <a:t>No color is available for b. Select b for spilling. However, it is possible that in some cases, we may get lucky and able to assign a color to the spilled node in this step. In that case, we don’t have to spill anything. This is also called optimistic coloring.</a:t>
            </a:r>
          </a:p>
        </p:txBody>
      </p:sp>
    </p:spTree>
    <p:extLst>
      <p:ext uri="{BB962C8B-B14F-4D97-AF65-F5344CB8AC3E}">
        <p14:creationId xmlns:p14="http://schemas.microsoft.com/office/powerpoint/2010/main" val="5779167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038A-92B8-4937-A20C-85C4A7354954}"/>
              </a:ext>
            </a:extLst>
          </p:cNvPr>
          <p:cNvSpPr>
            <a:spLocks noGrp="1"/>
          </p:cNvSpPr>
          <p:nvPr>
            <p:ph type="title"/>
          </p:nvPr>
        </p:nvSpPr>
        <p:spPr/>
        <p:txBody>
          <a:bodyPr/>
          <a:lstStyle/>
          <a:p>
            <a:r>
              <a:rPr lang="en-US" dirty="0"/>
              <a:t>Optimistic coloring (example)</a:t>
            </a:r>
          </a:p>
        </p:txBody>
      </p:sp>
      <p:sp>
        <p:nvSpPr>
          <p:cNvPr id="3" name="Content Placeholder 2">
            <a:extLst>
              <a:ext uri="{FF2B5EF4-FFF2-40B4-BE49-F238E27FC236}">
                <a16:creationId xmlns:a16="http://schemas.microsoft.com/office/drawing/2014/main" id="{F37B6AAB-5CF2-463A-BE3D-E802D084480B}"/>
              </a:ext>
            </a:extLst>
          </p:cNvPr>
          <p:cNvSpPr>
            <a:spLocks noGrp="1"/>
          </p:cNvSpPr>
          <p:nvPr>
            <p:ph idx="1"/>
          </p:nvPr>
        </p:nvSpPr>
        <p:spPr/>
        <p:txBody>
          <a:bodyPr/>
          <a:lstStyle/>
          <a:p>
            <a:pPr lvl="1"/>
            <a:r>
              <a:rPr lang="en-US" dirty="0"/>
              <a:t>This graph can be colored using 3-colors even though all nodes have at least three edges</a:t>
            </a:r>
          </a:p>
        </p:txBody>
      </p:sp>
      <p:cxnSp>
        <p:nvCxnSpPr>
          <p:cNvPr id="5" name="Straight Connector 4">
            <a:extLst>
              <a:ext uri="{FF2B5EF4-FFF2-40B4-BE49-F238E27FC236}">
                <a16:creationId xmlns:a16="http://schemas.microsoft.com/office/drawing/2014/main" id="{48F60734-AD14-4F13-A01C-471465F8086F}"/>
              </a:ext>
            </a:extLst>
          </p:cNvPr>
          <p:cNvCxnSpPr/>
          <p:nvPr/>
        </p:nvCxnSpPr>
        <p:spPr>
          <a:xfrm>
            <a:off x="2950029" y="2808514"/>
            <a:ext cx="0" cy="1632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0F36E5B-EFAA-47E2-BE39-411A66F0DECF}"/>
              </a:ext>
            </a:extLst>
          </p:cNvPr>
          <p:cNvCxnSpPr/>
          <p:nvPr/>
        </p:nvCxnSpPr>
        <p:spPr>
          <a:xfrm>
            <a:off x="2950028" y="4441371"/>
            <a:ext cx="2862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9118EDF-E1D4-4E71-AE10-CF4D48F43CA4}"/>
              </a:ext>
            </a:extLst>
          </p:cNvPr>
          <p:cNvCxnSpPr/>
          <p:nvPr/>
        </p:nvCxnSpPr>
        <p:spPr>
          <a:xfrm>
            <a:off x="2939143" y="2819400"/>
            <a:ext cx="2862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1D57F09-39DD-40AB-92A0-F9D654B99882}"/>
              </a:ext>
            </a:extLst>
          </p:cNvPr>
          <p:cNvCxnSpPr/>
          <p:nvPr/>
        </p:nvCxnSpPr>
        <p:spPr>
          <a:xfrm>
            <a:off x="5802086" y="2819400"/>
            <a:ext cx="1426028" cy="8055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A9A9098-5A55-4782-A751-1F0017327B5A}"/>
              </a:ext>
            </a:extLst>
          </p:cNvPr>
          <p:cNvCxnSpPr/>
          <p:nvPr/>
        </p:nvCxnSpPr>
        <p:spPr>
          <a:xfrm flipV="1">
            <a:off x="5802086" y="3646714"/>
            <a:ext cx="1436914" cy="7946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1E8FD-BDF7-4D71-9E7F-6510A50A857D}"/>
              </a:ext>
            </a:extLst>
          </p:cNvPr>
          <p:cNvCxnSpPr/>
          <p:nvPr/>
        </p:nvCxnSpPr>
        <p:spPr>
          <a:xfrm>
            <a:off x="2950028" y="2819400"/>
            <a:ext cx="2862943" cy="1621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44DA2B-5B1B-4ACC-A368-98B7EFEF18FD}"/>
              </a:ext>
            </a:extLst>
          </p:cNvPr>
          <p:cNvCxnSpPr/>
          <p:nvPr/>
        </p:nvCxnSpPr>
        <p:spPr>
          <a:xfrm flipV="1">
            <a:off x="2950028" y="2808514"/>
            <a:ext cx="2862943" cy="1632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363AB75-5F55-49CE-A428-1EF95E8CE17B}"/>
              </a:ext>
            </a:extLst>
          </p:cNvPr>
          <p:cNvCxnSpPr/>
          <p:nvPr/>
        </p:nvCxnSpPr>
        <p:spPr>
          <a:xfrm flipV="1">
            <a:off x="2950028" y="3646714"/>
            <a:ext cx="4278086" cy="794657"/>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B1C76DC-4AC0-483E-A377-FAB502ECFE79}"/>
              </a:ext>
            </a:extLst>
          </p:cNvPr>
          <p:cNvSpPr txBox="1"/>
          <p:nvPr/>
        </p:nvSpPr>
        <p:spPr>
          <a:xfrm>
            <a:off x="2272943" y="2612571"/>
            <a:ext cx="859971" cy="369332"/>
          </a:xfrm>
          <a:prstGeom prst="rect">
            <a:avLst/>
          </a:prstGeom>
          <a:noFill/>
        </p:spPr>
        <p:txBody>
          <a:bodyPr wrap="square" rtlCol="0">
            <a:spAutoFit/>
          </a:bodyPr>
          <a:lstStyle/>
          <a:p>
            <a:r>
              <a:rPr lang="en-US" dirty="0"/>
              <a:t>    A</a:t>
            </a:r>
          </a:p>
        </p:txBody>
      </p:sp>
      <p:sp>
        <p:nvSpPr>
          <p:cNvPr id="26" name="TextBox 25">
            <a:extLst>
              <a:ext uri="{FF2B5EF4-FFF2-40B4-BE49-F238E27FC236}">
                <a16:creationId xmlns:a16="http://schemas.microsoft.com/office/drawing/2014/main" id="{C7FF9EA8-32D4-4637-8656-37DDD120D5DE}"/>
              </a:ext>
            </a:extLst>
          </p:cNvPr>
          <p:cNvSpPr txBox="1"/>
          <p:nvPr/>
        </p:nvSpPr>
        <p:spPr>
          <a:xfrm>
            <a:off x="2389057" y="4365169"/>
            <a:ext cx="859971" cy="369332"/>
          </a:xfrm>
          <a:prstGeom prst="rect">
            <a:avLst/>
          </a:prstGeom>
          <a:noFill/>
        </p:spPr>
        <p:txBody>
          <a:bodyPr wrap="square" rtlCol="0">
            <a:spAutoFit/>
          </a:bodyPr>
          <a:lstStyle/>
          <a:p>
            <a:r>
              <a:rPr lang="en-US" dirty="0"/>
              <a:t> C</a:t>
            </a:r>
          </a:p>
        </p:txBody>
      </p:sp>
      <p:sp>
        <p:nvSpPr>
          <p:cNvPr id="27" name="TextBox 26">
            <a:extLst>
              <a:ext uri="{FF2B5EF4-FFF2-40B4-BE49-F238E27FC236}">
                <a16:creationId xmlns:a16="http://schemas.microsoft.com/office/drawing/2014/main" id="{C73A72B3-C2E8-4C3F-9880-6ED49EFEB09F}"/>
              </a:ext>
            </a:extLst>
          </p:cNvPr>
          <p:cNvSpPr txBox="1"/>
          <p:nvPr/>
        </p:nvSpPr>
        <p:spPr>
          <a:xfrm>
            <a:off x="5704119" y="4415247"/>
            <a:ext cx="859971" cy="369332"/>
          </a:xfrm>
          <a:prstGeom prst="rect">
            <a:avLst/>
          </a:prstGeom>
          <a:noFill/>
        </p:spPr>
        <p:txBody>
          <a:bodyPr wrap="square" rtlCol="0">
            <a:spAutoFit/>
          </a:bodyPr>
          <a:lstStyle/>
          <a:p>
            <a:r>
              <a:rPr lang="en-US" dirty="0"/>
              <a:t>D</a:t>
            </a:r>
          </a:p>
        </p:txBody>
      </p:sp>
      <p:sp>
        <p:nvSpPr>
          <p:cNvPr id="28" name="TextBox 27">
            <a:extLst>
              <a:ext uri="{FF2B5EF4-FFF2-40B4-BE49-F238E27FC236}">
                <a16:creationId xmlns:a16="http://schemas.microsoft.com/office/drawing/2014/main" id="{4863D3A8-5ED0-4EAB-A3F6-0A48F1C70F1B}"/>
              </a:ext>
            </a:extLst>
          </p:cNvPr>
          <p:cNvSpPr txBox="1"/>
          <p:nvPr/>
        </p:nvSpPr>
        <p:spPr>
          <a:xfrm>
            <a:off x="5682348" y="2525484"/>
            <a:ext cx="859971" cy="369332"/>
          </a:xfrm>
          <a:prstGeom prst="rect">
            <a:avLst/>
          </a:prstGeom>
          <a:noFill/>
        </p:spPr>
        <p:txBody>
          <a:bodyPr wrap="square" rtlCol="0">
            <a:spAutoFit/>
          </a:bodyPr>
          <a:lstStyle/>
          <a:p>
            <a:r>
              <a:rPr lang="en-US" dirty="0"/>
              <a:t>B</a:t>
            </a:r>
          </a:p>
        </p:txBody>
      </p:sp>
      <p:sp>
        <p:nvSpPr>
          <p:cNvPr id="29" name="TextBox 28">
            <a:extLst>
              <a:ext uri="{FF2B5EF4-FFF2-40B4-BE49-F238E27FC236}">
                <a16:creationId xmlns:a16="http://schemas.microsoft.com/office/drawing/2014/main" id="{789163A7-1CE7-44D5-B172-0522F28BA350}"/>
              </a:ext>
            </a:extLst>
          </p:cNvPr>
          <p:cNvSpPr txBox="1"/>
          <p:nvPr/>
        </p:nvSpPr>
        <p:spPr>
          <a:xfrm>
            <a:off x="7249888" y="3418115"/>
            <a:ext cx="859971" cy="369332"/>
          </a:xfrm>
          <a:prstGeom prst="rect">
            <a:avLst/>
          </a:prstGeom>
          <a:noFill/>
        </p:spPr>
        <p:txBody>
          <a:bodyPr wrap="square" rtlCol="0">
            <a:spAutoFit/>
          </a:bodyPr>
          <a:lstStyle/>
          <a:p>
            <a:r>
              <a:rPr lang="en-US" dirty="0"/>
              <a:t>E</a:t>
            </a:r>
          </a:p>
        </p:txBody>
      </p:sp>
    </p:spTree>
    <p:extLst>
      <p:ext uri="{BB962C8B-B14F-4D97-AF65-F5344CB8AC3E}">
        <p14:creationId xmlns:p14="http://schemas.microsoft.com/office/powerpoint/2010/main" val="11438968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37001-A0F2-9470-9028-955A6C803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369A6-D93D-EBF0-1288-556077332D68}"/>
              </a:ext>
            </a:extLst>
          </p:cNvPr>
          <p:cNvSpPr>
            <a:spLocks noGrp="1"/>
          </p:cNvSpPr>
          <p:nvPr>
            <p:ph type="title"/>
          </p:nvPr>
        </p:nvSpPr>
        <p:spPr/>
        <p:txBody>
          <a:bodyPr/>
          <a:lstStyle/>
          <a:p>
            <a:r>
              <a:rPr lang="en-US" dirty="0"/>
              <a:t>Optimistic coloring (example)</a:t>
            </a:r>
          </a:p>
        </p:txBody>
      </p:sp>
      <p:sp>
        <p:nvSpPr>
          <p:cNvPr id="3" name="Content Placeholder 2">
            <a:extLst>
              <a:ext uri="{FF2B5EF4-FFF2-40B4-BE49-F238E27FC236}">
                <a16:creationId xmlns:a16="http://schemas.microsoft.com/office/drawing/2014/main" id="{2DE1A111-CE07-57C2-AC09-65E73528B88B}"/>
              </a:ext>
            </a:extLst>
          </p:cNvPr>
          <p:cNvSpPr>
            <a:spLocks noGrp="1"/>
          </p:cNvSpPr>
          <p:nvPr>
            <p:ph idx="1"/>
          </p:nvPr>
        </p:nvSpPr>
        <p:spPr/>
        <p:txBody>
          <a:bodyPr/>
          <a:lstStyle/>
          <a:p>
            <a:pPr lvl="1"/>
            <a:r>
              <a:rPr lang="en-US" dirty="0"/>
              <a:t>This graph can be colored using 3-colors even though all nodes have at least three edges</a:t>
            </a:r>
          </a:p>
        </p:txBody>
      </p:sp>
      <p:cxnSp>
        <p:nvCxnSpPr>
          <p:cNvPr id="5" name="Straight Connector 4">
            <a:extLst>
              <a:ext uri="{FF2B5EF4-FFF2-40B4-BE49-F238E27FC236}">
                <a16:creationId xmlns:a16="http://schemas.microsoft.com/office/drawing/2014/main" id="{EFD3D75B-FDCC-0C8E-0335-DBCE0B8033E2}"/>
              </a:ext>
            </a:extLst>
          </p:cNvPr>
          <p:cNvCxnSpPr/>
          <p:nvPr/>
        </p:nvCxnSpPr>
        <p:spPr>
          <a:xfrm>
            <a:off x="2950029" y="2808514"/>
            <a:ext cx="0" cy="1632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9BA9DFC-78A1-A376-3BDE-7695774AB62F}"/>
              </a:ext>
            </a:extLst>
          </p:cNvPr>
          <p:cNvCxnSpPr/>
          <p:nvPr/>
        </p:nvCxnSpPr>
        <p:spPr>
          <a:xfrm>
            <a:off x="2950028" y="4441371"/>
            <a:ext cx="2862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963BC50-81BC-FE64-22CB-09DD2DC4C8C6}"/>
              </a:ext>
            </a:extLst>
          </p:cNvPr>
          <p:cNvCxnSpPr/>
          <p:nvPr/>
        </p:nvCxnSpPr>
        <p:spPr>
          <a:xfrm>
            <a:off x="2939143" y="2819400"/>
            <a:ext cx="2862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77F1748-6DEC-3540-5608-24654A3D4CEB}"/>
              </a:ext>
            </a:extLst>
          </p:cNvPr>
          <p:cNvCxnSpPr/>
          <p:nvPr/>
        </p:nvCxnSpPr>
        <p:spPr>
          <a:xfrm>
            <a:off x="5802086" y="2819400"/>
            <a:ext cx="1426028" cy="8055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E813702-75FB-C3C2-050C-0E4FF19FC957}"/>
              </a:ext>
            </a:extLst>
          </p:cNvPr>
          <p:cNvCxnSpPr/>
          <p:nvPr/>
        </p:nvCxnSpPr>
        <p:spPr>
          <a:xfrm flipV="1">
            <a:off x="5802086" y="3646714"/>
            <a:ext cx="1436914" cy="7946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8AA694A-1B68-0C21-1FDA-DBD4C092767E}"/>
              </a:ext>
            </a:extLst>
          </p:cNvPr>
          <p:cNvCxnSpPr/>
          <p:nvPr/>
        </p:nvCxnSpPr>
        <p:spPr>
          <a:xfrm>
            <a:off x="2950028" y="2819400"/>
            <a:ext cx="2862943" cy="1621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0BE7353-C232-9B6A-B5DC-BB2E49E382D7}"/>
              </a:ext>
            </a:extLst>
          </p:cNvPr>
          <p:cNvCxnSpPr/>
          <p:nvPr/>
        </p:nvCxnSpPr>
        <p:spPr>
          <a:xfrm flipV="1">
            <a:off x="2950028" y="2808514"/>
            <a:ext cx="2862943" cy="1632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C967B49-37EA-FC42-FF65-F745F3F994A4}"/>
              </a:ext>
            </a:extLst>
          </p:cNvPr>
          <p:cNvCxnSpPr/>
          <p:nvPr/>
        </p:nvCxnSpPr>
        <p:spPr>
          <a:xfrm flipV="1">
            <a:off x="2950028" y="3646714"/>
            <a:ext cx="4278086" cy="794657"/>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EDCC495-0E4A-8D16-C9FA-FDA307BE2733}"/>
              </a:ext>
            </a:extLst>
          </p:cNvPr>
          <p:cNvSpPr txBox="1"/>
          <p:nvPr/>
        </p:nvSpPr>
        <p:spPr>
          <a:xfrm>
            <a:off x="2272943" y="2612571"/>
            <a:ext cx="859971" cy="369332"/>
          </a:xfrm>
          <a:prstGeom prst="rect">
            <a:avLst/>
          </a:prstGeom>
          <a:noFill/>
        </p:spPr>
        <p:txBody>
          <a:bodyPr wrap="square" rtlCol="0">
            <a:spAutoFit/>
          </a:bodyPr>
          <a:lstStyle/>
          <a:p>
            <a:r>
              <a:rPr lang="en-US" dirty="0"/>
              <a:t>    A</a:t>
            </a:r>
          </a:p>
        </p:txBody>
      </p:sp>
      <p:sp>
        <p:nvSpPr>
          <p:cNvPr id="26" name="TextBox 25">
            <a:extLst>
              <a:ext uri="{FF2B5EF4-FFF2-40B4-BE49-F238E27FC236}">
                <a16:creationId xmlns:a16="http://schemas.microsoft.com/office/drawing/2014/main" id="{B3165504-6C9A-2D90-EEA1-1D1724D83C79}"/>
              </a:ext>
            </a:extLst>
          </p:cNvPr>
          <p:cNvSpPr txBox="1"/>
          <p:nvPr/>
        </p:nvSpPr>
        <p:spPr>
          <a:xfrm>
            <a:off x="2389057" y="4365169"/>
            <a:ext cx="859971" cy="369332"/>
          </a:xfrm>
          <a:prstGeom prst="rect">
            <a:avLst/>
          </a:prstGeom>
          <a:noFill/>
        </p:spPr>
        <p:txBody>
          <a:bodyPr wrap="square" rtlCol="0">
            <a:spAutoFit/>
          </a:bodyPr>
          <a:lstStyle/>
          <a:p>
            <a:r>
              <a:rPr lang="en-US" dirty="0"/>
              <a:t> C</a:t>
            </a:r>
          </a:p>
        </p:txBody>
      </p:sp>
      <p:sp>
        <p:nvSpPr>
          <p:cNvPr id="27" name="TextBox 26">
            <a:extLst>
              <a:ext uri="{FF2B5EF4-FFF2-40B4-BE49-F238E27FC236}">
                <a16:creationId xmlns:a16="http://schemas.microsoft.com/office/drawing/2014/main" id="{B24BACC5-2F05-34D9-D89F-7BD09E3637FA}"/>
              </a:ext>
            </a:extLst>
          </p:cNvPr>
          <p:cNvSpPr txBox="1"/>
          <p:nvPr/>
        </p:nvSpPr>
        <p:spPr>
          <a:xfrm>
            <a:off x="5704119" y="4415247"/>
            <a:ext cx="859971" cy="369332"/>
          </a:xfrm>
          <a:prstGeom prst="rect">
            <a:avLst/>
          </a:prstGeom>
          <a:noFill/>
        </p:spPr>
        <p:txBody>
          <a:bodyPr wrap="square" rtlCol="0">
            <a:spAutoFit/>
          </a:bodyPr>
          <a:lstStyle/>
          <a:p>
            <a:r>
              <a:rPr lang="en-US" dirty="0"/>
              <a:t>D</a:t>
            </a:r>
          </a:p>
        </p:txBody>
      </p:sp>
      <p:sp>
        <p:nvSpPr>
          <p:cNvPr id="28" name="TextBox 27">
            <a:extLst>
              <a:ext uri="{FF2B5EF4-FFF2-40B4-BE49-F238E27FC236}">
                <a16:creationId xmlns:a16="http://schemas.microsoft.com/office/drawing/2014/main" id="{5B8E0190-B1F8-564F-18C2-469B3B3044F7}"/>
              </a:ext>
            </a:extLst>
          </p:cNvPr>
          <p:cNvSpPr txBox="1"/>
          <p:nvPr/>
        </p:nvSpPr>
        <p:spPr>
          <a:xfrm>
            <a:off x="5682348" y="2525484"/>
            <a:ext cx="859971" cy="369332"/>
          </a:xfrm>
          <a:prstGeom prst="rect">
            <a:avLst/>
          </a:prstGeom>
          <a:noFill/>
        </p:spPr>
        <p:txBody>
          <a:bodyPr wrap="square" rtlCol="0">
            <a:spAutoFit/>
          </a:bodyPr>
          <a:lstStyle/>
          <a:p>
            <a:r>
              <a:rPr lang="en-US" dirty="0"/>
              <a:t>B</a:t>
            </a:r>
          </a:p>
        </p:txBody>
      </p:sp>
      <p:sp>
        <p:nvSpPr>
          <p:cNvPr id="29" name="TextBox 28">
            <a:extLst>
              <a:ext uri="{FF2B5EF4-FFF2-40B4-BE49-F238E27FC236}">
                <a16:creationId xmlns:a16="http://schemas.microsoft.com/office/drawing/2014/main" id="{008FD3EB-F2A8-EC84-3480-A345FD9E4593}"/>
              </a:ext>
            </a:extLst>
          </p:cNvPr>
          <p:cNvSpPr txBox="1"/>
          <p:nvPr/>
        </p:nvSpPr>
        <p:spPr>
          <a:xfrm>
            <a:off x="7249888" y="3418115"/>
            <a:ext cx="859971" cy="369332"/>
          </a:xfrm>
          <a:prstGeom prst="rect">
            <a:avLst/>
          </a:prstGeom>
          <a:noFill/>
        </p:spPr>
        <p:txBody>
          <a:bodyPr wrap="square" rtlCol="0">
            <a:spAutoFit/>
          </a:bodyPr>
          <a:lstStyle/>
          <a:p>
            <a:r>
              <a:rPr lang="en-US" dirty="0"/>
              <a:t>E</a:t>
            </a:r>
          </a:p>
        </p:txBody>
      </p:sp>
      <p:sp>
        <p:nvSpPr>
          <p:cNvPr id="4" name="TextBox 3">
            <a:extLst>
              <a:ext uri="{FF2B5EF4-FFF2-40B4-BE49-F238E27FC236}">
                <a16:creationId xmlns:a16="http://schemas.microsoft.com/office/drawing/2014/main" id="{5A8A12C5-B85B-3B51-8EF2-8B77585EAE3A}"/>
              </a:ext>
            </a:extLst>
          </p:cNvPr>
          <p:cNvSpPr txBox="1"/>
          <p:nvPr/>
        </p:nvSpPr>
        <p:spPr>
          <a:xfrm>
            <a:off x="1915886" y="5595257"/>
            <a:ext cx="8360228" cy="923330"/>
          </a:xfrm>
          <a:prstGeom prst="rect">
            <a:avLst/>
          </a:prstGeom>
          <a:noFill/>
        </p:spPr>
        <p:txBody>
          <a:bodyPr wrap="square" rtlCol="0">
            <a:spAutoFit/>
          </a:bodyPr>
          <a:lstStyle/>
          <a:p>
            <a:r>
              <a:rPr lang="en-US" dirty="0"/>
              <a:t>The graph coloring algorithm we discussed so far is based on a heuristic. It might not always give the correct answer. The known precise algorithms for graph coloring may take an exponential time.</a:t>
            </a:r>
            <a:endParaRPr lang="en-IN" dirty="0"/>
          </a:p>
        </p:txBody>
      </p:sp>
    </p:spTree>
    <p:extLst>
      <p:ext uri="{BB962C8B-B14F-4D97-AF65-F5344CB8AC3E}">
        <p14:creationId xmlns:p14="http://schemas.microsoft.com/office/powerpoint/2010/main" val="20335496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288925"/>
            <a:ext cx="10515600" cy="1325563"/>
          </a:xfrm>
        </p:spPr>
        <p:txBody>
          <a:bodyPr/>
          <a:lstStyle/>
          <a:p>
            <a:r>
              <a:rPr lang="en-US" dirty="0"/>
              <a:t>Spilling</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373880" y="163503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515396" y="1711234"/>
            <a:ext cx="1643742" cy="923330"/>
          </a:xfrm>
          <a:prstGeom prst="rect">
            <a:avLst/>
          </a:prstGeom>
          <a:noFill/>
        </p:spPr>
        <p:txBody>
          <a:bodyPr wrap="square" rtlCol="0">
            <a:spAutoFit/>
          </a:bodyPr>
          <a:lstStyle/>
          <a:p>
            <a:r>
              <a:rPr lang="en-US" dirty="0"/>
              <a:t>  a = b + c</a:t>
            </a:r>
          </a:p>
          <a:p>
            <a:r>
              <a:rPr lang="en-US" dirty="0"/>
              <a:t>  d = d – c</a:t>
            </a:r>
          </a:p>
          <a:p>
            <a:r>
              <a:rPr lang="en-US" dirty="0"/>
              <a:t>  e = a + f</a:t>
            </a:r>
          </a:p>
        </p:txBody>
      </p:sp>
      <p:sp>
        <p:nvSpPr>
          <p:cNvPr id="6" name="Rectangle 5">
            <a:extLst>
              <a:ext uri="{FF2B5EF4-FFF2-40B4-BE49-F238E27FC236}">
                <a16:creationId xmlns:a16="http://schemas.microsoft.com/office/drawing/2014/main" id="{A105924F-CD40-4F9B-9A3E-110017B6A40B}"/>
              </a:ext>
            </a:extLst>
          </p:cNvPr>
          <p:cNvSpPr/>
          <p:nvPr/>
        </p:nvSpPr>
        <p:spPr>
          <a:xfrm>
            <a:off x="2262053" y="335497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436226" y="3431178"/>
            <a:ext cx="1643742" cy="369332"/>
          </a:xfrm>
          <a:prstGeom prst="rect">
            <a:avLst/>
          </a:prstGeom>
          <a:noFill/>
        </p:spPr>
        <p:txBody>
          <a:bodyPr wrap="square" rtlCol="0">
            <a:spAutoFit/>
          </a:bodyPr>
          <a:lstStyle/>
          <a:p>
            <a:r>
              <a:rPr lang="en-US" dirty="0"/>
              <a:t>  f = e - d</a:t>
            </a:r>
          </a:p>
        </p:txBody>
      </p:sp>
      <p:sp>
        <p:nvSpPr>
          <p:cNvPr id="8" name="Rectangle 7">
            <a:extLst>
              <a:ext uri="{FF2B5EF4-FFF2-40B4-BE49-F238E27FC236}">
                <a16:creationId xmlns:a16="http://schemas.microsoft.com/office/drawing/2014/main" id="{2EC3F743-5E0D-4ACC-9B26-321C6ADA35C1}"/>
              </a:ext>
            </a:extLst>
          </p:cNvPr>
          <p:cNvSpPr/>
          <p:nvPr/>
        </p:nvSpPr>
        <p:spPr>
          <a:xfrm>
            <a:off x="4395650" y="448709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537166" y="4791894"/>
            <a:ext cx="1643742" cy="369332"/>
          </a:xfrm>
          <a:prstGeom prst="rect">
            <a:avLst/>
          </a:prstGeom>
          <a:noFill/>
        </p:spPr>
        <p:txBody>
          <a:bodyPr wrap="square" rtlCol="0">
            <a:spAutoFit/>
          </a:bodyPr>
          <a:lstStyle/>
          <a:p>
            <a:r>
              <a:rPr lang="en-US" dirty="0"/>
              <a:t>   b = d + c</a:t>
            </a:r>
          </a:p>
        </p:txBody>
      </p:sp>
      <p:sp>
        <p:nvSpPr>
          <p:cNvPr id="10" name="Rectangle 9">
            <a:extLst>
              <a:ext uri="{FF2B5EF4-FFF2-40B4-BE49-F238E27FC236}">
                <a16:creationId xmlns:a16="http://schemas.microsoft.com/office/drawing/2014/main" id="{104E023B-01F4-4FFA-B4BA-2BC5B5ECA16D}"/>
              </a:ext>
            </a:extLst>
          </p:cNvPr>
          <p:cNvSpPr/>
          <p:nvPr/>
        </p:nvSpPr>
        <p:spPr>
          <a:xfrm>
            <a:off x="6899364" y="309372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106194" y="3224350"/>
            <a:ext cx="1643742" cy="646331"/>
          </a:xfrm>
          <a:prstGeom prst="rect">
            <a:avLst/>
          </a:prstGeom>
          <a:noFill/>
        </p:spPr>
        <p:txBody>
          <a:bodyPr wrap="square" rtlCol="0">
            <a:spAutoFit/>
          </a:bodyPr>
          <a:lstStyle/>
          <a:p>
            <a:r>
              <a:rPr lang="en-US" dirty="0"/>
              <a:t>b = c + f</a:t>
            </a:r>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3083924" y="384405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6278880" y="393192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3083924" y="263456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6278880" y="263456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a:cxnSpLocks/>
          </p:cNvCxnSpPr>
          <p:nvPr/>
        </p:nvCxnSpPr>
        <p:spPr>
          <a:xfrm>
            <a:off x="5304607" y="102883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a:cxnSpLocks/>
          </p:cNvCxnSpPr>
          <p:nvPr/>
        </p:nvCxnSpPr>
        <p:spPr>
          <a:xfrm>
            <a:off x="6300650" y="548858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a:cxnSpLocks/>
          </p:cNvCxnSpPr>
          <p:nvPr/>
        </p:nvCxnSpPr>
        <p:spPr>
          <a:xfrm>
            <a:off x="8543106" y="393192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8956765" y="4519751"/>
            <a:ext cx="2247900" cy="369332"/>
          </a:xfrm>
          <a:prstGeom prst="rect">
            <a:avLst/>
          </a:prstGeom>
          <a:noFill/>
        </p:spPr>
        <p:txBody>
          <a:bodyPr wrap="square" rtlCol="0">
            <a:spAutoFit/>
          </a:bodyPr>
          <a:lstStyle/>
          <a:p>
            <a:r>
              <a:rPr lang="en-US" dirty="0" err="1">
                <a:solidFill>
                  <a:srgbClr val="FF0000"/>
                </a:solidFill>
              </a:rPr>
              <a:t>b,d,e,f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519849" y="5608327"/>
            <a:ext cx="2247900" cy="369332"/>
          </a:xfrm>
          <a:prstGeom prst="rect">
            <a:avLst/>
          </a:prstGeom>
          <a:noFill/>
        </p:spPr>
        <p:txBody>
          <a:bodyPr wrap="square" rtlCol="0">
            <a:spAutoFit/>
          </a:bodyPr>
          <a:lstStyle/>
          <a:p>
            <a:r>
              <a:rPr lang="en-US" dirty="0" err="1">
                <a:solidFill>
                  <a:srgbClr val="FF0000"/>
                </a:solidFill>
              </a:rPr>
              <a:t>b,c,d,e,f</a:t>
            </a:r>
            <a:r>
              <a:rPr lang="en-US" dirty="0">
                <a:solidFill>
                  <a:srgbClr val="FF0000"/>
                </a:solidFill>
              </a:rPr>
              <a:t> live</a:t>
            </a:r>
          </a:p>
        </p:txBody>
      </p:sp>
      <p:cxnSp>
        <p:nvCxnSpPr>
          <p:cNvPr id="13" name="Connector: Curved 12">
            <a:extLst>
              <a:ext uri="{FF2B5EF4-FFF2-40B4-BE49-F238E27FC236}">
                <a16:creationId xmlns:a16="http://schemas.microsoft.com/office/drawing/2014/main" id="{400FCAC2-1A59-4D3B-9623-843A9583D0E3}"/>
              </a:ext>
            </a:extLst>
          </p:cNvPr>
          <p:cNvCxnSpPr>
            <a:cxnSpLocks/>
          </p:cNvCxnSpPr>
          <p:nvPr/>
        </p:nvCxnSpPr>
        <p:spPr>
          <a:xfrm rot="5400000" flipH="1">
            <a:off x="3345179" y="3616236"/>
            <a:ext cx="3777346" cy="10883"/>
          </a:xfrm>
          <a:prstGeom prst="curvedConnector5">
            <a:avLst>
              <a:gd name="adj1" fmla="val -6052"/>
              <a:gd name="adj2" fmla="val 39559864"/>
              <a:gd name="adj3" fmla="val 10605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86059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76835"/>
            <a:ext cx="10515600" cy="1325563"/>
          </a:xfrm>
        </p:spPr>
        <p:txBody>
          <a:bodyPr/>
          <a:lstStyle/>
          <a:p>
            <a:r>
              <a:rPr lang="en-US" dirty="0"/>
              <a:t>Spilling</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25400" y="119570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3987800" y="150368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129316" y="1612537"/>
            <a:ext cx="1643742" cy="1200329"/>
          </a:xfrm>
          <a:prstGeom prst="rect">
            <a:avLst/>
          </a:prstGeom>
          <a:noFill/>
        </p:spPr>
        <p:txBody>
          <a:bodyPr wrap="square" rtlCol="0">
            <a:spAutoFit/>
          </a:bodyPr>
          <a:lstStyle/>
          <a:p>
            <a:r>
              <a:rPr lang="en-US" dirty="0"/>
              <a:t>  b1 = load </a:t>
            </a:r>
            <a:r>
              <a:rPr lang="en-US" dirty="0" err="1"/>
              <a:t>ba</a:t>
            </a:r>
            <a:r>
              <a:rPr lang="en-US" dirty="0"/>
              <a:t>  </a:t>
            </a:r>
          </a:p>
          <a:p>
            <a:r>
              <a:rPr lang="en-US" dirty="0"/>
              <a:t>  a = b1 + c</a:t>
            </a:r>
          </a:p>
          <a:p>
            <a:r>
              <a:rPr lang="en-US" dirty="0"/>
              <a:t>  d = d – c</a:t>
            </a:r>
          </a:p>
          <a:p>
            <a:r>
              <a:rPr lang="en-US" dirty="0"/>
              <a:t>  e = a + f</a:t>
            </a:r>
          </a:p>
        </p:txBody>
      </p:sp>
      <p:sp>
        <p:nvSpPr>
          <p:cNvPr id="6" name="Rectangle 5">
            <a:extLst>
              <a:ext uri="{FF2B5EF4-FFF2-40B4-BE49-F238E27FC236}">
                <a16:creationId xmlns:a16="http://schemas.microsoft.com/office/drawing/2014/main" id="{A105924F-CD40-4F9B-9A3E-110017B6A40B}"/>
              </a:ext>
            </a:extLst>
          </p:cNvPr>
          <p:cNvSpPr/>
          <p:nvPr/>
        </p:nvSpPr>
        <p:spPr>
          <a:xfrm>
            <a:off x="1875973" y="351753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050146" y="3593738"/>
            <a:ext cx="1643742" cy="369332"/>
          </a:xfrm>
          <a:prstGeom prst="rect">
            <a:avLst/>
          </a:prstGeom>
          <a:noFill/>
        </p:spPr>
        <p:txBody>
          <a:bodyPr wrap="square" rtlCol="0">
            <a:spAutoFit/>
          </a:bodyPr>
          <a:lstStyle/>
          <a:p>
            <a:r>
              <a:rPr lang="en-US" dirty="0"/>
              <a:t>  f = e - d</a:t>
            </a:r>
          </a:p>
        </p:txBody>
      </p:sp>
      <p:sp>
        <p:nvSpPr>
          <p:cNvPr id="8" name="Rectangle 7">
            <a:extLst>
              <a:ext uri="{FF2B5EF4-FFF2-40B4-BE49-F238E27FC236}">
                <a16:creationId xmlns:a16="http://schemas.microsoft.com/office/drawing/2014/main" id="{2EC3F743-5E0D-4ACC-9B26-321C6ADA35C1}"/>
              </a:ext>
            </a:extLst>
          </p:cNvPr>
          <p:cNvSpPr/>
          <p:nvPr/>
        </p:nvSpPr>
        <p:spPr>
          <a:xfrm>
            <a:off x="4009570" y="464965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151086" y="4823825"/>
            <a:ext cx="1643742" cy="646331"/>
          </a:xfrm>
          <a:prstGeom prst="rect">
            <a:avLst/>
          </a:prstGeom>
          <a:noFill/>
        </p:spPr>
        <p:txBody>
          <a:bodyPr wrap="square" rtlCol="0">
            <a:spAutoFit/>
          </a:bodyPr>
          <a:lstStyle/>
          <a:p>
            <a:r>
              <a:rPr lang="en-US" dirty="0"/>
              <a:t>   b3 = d + c</a:t>
            </a:r>
          </a:p>
          <a:p>
            <a:r>
              <a:rPr lang="en-US" dirty="0"/>
              <a:t>   store b3, </a:t>
            </a:r>
            <a:r>
              <a:rPr lang="en-US" dirty="0" err="1"/>
              <a:t>ba</a:t>
            </a:r>
            <a:endParaRPr lang="en-US" dirty="0"/>
          </a:p>
        </p:txBody>
      </p:sp>
      <p:sp>
        <p:nvSpPr>
          <p:cNvPr id="10" name="Rectangle 9">
            <a:extLst>
              <a:ext uri="{FF2B5EF4-FFF2-40B4-BE49-F238E27FC236}">
                <a16:creationId xmlns:a16="http://schemas.microsoft.com/office/drawing/2014/main" id="{104E023B-01F4-4FFA-B4BA-2BC5B5ECA16D}"/>
              </a:ext>
            </a:extLst>
          </p:cNvPr>
          <p:cNvSpPr/>
          <p:nvPr/>
        </p:nvSpPr>
        <p:spPr>
          <a:xfrm>
            <a:off x="6513284" y="325628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6720114" y="3245396"/>
            <a:ext cx="1643742" cy="923330"/>
          </a:xfrm>
          <a:prstGeom prst="rect">
            <a:avLst/>
          </a:prstGeom>
          <a:noFill/>
        </p:spPr>
        <p:txBody>
          <a:bodyPr wrap="square" rtlCol="0">
            <a:spAutoFit/>
          </a:bodyPr>
          <a:lstStyle/>
          <a:p>
            <a:r>
              <a:rPr lang="en-US" dirty="0"/>
              <a:t>b2 = c + f</a:t>
            </a:r>
          </a:p>
          <a:p>
            <a:r>
              <a:rPr lang="en-US" dirty="0"/>
              <a:t>store b2, </a:t>
            </a:r>
            <a:r>
              <a:rPr lang="en-US" dirty="0" err="1"/>
              <a:t>ba</a:t>
            </a:r>
            <a:endParaRPr lang="en-US" dirty="0"/>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2697844" y="400661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5892800" y="409448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2697844" y="279712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5892800" y="279712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4918527" y="88659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5914570" y="565114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157026" y="409448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8570685" y="4682311"/>
            <a:ext cx="2247900" cy="369332"/>
          </a:xfrm>
          <a:prstGeom prst="rect">
            <a:avLst/>
          </a:prstGeom>
          <a:noFill/>
        </p:spPr>
        <p:txBody>
          <a:bodyPr wrap="square" rtlCol="0">
            <a:spAutoFit/>
          </a:bodyPr>
          <a:lstStyle/>
          <a:p>
            <a:r>
              <a:rPr lang="en-US" dirty="0" err="1">
                <a:solidFill>
                  <a:srgbClr val="FF0000"/>
                </a:solidFill>
              </a:rPr>
              <a:t>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133769" y="5770887"/>
            <a:ext cx="2247900" cy="369332"/>
          </a:xfrm>
          <a:prstGeom prst="rect">
            <a:avLst/>
          </a:prstGeom>
          <a:noFill/>
        </p:spPr>
        <p:txBody>
          <a:bodyPr wrap="square" rtlCol="0">
            <a:spAutoFit/>
          </a:bodyPr>
          <a:lstStyle/>
          <a:p>
            <a:r>
              <a:rPr lang="en-US" dirty="0" err="1">
                <a:solidFill>
                  <a:srgbClr val="FF0000"/>
                </a:solidFill>
              </a:rPr>
              <a:t>c,d,e,f</a:t>
            </a:r>
            <a:r>
              <a:rPr lang="en-US" dirty="0">
                <a:solidFill>
                  <a:srgbClr val="FF0000"/>
                </a:solidFill>
              </a:rPr>
              <a:t> live</a:t>
            </a:r>
          </a:p>
        </p:txBody>
      </p:sp>
      <p:cxnSp>
        <p:nvCxnSpPr>
          <p:cNvPr id="14" name="Connector: Curved 13">
            <a:extLst>
              <a:ext uri="{FF2B5EF4-FFF2-40B4-BE49-F238E27FC236}">
                <a16:creationId xmlns:a16="http://schemas.microsoft.com/office/drawing/2014/main" id="{4A3F952A-9D13-4687-A448-8AB8B56F07F4}"/>
              </a:ext>
            </a:extLst>
          </p:cNvPr>
          <p:cNvCxnSpPr>
            <a:stCxn id="8" idx="2"/>
          </p:cNvCxnSpPr>
          <p:nvPr/>
        </p:nvCxnSpPr>
        <p:spPr>
          <a:xfrm rot="5400000" flipH="1">
            <a:off x="2673348" y="3362418"/>
            <a:ext cx="4147460" cy="429984"/>
          </a:xfrm>
          <a:prstGeom prst="curvedConnector5">
            <a:avLst>
              <a:gd name="adj1" fmla="val -5512"/>
              <a:gd name="adj2" fmla="val 846839"/>
              <a:gd name="adj3" fmla="val 10669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8506CAA-908B-4B9D-B4C3-D0DF4DBFBD25}"/>
              </a:ext>
            </a:extLst>
          </p:cNvPr>
          <p:cNvSpPr txBox="1"/>
          <p:nvPr/>
        </p:nvSpPr>
        <p:spPr>
          <a:xfrm>
            <a:off x="8757555" y="294640"/>
            <a:ext cx="3205843"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Use a stack location for b. Whenever b is used in an instruction, load the b’s value from the stack in a temporary register, and use the temporary register’s value.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b is defined, first create the definition in a temporary register and then store the register’s value in the b’s stack location.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32518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288925"/>
            <a:ext cx="10515600" cy="1325563"/>
          </a:xfrm>
        </p:spPr>
        <p:txBody>
          <a:bodyPr/>
          <a:lstStyle/>
          <a:p>
            <a:r>
              <a:rPr lang="en-US" dirty="0"/>
              <a:t>Spilling</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614680" y="101282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577080" y="132080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718596" y="1429657"/>
            <a:ext cx="1643742" cy="1200329"/>
          </a:xfrm>
          <a:prstGeom prst="rect">
            <a:avLst/>
          </a:prstGeom>
          <a:noFill/>
        </p:spPr>
        <p:txBody>
          <a:bodyPr wrap="square" rtlCol="0">
            <a:spAutoFit/>
          </a:bodyPr>
          <a:lstStyle/>
          <a:p>
            <a:r>
              <a:rPr lang="en-US" dirty="0"/>
              <a:t>  b1 = load </a:t>
            </a:r>
            <a:r>
              <a:rPr lang="en-US" dirty="0" err="1"/>
              <a:t>ba</a:t>
            </a:r>
            <a:r>
              <a:rPr lang="en-US" dirty="0"/>
              <a:t>  </a:t>
            </a:r>
          </a:p>
          <a:p>
            <a:r>
              <a:rPr lang="en-US" dirty="0"/>
              <a:t>  a = b1 + c</a:t>
            </a:r>
          </a:p>
          <a:p>
            <a:r>
              <a:rPr lang="en-US" dirty="0"/>
              <a:t>  d = d – c</a:t>
            </a:r>
          </a:p>
          <a:p>
            <a:r>
              <a:rPr lang="en-US" dirty="0"/>
              <a:t>  e = a + f</a:t>
            </a:r>
          </a:p>
        </p:txBody>
      </p:sp>
      <p:sp>
        <p:nvSpPr>
          <p:cNvPr id="6" name="Rectangle 5">
            <a:extLst>
              <a:ext uri="{FF2B5EF4-FFF2-40B4-BE49-F238E27FC236}">
                <a16:creationId xmlns:a16="http://schemas.microsoft.com/office/drawing/2014/main" id="{A105924F-CD40-4F9B-9A3E-110017B6A40B}"/>
              </a:ext>
            </a:extLst>
          </p:cNvPr>
          <p:cNvSpPr/>
          <p:nvPr/>
        </p:nvSpPr>
        <p:spPr>
          <a:xfrm>
            <a:off x="2465253" y="333465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639426" y="3410858"/>
            <a:ext cx="1643742" cy="369332"/>
          </a:xfrm>
          <a:prstGeom prst="rect">
            <a:avLst/>
          </a:prstGeom>
          <a:noFill/>
        </p:spPr>
        <p:txBody>
          <a:bodyPr wrap="square" rtlCol="0">
            <a:spAutoFit/>
          </a:bodyPr>
          <a:lstStyle/>
          <a:p>
            <a:r>
              <a:rPr lang="en-US" dirty="0"/>
              <a:t>  f = e - d</a:t>
            </a:r>
          </a:p>
        </p:txBody>
      </p:sp>
      <p:sp>
        <p:nvSpPr>
          <p:cNvPr id="8" name="Rectangle 7">
            <a:extLst>
              <a:ext uri="{FF2B5EF4-FFF2-40B4-BE49-F238E27FC236}">
                <a16:creationId xmlns:a16="http://schemas.microsoft.com/office/drawing/2014/main" id="{2EC3F743-5E0D-4ACC-9B26-321C6ADA35C1}"/>
              </a:ext>
            </a:extLst>
          </p:cNvPr>
          <p:cNvSpPr/>
          <p:nvPr/>
        </p:nvSpPr>
        <p:spPr>
          <a:xfrm>
            <a:off x="4598850" y="446677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740366" y="4640945"/>
            <a:ext cx="1643742" cy="646331"/>
          </a:xfrm>
          <a:prstGeom prst="rect">
            <a:avLst/>
          </a:prstGeom>
          <a:noFill/>
        </p:spPr>
        <p:txBody>
          <a:bodyPr wrap="square" rtlCol="0">
            <a:spAutoFit/>
          </a:bodyPr>
          <a:lstStyle/>
          <a:p>
            <a:r>
              <a:rPr lang="en-US" dirty="0"/>
              <a:t>   b3 = d + c</a:t>
            </a:r>
          </a:p>
          <a:p>
            <a:r>
              <a:rPr lang="en-US" dirty="0"/>
              <a:t>   store b3, </a:t>
            </a:r>
            <a:r>
              <a:rPr lang="en-US" dirty="0" err="1"/>
              <a:t>ba</a:t>
            </a:r>
            <a:endParaRPr lang="en-US" dirty="0"/>
          </a:p>
        </p:txBody>
      </p:sp>
      <p:sp>
        <p:nvSpPr>
          <p:cNvPr id="10" name="Rectangle 9">
            <a:extLst>
              <a:ext uri="{FF2B5EF4-FFF2-40B4-BE49-F238E27FC236}">
                <a16:creationId xmlns:a16="http://schemas.microsoft.com/office/drawing/2014/main" id="{104E023B-01F4-4FFA-B4BA-2BC5B5ECA16D}"/>
              </a:ext>
            </a:extLst>
          </p:cNvPr>
          <p:cNvSpPr/>
          <p:nvPr/>
        </p:nvSpPr>
        <p:spPr>
          <a:xfrm>
            <a:off x="7102564" y="307340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309394" y="3062516"/>
            <a:ext cx="1643742" cy="923330"/>
          </a:xfrm>
          <a:prstGeom prst="rect">
            <a:avLst/>
          </a:prstGeom>
          <a:noFill/>
        </p:spPr>
        <p:txBody>
          <a:bodyPr wrap="square" rtlCol="0">
            <a:spAutoFit/>
          </a:bodyPr>
          <a:lstStyle/>
          <a:p>
            <a:r>
              <a:rPr lang="en-US" dirty="0"/>
              <a:t>b2 = c + f</a:t>
            </a:r>
          </a:p>
          <a:p>
            <a:r>
              <a:rPr lang="en-US" dirty="0"/>
              <a:t>store b2, </a:t>
            </a:r>
            <a:r>
              <a:rPr lang="en-US" dirty="0" err="1"/>
              <a:t>ba</a:t>
            </a:r>
            <a:endParaRPr lang="en-US" dirty="0"/>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3287124" y="382373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6482080" y="391160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3287124" y="261424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6482080" y="261424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507807" y="70371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503850" y="546826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746306" y="391160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34136" y="4325260"/>
            <a:ext cx="2247900" cy="369332"/>
          </a:xfrm>
          <a:prstGeom prst="rect">
            <a:avLst/>
          </a:prstGeom>
          <a:noFill/>
        </p:spPr>
        <p:txBody>
          <a:bodyPr wrap="square" rtlCol="0">
            <a:spAutoFit/>
          </a:bodyPr>
          <a:lstStyle/>
          <a:p>
            <a:r>
              <a:rPr lang="en-US" dirty="0" err="1">
                <a:solidFill>
                  <a:srgbClr val="FF0000"/>
                </a:solidFill>
              </a:rPr>
              <a:t>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723049" y="5588007"/>
            <a:ext cx="2247900" cy="369332"/>
          </a:xfrm>
          <a:prstGeom prst="rect">
            <a:avLst/>
          </a:prstGeom>
          <a:noFill/>
        </p:spPr>
        <p:txBody>
          <a:bodyPr wrap="square" rtlCol="0">
            <a:spAutoFit/>
          </a:bodyPr>
          <a:lstStyle/>
          <a:p>
            <a:r>
              <a:rPr lang="en-US" dirty="0" err="1">
                <a:solidFill>
                  <a:srgbClr val="FF0000"/>
                </a:solidFill>
              </a:rPr>
              <a:t>c,d,e,f</a:t>
            </a:r>
            <a:r>
              <a:rPr lang="en-US" dirty="0">
                <a:solidFill>
                  <a:srgbClr val="FF0000"/>
                </a:solidFill>
              </a:rPr>
              <a:t> live</a:t>
            </a:r>
          </a:p>
        </p:txBody>
      </p:sp>
      <p:cxnSp>
        <p:nvCxnSpPr>
          <p:cNvPr id="14" name="Connector: Curved 13">
            <a:extLst>
              <a:ext uri="{FF2B5EF4-FFF2-40B4-BE49-F238E27FC236}">
                <a16:creationId xmlns:a16="http://schemas.microsoft.com/office/drawing/2014/main" id="{4A3F952A-9D13-4687-A448-8AB8B56F07F4}"/>
              </a:ext>
            </a:extLst>
          </p:cNvPr>
          <p:cNvCxnSpPr>
            <a:stCxn id="8" idx="2"/>
          </p:cNvCxnSpPr>
          <p:nvPr/>
        </p:nvCxnSpPr>
        <p:spPr>
          <a:xfrm rot="5400000" flipH="1">
            <a:off x="3262628" y="3179538"/>
            <a:ext cx="4147460" cy="429984"/>
          </a:xfrm>
          <a:prstGeom prst="curvedConnector5">
            <a:avLst>
              <a:gd name="adj1" fmla="val -5512"/>
              <a:gd name="adj2" fmla="val 846839"/>
              <a:gd name="adj3" fmla="val 10669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F06CAB5-B6F9-48F3-9225-38B54C3D7150}"/>
              </a:ext>
            </a:extLst>
          </p:cNvPr>
          <p:cNvSpPr txBox="1"/>
          <p:nvPr/>
        </p:nvSpPr>
        <p:spPr>
          <a:xfrm>
            <a:off x="5023394" y="4118429"/>
            <a:ext cx="1311726" cy="369332"/>
          </a:xfrm>
          <a:prstGeom prst="rect">
            <a:avLst/>
          </a:prstGeom>
          <a:noFill/>
        </p:spPr>
        <p:txBody>
          <a:bodyPr wrap="square" rtlCol="0">
            <a:spAutoFit/>
          </a:bodyPr>
          <a:lstStyle/>
          <a:p>
            <a:r>
              <a:rPr lang="en-US" dirty="0" err="1">
                <a:solidFill>
                  <a:srgbClr val="FF0000"/>
                </a:solidFill>
              </a:rPr>
              <a:t>c,d,e,f</a:t>
            </a:r>
            <a:endParaRPr lang="en-US" dirty="0">
              <a:solidFill>
                <a:srgbClr val="FF0000"/>
              </a:solidFill>
            </a:endParaRPr>
          </a:p>
        </p:txBody>
      </p:sp>
      <p:sp>
        <p:nvSpPr>
          <p:cNvPr id="24" name="TextBox 23">
            <a:extLst>
              <a:ext uri="{FF2B5EF4-FFF2-40B4-BE49-F238E27FC236}">
                <a16:creationId xmlns:a16="http://schemas.microsoft.com/office/drawing/2014/main" id="{51649566-61C5-4C50-8061-6AD3E9D0E1B6}"/>
              </a:ext>
            </a:extLst>
          </p:cNvPr>
          <p:cNvSpPr txBox="1"/>
          <p:nvPr/>
        </p:nvSpPr>
        <p:spPr>
          <a:xfrm>
            <a:off x="7908106" y="2659744"/>
            <a:ext cx="1311726" cy="369332"/>
          </a:xfrm>
          <a:prstGeom prst="rect">
            <a:avLst/>
          </a:prstGeom>
          <a:noFill/>
        </p:spPr>
        <p:txBody>
          <a:bodyPr wrap="square" rtlCol="0">
            <a:spAutoFit/>
          </a:bodyPr>
          <a:lstStyle/>
          <a:p>
            <a:r>
              <a:rPr lang="en-US" dirty="0" err="1">
                <a:solidFill>
                  <a:srgbClr val="FF0000"/>
                </a:solidFill>
              </a:rPr>
              <a:t>c,d,f</a:t>
            </a:r>
            <a:endParaRPr lang="en-US" dirty="0">
              <a:solidFill>
                <a:srgbClr val="FF0000"/>
              </a:solidFill>
            </a:endParaRPr>
          </a:p>
        </p:txBody>
      </p:sp>
      <p:sp>
        <p:nvSpPr>
          <p:cNvPr id="26" name="TextBox 25">
            <a:extLst>
              <a:ext uri="{FF2B5EF4-FFF2-40B4-BE49-F238E27FC236}">
                <a16:creationId xmlns:a16="http://schemas.microsoft.com/office/drawing/2014/main" id="{954ABE35-E633-44D3-B91E-02F352D5A41A}"/>
              </a:ext>
            </a:extLst>
          </p:cNvPr>
          <p:cNvSpPr txBox="1"/>
          <p:nvPr/>
        </p:nvSpPr>
        <p:spPr>
          <a:xfrm>
            <a:off x="2770054" y="2833915"/>
            <a:ext cx="1311726" cy="369332"/>
          </a:xfrm>
          <a:prstGeom prst="rect">
            <a:avLst/>
          </a:prstGeom>
          <a:noFill/>
        </p:spPr>
        <p:txBody>
          <a:bodyPr wrap="square" rtlCol="0">
            <a:spAutoFit/>
          </a:bodyPr>
          <a:lstStyle/>
          <a:p>
            <a:r>
              <a:rPr lang="en-US" dirty="0" err="1">
                <a:solidFill>
                  <a:srgbClr val="FF0000"/>
                </a:solidFill>
              </a:rPr>
              <a:t>c,d,e</a:t>
            </a:r>
            <a:endParaRPr lang="en-US" dirty="0">
              <a:solidFill>
                <a:srgbClr val="FF0000"/>
              </a:solidFill>
            </a:endParaRPr>
          </a:p>
        </p:txBody>
      </p:sp>
      <p:sp>
        <p:nvSpPr>
          <p:cNvPr id="28" name="TextBox 27">
            <a:extLst>
              <a:ext uri="{FF2B5EF4-FFF2-40B4-BE49-F238E27FC236}">
                <a16:creationId xmlns:a16="http://schemas.microsoft.com/office/drawing/2014/main" id="{7E55564F-5F96-4F9D-92B9-FD98EE7F33D9}"/>
              </a:ext>
            </a:extLst>
          </p:cNvPr>
          <p:cNvSpPr txBox="1"/>
          <p:nvPr/>
        </p:nvSpPr>
        <p:spPr>
          <a:xfrm>
            <a:off x="5023395" y="2637970"/>
            <a:ext cx="1311726" cy="369332"/>
          </a:xfrm>
          <a:prstGeom prst="rect">
            <a:avLst/>
          </a:prstGeom>
          <a:noFill/>
        </p:spPr>
        <p:txBody>
          <a:bodyPr wrap="square" rtlCol="0">
            <a:spAutoFit/>
          </a:bodyPr>
          <a:lstStyle/>
          <a:p>
            <a:r>
              <a:rPr lang="en-US" dirty="0" err="1">
                <a:solidFill>
                  <a:srgbClr val="FF0000"/>
                </a:solidFill>
              </a:rPr>
              <a:t>c,d,e,f</a:t>
            </a:r>
            <a:endParaRPr lang="en-US" dirty="0">
              <a:solidFill>
                <a:srgbClr val="FF0000"/>
              </a:solidFill>
            </a:endParaRPr>
          </a:p>
        </p:txBody>
      </p:sp>
      <p:sp>
        <p:nvSpPr>
          <p:cNvPr id="30" name="TextBox 29">
            <a:extLst>
              <a:ext uri="{FF2B5EF4-FFF2-40B4-BE49-F238E27FC236}">
                <a16:creationId xmlns:a16="http://schemas.microsoft.com/office/drawing/2014/main" id="{D8D4D883-603A-414C-9E95-A2D3C04AEA86}"/>
              </a:ext>
            </a:extLst>
          </p:cNvPr>
          <p:cNvSpPr txBox="1"/>
          <p:nvPr/>
        </p:nvSpPr>
        <p:spPr>
          <a:xfrm>
            <a:off x="8506822" y="2093684"/>
            <a:ext cx="1311726" cy="369332"/>
          </a:xfrm>
          <a:prstGeom prst="rect">
            <a:avLst/>
          </a:prstGeom>
          <a:noFill/>
        </p:spPr>
        <p:txBody>
          <a:bodyPr wrap="square" rtlCol="0">
            <a:spAutoFit/>
          </a:bodyPr>
          <a:lstStyle/>
          <a:p>
            <a:r>
              <a:rPr lang="en-US" dirty="0" err="1">
                <a:solidFill>
                  <a:srgbClr val="FF0000"/>
                </a:solidFill>
              </a:rPr>
              <a:t>a,c,d,f</a:t>
            </a:r>
            <a:endParaRPr lang="en-US" dirty="0">
              <a:solidFill>
                <a:srgbClr val="FF0000"/>
              </a:solidFill>
            </a:endParaRPr>
          </a:p>
        </p:txBody>
      </p:sp>
      <p:cxnSp>
        <p:nvCxnSpPr>
          <p:cNvPr id="15" name="Straight Arrow Connector 14">
            <a:extLst>
              <a:ext uri="{FF2B5EF4-FFF2-40B4-BE49-F238E27FC236}">
                <a16:creationId xmlns:a16="http://schemas.microsoft.com/office/drawing/2014/main" id="{AEB0B6DA-D8E5-4CB1-87DE-D212494A31DB}"/>
              </a:ext>
            </a:extLst>
          </p:cNvPr>
          <p:cNvCxnSpPr/>
          <p:nvPr/>
        </p:nvCxnSpPr>
        <p:spPr>
          <a:xfrm>
            <a:off x="5507807" y="2305270"/>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FDE8F03D-566A-4898-818A-D06B0055881E}"/>
              </a:ext>
            </a:extLst>
          </p:cNvPr>
          <p:cNvSpPr txBox="1"/>
          <p:nvPr/>
        </p:nvSpPr>
        <p:spPr>
          <a:xfrm>
            <a:off x="8485049" y="1799769"/>
            <a:ext cx="1311726" cy="369332"/>
          </a:xfrm>
          <a:prstGeom prst="rect">
            <a:avLst/>
          </a:prstGeom>
          <a:noFill/>
        </p:spPr>
        <p:txBody>
          <a:bodyPr wrap="square" rtlCol="0">
            <a:spAutoFit/>
          </a:bodyPr>
          <a:lstStyle/>
          <a:p>
            <a:r>
              <a:rPr lang="en-US" dirty="0" err="1">
                <a:solidFill>
                  <a:srgbClr val="FF0000"/>
                </a:solidFill>
              </a:rPr>
              <a:t>a,c,d,f</a:t>
            </a:r>
            <a:endParaRPr lang="en-US" dirty="0">
              <a:solidFill>
                <a:srgbClr val="FF0000"/>
              </a:solidFill>
            </a:endParaRPr>
          </a:p>
        </p:txBody>
      </p:sp>
      <p:cxnSp>
        <p:nvCxnSpPr>
          <p:cNvPr id="33" name="Straight Arrow Connector 32">
            <a:extLst>
              <a:ext uri="{FF2B5EF4-FFF2-40B4-BE49-F238E27FC236}">
                <a16:creationId xmlns:a16="http://schemas.microsoft.com/office/drawing/2014/main" id="{A2B05BD2-44D5-47A6-BA81-9B6CCC616A13}"/>
              </a:ext>
            </a:extLst>
          </p:cNvPr>
          <p:cNvCxnSpPr/>
          <p:nvPr/>
        </p:nvCxnSpPr>
        <p:spPr>
          <a:xfrm>
            <a:off x="5486036" y="2011358"/>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06B669B-0E56-45ED-862E-860E6AFC929B}"/>
              </a:ext>
            </a:extLst>
          </p:cNvPr>
          <p:cNvSpPr txBox="1"/>
          <p:nvPr/>
        </p:nvSpPr>
        <p:spPr>
          <a:xfrm>
            <a:off x="8474163" y="1538511"/>
            <a:ext cx="1311726" cy="369332"/>
          </a:xfrm>
          <a:prstGeom prst="rect">
            <a:avLst/>
          </a:prstGeom>
          <a:noFill/>
        </p:spPr>
        <p:txBody>
          <a:bodyPr wrap="square" rtlCol="0">
            <a:spAutoFit/>
          </a:bodyPr>
          <a:lstStyle/>
          <a:p>
            <a:r>
              <a:rPr lang="en-US" dirty="0">
                <a:solidFill>
                  <a:srgbClr val="FF0000"/>
                </a:solidFill>
              </a:rPr>
              <a:t>b1,c,d,f</a:t>
            </a:r>
          </a:p>
        </p:txBody>
      </p:sp>
      <p:cxnSp>
        <p:nvCxnSpPr>
          <p:cNvPr id="35" name="Straight Arrow Connector 34">
            <a:extLst>
              <a:ext uri="{FF2B5EF4-FFF2-40B4-BE49-F238E27FC236}">
                <a16:creationId xmlns:a16="http://schemas.microsoft.com/office/drawing/2014/main" id="{616EA3C1-1B2A-4AF6-AD14-0340822D7EAE}"/>
              </a:ext>
            </a:extLst>
          </p:cNvPr>
          <p:cNvCxnSpPr/>
          <p:nvPr/>
        </p:nvCxnSpPr>
        <p:spPr>
          <a:xfrm>
            <a:off x="5507808" y="1771872"/>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8DC77F2-0804-4342-BA94-63FEC401FA0F}"/>
              </a:ext>
            </a:extLst>
          </p:cNvPr>
          <p:cNvSpPr txBox="1"/>
          <p:nvPr/>
        </p:nvSpPr>
        <p:spPr>
          <a:xfrm>
            <a:off x="5622107" y="950682"/>
            <a:ext cx="1311726" cy="369332"/>
          </a:xfrm>
          <a:prstGeom prst="rect">
            <a:avLst/>
          </a:prstGeom>
          <a:noFill/>
        </p:spPr>
        <p:txBody>
          <a:bodyPr wrap="square" rtlCol="0">
            <a:spAutoFit/>
          </a:bodyPr>
          <a:lstStyle/>
          <a:p>
            <a:r>
              <a:rPr lang="en-US" dirty="0" err="1">
                <a:solidFill>
                  <a:srgbClr val="FF0000"/>
                </a:solidFill>
              </a:rPr>
              <a:t>c,d,f</a:t>
            </a:r>
            <a:endParaRPr lang="en-US" dirty="0">
              <a:solidFill>
                <a:srgbClr val="FF0000"/>
              </a:solidFill>
            </a:endParaRPr>
          </a:p>
        </p:txBody>
      </p:sp>
      <p:cxnSp>
        <p:nvCxnSpPr>
          <p:cNvPr id="37" name="Straight Arrow Connector 36">
            <a:extLst>
              <a:ext uri="{FF2B5EF4-FFF2-40B4-BE49-F238E27FC236}">
                <a16:creationId xmlns:a16="http://schemas.microsoft.com/office/drawing/2014/main" id="{8D666019-B3D6-4724-BE42-B493638E6AAA}"/>
              </a:ext>
            </a:extLst>
          </p:cNvPr>
          <p:cNvCxnSpPr/>
          <p:nvPr/>
        </p:nvCxnSpPr>
        <p:spPr>
          <a:xfrm>
            <a:off x="8076834" y="3698640"/>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D202DA7-57CC-44BA-8528-6EE7A03271FD}"/>
              </a:ext>
            </a:extLst>
          </p:cNvPr>
          <p:cNvCxnSpPr/>
          <p:nvPr/>
        </p:nvCxnSpPr>
        <p:spPr>
          <a:xfrm>
            <a:off x="8120377" y="3415611"/>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8436F31-5618-4388-82D9-5870F7053F18}"/>
              </a:ext>
            </a:extLst>
          </p:cNvPr>
          <p:cNvSpPr txBox="1"/>
          <p:nvPr/>
        </p:nvSpPr>
        <p:spPr>
          <a:xfrm>
            <a:off x="10683964" y="3497941"/>
            <a:ext cx="1311726" cy="369332"/>
          </a:xfrm>
          <a:prstGeom prst="rect">
            <a:avLst/>
          </a:prstGeom>
          <a:noFill/>
        </p:spPr>
        <p:txBody>
          <a:bodyPr wrap="square" rtlCol="0">
            <a:spAutoFit/>
          </a:bodyPr>
          <a:lstStyle/>
          <a:p>
            <a:r>
              <a:rPr lang="en-US" dirty="0" err="1">
                <a:solidFill>
                  <a:srgbClr val="FF0000"/>
                </a:solidFill>
              </a:rPr>
              <a:t>c,d,f</a:t>
            </a:r>
            <a:endParaRPr lang="en-US" dirty="0">
              <a:solidFill>
                <a:srgbClr val="FF0000"/>
              </a:solidFill>
            </a:endParaRPr>
          </a:p>
        </p:txBody>
      </p:sp>
      <p:sp>
        <p:nvSpPr>
          <p:cNvPr id="40" name="TextBox 39">
            <a:extLst>
              <a:ext uri="{FF2B5EF4-FFF2-40B4-BE49-F238E27FC236}">
                <a16:creationId xmlns:a16="http://schemas.microsoft.com/office/drawing/2014/main" id="{E43DBBD7-79DE-4BFC-B486-7D5DC88035C1}"/>
              </a:ext>
            </a:extLst>
          </p:cNvPr>
          <p:cNvSpPr txBox="1"/>
          <p:nvPr/>
        </p:nvSpPr>
        <p:spPr>
          <a:xfrm>
            <a:off x="10716620" y="3204027"/>
            <a:ext cx="1311726" cy="369332"/>
          </a:xfrm>
          <a:prstGeom prst="rect">
            <a:avLst/>
          </a:prstGeom>
          <a:noFill/>
        </p:spPr>
        <p:txBody>
          <a:bodyPr wrap="square" rtlCol="0">
            <a:spAutoFit/>
          </a:bodyPr>
          <a:lstStyle/>
          <a:p>
            <a:r>
              <a:rPr lang="en-US" dirty="0">
                <a:solidFill>
                  <a:srgbClr val="FF0000"/>
                </a:solidFill>
              </a:rPr>
              <a:t>b2,c,d,f</a:t>
            </a:r>
          </a:p>
        </p:txBody>
      </p:sp>
      <p:sp>
        <p:nvSpPr>
          <p:cNvPr id="41" name="TextBox 40">
            <a:extLst>
              <a:ext uri="{FF2B5EF4-FFF2-40B4-BE49-F238E27FC236}">
                <a16:creationId xmlns:a16="http://schemas.microsoft.com/office/drawing/2014/main" id="{03756005-CAAA-4E3C-8648-C10273EC8618}"/>
              </a:ext>
            </a:extLst>
          </p:cNvPr>
          <p:cNvSpPr txBox="1"/>
          <p:nvPr/>
        </p:nvSpPr>
        <p:spPr>
          <a:xfrm>
            <a:off x="4990735" y="5577106"/>
            <a:ext cx="1311726" cy="369332"/>
          </a:xfrm>
          <a:prstGeom prst="rect">
            <a:avLst/>
          </a:prstGeom>
          <a:noFill/>
        </p:spPr>
        <p:txBody>
          <a:bodyPr wrap="square" rtlCol="0">
            <a:spAutoFit/>
          </a:bodyPr>
          <a:lstStyle/>
          <a:p>
            <a:r>
              <a:rPr lang="en-US" dirty="0" err="1">
                <a:solidFill>
                  <a:srgbClr val="FF0000"/>
                </a:solidFill>
              </a:rPr>
              <a:t>c,d,f</a:t>
            </a:r>
            <a:endParaRPr lang="en-US" dirty="0">
              <a:solidFill>
                <a:srgbClr val="FF0000"/>
              </a:solidFill>
            </a:endParaRPr>
          </a:p>
        </p:txBody>
      </p:sp>
      <p:cxnSp>
        <p:nvCxnSpPr>
          <p:cNvPr id="42" name="Straight Arrow Connector 41">
            <a:extLst>
              <a:ext uri="{FF2B5EF4-FFF2-40B4-BE49-F238E27FC236}">
                <a16:creationId xmlns:a16="http://schemas.microsoft.com/office/drawing/2014/main" id="{999036E9-C3BC-462B-BB46-FB6E9FEFF2DD}"/>
              </a:ext>
            </a:extLst>
          </p:cNvPr>
          <p:cNvCxnSpPr/>
          <p:nvPr/>
        </p:nvCxnSpPr>
        <p:spPr>
          <a:xfrm>
            <a:off x="5856149" y="4994040"/>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F2EC7B9-5E9C-4425-8A46-07CDBC899F70}"/>
              </a:ext>
            </a:extLst>
          </p:cNvPr>
          <p:cNvSpPr txBox="1"/>
          <p:nvPr/>
        </p:nvSpPr>
        <p:spPr>
          <a:xfrm>
            <a:off x="8550365" y="4891313"/>
            <a:ext cx="1311726" cy="369332"/>
          </a:xfrm>
          <a:prstGeom prst="rect">
            <a:avLst/>
          </a:prstGeom>
          <a:noFill/>
        </p:spPr>
        <p:txBody>
          <a:bodyPr wrap="square" rtlCol="0">
            <a:spAutoFit/>
          </a:bodyPr>
          <a:lstStyle/>
          <a:p>
            <a:r>
              <a:rPr lang="en-US" dirty="0">
                <a:solidFill>
                  <a:srgbClr val="FF0000"/>
                </a:solidFill>
              </a:rPr>
              <a:t>b3,c,d,e,f</a:t>
            </a:r>
          </a:p>
        </p:txBody>
      </p:sp>
    </p:spTree>
    <p:extLst>
      <p:ext uri="{BB962C8B-B14F-4D97-AF65-F5344CB8AC3E}">
        <p14:creationId xmlns:p14="http://schemas.microsoft.com/office/powerpoint/2010/main" val="37964337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Register-interference graph after spilling</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84171"/>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226423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74320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72589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A2B0F8-58DA-4DE3-B849-B551C99E6637}"/>
              </a:ext>
            </a:extLst>
          </p:cNvPr>
          <p:cNvCxnSpPr/>
          <p:nvPr/>
        </p:nvCxnSpPr>
        <p:spPr>
          <a:xfrm>
            <a:off x="4223656" y="2802095"/>
            <a:ext cx="4620988" cy="1198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49506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49506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D6C9F88-B3EE-4D02-BF91-CA6A24730B86}"/>
              </a:ext>
            </a:extLst>
          </p:cNvPr>
          <p:cNvCxnSpPr>
            <a:stCxn id="30" idx="1"/>
          </p:cNvCxnSpPr>
          <p:nvPr/>
        </p:nvCxnSpPr>
        <p:spPr>
          <a:xfrm>
            <a:off x="8784774" y="2495064"/>
            <a:ext cx="24491" cy="1497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9E7803C-B7C8-477A-ACA8-2864D07900A0}"/>
              </a:ext>
            </a:extLst>
          </p:cNvPr>
          <p:cNvCxnSpPr/>
          <p:nvPr/>
        </p:nvCxnSpPr>
        <p:spPr>
          <a:xfrm flipH="1">
            <a:off x="8588825" y="4016829"/>
            <a:ext cx="244932" cy="1778392"/>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452CFC6-FDCD-97A1-F001-3D5828904923}"/>
              </a:ext>
            </a:extLst>
          </p:cNvPr>
          <p:cNvSpPr txBox="1"/>
          <p:nvPr/>
        </p:nvSpPr>
        <p:spPr>
          <a:xfrm>
            <a:off x="707571" y="5743700"/>
            <a:ext cx="4898572" cy="923330"/>
          </a:xfrm>
          <a:prstGeom prst="rect">
            <a:avLst/>
          </a:prstGeom>
          <a:noFill/>
        </p:spPr>
        <p:txBody>
          <a:bodyPr wrap="square" rtlCol="0">
            <a:spAutoFit/>
          </a:bodyPr>
          <a:lstStyle/>
          <a:p>
            <a:r>
              <a:rPr lang="en-IN" dirty="0"/>
              <a:t>After spilling, </a:t>
            </a:r>
            <a:r>
              <a:rPr lang="en-IN" dirty="0">
                <a:solidFill>
                  <a:schemeClr val="accent1"/>
                </a:solidFill>
              </a:rPr>
              <a:t>b</a:t>
            </a:r>
            <a:r>
              <a:rPr lang="en-IN" dirty="0"/>
              <a:t> has now split into three variables </a:t>
            </a:r>
            <a:r>
              <a:rPr lang="en-IN" dirty="0">
                <a:solidFill>
                  <a:schemeClr val="accent1"/>
                </a:solidFill>
              </a:rPr>
              <a:t>b1</a:t>
            </a:r>
            <a:r>
              <a:rPr lang="en-IN" dirty="0"/>
              <a:t>, </a:t>
            </a:r>
            <a:r>
              <a:rPr lang="en-IN" dirty="0">
                <a:solidFill>
                  <a:schemeClr val="accent1"/>
                </a:solidFill>
              </a:rPr>
              <a:t>b2</a:t>
            </a:r>
            <a:r>
              <a:rPr lang="en-IN" dirty="0"/>
              <a:t>, and </a:t>
            </a:r>
            <a:r>
              <a:rPr lang="en-IN" dirty="0">
                <a:solidFill>
                  <a:schemeClr val="accent1"/>
                </a:solidFill>
              </a:rPr>
              <a:t>b3</a:t>
            </a:r>
            <a:r>
              <a:rPr lang="en-IN" dirty="0"/>
              <a:t>. </a:t>
            </a:r>
            <a:r>
              <a:rPr lang="en-IN" dirty="0">
                <a:solidFill>
                  <a:schemeClr val="accent1"/>
                </a:solidFill>
              </a:rPr>
              <a:t>b1</a:t>
            </a:r>
            <a:r>
              <a:rPr lang="en-IN" dirty="0"/>
              <a:t>, </a:t>
            </a:r>
            <a:r>
              <a:rPr lang="en-IN" dirty="0">
                <a:solidFill>
                  <a:schemeClr val="accent1"/>
                </a:solidFill>
              </a:rPr>
              <a:t>b2</a:t>
            </a:r>
            <a:r>
              <a:rPr lang="en-IN" dirty="0"/>
              <a:t>, and </a:t>
            </a:r>
            <a:r>
              <a:rPr lang="en-IN" dirty="0">
                <a:solidFill>
                  <a:schemeClr val="accent1"/>
                </a:solidFill>
              </a:rPr>
              <a:t>b3</a:t>
            </a:r>
            <a:r>
              <a:rPr lang="en-IN" dirty="0"/>
              <a:t> are interfering with less number of variables than </a:t>
            </a:r>
            <a:r>
              <a:rPr lang="en-IN" dirty="0">
                <a:solidFill>
                  <a:schemeClr val="accent1"/>
                </a:solidFill>
              </a:rPr>
              <a:t>b</a:t>
            </a:r>
            <a:r>
              <a:rPr lang="en-IN" dirty="0"/>
              <a:t> (before spilling).</a:t>
            </a:r>
          </a:p>
        </p:txBody>
      </p:sp>
    </p:spTree>
    <p:extLst>
      <p:ext uri="{BB962C8B-B14F-4D97-AF65-F5344CB8AC3E}">
        <p14:creationId xmlns:p14="http://schemas.microsoft.com/office/powerpoint/2010/main" val="24607364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Checking for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84171"/>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226423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74320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72589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A2B0F8-58DA-4DE3-B849-B551C99E6637}"/>
              </a:ext>
            </a:extLst>
          </p:cNvPr>
          <p:cNvCxnSpPr/>
          <p:nvPr/>
        </p:nvCxnSpPr>
        <p:spPr>
          <a:xfrm>
            <a:off x="4223656" y="2802095"/>
            <a:ext cx="4620988" cy="1198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49506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49506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D6C9F88-B3EE-4D02-BF91-CA6A24730B86}"/>
              </a:ext>
            </a:extLst>
          </p:cNvPr>
          <p:cNvCxnSpPr>
            <a:stCxn id="30" idx="1"/>
          </p:cNvCxnSpPr>
          <p:nvPr/>
        </p:nvCxnSpPr>
        <p:spPr>
          <a:xfrm>
            <a:off x="8784774" y="2495064"/>
            <a:ext cx="24491" cy="1497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9E7803C-B7C8-477A-ACA8-2864D07900A0}"/>
              </a:ext>
            </a:extLst>
          </p:cNvPr>
          <p:cNvCxnSpPr/>
          <p:nvPr/>
        </p:nvCxnSpPr>
        <p:spPr>
          <a:xfrm flipH="1">
            <a:off x="8588825" y="4016829"/>
            <a:ext cx="244932" cy="17783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1654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Checking for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84171"/>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7105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40168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40168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7555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226423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74320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72589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A2B0F8-58DA-4DE3-B849-B551C99E6637}"/>
              </a:ext>
            </a:extLst>
          </p:cNvPr>
          <p:cNvCxnSpPr/>
          <p:nvPr/>
        </p:nvCxnSpPr>
        <p:spPr>
          <a:xfrm>
            <a:off x="4223656" y="2802095"/>
            <a:ext cx="4620988" cy="1198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49506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49506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D6C9F88-B3EE-4D02-BF91-CA6A24730B86}"/>
              </a:ext>
            </a:extLst>
          </p:cNvPr>
          <p:cNvCxnSpPr>
            <a:stCxn id="30" idx="1"/>
          </p:cNvCxnSpPr>
          <p:nvPr/>
        </p:nvCxnSpPr>
        <p:spPr>
          <a:xfrm>
            <a:off x="8784774" y="2495064"/>
            <a:ext cx="24491" cy="1497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9E7803C-B7C8-477A-ACA8-2864D07900A0}"/>
              </a:ext>
            </a:extLst>
          </p:cNvPr>
          <p:cNvCxnSpPr/>
          <p:nvPr/>
        </p:nvCxnSpPr>
        <p:spPr>
          <a:xfrm flipH="1">
            <a:off x="8588825" y="4016829"/>
            <a:ext cx="244932" cy="177839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4E4BA132-4A0E-4F4E-B7A3-7F5C59205016}"/>
              </a:ext>
            </a:extLst>
          </p:cNvPr>
          <p:cNvGraphicFramePr>
            <a:graphicFrameLocks noGrp="1"/>
          </p:cNvGraphicFramePr>
          <p:nvPr/>
        </p:nvGraphicFramePr>
        <p:xfrm>
          <a:off x="736599" y="2004181"/>
          <a:ext cx="794656" cy="4244224"/>
        </p:xfrm>
        <a:graphic>
          <a:graphicData uri="http://schemas.openxmlformats.org/drawingml/2006/table">
            <a:tbl>
              <a:tblPr bandRow="1">
                <a:tableStyleId>{5C22544A-7EE6-4342-B048-85BDC9FD1C3A}</a:tableStyleId>
              </a:tblPr>
              <a:tblGrid>
                <a:gridCol w="794656">
                  <a:extLst>
                    <a:ext uri="{9D8B030D-6E8A-4147-A177-3AD203B41FA5}">
                      <a16:colId xmlns:a16="http://schemas.microsoft.com/office/drawing/2014/main" val="1279766044"/>
                    </a:ext>
                  </a:extLst>
                </a:gridCol>
              </a:tblGrid>
              <a:tr h="53052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644017"/>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674784"/>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4009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734701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425743"/>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295601"/>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006142"/>
                  </a:ext>
                </a:extLst>
              </a:tr>
              <a:tr h="53052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869322"/>
                  </a:ext>
                </a:extLst>
              </a:tr>
            </a:tbl>
          </a:graphicData>
        </a:graphic>
      </p:graphicFrame>
    </p:spTree>
    <p:extLst>
      <p:ext uri="{BB962C8B-B14F-4D97-AF65-F5344CB8AC3E}">
        <p14:creationId xmlns:p14="http://schemas.microsoft.com/office/powerpoint/2010/main" val="34016739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Checking for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84171"/>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20D066-9815-4A50-8F56-3B179C6A6E56}"/>
              </a:ext>
            </a:extLst>
          </p:cNvPr>
          <p:cNvSpPr txBox="1"/>
          <p:nvPr/>
        </p:nvSpPr>
        <p:spPr>
          <a:xfrm>
            <a:off x="3940629" y="2340430"/>
            <a:ext cx="794657" cy="461665"/>
          </a:xfrm>
          <a:prstGeom prst="rect">
            <a:avLst/>
          </a:prstGeom>
          <a:noFill/>
        </p:spPr>
        <p:txBody>
          <a:bodyPr wrap="square" rtlCol="0">
            <a:spAutoFit/>
          </a:bodyPr>
          <a:lstStyle/>
          <a:p>
            <a:r>
              <a:rPr lang="en-US" sz="2400" b="1" dirty="0"/>
              <a:t>b1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226423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74320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72589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A2B0F8-58DA-4DE3-B849-B551C99E6637}"/>
              </a:ext>
            </a:extLst>
          </p:cNvPr>
          <p:cNvCxnSpPr/>
          <p:nvPr/>
        </p:nvCxnSpPr>
        <p:spPr>
          <a:xfrm>
            <a:off x="4223656" y="2802095"/>
            <a:ext cx="4620988" cy="1198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49506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49506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D6C9F88-B3EE-4D02-BF91-CA6A24730B86}"/>
              </a:ext>
            </a:extLst>
          </p:cNvPr>
          <p:cNvCxnSpPr>
            <a:stCxn id="30" idx="1"/>
          </p:cNvCxnSpPr>
          <p:nvPr/>
        </p:nvCxnSpPr>
        <p:spPr>
          <a:xfrm>
            <a:off x="8784774" y="2495064"/>
            <a:ext cx="24491" cy="1497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9E7803C-B7C8-477A-ACA8-2864D07900A0}"/>
              </a:ext>
            </a:extLst>
          </p:cNvPr>
          <p:cNvCxnSpPr/>
          <p:nvPr/>
        </p:nvCxnSpPr>
        <p:spPr>
          <a:xfrm flipH="1">
            <a:off x="8588825" y="4016829"/>
            <a:ext cx="244932" cy="177839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4E4BA132-4A0E-4F4E-B7A3-7F5C59205016}"/>
              </a:ext>
            </a:extLst>
          </p:cNvPr>
          <p:cNvGraphicFramePr>
            <a:graphicFrameLocks noGrp="1"/>
          </p:cNvGraphicFramePr>
          <p:nvPr/>
        </p:nvGraphicFramePr>
        <p:xfrm>
          <a:off x="736599" y="2004181"/>
          <a:ext cx="794656" cy="4244224"/>
        </p:xfrm>
        <a:graphic>
          <a:graphicData uri="http://schemas.openxmlformats.org/drawingml/2006/table">
            <a:tbl>
              <a:tblPr bandRow="1">
                <a:tableStyleId>{5C22544A-7EE6-4342-B048-85BDC9FD1C3A}</a:tableStyleId>
              </a:tblPr>
              <a:tblGrid>
                <a:gridCol w="794656">
                  <a:extLst>
                    <a:ext uri="{9D8B030D-6E8A-4147-A177-3AD203B41FA5}">
                      <a16:colId xmlns:a16="http://schemas.microsoft.com/office/drawing/2014/main" val="1279766044"/>
                    </a:ext>
                  </a:extLst>
                </a:gridCol>
              </a:tblGrid>
              <a:tr h="53052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644017"/>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674784"/>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4009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734701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425743"/>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295601"/>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006142"/>
                  </a:ext>
                </a:extLst>
              </a:tr>
              <a:tr h="530528">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869322"/>
                  </a:ext>
                </a:extLst>
              </a:tr>
            </a:tbl>
          </a:graphicData>
        </a:graphic>
      </p:graphicFrame>
    </p:spTree>
    <p:extLst>
      <p:ext uri="{BB962C8B-B14F-4D97-AF65-F5344CB8AC3E}">
        <p14:creationId xmlns:p14="http://schemas.microsoft.com/office/powerpoint/2010/main" val="37816966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Checking for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84171"/>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2264231"/>
            <a:ext cx="794657" cy="461665"/>
          </a:xfrm>
          <a:prstGeom prst="rect">
            <a:avLst/>
          </a:prstGeom>
          <a:noFill/>
        </p:spPr>
        <p:txBody>
          <a:bodyPr wrap="square" rtlCol="0">
            <a:spAutoFit/>
          </a:bodyPr>
          <a:lstStyle/>
          <a:p>
            <a:r>
              <a:rPr lang="en-US" sz="2400" b="1" dirty="0"/>
              <a:t>b2</a:t>
            </a:r>
          </a:p>
        </p:txBody>
      </p: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49506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49506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D6C9F88-B3EE-4D02-BF91-CA6A24730B86}"/>
              </a:ext>
            </a:extLst>
          </p:cNvPr>
          <p:cNvCxnSpPr>
            <a:stCxn id="30" idx="1"/>
          </p:cNvCxnSpPr>
          <p:nvPr/>
        </p:nvCxnSpPr>
        <p:spPr>
          <a:xfrm>
            <a:off x="8784774" y="2495064"/>
            <a:ext cx="24491" cy="1497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9E7803C-B7C8-477A-ACA8-2864D07900A0}"/>
              </a:ext>
            </a:extLst>
          </p:cNvPr>
          <p:cNvCxnSpPr/>
          <p:nvPr/>
        </p:nvCxnSpPr>
        <p:spPr>
          <a:xfrm flipH="1">
            <a:off x="8588825" y="4016829"/>
            <a:ext cx="244932" cy="177839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4E4BA132-4A0E-4F4E-B7A3-7F5C59205016}"/>
              </a:ext>
            </a:extLst>
          </p:cNvPr>
          <p:cNvGraphicFramePr>
            <a:graphicFrameLocks noGrp="1"/>
          </p:cNvGraphicFramePr>
          <p:nvPr/>
        </p:nvGraphicFramePr>
        <p:xfrm>
          <a:off x="736599" y="2004181"/>
          <a:ext cx="794656" cy="4244224"/>
        </p:xfrm>
        <a:graphic>
          <a:graphicData uri="http://schemas.openxmlformats.org/drawingml/2006/table">
            <a:tbl>
              <a:tblPr bandRow="1">
                <a:tableStyleId>{5C22544A-7EE6-4342-B048-85BDC9FD1C3A}</a:tableStyleId>
              </a:tblPr>
              <a:tblGrid>
                <a:gridCol w="794656">
                  <a:extLst>
                    <a:ext uri="{9D8B030D-6E8A-4147-A177-3AD203B41FA5}">
                      <a16:colId xmlns:a16="http://schemas.microsoft.com/office/drawing/2014/main" val="1279766044"/>
                    </a:ext>
                  </a:extLst>
                </a:gridCol>
              </a:tblGrid>
              <a:tr h="53052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644017"/>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674784"/>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4009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734701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425743"/>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295601"/>
                  </a:ext>
                </a:extLst>
              </a:tr>
              <a:tr h="530528">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006142"/>
                  </a:ext>
                </a:extLst>
              </a:tr>
              <a:tr h="530528">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869322"/>
                  </a:ext>
                </a:extLst>
              </a:tr>
            </a:tbl>
          </a:graphicData>
        </a:graphic>
      </p:graphicFrame>
    </p:spTree>
    <p:extLst>
      <p:ext uri="{BB962C8B-B14F-4D97-AF65-F5344CB8AC3E}">
        <p14:creationId xmlns:p14="http://schemas.microsoft.com/office/powerpoint/2010/main" val="28960213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Checking for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84171"/>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9E7803C-B7C8-477A-ACA8-2864D07900A0}"/>
              </a:ext>
            </a:extLst>
          </p:cNvPr>
          <p:cNvCxnSpPr/>
          <p:nvPr/>
        </p:nvCxnSpPr>
        <p:spPr>
          <a:xfrm flipH="1">
            <a:off x="8588825" y="4016829"/>
            <a:ext cx="244932" cy="177839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4E4BA132-4A0E-4F4E-B7A3-7F5C59205016}"/>
              </a:ext>
            </a:extLst>
          </p:cNvPr>
          <p:cNvGraphicFramePr>
            <a:graphicFrameLocks noGrp="1"/>
          </p:cNvGraphicFramePr>
          <p:nvPr/>
        </p:nvGraphicFramePr>
        <p:xfrm>
          <a:off x="736599" y="2004181"/>
          <a:ext cx="794656" cy="4244224"/>
        </p:xfrm>
        <a:graphic>
          <a:graphicData uri="http://schemas.openxmlformats.org/drawingml/2006/table">
            <a:tbl>
              <a:tblPr bandRow="1">
                <a:tableStyleId>{5C22544A-7EE6-4342-B048-85BDC9FD1C3A}</a:tableStyleId>
              </a:tblPr>
              <a:tblGrid>
                <a:gridCol w="794656">
                  <a:extLst>
                    <a:ext uri="{9D8B030D-6E8A-4147-A177-3AD203B41FA5}">
                      <a16:colId xmlns:a16="http://schemas.microsoft.com/office/drawing/2014/main" val="1279766044"/>
                    </a:ext>
                  </a:extLst>
                </a:gridCol>
              </a:tblGrid>
              <a:tr h="53052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644017"/>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674784"/>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4009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734701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425743"/>
                  </a:ext>
                </a:extLst>
              </a:tr>
              <a:tr h="530528">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295601"/>
                  </a:ext>
                </a:extLst>
              </a:tr>
              <a:tr h="530528">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006142"/>
                  </a:ext>
                </a:extLst>
              </a:tr>
              <a:tr h="530528">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869322"/>
                  </a:ext>
                </a:extLst>
              </a:tr>
            </a:tbl>
          </a:graphicData>
        </a:graphic>
      </p:graphicFrame>
    </p:spTree>
    <p:extLst>
      <p:ext uri="{BB962C8B-B14F-4D97-AF65-F5344CB8AC3E}">
        <p14:creationId xmlns:p14="http://schemas.microsoft.com/office/powerpoint/2010/main" val="36053937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Checking for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7105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EB75C1-4B45-42B2-8AA8-998192D31A6E}"/>
              </a:ext>
            </a:extLst>
          </p:cNvPr>
          <p:cNvCxnSpPr/>
          <p:nvPr/>
        </p:nvCxnSpPr>
        <p:spPr>
          <a:xfrm flipV="1">
            <a:off x="6901543" y="3984171"/>
            <a:ext cx="1992086"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40168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744689"/>
            <a:ext cx="794657" cy="461665"/>
          </a:xfrm>
          <a:prstGeom prst="rect">
            <a:avLst/>
          </a:prstGeom>
          <a:noFill/>
        </p:spPr>
        <p:txBody>
          <a:bodyPr wrap="square" rtlCol="0">
            <a:spAutoFit/>
          </a:bodyPr>
          <a:lstStyle/>
          <a:p>
            <a:r>
              <a:rPr lang="en-US" sz="2400" b="1" dirty="0"/>
              <a:t>f</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9E7803C-B7C8-477A-ACA8-2864D07900A0}"/>
              </a:ext>
            </a:extLst>
          </p:cNvPr>
          <p:cNvCxnSpPr/>
          <p:nvPr/>
        </p:nvCxnSpPr>
        <p:spPr>
          <a:xfrm flipH="1">
            <a:off x="8588825" y="4016829"/>
            <a:ext cx="244932" cy="177839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4E4BA132-4A0E-4F4E-B7A3-7F5C59205016}"/>
              </a:ext>
            </a:extLst>
          </p:cNvPr>
          <p:cNvGraphicFramePr>
            <a:graphicFrameLocks noGrp="1"/>
          </p:cNvGraphicFramePr>
          <p:nvPr/>
        </p:nvGraphicFramePr>
        <p:xfrm>
          <a:off x="736599" y="2004181"/>
          <a:ext cx="794656" cy="4244224"/>
        </p:xfrm>
        <a:graphic>
          <a:graphicData uri="http://schemas.openxmlformats.org/drawingml/2006/table">
            <a:tbl>
              <a:tblPr bandRow="1">
                <a:tableStyleId>{5C22544A-7EE6-4342-B048-85BDC9FD1C3A}</a:tableStyleId>
              </a:tblPr>
              <a:tblGrid>
                <a:gridCol w="794656">
                  <a:extLst>
                    <a:ext uri="{9D8B030D-6E8A-4147-A177-3AD203B41FA5}">
                      <a16:colId xmlns:a16="http://schemas.microsoft.com/office/drawing/2014/main" val="1279766044"/>
                    </a:ext>
                  </a:extLst>
                </a:gridCol>
              </a:tblGrid>
              <a:tr h="53052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644017"/>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674784"/>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4009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734701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425743"/>
                  </a:ext>
                </a:extLst>
              </a:tr>
              <a:tr h="530528">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295601"/>
                  </a:ext>
                </a:extLst>
              </a:tr>
              <a:tr h="530528">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006142"/>
                  </a:ext>
                </a:extLst>
              </a:tr>
              <a:tr h="530528">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869322"/>
                  </a:ext>
                </a:extLst>
              </a:tr>
            </a:tbl>
          </a:graphicData>
        </a:graphic>
      </p:graphicFrame>
    </p:spTree>
    <p:extLst>
      <p:ext uri="{BB962C8B-B14F-4D97-AF65-F5344CB8AC3E}">
        <p14:creationId xmlns:p14="http://schemas.microsoft.com/office/powerpoint/2010/main" val="37377287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p:txBody>
          <a:bodyPr/>
          <a:lstStyle/>
          <a:p>
            <a:r>
              <a:rPr lang="en-US" dirty="0"/>
              <a:t>Spill f</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82562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7105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2286002"/>
            <a:ext cx="794657" cy="461665"/>
          </a:xfrm>
          <a:prstGeom prst="rect">
            <a:avLst/>
          </a:prstGeom>
          <a:noFill/>
        </p:spPr>
        <p:txBody>
          <a:bodyPr wrap="square" rtlCol="0">
            <a:spAutoFit/>
          </a:bodyPr>
          <a:lstStyle/>
          <a:p>
            <a:r>
              <a:rPr lang="en-US" sz="2400" b="1" dirty="0"/>
              <a:t>d</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9638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9747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7476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9747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693228"/>
            <a:ext cx="794657" cy="461665"/>
          </a:xfrm>
          <a:prstGeom prst="rect">
            <a:avLst/>
          </a:prstGeom>
          <a:noFill/>
        </p:spPr>
        <p:txBody>
          <a:bodyPr wrap="square" rtlCol="0">
            <a:spAutoFit/>
          </a:bodyPr>
          <a:lstStyle/>
          <a:p>
            <a:r>
              <a:rPr lang="en-US" sz="2400" b="1" dirty="0"/>
              <a:t>b3</a:t>
            </a:r>
          </a:p>
        </p:txBody>
      </p: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9638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50945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718443"/>
            <a:ext cx="1660073" cy="309713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4E4BA132-4A0E-4F4E-B7A3-7F5C59205016}"/>
              </a:ext>
            </a:extLst>
          </p:cNvPr>
          <p:cNvGraphicFramePr>
            <a:graphicFrameLocks noGrp="1"/>
          </p:cNvGraphicFramePr>
          <p:nvPr/>
        </p:nvGraphicFramePr>
        <p:xfrm>
          <a:off x="736599" y="2004181"/>
          <a:ext cx="794656" cy="4244224"/>
        </p:xfrm>
        <a:graphic>
          <a:graphicData uri="http://schemas.openxmlformats.org/drawingml/2006/table">
            <a:tbl>
              <a:tblPr bandRow="1">
                <a:tableStyleId>{5C22544A-7EE6-4342-B048-85BDC9FD1C3A}</a:tableStyleId>
              </a:tblPr>
              <a:tblGrid>
                <a:gridCol w="794656">
                  <a:extLst>
                    <a:ext uri="{9D8B030D-6E8A-4147-A177-3AD203B41FA5}">
                      <a16:colId xmlns:a16="http://schemas.microsoft.com/office/drawing/2014/main" val="1279766044"/>
                    </a:ext>
                  </a:extLst>
                </a:gridCol>
              </a:tblGrid>
              <a:tr h="53052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644017"/>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674784"/>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40095"/>
                  </a:ext>
                </a:extLst>
              </a:tr>
              <a:tr h="5305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7347015"/>
                  </a:ext>
                </a:extLst>
              </a:tr>
              <a:tr h="530528">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425743"/>
                  </a:ext>
                </a:extLst>
              </a:tr>
              <a:tr h="530528">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295601"/>
                  </a:ext>
                </a:extLst>
              </a:tr>
              <a:tr h="530528">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006142"/>
                  </a:ext>
                </a:extLst>
              </a:tr>
              <a:tr h="530528">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869322"/>
                  </a:ext>
                </a:extLst>
              </a:tr>
            </a:tbl>
          </a:graphicData>
        </a:graphic>
      </p:graphicFrame>
      <p:sp>
        <p:nvSpPr>
          <p:cNvPr id="5" name="TextBox 4">
            <a:extLst>
              <a:ext uri="{FF2B5EF4-FFF2-40B4-BE49-F238E27FC236}">
                <a16:creationId xmlns:a16="http://schemas.microsoft.com/office/drawing/2014/main" id="{8185DD74-2C9E-4B34-9A28-B35A34509A89}"/>
              </a:ext>
            </a:extLst>
          </p:cNvPr>
          <p:cNvSpPr txBox="1"/>
          <p:nvPr/>
        </p:nvSpPr>
        <p:spPr>
          <a:xfrm>
            <a:off x="7968342" y="2612572"/>
            <a:ext cx="3429002" cy="369332"/>
          </a:xfrm>
          <a:prstGeom prst="rect">
            <a:avLst/>
          </a:prstGeom>
          <a:noFill/>
        </p:spPr>
        <p:txBody>
          <a:bodyPr wrap="square" rtlCol="0">
            <a:spAutoFit/>
          </a:bodyPr>
          <a:lstStyle/>
          <a:p>
            <a:r>
              <a:rPr lang="en-US" dirty="0">
                <a:solidFill>
                  <a:srgbClr val="FF0000"/>
                </a:solidFill>
              </a:rPr>
              <a:t>No hope for an optimistic solution!</a:t>
            </a:r>
          </a:p>
        </p:txBody>
      </p:sp>
    </p:spTree>
    <p:extLst>
      <p:ext uri="{BB962C8B-B14F-4D97-AF65-F5344CB8AC3E}">
        <p14:creationId xmlns:p14="http://schemas.microsoft.com/office/powerpoint/2010/main" val="35060561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76835"/>
            <a:ext cx="10515600" cy="1325563"/>
          </a:xfrm>
        </p:spPr>
        <p:txBody>
          <a:bodyPr/>
          <a:lstStyle/>
          <a:p>
            <a:r>
              <a:rPr lang="en-US" dirty="0"/>
              <a:t>Spilling</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25400" y="119570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3987800" y="150368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129316" y="1612537"/>
            <a:ext cx="1643742" cy="1200329"/>
          </a:xfrm>
          <a:prstGeom prst="rect">
            <a:avLst/>
          </a:prstGeom>
          <a:noFill/>
        </p:spPr>
        <p:txBody>
          <a:bodyPr wrap="square" rtlCol="0">
            <a:spAutoFit/>
          </a:bodyPr>
          <a:lstStyle/>
          <a:p>
            <a:r>
              <a:rPr lang="en-US" dirty="0"/>
              <a:t>  b1 = load </a:t>
            </a:r>
            <a:r>
              <a:rPr lang="en-US" dirty="0" err="1"/>
              <a:t>ba</a:t>
            </a:r>
            <a:r>
              <a:rPr lang="en-US" dirty="0"/>
              <a:t>  </a:t>
            </a:r>
          </a:p>
          <a:p>
            <a:r>
              <a:rPr lang="en-US" dirty="0"/>
              <a:t>  a = b1 + c</a:t>
            </a:r>
          </a:p>
          <a:p>
            <a:r>
              <a:rPr lang="en-US" dirty="0"/>
              <a:t>  d = d – c</a:t>
            </a:r>
          </a:p>
          <a:p>
            <a:r>
              <a:rPr lang="en-US" dirty="0"/>
              <a:t>  e = a + f</a:t>
            </a:r>
          </a:p>
        </p:txBody>
      </p:sp>
      <p:sp>
        <p:nvSpPr>
          <p:cNvPr id="6" name="Rectangle 5">
            <a:extLst>
              <a:ext uri="{FF2B5EF4-FFF2-40B4-BE49-F238E27FC236}">
                <a16:creationId xmlns:a16="http://schemas.microsoft.com/office/drawing/2014/main" id="{A105924F-CD40-4F9B-9A3E-110017B6A40B}"/>
              </a:ext>
            </a:extLst>
          </p:cNvPr>
          <p:cNvSpPr/>
          <p:nvPr/>
        </p:nvSpPr>
        <p:spPr>
          <a:xfrm>
            <a:off x="1875973" y="3517539"/>
            <a:ext cx="1643742" cy="489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050146" y="3593738"/>
            <a:ext cx="1643742" cy="369332"/>
          </a:xfrm>
          <a:prstGeom prst="rect">
            <a:avLst/>
          </a:prstGeom>
          <a:noFill/>
        </p:spPr>
        <p:txBody>
          <a:bodyPr wrap="square" rtlCol="0">
            <a:spAutoFit/>
          </a:bodyPr>
          <a:lstStyle/>
          <a:p>
            <a:r>
              <a:rPr lang="en-US" dirty="0"/>
              <a:t>  f = e - d</a:t>
            </a:r>
          </a:p>
        </p:txBody>
      </p:sp>
      <p:sp>
        <p:nvSpPr>
          <p:cNvPr id="8" name="Rectangle 7">
            <a:extLst>
              <a:ext uri="{FF2B5EF4-FFF2-40B4-BE49-F238E27FC236}">
                <a16:creationId xmlns:a16="http://schemas.microsoft.com/office/drawing/2014/main" id="{2EC3F743-5E0D-4ACC-9B26-321C6ADA35C1}"/>
              </a:ext>
            </a:extLst>
          </p:cNvPr>
          <p:cNvSpPr/>
          <p:nvPr/>
        </p:nvSpPr>
        <p:spPr>
          <a:xfrm>
            <a:off x="4009570" y="464965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151086" y="4823825"/>
            <a:ext cx="1643742" cy="646331"/>
          </a:xfrm>
          <a:prstGeom prst="rect">
            <a:avLst/>
          </a:prstGeom>
          <a:noFill/>
        </p:spPr>
        <p:txBody>
          <a:bodyPr wrap="square" rtlCol="0">
            <a:spAutoFit/>
          </a:bodyPr>
          <a:lstStyle/>
          <a:p>
            <a:r>
              <a:rPr lang="en-US" dirty="0"/>
              <a:t>   b3 = d + c</a:t>
            </a:r>
          </a:p>
          <a:p>
            <a:r>
              <a:rPr lang="en-US" dirty="0"/>
              <a:t>   store b3, </a:t>
            </a:r>
            <a:r>
              <a:rPr lang="en-US" dirty="0" err="1"/>
              <a:t>ba</a:t>
            </a:r>
            <a:endParaRPr lang="en-US" dirty="0"/>
          </a:p>
        </p:txBody>
      </p:sp>
      <p:sp>
        <p:nvSpPr>
          <p:cNvPr id="10" name="Rectangle 9">
            <a:extLst>
              <a:ext uri="{FF2B5EF4-FFF2-40B4-BE49-F238E27FC236}">
                <a16:creationId xmlns:a16="http://schemas.microsoft.com/office/drawing/2014/main" id="{104E023B-01F4-4FFA-B4BA-2BC5B5ECA16D}"/>
              </a:ext>
            </a:extLst>
          </p:cNvPr>
          <p:cNvSpPr/>
          <p:nvPr/>
        </p:nvSpPr>
        <p:spPr>
          <a:xfrm>
            <a:off x="6513284" y="3256281"/>
            <a:ext cx="1643742" cy="838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6720114" y="3245396"/>
            <a:ext cx="1643742" cy="923330"/>
          </a:xfrm>
          <a:prstGeom prst="rect">
            <a:avLst/>
          </a:prstGeom>
          <a:noFill/>
        </p:spPr>
        <p:txBody>
          <a:bodyPr wrap="square" rtlCol="0">
            <a:spAutoFit/>
          </a:bodyPr>
          <a:lstStyle/>
          <a:p>
            <a:r>
              <a:rPr lang="en-US" dirty="0"/>
              <a:t>b2 = c + f</a:t>
            </a:r>
          </a:p>
          <a:p>
            <a:r>
              <a:rPr lang="en-US" dirty="0"/>
              <a:t>store b2, </a:t>
            </a:r>
            <a:r>
              <a:rPr lang="en-US" dirty="0" err="1"/>
              <a:t>ba</a:t>
            </a:r>
            <a:endParaRPr lang="en-US" dirty="0"/>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stCxn id="6" idx="2"/>
          </p:cNvCxnSpPr>
          <p:nvPr/>
        </p:nvCxnSpPr>
        <p:spPr>
          <a:xfrm>
            <a:off x="2697844" y="4006613"/>
            <a:ext cx="1311726" cy="64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stCxn id="10" idx="2"/>
          </p:cNvCxnSpPr>
          <p:nvPr/>
        </p:nvCxnSpPr>
        <p:spPr>
          <a:xfrm flipH="1">
            <a:off x="5892800" y="4094480"/>
            <a:ext cx="1442355" cy="5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endCxn id="6" idx="0"/>
          </p:cNvCxnSpPr>
          <p:nvPr/>
        </p:nvCxnSpPr>
        <p:spPr>
          <a:xfrm flipH="1">
            <a:off x="2697844" y="2797124"/>
            <a:ext cx="1311726" cy="72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endCxn id="10" idx="0"/>
          </p:cNvCxnSpPr>
          <p:nvPr/>
        </p:nvCxnSpPr>
        <p:spPr>
          <a:xfrm>
            <a:off x="5892800" y="2797124"/>
            <a:ext cx="1442355"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4918527" y="88659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5914570" y="565114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157026" y="4094480"/>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8570685" y="4682311"/>
            <a:ext cx="2247900" cy="369332"/>
          </a:xfrm>
          <a:prstGeom prst="rect">
            <a:avLst/>
          </a:prstGeom>
          <a:noFill/>
        </p:spPr>
        <p:txBody>
          <a:bodyPr wrap="square" rtlCol="0">
            <a:spAutoFit/>
          </a:bodyPr>
          <a:lstStyle/>
          <a:p>
            <a:r>
              <a:rPr lang="en-US" dirty="0" err="1">
                <a:solidFill>
                  <a:srgbClr val="FF0000"/>
                </a:solidFill>
              </a:rPr>
              <a:t>d,e,f</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133769" y="5770887"/>
            <a:ext cx="2247900" cy="369332"/>
          </a:xfrm>
          <a:prstGeom prst="rect">
            <a:avLst/>
          </a:prstGeom>
          <a:noFill/>
        </p:spPr>
        <p:txBody>
          <a:bodyPr wrap="square" rtlCol="0">
            <a:spAutoFit/>
          </a:bodyPr>
          <a:lstStyle/>
          <a:p>
            <a:r>
              <a:rPr lang="en-US" dirty="0" err="1">
                <a:solidFill>
                  <a:srgbClr val="FF0000"/>
                </a:solidFill>
              </a:rPr>
              <a:t>c,d,e,f</a:t>
            </a:r>
            <a:r>
              <a:rPr lang="en-US" dirty="0">
                <a:solidFill>
                  <a:srgbClr val="FF0000"/>
                </a:solidFill>
              </a:rPr>
              <a:t> live</a:t>
            </a:r>
          </a:p>
        </p:txBody>
      </p:sp>
      <p:cxnSp>
        <p:nvCxnSpPr>
          <p:cNvPr id="14" name="Connector: Curved 13">
            <a:extLst>
              <a:ext uri="{FF2B5EF4-FFF2-40B4-BE49-F238E27FC236}">
                <a16:creationId xmlns:a16="http://schemas.microsoft.com/office/drawing/2014/main" id="{4A3F952A-9D13-4687-A448-8AB8B56F07F4}"/>
              </a:ext>
            </a:extLst>
          </p:cNvPr>
          <p:cNvCxnSpPr>
            <a:stCxn id="8" idx="2"/>
          </p:cNvCxnSpPr>
          <p:nvPr/>
        </p:nvCxnSpPr>
        <p:spPr>
          <a:xfrm rot="5400000" flipH="1">
            <a:off x="2673348" y="3362418"/>
            <a:ext cx="4147460" cy="429984"/>
          </a:xfrm>
          <a:prstGeom prst="curvedConnector5">
            <a:avLst>
              <a:gd name="adj1" fmla="val -5512"/>
              <a:gd name="adj2" fmla="val 846839"/>
              <a:gd name="adj3" fmla="val 10669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8506CAA-908B-4B9D-B4C3-D0DF4DBFBD25}"/>
              </a:ext>
            </a:extLst>
          </p:cNvPr>
          <p:cNvSpPr txBox="1"/>
          <p:nvPr/>
        </p:nvSpPr>
        <p:spPr>
          <a:xfrm>
            <a:off x="8757555" y="294640"/>
            <a:ext cx="3205843"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Use a stack location for f. Whenever f is used in an instruction, load the f’s value from the stack in a temporary register, and use the temporary register’s value.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f is defined, first create the definition in a temporary register and then store the register’s value in the f’s stack location.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05526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288925"/>
            <a:ext cx="10515600" cy="1325563"/>
          </a:xfrm>
        </p:spPr>
        <p:txBody>
          <a:bodyPr/>
          <a:lstStyle/>
          <a:p>
            <a:r>
              <a:rPr lang="en-US" dirty="0"/>
              <a:t>Spilling</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746760" y="98234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709160" y="129032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850676" y="1214118"/>
            <a:ext cx="1643742" cy="1477328"/>
          </a:xfrm>
          <a:prstGeom prst="rect">
            <a:avLst/>
          </a:prstGeom>
          <a:noFill/>
        </p:spPr>
        <p:txBody>
          <a:bodyPr wrap="square" rtlCol="0">
            <a:spAutoFit/>
          </a:bodyPr>
          <a:lstStyle/>
          <a:p>
            <a:r>
              <a:rPr lang="en-US" dirty="0"/>
              <a:t>  b1 = load </a:t>
            </a:r>
            <a:r>
              <a:rPr lang="en-US" dirty="0" err="1"/>
              <a:t>ba</a:t>
            </a:r>
            <a:r>
              <a:rPr lang="en-US" dirty="0"/>
              <a:t>  </a:t>
            </a:r>
          </a:p>
          <a:p>
            <a:r>
              <a:rPr lang="en-US" dirty="0"/>
              <a:t>  a = b1 + c</a:t>
            </a:r>
          </a:p>
          <a:p>
            <a:r>
              <a:rPr lang="en-US" dirty="0"/>
              <a:t>  d = d – c</a:t>
            </a:r>
          </a:p>
          <a:p>
            <a:r>
              <a:rPr lang="en-US" dirty="0"/>
              <a:t>  f1 = load fa</a:t>
            </a:r>
          </a:p>
          <a:p>
            <a:r>
              <a:rPr lang="en-US" dirty="0"/>
              <a:t>  e = a + f1</a:t>
            </a:r>
          </a:p>
        </p:txBody>
      </p:sp>
      <p:sp>
        <p:nvSpPr>
          <p:cNvPr id="6" name="Rectangle 5">
            <a:extLst>
              <a:ext uri="{FF2B5EF4-FFF2-40B4-BE49-F238E27FC236}">
                <a16:creationId xmlns:a16="http://schemas.microsoft.com/office/drawing/2014/main" id="{A105924F-CD40-4F9B-9A3E-110017B6A40B}"/>
              </a:ext>
            </a:extLst>
          </p:cNvPr>
          <p:cNvSpPr/>
          <p:nvPr/>
        </p:nvSpPr>
        <p:spPr>
          <a:xfrm>
            <a:off x="2597333" y="3304178"/>
            <a:ext cx="1534887" cy="740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706188" y="3380377"/>
            <a:ext cx="1643742" cy="646331"/>
          </a:xfrm>
          <a:prstGeom prst="rect">
            <a:avLst/>
          </a:prstGeom>
          <a:noFill/>
        </p:spPr>
        <p:txBody>
          <a:bodyPr wrap="square" rtlCol="0">
            <a:spAutoFit/>
          </a:bodyPr>
          <a:lstStyle/>
          <a:p>
            <a:r>
              <a:rPr lang="en-US" dirty="0"/>
              <a:t>  f2 = e – d</a:t>
            </a:r>
          </a:p>
          <a:p>
            <a:r>
              <a:rPr lang="en-US" dirty="0"/>
              <a:t>  store f2, fa</a:t>
            </a:r>
          </a:p>
        </p:txBody>
      </p:sp>
      <p:sp>
        <p:nvSpPr>
          <p:cNvPr id="8" name="Rectangle 7">
            <a:extLst>
              <a:ext uri="{FF2B5EF4-FFF2-40B4-BE49-F238E27FC236}">
                <a16:creationId xmlns:a16="http://schemas.microsoft.com/office/drawing/2014/main" id="{2EC3F743-5E0D-4ACC-9B26-321C6ADA35C1}"/>
              </a:ext>
            </a:extLst>
          </p:cNvPr>
          <p:cNvSpPr/>
          <p:nvPr/>
        </p:nvSpPr>
        <p:spPr>
          <a:xfrm>
            <a:off x="4730930" y="443629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872446" y="4610465"/>
            <a:ext cx="1643742" cy="646331"/>
          </a:xfrm>
          <a:prstGeom prst="rect">
            <a:avLst/>
          </a:prstGeom>
          <a:noFill/>
        </p:spPr>
        <p:txBody>
          <a:bodyPr wrap="square" rtlCol="0">
            <a:spAutoFit/>
          </a:bodyPr>
          <a:lstStyle/>
          <a:p>
            <a:r>
              <a:rPr lang="en-US" dirty="0"/>
              <a:t>   b3 = d + c</a:t>
            </a:r>
          </a:p>
          <a:p>
            <a:r>
              <a:rPr lang="en-US" dirty="0"/>
              <a:t>   store b3, </a:t>
            </a:r>
            <a:r>
              <a:rPr lang="en-US" dirty="0" err="1"/>
              <a:t>ba</a:t>
            </a:r>
            <a:endParaRPr lang="en-US" dirty="0"/>
          </a:p>
        </p:txBody>
      </p:sp>
      <p:sp>
        <p:nvSpPr>
          <p:cNvPr id="10" name="Rectangle 9">
            <a:extLst>
              <a:ext uri="{FF2B5EF4-FFF2-40B4-BE49-F238E27FC236}">
                <a16:creationId xmlns:a16="http://schemas.microsoft.com/office/drawing/2014/main" id="{104E023B-01F4-4FFA-B4BA-2BC5B5ECA16D}"/>
              </a:ext>
            </a:extLst>
          </p:cNvPr>
          <p:cNvSpPr/>
          <p:nvPr/>
        </p:nvSpPr>
        <p:spPr>
          <a:xfrm>
            <a:off x="7234644" y="3042921"/>
            <a:ext cx="1534887" cy="11103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441474" y="3042921"/>
            <a:ext cx="1643742" cy="1200329"/>
          </a:xfrm>
          <a:prstGeom prst="rect">
            <a:avLst/>
          </a:prstGeom>
          <a:noFill/>
        </p:spPr>
        <p:txBody>
          <a:bodyPr wrap="square" rtlCol="0">
            <a:spAutoFit/>
          </a:bodyPr>
          <a:lstStyle/>
          <a:p>
            <a:r>
              <a:rPr lang="en-US" dirty="0"/>
              <a:t>f3 = load fa</a:t>
            </a:r>
          </a:p>
          <a:p>
            <a:r>
              <a:rPr lang="en-US" dirty="0"/>
              <a:t>b2 = c + f3</a:t>
            </a:r>
          </a:p>
          <a:p>
            <a:r>
              <a:rPr lang="en-US" dirty="0"/>
              <a:t>store b2, </a:t>
            </a:r>
            <a:r>
              <a:rPr lang="en-US" dirty="0" err="1"/>
              <a:t>ba</a:t>
            </a:r>
            <a:endParaRPr lang="en-US" dirty="0"/>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cxnSpLocks/>
            <a:stCxn id="6" idx="2"/>
          </p:cNvCxnSpPr>
          <p:nvPr/>
        </p:nvCxnSpPr>
        <p:spPr>
          <a:xfrm>
            <a:off x="3364777" y="4044405"/>
            <a:ext cx="1366153" cy="391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cxnSpLocks/>
            <a:stCxn id="10" idx="2"/>
          </p:cNvCxnSpPr>
          <p:nvPr/>
        </p:nvCxnSpPr>
        <p:spPr>
          <a:xfrm flipH="1">
            <a:off x="6614162" y="4153263"/>
            <a:ext cx="1387926" cy="28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cxnSpLocks/>
            <a:endCxn id="6" idx="0"/>
          </p:cNvCxnSpPr>
          <p:nvPr/>
        </p:nvCxnSpPr>
        <p:spPr>
          <a:xfrm flipH="1">
            <a:off x="3364777" y="2583764"/>
            <a:ext cx="1366154" cy="720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cxnSpLocks/>
            <a:endCxn id="10" idx="0"/>
          </p:cNvCxnSpPr>
          <p:nvPr/>
        </p:nvCxnSpPr>
        <p:spPr>
          <a:xfrm>
            <a:off x="6614160" y="2583764"/>
            <a:ext cx="1387928"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639887" y="67323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635930" y="543778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758641" y="4142376"/>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292045" y="4675779"/>
            <a:ext cx="2247900" cy="369332"/>
          </a:xfrm>
          <a:prstGeom prst="rect">
            <a:avLst/>
          </a:prstGeom>
          <a:noFill/>
        </p:spPr>
        <p:txBody>
          <a:bodyPr wrap="square" rtlCol="0">
            <a:spAutoFit/>
          </a:bodyPr>
          <a:lstStyle/>
          <a:p>
            <a:r>
              <a:rPr lang="en-US" dirty="0" err="1">
                <a:solidFill>
                  <a:srgbClr val="FF0000"/>
                </a:solidFill>
              </a:rPr>
              <a:t>d,e</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855129" y="5557527"/>
            <a:ext cx="2247900" cy="369332"/>
          </a:xfrm>
          <a:prstGeom prst="rect">
            <a:avLst/>
          </a:prstGeom>
          <a:noFill/>
        </p:spPr>
        <p:txBody>
          <a:bodyPr wrap="square" rtlCol="0">
            <a:spAutoFit/>
          </a:bodyPr>
          <a:lstStyle/>
          <a:p>
            <a:r>
              <a:rPr lang="en-US" dirty="0" err="1">
                <a:solidFill>
                  <a:srgbClr val="FF0000"/>
                </a:solidFill>
              </a:rPr>
              <a:t>c,d,e</a:t>
            </a:r>
            <a:r>
              <a:rPr lang="en-US" dirty="0">
                <a:solidFill>
                  <a:srgbClr val="FF0000"/>
                </a:solidFill>
              </a:rPr>
              <a:t> live</a:t>
            </a:r>
          </a:p>
        </p:txBody>
      </p:sp>
      <p:cxnSp>
        <p:nvCxnSpPr>
          <p:cNvPr id="20" name="Connector: Curved 19">
            <a:extLst>
              <a:ext uri="{FF2B5EF4-FFF2-40B4-BE49-F238E27FC236}">
                <a16:creationId xmlns:a16="http://schemas.microsoft.com/office/drawing/2014/main" id="{2E5AEF93-3984-48FB-83D5-012D15816CF3}"/>
              </a:ext>
            </a:extLst>
          </p:cNvPr>
          <p:cNvCxnSpPr>
            <a:stCxn id="8" idx="2"/>
            <a:endCxn id="5" idx="0"/>
          </p:cNvCxnSpPr>
          <p:nvPr/>
        </p:nvCxnSpPr>
        <p:spPr>
          <a:xfrm rot="5400000" flipH="1">
            <a:off x="3566158" y="3320508"/>
            <a:ext cx="4223662" cy="10883"/>
          </a:xfrm>
          <a:prstGeom prst="curvedConnector5">
            <a:avLst>
              <a:gd name="adj1" fmla="val -5412"/>
              <a:gd name="adj2" fmla="val 34058495"/>
              <a:gd name="adj3" fmla="val 10541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4810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288925"/>
            <a:ext cx="10515600" cy="1325563"/>
          </a:xfrm>
        </p:spPr>
        <p:txBody>
          <a:bodyPr/>
          <a:lstStyle/>
          <a:p>
            <a:r>
              <a:rPr lang="en-US" dirty="0"/>
              <a:t>Spilling</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838200" y="98234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800600" y="129032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942116" y="1214118"/>
            <a:ext cx="1643742" cy="1477328"/>
          </a:xfrm>
          <a:prstGeom prst="rect">
            <a:avLst/>
          </a:prstGeom>
          <a:noFill/>
        </p:spPr>
        <p:txBody>
          <a:bodyPr wrap="square" rtlCol="0">
            <a:spAutoFit/>
          </a:bodyPr>
          <a:lstStyle/>
          <a:p>
            <a:r>
              <a:rPr lang="en-US" dirty="0"/>
              <a:t>  b1 = load </a:t>
            </a:r>
            <a:r>
              <a:rPr lang="en-US" dirty="0" err="1"/>
              <a:t>ba</a:t>
            </a:r>
            <a:r>
              <a:rPr lang="en-US" dirty="0"/>
              <a:t>  </a:t>
            </a:r>
          </a:p>
          <a:p>
            <a:r>
              <a:rPr lang="en-US" dirty="0"/>
              <a:t>  a = b1 + c</a:t>
            </a:r>
          </a:p>
          <a:p>
            <a:r>
              <a:rPr lang="en-US" dirty="0"/>
              <a:t>  d = d – c</a:t>
            </a:r>
          </a:p>
          <a:p>
            <a:r>
              <a:rPr lang="en-US" dirty="0"/>
              <a:t>  f1 = load fa</a:t>
            </a:r>
          </a:p>
          <a:p>
            <a:r>
              <a:rPr lang="en-US" dirty="0"/>
              <a:t>  e = a + f1</a:t>
            </a:r>
          </a:p>
        </p:txBody>
      </p:sp>
      <p:sp>
        <p:nvSpPr>
          <p:cNvPr id="6" name="Rectangle 5">
            <a:extLst>
              <a:ext uri="{FF2B5EF4-FFF2-40B4-BE49-F238E27FC236}">
                <a16:creationId xmlns:a16="http://schemas.microsoft.com/office/drawing/2014/main" id="{A105924F-CD40-4F9B-9A3E-110017B6A40B}"/>
              </a:ext>
            </a:extLst>
          </p:cNvPr>
          <p:cNvSpPr/>
          <p:nvPr/>
        </p:nvSpPr>
        <p:spPr>
          <a:xfrm>
            <a:off x="2688773" y="3304178"/>
            <a:ext cx="1534887" cy="740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797628" y="3380377"/>
            <a:ext cx="1643742" cy="646331"/>
          </a:xfrm>
          <a:prstGeom prst="rect">
            <a:avLst/>
          </a:prstGeom>
          <a:noFill/>
        </p:spPr>
        <p:txBody>
          <a:bodyPr wrap="square" rtlCol="0">
            <a:spAutoFit/>
          </a:bodyPr>
          <a:lstStyle/>
          <a:p>
            <a:r>
              <a:rPr lang="en-US" dirty="0"/>
              <a:t>  f2 = e – d</a:t>
            </a:r>
          </a:p>
          <a:p>
            <a:r>
              <a:rPr lang="en-US" dirty="0"/>
              <a:t>  store f2, fa</a:t>
            </a:r>
          </a:p>
        </p:txBody>
      </p:sp>
      <p:sp>
        <p:nvSpPr>
          <p:cNvPr id="8" name="Rectangle 7">
            <a:extLst>
              <a:ext uri="{FF2B5EF4-FFF2-40B4-BE49-F238E27FC236}">
                <a16:creationId xmlns:a16="http://schemas.microsoft.com/office/drawing/2014/main" id="{2EC3F743-5E0D-4ACC-9B26-321C6ADA35C1}"/>
              </a:ext>
            </a:extLst>
          </p:cNvPr>
          <p:cNvSpPr/>
          <p:nvPr/>
        </p:nvSpPr>
        <p:spPr>
          <a:xfrm>
            <a:off x="4822370" y="443629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963886" y="4610465"/>
            <a:ext cx="1643742" cy="646331"/>
          </a:xfrm>
          <a:prstGeom prst="rect">
            <a:avLst/>
          </a:prstGeom>
          <a:noFill/>
        </p:spPr>
        <p:txBody>
          <a:bodyPr wrap="square" rtlCol="0">
            <a:spAutoFit/>
          </a:bodyPr>
          <a:lstStyle/>
          <a:p>
            <a:r>
              <a:rPr lang="en-US" dirty="0"/>
              <a:t>   b3 = d + c</a:t>
            </a:r>
          </a:p>
          <a:p>
            <a:r>
              <a:rPr lang="en-US" dirty="0"/>
              <a:t>   store b3, </a:t>
            </a:r>
            <a:r>
              <a:rPr lang="en-US" dirty="0" err="1"/>
              <a:t>ba</a:t>
            </a:r>
            <a:endParaRPr lang="en-US" dirty="0"/>
          </a:p>
        </p:txBody>
      </p:sp>
      <p:sp>
        <p:nvSpPr>
          <p:cNvPr id="10" name="Rectangle 9">
            <a:extLst>
              <a:ext uri="{FF2B5EF4-FFF2-40B4-BE49-F238E27FC236}">
                <a16:creationId xmlns:a16="http://schemas.microsoft.com/office/drawing/2014/main" id="{104E023B-01F4-4FFA-B4BA-2BC5B5ECA16D}"/>
              </a:ext>
            </a:extLst>
          </p:cNvPr>
          <p:cNvSpPr/>
          <p:nvPr/>
        </p:nvSpPr>
        <p:spPr>
          <a:xfrm>
            <a:off x="7326084" y="3042921"/>
            <a:ext cx="1534887" cy="11103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532914" y="3042921"/>
            <a:ext cx="1643742" cy="1200329"/>
          </a:xfrm>
          <a:prstGeom prst="rect">
            <a:avLst/>
          </a:prstGeom>
          <a:noFill/>
        </p:spPr>
        <p:txBody>
          <a:bodyPr wrap="square" rtlCol="0">
            <a:spAutoFit/>
          </a:bodyPr>
          <a:lstStyle/>
          <a:p>
            <a:r>
              <a:rPr lang="en-US" dirty="0"/>
              <a:t>f3 = load fa</a:t>
            </a:r>
          </a:p>
          <a:p>
            <a:r>
              <a:rPr lang="en-US" dirty="0"/>
              <a:t>b2 = c + f3</a:t>
            </a:r>
          </a:p>
          <a:p>
            <a:r>
              <a:rPr lang="en-US" dirty="0"/>
              <a:t>store b2, </a:t>
            </a:r>
            <a:r>
              <a:rPr lang="en-US" dirty="0" err="1"/>
              <a:t>ba</a:t>
            </a:r>
            <a:endParaRPr lang="en-US" dirty="0"/>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cxnSpLocks/>
            <a:stCxn id="6" idx="2"/>
          </p:cNvCxnSpPr>
          <p:nvPr/>
        </p:nvCxnSpPr>
        <p:spPr>
          <a:xfrm>
            <a:off x="3456217" y="4044405"/>
            <a:ext cx="1366153" cy="391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cxnSpLocks/>
            <a:stCxn id="10" idx="2"/>
          </p:cNvCxnSpPr>
          <p:nvPr/>
        </p:nvCxnSpPr>
        <p:spPr>
          <a:xfrm flipH="1">
            <a:off x="6705602" y="4153263"/>
            <a:ext cx="1387926" cy="28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cxnSpLocks/>
            <a:endCxn id="6" idx="0"/>
          </p:cNvCxnSpPr>
          <p:nvPr/>
        </p:nvCxnSpPr>
        <p:spPr>
          <a:xfrm flipH="1">
            <a:off x="3456217" y="2583764"/>
            <a:ext cx="1366154" cy="720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cxnSpLocks/>
            <a:endCxn id="10" idx="0"/>
          </p:cNvCxnSpPr>
          <p:nvPr/>
        </p:nvCxnSpPr>
        <p:spPr>
          <a:xfrm>
            <a:off x="6705600" y="2583764"/>
            <a:ext cx="1387928"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731327" y="67323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727370" y="543778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850081" y="4142376"/>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83485" y="4675779"/>
            <a:ext cx="2247900" cy="369332"/>
          </a:xfrm>
          <a:prstGeom prst="rect">
            <a:avLst/>
          </a:prstGeom>
          <a:noFill/>
        </p:spPr>
        <p:txBody>
          <a:bodyPr wrap="square" rtlCol="0">
            <a:spAutoFit/>
          </a:bodyPr>
          <a:lstStyle/>
          <a:p>
            <a:r>
              <a:rPr lang="en-US" dirty="0" err="1">
                <a:solidFill>
                  <a:srgbClr val="FF0000"/>
                </a:solidFill>
              </a:rPr>
              <a:t>d,e</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946569" y="5557527"/>
            <a:ext cx="2247900" cy="369332"/>
          </a:xfrm>
          <a:prstGeom prst="rect">
            <a:avLst/>
          </a:prstGeom>
          <a:noFill/>
        </p:spPr>
        <p:txBody>
          <a:bodyPr wrap="square" rtlCol="0">
            <a:spAutoFit/>
          </a:bodyPr>
          <a:lstStyle/>
          <a:p>
            <a:r>
              <a:rPr lang="en-US" dirty="0" err="1">
                <a:solidFill>
                  <a:srgbClr val="FF0000"/>
                </a:solidFill>
              </a:rPr>
              <a:t>c,d,e</a:t>
            </a:r>
            <a:r>
              <a:rPr lang="en-US" dirty="0">
                <a:solidFill>
                  <a:srgbClr val="FF0000"/>
                </a:solidFill>
              </a:rPr>
              <a:t> live</a:t>
            </a:r>
          </a:p>
        </p:txBody>
      </p:sp>
      <p:cxnSp>
        <p:nvCxnSpPr>
          <p:cNvPr id="20" name="Connector: Curved 19">
            <a:extLst>
              <a:ext uri="{FF2B5EF4-FFF2-40B4-BE49-F238E27FC236}">
                <a16:creationId xmlns:a16="http://schemas.microsoft.com/office/drawing/2014/main" id="{2E5AEF93-3984-48FB-83D5-012D15816CF3}"/>
              </a:ext>
            </a:extLst>
          </p:cNvPr>
          <p:cNvCxnSpPr>
            <a:stCxn id="8" idx="2"/>
            <a:endCxn id="5" idx="0"/>
          </p:cNvCxnSpPr>
          <p:nvPr/>
        </p:nvCxnSpPr>
        <p:spPr>
          <a:xfrm rot="5400000" flipH="1">
            <a:off x="3657598" y="3320508"/>
            <a:ext cx="4223662" cy="10883"/>
          </a:xfrm>
          <a:prstGeom prst="curvedConnector5">
            <a:avLst>
              <a:gd name="adj1" fmla="val -5412"/>
              <a:gd name="adj2" fmla="val 34058495"/>
              <a:gd name="adj3" fmla="val 10541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55C04CA-A5B4-4651-8E8B-80E9EC137DF2}"/>
              </a:ext>
            </a:extLst>
          </p:cNvPr>
          <p:cNvSpPr txBox="1"/>
          <p:nvPr/>
        </p:nvSpPr>
        <p:spPr>
          <a:xfrm>
            <a:off x="5246914" y="4087949"/>
            <a:ext cx="1311726" cy="369332"/>
          </a:xfrm>
          <a:prstGeom prst="rect">
            <a:avLst/>
          </a:prstGeom>
          <a:noFill/>
        </p:spPr>
        <p:txBody>
          <a:bodyPr wrap="square" rtlCol="0">
            <a:spAutoFit/>
          </a:bodyPr>
          <a:lstStyle/>
          <a:p>
            <a:r>
              <a:rPr lang="en-US" dirty="0" err="1">
                <a:solidFill>
                  <a:srgbClr val="FF0000"/>
                </a:solidFill>
              </a:rPr>
              <a:t>c,d,e</a:t>
            </a:r>
            <a:endParaRPr lang="en-US" dirty="0">
              <a:solidFill>
                <a:srgbClr val="FF0000"/>
              </a:solidFill>
            </a:endParaRPr>
          </a:p>
        </p:txBody>
      </p:sp>
      <p:sp>
        <p:nvSpPr>
          <p:cNvPr id="24" name="TextBox 23">
            <a:extLst>
              <a:ext uri="{FF2B5EF4-FFF2-40B4-BE49-F238E27FC236}">
                <a16:creationId xmlns:a16="http://schemas.microsoft.com/office/drawing/2014/main" id="{EE238EC6-48BA-4131-BCAB-376D56DF7DE5}"/>
              </a:ext>
            </a:extLst>
          </p:cNvPr>
          <p:cNvSpPr txBox="1"/>
          <p:nvPr/>
        </p:nvSpPr>
        <p:spPr>
          <a:xfrm>
            <a:off x="8131626" y="2629264"/>
            <a:ext cx="1311726" cy="369332"/>
          </a:xfrm>
          <a:prstGeom prst="rect">
            <a:avLst/>
          </a:prstGeom>
          <a:noFill/>
        </p:spPr>
        <p:txBody>
          <a:bodyPr wrap="square" rtlCol="0">
            <a:spAutoFit/>
          </a:bodyPr>
          <a:lstStyle/>
          <a:p>
            <a:r>
              <a:rPr lang="en-US" dirty="0" err="1">
                <a:solidFill>
                  <a:srgbClr val="FF0000"/>
                </a:solidFill>
              </a:rPr>
              <a:t>c,d</a:t>
            </a:r>
            <a:endParaRPr lang="en-US" dirty="0">
              <a:solidFill>
                <a:srgbClr val="FF0000"/>
              </a:solidFill>
            </a:endParaRPr>
          </a:p>
        </p:txBody>
      </p:sp>
      <p:sp>
        <p:nvSpPr>
          <p:cNvPr id="26" name="TextBox 25">
            <a:extLst>
              <a:ext uri="{FF2B5EF4-FFF2-40B4-BE49-F238E27FC236}">
                <a16:creationId xmlns:a16="http://schemas.microsoft.com/office/drawing/2014/main" id="{74B8DAF8-FDE1-44E7-B961-A1455E04A6F0}"/>
              </a:ext>
            </a:extLst>
          </p:cNvPr>
          <p:cNvSpPr txBox="1"/>
          <p:nvPr/>
        </p:nvSpPr>
        <p:spPr>
          <a:xfrm>
            <a:off x="2993574" y="2868751"/>
            <a:ext cx="1311726" cy="369332"/>
          </a:xfrm>
          <a:prstGeom prst="rect">
            <a:avLst/>
          </a:prstGeom>
          <a:noFill/>
        </p:spPr>
        <p:txBody>
          <a:bodyPr wrap="square" rtlCol="0">
            <a:spAutoFit/>
          </a:bodyPr>
          <a:lstStyle/>
          <a:p>
            <a:r>
              <a:rPr lang="en-US" dirty="0" err="1">
                <a:solidFill>
                  <a:srgbClr val="FF0000"/>
                </a:solidFill>
              </a:rPr>
              <a:t>c,d,e</a:t>
            </a:r>
            <a:endParaRPr lang="en-US" dirty="0">
              <a:solidFill>
                <a:srgbClr val="FF0000"/>
              </a:solidFill>
            </a:endParaRPr>
          </a:p>
        </p:txBody>
      </p:sp>
      <p:sp>
        <p:nvSpPr>
          <p:cNvPr id="28" name="TextBox 27">
            <a:extLst>
              <a:ext uri="{FF2B5EF4-FFF2-40B4-BE49-F238E27FC236}">
                <a16:creationId xmlns:a16="http://schemas.microsoft.com/office/drawing/2014/main" id="{86052F7B-FE55-417B-B5A1-2A58329AAF80}"/>
              </a:ext>
            </a:extLst>
          </p:cNvPr>
          <p:cNvSpPr txBox="1"/>
          <p:nvPr/>
        </p:nvSpPr>
        <p:spPr>
          <a:xfrm>
            <a:off x="5246915" y="2607490"/>
            <a:ext cx="1311726" cy="369332"/>
          </a:xfrm>
          <a:prstGeom prst="rect">
            <a:avLst/>
          </a:prstGeom>
          <a:noFill/>
        </p:spPr>
        <p:txBody>
          <a:bodyPr wrap="square" rtlCol="0">
            <a:spAutoFit/>
          </a:bodyPr>
          <a:lstStyle/>
          <a:p>
            <a:r>
              <a:rPr lang="en-US" dirty="0" err="1">
                <a:solidFill>
                  <a:srgbClr val="FF0000"/>
                </a:solidFill>
              </a:rPr>
              <a:t>c,d,e</a:t>
            </a:r>
            <a:endParaRPr lang="en-US" dirty="0">
              <a:solidFill>
                <a:srgbClr val="FF0000"/>
              </a:solidFill>
            </a:endParaRPr>
          </a:p>
        </p:txBody>
      </p:sp>
      <p:sp>
        <p:nvSpPr>
          <p:cNvPr id="30" name="TextBox 29">
            <a:extLst>
              <a:ext uri="{FF2B5EF4-FFF2-40B4-BE49-F238E27FC236}">
                <a16:creationId xmlns:a16="http://schemas.microsoft.com/office/drawing/2014/main" id="{3F28272B-67FB-47B8-9547-880E8BE608E8}"/>
              </a:ext>
            </a:extLst>
          </p:cNvPr>
          <p:cNvSpPr txBox="1"/>
          <p:nvPr/>
        </p:nvSpPr>
        <p:spPr>
          <a:xfrm>
            <a:off x="8436428" y="2150290"/>
            <a:ext cx="1311726" cy="369332"/>
          </a:xfrm>
          <a:prstGeom prst="rect">
            <a:avLst/>
          </a:prstGeom>
          <a:noFill/>
        </p:spPr>
        <p:txBody>
          <a:bodyPr wrap="square" rtlCol="0">
            <a:spAutoFit/>
          </a:bodyPr>
          <a:lstStyle/>
          <a:p>
            <a:r>
              <a:rPr lang="en-US" dirty="0">
                <a:solidFill>
                  <a:srgbClr val="FF0000"/>
                </a:solidFill>
              </a:rPr>
              <a:t>a,c,d,f1</a:t>
            </a:r>
          </a:p>
        </p:txBody>
      </p:sp>
      <p:cxnSp>
        <p:nvCxnSpPr>
          <p:cNvPr id="32" name="Straight Arrow Connector 31">
            <a:extLst>
              <a:ext uri="{FF2B5EF4-FFF2-40B4-BE49-F238E27FC236}">
                <a16:creationId xmlns:a16="http://schemas.microsoft.com/office/drawing/2014/main" id="{BFD32B00-3816-40DF-99F0-5F211ED64289}"/>
              </a:ext>
            </a:extLst>
          </p:cNvPr>
          <p:cNvCxnSpPr/>
          <p:nvPr/>
        </p:nvCxnSpPr>
        <p:spPr>
          <a:xfrm>
            <a:off x="5731327" y="2350992"/>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4854852-834F-4C5B-ABDD-13D115EFE847}"/>
              </a:ext>
            </a:extLst>
          </p:cNvPr>
          <p:cNvSpPr txBox="1"/>
          <p:nvPr/>
        </p:nvSpPr>
        <p:spPr>
          <a:xfrm>
            <a:off x="8425541" y="1878148"/>
            <a:ext cx="1311726" cy="369332"/>
          </a:xfrm>
          <a:prstGeom prst="rect">
            <a:avLst/>
          </a:prstGeom>
          <a:noFill/>
        </p:spPr>
        <p:txBody>
          <a:bodyPr wrap="square" rtlCol="0">
            <a:spAutoFit/>
          </a:bodyPr>
          <a:lstStyle/>
          <a:p>
            <a:r>
              <a:rPr lang="en-US" dirty="0" err="1">
                <a:solidFill>
                  <a:srgbClr val="FF0000"/>
                </a:solidFill>
              </a:rPr>
              <a:t>a,c,d</a:t>
            </a:r>
            <a:endParaRPr lang="en-US" dirty="0">
              <a:solidFill>
                <a:srgbClr val="FF0000"/>
              </a:solidFill>
            </a:endParaRPr>
          </a:p>
        </p:txBody>
      </p:sp>
      <p:cxnSp>
        <p:nvCxnSpPr>
          <p:cNvPr id="34" name="Straight Arrow Connector 33">
            <a:extLst>
              <a:ext uri="{FF2B5EF4-FFF2-40B4-BE49-F238E27FC236}">
                <a16:creationId xmlns:a16="http://schemas.microsoft.com/office/drawing/2014/main" id="{4B9B1CD1-D9F2-4394-85DE-CEE623297AC3}"/>
              </a:ext>
            </a:extLst>
          </p:cNvPr>
          <p:cNvCxnSpPr/>
          <p:nvPr/>
        </p:nvCxnSpPr>
        <p:spPr>
          <a:xfrm>
            <a:off x="5709556" y="2057080"/>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9C58325-8E9E-423A-AC07-FB307843CB00}"/>
              </a:ext>
            </a:extLst>
          </p:cNvPr>
          <p:cNvSpPr txBox="1"/>
          <p:nvPr/>
        </p:nvSpPr>
        <p:spPr>
          <a:xfrm>
            <a:off x="8425541" y="1649545"/>
            <a:ext cx="1311726" cy="369332"/>
          </a:xfrm>
          <a:prstGeom prst="rect">
            <a:avLst/>
          </a:prstGeom>
          <a:noFill/>
        </p:spPr>
        <p:txBody>
          <a:bodyPr wrap="square" rtlCol="0">
            <a:spAutoFit/>
          </a:bodyPr>
          <a:lstStyle/>
          <a:p>
            <a:r>
              <a:rPr lang="en-US" dirty="0" err="1">
                <a:solidFill>
                  <a:srgbClr val="FF0000"/>
                </a:solidFill>
              </a:rPr>
              <a:t>a,c,d</a:t>
            </a:r>
            <a:endParaRPr lang="en-US" dirty="0">
              <a:solidFill>
                <a:srgbClr val="FF0000"/>
              </a:solidFill>
            </a:endParaRPr>
          </a:p>
        </p:txBody>
      </p:sp>
      <p:cxnSp>
        <p:nvCxnSpPr>
          <p:cNvPr id="36" name="Straight Arrow Connector 35">
            <a:extLst>
              <a:ext uri="{FF2B5EF4-FFF2-40B4-BE49-F238E27FC236}">
                <a16:creationId xmlns:a16="http://schemas.microsoft.com/office/drawing/2014/main" id="{008C8179-A841-4F25-9AAC-DE5520E73171}"/>
              </a:ext>
            </a:extLst>
          </p:cNvPr>
          <p:cNvCxnSpPr/>
          <p:nvPr/>
        </p:nvCxnSpPr>
        <p:spPr>
          <a:xfrm>
            <a:off x="5731328" y="1828480"/>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25FAA96-2991-4631-8D9C-58B8CDCB505A}"/>
              </a:ext>
            </a:extLst>
          </p:cNvPr>
          <p:cNvSpPr txBox="1"/>
          <p:nvPr/>
        </p:nvSpPr>
        <p:spPr>
          <a:xfrm>
            <a:off x="5845627" y="920202"/>
            <a:ext cx="1311726" cy="369332"/>
          </a:xfrm>
          <a:prstGeom prst="rect">
            <a:avLst/>
          </a:prstGeom>
          <a:noFill/>
        </p:spPr>
        <p:txBody>
          <a:bodyPr wrap="square" rtlCol="0">
            <a:spAutoFit/>
          </a:bodyPr>
          <a:lstStyle/>
          <a:p>
            <a:r>
              <a:rPr lang="en-US" dirty="0" err="1">
                <a:solidFill>
                  <a:srgbClr val="FF0000"/>
                </a:solidFill>
              </a:rPr>
              <a:t>c,d</a:t>
            </a:r>
            <a:endParaRPr lang="en-US" dirty="0">
              <a:solidFill>
                <a:srgbClr val="FF0000"/>
              </a:solidFill>
            </a:endParaRPr>
          </a:p>
        </p:txBody>
      </p:sp>
      <p:cxnSp>
        <p:nvCxnSpPr>
          <p:cNvPr id="38" name="Straight Arrow Connector 37">
            <a:extLst>
              <a:ext uri="{FF2B5EF4-FFF2-40B4-BE49-F238E27FC236}">
                <a16:creationId xmlns:a16="http://schemas.microsoft.com/office/drawing/2014/main" id="{F64530E4-02DE-4EBE-97E9-0578431CF81A}"/>
              </a:ext>
            </a:extLst>
          </p:cNvPr>
          <p:cNvCxnSpPr/>
          <p:nvPr/>
        </p:nvCxnSpPr>
        <p:spPr>
          <a:xfrm>
            <a:off x="8305795" y="3668104"/>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B059879-D975-4737-9D7C-04CAD4BA721B}"/>
              </a:ext>
            </a:extLst>
          </p:cNvPr>
          <p:cNvCxnSpPr/>
          <p:nvPr/>
        </p:nvCxnSpPr>
        <p:spPr>
          <a:xfrm>
            <a:off x="8343897" y="3385131"/>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10544FC-08C1-43EB-AE25-9ADEDC014361}"/>
              </a:ext>
            </a:extLst>
          </p:cNvPr>
          <p:cNvSpPr txBox="1"/>
          <p:nvPr/>
        </p:nvSpPr>
        <p:spPr>
          <a:xfrm>
            <a:off x="10907484" y="3467461"/>
            <a:ext cx="1311726" cy="369332"/>
          </a:xfrm>
          <a:prstGeom prst="rect">
            <a:avLst/>
          </a:prstGeom>
          <a:noFill/>
        </p:spPr>
        <p:txBody>
          <a:bodyPr wrap="square" rtlCol="0">
            <a:spAutoFit/>
          </a:bodyPr>
          <a:lstStyle/>
          <a:p>
            <a:r>
              <a:rPr lang="en-US" dirty="0">
                <a:solidFill>
                  <a:srgbClr val="FF0000"/>
                </a:solidFill>
              </a:rPr>
              <a:t>c,d,b2</a:t>
            </a:r>
          </a:p>
        </p:txBody>
      </p:sp>
      <p:sp>
        <p:nvSpPr>
          <p:cNvPr id="41" name="TextBox 40">
            <a:extLst>
              <a:ext uri="{FF2B5EF4-FFF2-40B4-BE49-F238E27FC236}">
                <a16:creationId xmlns:a16="http://schemas.microsoft.com/office/drawing/2014/main" id="{C79AA6E9-F28A-4EA9-8725-2B425A764BBE}"/>
              </a:ext>
            </a:extLst>
          </p:cNvPr>
          <p:cNvSpPr txBox="1"/>
          <p:nvPr/>
        </p:nvSpPr>
        <p:spPr>
          <a:xfrm>
            <a:off x="10940140" y="3173547"/>
            <a:ext cx="1311726" cy="369332"/>
          </a:xfrm>
          <a:prstGeom prst="rect">
            <a:avLst/>
          </a:prstGeom>
          <a:noFill/>
        </p:spPr>
        <p:txBody>
          <a:bodyPr wrap="square" rtlCol="0">
            <a:spAutoFit/>
          </a:bodyPr>
          <a:lstStyle/>
          <a:p>
            <a:r>
              <a:rPr lang="en-US" dirty="0">
                <a:solidFill>
                  <a:srgbClr val="FF0000"/>
                </a:solidFill>
              </a:rPr>
              <a:t>c,d,f3</a:t>
            </a:r>
          </a:p>
        </p:txBody>
      </p:sp>
      <p:sp>
        <p:nvSpPr>
          <p:cNvPr id="42" name="TextBox 41">
            <a:extLst>
              <a:ext uri="{FF2B5EF4-FFF2-40B4-BE49-F238E27FC236}">
                <a16:creationId xmlns:a16="http://schemas.microsoft.com/office/drawing/2014/main" id="{148AE29A-030E-4CA5-8C3F-BEE6C4EE8E24}"/>
              </a:ext>
            </a:extLst>
          </p:cNvPr>
          <p:cNvSpPr txBox="1"/>
          <p:nvPr/>
        </p:nvSpPr>
        <p:spPr>
          <a:xfrm>
            <a:off x="5214255" y="5546626"/>
            <a:ext cx="1311726" cy="369332"/>
          </a:xfrm>
          <a:prstGeom prst="rect">
            <a:avLst/>
          </a:prstGeom>
          <a:noFill/>
        </p:spPr>
        <p:txBody>
          <a:bodyPr wrap="square" rtlCol="0">
            <a:spAutoFit/>
          </a:bodyPr>
          <a:lstStyle/>
          <a:p>
            <a:r>
              <a:rPr lang="en-US" dirty="0" err="1">
                <a:solidFill>
                  <a:srgbClr val="FF0000"/>
                </a:solidFill>
              </a:rPr>
              <a:t>c,d</a:t>
            </a:r>
            <a:endParaRPr lang="en-US" dirty="0">
              <a:solidFill>
                <a:srgbClr val="FF0000"/>
              </a:solidFill>
            </a:endParaRPr>
          </a:p>
        </p:txBody>
      </p:sp>
      <p:cxnSp>
        <p:nvCxnSpPr>
          <p:cNvPr id="43" name="Straight Arrow Connector 42">
            <a:extLst>
              <a:ext uri="{FF2B5EF4-FFF2-40B4-BE49-F238E27FC236}">
                <a16:creationId xmlns:a16="http://schemas.microsoft.com/office/drawing/2014/main" id="{7B6D2B50-9063-4B6A-B5F7-DCBE0A09F702}"/>
              </a:ext>
            </a:extLst>
          </p:cNvPr>
          <p:cNvCxnSpPr/>
          <p:nvPr/>
        </p:nvCxnSpPr>
        <p:spPr>
          <a:xfrm>
            <a:off x="6079669" y="4963560"/>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873D5C3-7D62-45ED-8C66-D458325EED7B}"/>
              </a:ext>
            </a:extLst>
          </p:cNvPr>
          <p:cNvSpPr txBox="1"/>
          <p:nvPr/>
        </p:nvSpPr>
        <p:spPr>
          <a:xfrm>
            <a:off x="7532913" y="4599577"/>
            <a:ext cx="1311726" cy="369332"/>
          </a:xfrm>
          <a:prstGeom prst="rect">
            <a:avLst/>
          </a:prstGeom>
          <a:noFill/>
        </p:spPr>
        <p:txBody>
          <a:bodyPr wrap="square" rtlCol="0">
            <a:spAutoFit/>
          </a:bodyPr>
          <a:lstStyle/>
          <a:p>
            <a:r>
              <a:rPr lang="en-US" dirty="0">
                <a:solidFill>
                  <a:srgbClr val="FF0000"/>
                </a:solidFill>
              </a:rPr>
              <a:t>b3,c,d,e</a:t>
            </a:r>
          </a:p>
        </p:txBody>
      </p:sp>
      <p:sp>
        <p:nvSpPr>
          <p:cNvPr id="46" name="TextBox 45">
            <a:extLst>
              <a:ext uri="{FF2B5EF4-FFF2-40B4-BE49-F238E27FC236}">
                <a16:creationId xmlns:a16="http://schemas.microsoft.com/office/drawing/2014/main" id="{9A6854C3-F3F7-43DC-96D0-626EF98AF035}"/>
              </a:ext>
            </a:extLst>
          </p:cNvPr>
          <p:cNvSpPr txBox="1"/>
          <p:nvPr/>
        </p:nvSpPr>
        <p:spPr>
          <a:xfrm>
            <a:off x="315694" y="3511004"/>
            <a:ext cx="1311726" cy="369332"/>
          </a:xfrm>
          <a:prstGeom prst="rect">
            <a:avLst/>
          </a:prstGeom>
          <a:noFill/>
        </p:spPr>
        <p:txBody>
          <a:bodyPr wrap="square" rtlCol="0">
            <a:spAutoFit/>
          </a:bodyPr>
          <a:lstStyle/>
          <a:p>
            <a:r>
              <a:rPr lang="en-US" dirty="0">
                <a:solidFill>
                  <a:srgbClr val="FF0000"/>
                </a:solidFill>
              </a:rPr>
              <a:t>c,d,e,f2</a:t>
            </a:r>
          </a:p>
        </p:txBody>
      </p:sp>
      <p:cxnSp>
        <p:nvCxnSpPr>
          <p:cNvPr id="13" name="Straight Arrow Connector 12">
            <a:extLst>
              <a:ext uri="{FF2B5EF4-FFF2-40B4-BE49-F238E27FC236}">
                <a16:creationId xmlns:a16="http://schemas.microsoft.com/office/drawing/2014/main" id="{968CEF92-9088-42F5-BAF8-545167157EDB}"/>
              </a:ext>
            </a:extLst>
          </p:cNvPr>
          <p:cNvCxnSpPr/>
          <p:nvPr/>
        </p:nvCxnSpPr>
        <p:spPr>
          <a:xfrm flipH="1">
            <a:off x="1113071" y="3695670"/>
            <a:ext cx="1880503" cy="7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351A8CE-D2DE-4CD1-8393-64B7735B7646}"/>
              </a:ext>
            </a:extLst>
          </p:cNvPr>
          <p:cNvCxnSpPr/>
          <p:nvPr/>
        </p:nvCxnSpPr>
        <p:spPr>
          <a:xfrm>
            <a:off x="8251367" y="3972904"/>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96DC77C-2B41-446A-8C55-DC55049D4862}"/>
              </a:ext>
            </a:extLst>
          </p:cNvPr>
          <p:cNvSpPr txBox="1"/>
          <p:nvPr/>
        </p:nvSpPr>
        <p:spPr>
          <a:xfrm>
            <a:off x="10853056" y="3772261"/>
            <a:ext cx="1311726" cy="369332"/>
          </a:xfrm>
          <a:prstGeom prst="rect">
            <a:avLst/>
          </a:prstGeom>
          <a:noFill/>
        </p:spPr>
        <p:txBody>
          <a:bodyPr wrap="square" rtlCol="0">
            <a:spAutoFit/>
          </a:bodyPr>
          <a:lstStyle/>
          <a:p>
            <a:r>
              <a:rPr lang="en-US" dirty="0" err="1">
                <a:solidFill>
                  <a:srgbClr val="FF0000"/>
                </a:solidFill>
              </a:rPr>
              <a:t>c,d</a:t>
            </a:r>
            <a:endParaRPr lang="en-US" dirty="0">
              <a:solidFill>
                <a:srgbClr val="FF0000"/>
              </a:solidFill>
            </a:endParaRPr>
          </a:p>
        </p:txBody>
      </p:sp>
      <p:cxnSp>
        <p:nvCxnSpPr>
          <p:cNvPr id="53" name="Straight Arrow Connector 52">
            <a:extLst>
              <a:ext uri="{FF2B5EF4-FFF2-40B4-BE49-F238E27FC236}">
                <a16:creationId xmlns:a16="http://schemas.microsoft.com/office/drawing/2014/main" id="{1FB7A78C-361B-4997-BDD5-E0BDC690918D}"/>
              </a:ext>
            </a:extLst>
          </p:cNvPr>
          <p:cNvCxnSpPr/>
          <p:nvPr/>
        </p:nvCxnSpPr>
        <p:spPr>
          <a:xfrm>
            <a:off x="5840184" y="1556336"/>
            <a:ext cx="2634345" cy="12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15173F56-7463-4B9E-BACA-75F8E30E22A5}"/>
              </a:ext>
            </a:extLst>
          </p:cNvPr>
          <p:cNvSpPr txBox="1"/>
          <p:nvPr/>
        </p:nvSpPr>
        <p:spPr>
          <a:xfrm>
            <a:off x="8490855" y="1355631"/>
            <a:ext cx="1311726" cy="369332"/>
          </a:xfrm>
          <a:prstGeom prst="rect">
            <a:avLst/>
          </a:prstGeom>
          <a:noFill/>
        </p:spPr>
        <p:txBody>
          <a:bodyPr wrap="square" rtlCol="0">
            <a:spAutoFit/>
          </a:bodyPr>
          <a:lstStyle/>
          <a:p>
            <a:r>
              <a:rPr lang="en-US" dirty="0">
                <a:solidFill>
                  <a:srgbClr val="FF0000"/>
                </a:solidFill>
              </a:rPr>
              <a:t>b1,c,d</a:t>
            </a:r>
          </a:p>
        </p:txBody>
      </p:sp>
    </p:spTree>
    <p:extLst>
      <p:ext uri="{BB962C8B-B14F-4D97-AF65-F5344CB8AC3E}">
        <p14:creationId xmlns:p14="http://schemas.microsoft.com/office/powerpoint/2010/main" val="9347930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81915"/>
            <a:ext cx="10515600" cy="1325563"/>
          </a:xfrm>
        </p:spPr>
        <p:txBody>
          <a:bodyPr/>
          <a:lstStyle/>
          <a:p>
            <a:r>
              <a:rPr lang="en-US" dirty="0"/>
              <a:t>Register-interference graph after 2</a:t>
            </a:r>
            <a:r>
              <a:rPr lang="en-US" baseline="30000" dirty="0"/>
              <a:t>nd</a:t>
            </a:r>
            <a:r>
              <a:rPr lang="en-US" dirty="0"/>
              <a:t> spill</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7858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26350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56978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26350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26350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356978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356978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30853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1893390"/>
            <a:ext cx="794657" cy="461665"/>
          </a:xfrm>
          <a:prstGeom prst="rect">
            <a:avLst/>
          </a:prstGeom>
          <a:noFill/>
        </p:spPr>
        <p:txBody>
          <a:bodyPr wrap="square" rtlCol="0">
            <a:spAutoFit/>
          </a:bodyPr>
          <a:lstStyle/>
          <a:p>
            <a:r>
              <a:rPr lang="en-US" sz="2400" b="1" dirty="0"/>
              <a:t>b1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83896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29764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51684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52773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30062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52773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24618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81719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29616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27885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04802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04802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51684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4747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7140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7140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4747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8419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844908"/>
            <a:ext cx="794657" cy="461665"/>
          </a:xfrm>
          <a:prstGeom prst="rect">
            <a:avLst/>
          </a:prstGeom>
          <a:noFill/>
        </p:spPr>
        <p:txBody>
          <a:bodyPr wrap="square" rtlCol="0">
            <a:spAutoFit/>
          </a:bodyPr>
          <a:lstStyle/>
          <a:p>
            <a:r>
              <a:rPr lang="en-US" sz="2400" b="1" dirty="0"/>
              <a:t>f2</a:t>
            </a:r>
          </a:p>
        </p:txBody>
      </p:sp>
      <p:sp>
        <p:nvSpPr>
          <p:cNvPr id="49" name="TextBox 48">
            <a:extLst>
              <a:ext uri="{FF2B5EF4-FFF2-40B4-BE49-F238E27FC236}">
                <a16:creationId xmlns:a16="http://schemas.microsoft.com/office/drawing/2014/main" id="{2336E27D-7748-441A-AD20-7D2DE586B36E}"/>
              </a:ext>
            </a:extLst>
          </p:cNvPr>
          <p:cNvSpPr txBox="1"/>
          <p:nvPr/>
        </p:nvSpPr>
        <p:spPr>
          <a:xfrm>
            <a:off x="2340430" y="1457969"/>
            <a:ext cx="794657" cy="461665"/>
          </a:xfrm>
          <a:prstGeom prst="rect">
            <a:avLst/>
          </a:prstGeom>
          <a:noFill/>
        </p:spPr>
        <p:txBody>
          <a:bodyPr wrap="square" rtlCol="0">
            <a:spAutoFit/>
          </a:bodyPr>
          <a:lstStyle/>
          <a:p>
            <a:r>
              <a:rPr lang="en-US" sz="2400" b="1" dirty="0"/>
              <a:t>f3</a:t>
            </a:r>
          </a:p>
        </p:txBody>
      </p:sp>
      <p:cxnSp>
        <p:nvCxnSpPr>
          <p:cNvPr id="51" name="Straight Connector 50">
            <a:extLst>
              <a:ext uri="{FF2B5EF4-FFF2-40B4-BE49-F238E27FC236}">
                <a16:creationId xmlns:a16="http://schemas.microsoft.com/office/drawing/2014/main" id="{2D1F3FA2-0E3F-48C7-901B-FC4D7B7DAEA8}"/>
              </a:ext>
            </a:extLst>
          </p:cNvPr>
          <p:cNvCxnSpPr/>
          <p:nvPr/>
        </p:nvCxnSpPr>
        <p:spPr>
          <a:xfrm flipH="1" flipV="1">
            <a:off x="2786743" y="1675674"/>
            <a:ext cx="1488621" cy="29173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4432041-6F88-4492-9914-02B33869BC92}"/>
              </a:ext>
            </a:extLst>
          </p:cNvPr>
          <p:cNvCxnSpPr/>
          <p:nvPr/>
        </p:nvCxnSpPr>
        <p:spPr>
          <a:xfrm>
            <a:off x="2830286" y="1675674"/>
            <a:ext cx="4071257" cy="58782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30688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3111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42938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31430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62058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31430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31430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362058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362058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35933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1944190"/>
            <a:ext cx="794657" cy="461665"/>
          </a:xfrm>
          <a:prstGeom prst="rect">
            <a:avLst/>
          </a:prstGeom>
          <a:noFill/>
        </p:spPr>
        <p:txBody>
          <a:bodyPr wrap="square" rtlCol="0">
            <a:spAutoFit/>
          </a:bodyPr>
          <a:lstStyle/>
          <a:p>
            <a:r>
              <a:rPr lang="en-US" sz="2400" b="1" dirty="0"/>
              <a:t>b1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88976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34844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56764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57853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35142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57853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29698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86799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34696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32965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09882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09882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56764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9827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32220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32220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9827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53499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895708"/>
            <a:ext cx="794657" cy="461665"/>
          </a:xfrm>
          <a:prstGeom prst="rect">
            <a:avLst/>
          </a:prstGeom>
          <a:noFill/>
        </p:spPr>
        <p:txBody>
          <a:bodyPr wrap="square" rtlCol="0">
            <a:spAutoFit/>
          </a:bodyPr>
          <a:lstStyle/>
          <a:p>
            <a:r>
              <a:rPr lang="en-US" sz="2400" b="1" dirty="0"/>
              <a:t>f2</a:t>
            </a:r>
          </a:p>
        </p:txBody>
      </p:sp>
      <p:sp>
        <p:nvSpPr>
          <p:cNvPr id="49" name="TextBox 48">
            <a:extLst>
              <a:ext uri="{FF2B5EF4-FFF2-40B4-BE49-F238E27FC236}">
                <a16:creationId xmlns:a16="http://schemas.microsoft.com/office/drawing/2014/main" id="{2336E27D-7748-441A-AD20-7D2DE586B36E}"/>
              </a:ext>
            </a:extLst>
          </p:cNvPr>
          <p:cNvSpPr txBox="1"/>
          <p:nvPr/>
        </p:nvSpPr>
        <p:spPr>
          <a:xfrm>
            <a:off x="2340430" y="1508769"/>
            <a:ext cx="794657" cy="461665"/>
          </a:xfrm>
          <a:prstGeom prst="rect">
            <a:avLst/>
          </a:prstGeom>
          <a:noFill/>
        </p:spPr>
        <p:txBody>
          <a:bodyPr wrap="square" rtlCol="0">
            <a:spAutoFit/>
          </a:bodyPr>
          <a:lstStyle/>
          <a:p>
            <a:r>
              <a:rPr lang="en-US" sz="2400" b="1" dirty="0"/>
              <a:t>f3</a:t>
            </a:r>
          </a:p>
        </p:txBody>
      </p:sp>
      <p:cxnSp>
        <p:nvCxnSpPr>
          <p:cNvPr id="51" name="Straight Connector 50">
            <a:extLst>
              <a:ext uri="{FF2B5EF4-FFF2-40B4-BE49-F238E27FC236}">
                <a16:creationId xmlns:a16="http://schemas.microsoft.com/office/drawing/2014/main" id="{2D1F3FA2-0E3F-48C7-901B-FC4D7B7DAEA8}"/>
              </a:ext>
            </a:extLst>
          </p:cNvPr>
          <p:cNvCxnSpPr/>
          <p:nvPr/>
        </p:nvCxnSpPr>
        <p:spPr>
          <a:xfrm flipH="1" flipV="1">
            <a:off x="2786743" y="1726474"/>
            <a:ext cx="1488621" cy="29173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4432041-6F88-4492-9914-02B33869BC92}"/>
              </a:ext>
            </a:extLst>
          </p:cNvPr>
          <p:cNvCxnSpPr/>
          <p:nvPr/>
        </p:nvCxnSpPr>
        <p:spPr>
          <a:xfrm>
            <a:off x="2830286" y="1726474"/>
            <a:ext cx="4071257" cy="587829"/>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54262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23514947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9207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6842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2533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5596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2533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2533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35596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35596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298372"/>
            <a:ext cx="794657" cy="461665"/>
          </a:xfrm>
          <a:prstGeom prst="rect">
            <a:avLst/>
          </a:prstGeom>
          <a:noFill/>
        </p:spPr>
        <p:txBody>
          <a:bodyPr wrap="square" rtlCol="0">
            <a:spAutoFit/>
          </a:bodyPr>
          <a:lstStyle/>
          <a:p>
            <a:r>
              <a:rPr lang="en-US" sz="2400" b="1" dirty="0"/>
              <a:t>a</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1883230"/>
            <a:ext cx="794657" cy="461665"/>
          </a:xfrm>
          <a:prstGeom prst="rect">
            <a:avLst/>
          </a:prstGeom>
          <a:noFill/>
        </p:spPr>
        <p:txBody>
          <a:bodyPr wrap="square" rtlCol="0">
            <a:spAutoFit/>
          </a:bodyPr>
          <a:lstStyle/>
          <a:p>
            <a:r>
              <a:rPr lang="en-US" sz="2400" b="1" dirty="0"/>
              <a:t>b1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82880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28748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5066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5175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904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5175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23602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80703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28600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26869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03786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03786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5066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373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612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6124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3731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7403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83474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8166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3715062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6159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9890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28382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59010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28382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28382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359010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359010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2220686" y="3328852"/>
            <a:ext cx="794657" cy="461665"/>
          </a:xfrm>
          <a:prstGeom prst="rect">
            <a:avLst/>
          </a:prstGeom>
          <a:noFill/>
        </p:spPr>
        <p:txBody>
          <a:bodyPr wrap="square" rtlCol="0">
            <a:spAutoFit/>
          </a:bodyPr>
          <a:lstStyle/>
          <a:p>
            <a:r>
              <a:rPr lang="en-US" sz="2400" b="1" dirty="0"/>
              <a:t>a</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85928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31796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53716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54805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32094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54805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26650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837511"/>
            <a:ext cx="794657" cy="461665"/>
          </a:xfrm>
          <a:prstGeom prst="rect">
            <a:avLst/>
          </a:prstGeom>
          <a:noFill/>
        </p:spPr>
        <p:txBody>
          <a:bodyPr wrap="square" rtlCol="0">
            <a:spAutoFit/>
          </a:bodyPr>
          <a:lstStyle/>
          <a:p>
            <a:r>
              <a:rPr lang="en-US" sz="2400" b="1" dirty="0"/>
              <a:t>b2</a:t>
            </a:r>
          </a:p>
        </p:txBody>
      </p: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06834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06834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53716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6779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9172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9172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6779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50451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86522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51214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9659652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2984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49034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37526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68154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37526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95072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409409"/>
            <a:ext cx="794657" cy="461665"/>
          </a:xfrm>
          <a:prstGeom prst="rect">
            <a:avLst/>
          </a:prstGeom>
          <a:noFill/>
        </p:spPr>
        <p:txBody>
          <a:bodyPr wrap="square" rtlCol="0">
            <a:spAutoFit/>
          </a:bodyPr>
          <a:lstStyle/>
          <a:p>
            <a:r>
              <a:rPr lang="en-US" sz="2400" b="1" dirty="0"/>
              <a:t>f1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62860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63949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41238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63949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35794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928951"/>
            <a:ext cx="794657" cy="461665"/>
          </a:xfrm>
          <a:prstGeom prst="rect">
            <a:avLst/>
          </a:prstGeom>
          <a:noFill/>
        </p:spPr>
        <p:txBody>
          <a:bodyPr wrap="square" rtlCol="0">
            <a:spAutoFit/>
          </a:bodyPr>
          <a:lstStyle/>
          <a:p>
            <a:r>
              <a:rPr lang="en-US" sz="2400" b="1" dirty="0"/>
              <a:t>b2</a:t>
            </a:r>
          </a:p>
        </p:txBody>
      </p: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15978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15978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62860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75923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38316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38316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75923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59595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95666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60358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35480589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952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47002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3549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930402"/>
            <a:ext cx="794657" cy="461665"/>
          </a:xfrm>
          <a:prstGeom prst="rect">
            <a:avLst/>
          </a:prstGeom>
          <a:noFill/>
        </p:spPr>
        <p:txBody>
          <a:bodyPr wrap="square" rtlCol="0">
            <a:spAutoFit/>
          </a:bodyPr>
          <a:lstStyle/>
          <a:p>
            <a:r>
              <a:rPr lang="en-US" sz="2400" b="1" dirty="0"/>
              <a:t>d</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6082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6191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3920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6191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337628"/>
            <a:ext cx="794657" cy="461665"/>
          </a:xfrm>
          <a:prstGeom prst="rect">
            <a:avLst/>
          </a:prstGeom>
          <a:noFill/>
        </p:spPr>
        <p:txBody>
          <a:bodyPr wrap="square" rtlCol="0">
            <a:spAutoFit/>
          </a:bodyPr>
          <a:lstStyle/>
          <a:p>
            <a:r>
              <a:rPr lang="en-US" sz="2400" b="1" dirty="0"/>
              <a:t>b3</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908631"/>
            <a:ext cx="794657" cy="461665"/>
          </a:xfrm>
          <a:prstGeom prst="rect">
            <a:avLst/>
          </a:prstGeom>
          <a:noFill/>
        </p:spPr>
        <p:txBody>
          <a:bodyPr wrap="square" rtlCol="0">
            <a:spAutoFit/>
          </a:bodyPr>
          <a:lstStyle/>
          <a:p>
            <a:r>
              <a:rPr lang="en-US" sz="2400" b="1" dirty="0"/>
              <a:t>b2</a:t>
            </a:r>
          </a:p>
        </p:txBody>
      </p: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13946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13946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6082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7389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3628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36284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73891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57563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93634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58326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26473895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8351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27698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16190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737362"/>
            <a:ext cx="794657" cy="461665"/>
          </a:xfrm>
          <a:prstGeom prst="rect">
            <a:avLst/>
          </a:prstGeom>
          <a:noFill/>
        </p:spPr>
        <p:txBody>
          <a:bodyPr wrap="square" rtlCol="0">
            <a:spAutoFit/>
          </a:bodyPr>
          <a:lstStyle/>
          <a:p>
            <a:r>
              <a:rPr lang="en-US" sz="2400" b="1" dirty="0"/>
              <a:t>d</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41524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42613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19902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2613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144588"/>
            <a:ext cx="794657" cy="461665"/>
          </a:xfrm>
          <a:prstGeom prst="rect">
            <a:avLst/>
          </a:prstGeom>
          <a:noFill/>
        </p:spPr>
        <p:txBody>
          <a:bodyPr wrap="square" rtlCol="0">
            <a:spAutoFit/>
          </a:bodyPr>
          <a:lstStyle/>
          <a:p>
            <a:r>
              <a:rPr lang="en-US" sz="2400" b="1" dirty="0"/>
              <a:t>b3</a:t>
            </a:r>
          </a:p>
        </p:txBody>
      </p: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41524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54587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16980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16980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54587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38259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74330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39022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38965282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24447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21602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10094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676402"/>
            <a:ext cx="794657" cy="461665"/>
          </a:xfrm>
          <a:prstGeom prst="rect">
            <a:avLst/>
          </a:prstGeom>
          <a:noFill/>
        </p:spPr>
        <p:txBody>
          <a:bodyPr wrap="square" rtlCol="0">
            <a:spAutoFit/>
          </a:bodyPr>
          <a:lstStyle/>
          <a:p>
            <a:r>
              <a:rPr lang="en-US" sz="2400" b="1" dirty="0"/>
              <a:t>d</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35428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36517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1380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365174"/>
            <a:ext cx="2677886" cy="761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10884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48491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32163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68234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32926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21265459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7335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28714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17206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747522"/>
            <a:ext cx="794657" cy="461665"/>
          </a:xfrm>
          <a:prstGeom prst="rect">
            <a:avLst/>
          </a:prstGeom>
          <a:noFill/>
        </p:spPr>
        <p:txBody>
          <a:bodyPr wrap="square" rtlCol="0">
            <a:spAutoFit/>
          </a:bodyPr>
          <a:lstStyle/>
          <a:p>
            <a:r>
              <a:rPr lang="en-US" sz="2400" b="1" dirty="0"/>
              <a:t>d</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425408"/>
            <a:ext cx="794657" cy="461665"/>
          </a:xfrm>
          <a:prstGeom prst="rect">
            <a:avLst/>
          </a:prstGeom>
          <a:noFill/>
        </p:spPr>
        <p:txBody>
          <a:bodyPr wrap="square" rtlCol="0">
            <a:spAutoFit/>
          </a:bodyPr>
          <a:lstStyle/>
          <a:p>
            <a:r>
              <a:rPr lang="en-US" sz="2400" b="1" dirty="0"/>
              <a:t>e</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436294"/>
            <a:ext cx="794657" cy="461665"/>
          </a:xfrm>
          <a:prstGeom prst="rect">
            <a:avLst/>
          </a:prstGeom>
          <a:noFill/>
        </p:spPr>
        <p:txBody>
          <a:bodyPr wrap="square" rtlCol="0">
            <a:spAutoFit/>
          </a:bodyPr>
          <a:lstStyle/>
          <a:p>
            <a:r>
              <a:rPr lang="en-US" sz="2400" b="1" dirty="0"/>
              <a:t>c</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0918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36294"/>
            <a:ext cx="2677886" cy="7619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0038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19384830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968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48018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940562"/>
            <a:ext cx="794657" cy="461665"/>
          </a:xfrm>
          <a:prstGeom prst="rect">
            <a:avLst/>
          </a:prstGeom>
          <a:noFill/>
        </p:spPr>
        <p:txBody>
          <a:bodyPr wrap="square" rtlCol="0">
            <a:spAutoFit/>
          </a:bodyPr>
          <a:lstStyle/>
          <a:p>
            <a:r>
              <a:rPr lang="en-US" sz="2400" b="1" dirty="0"/>
              <a:t>d</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618448"/>
            <a:ext cx="794657" cy="461665"/>
          </a:xfrm>
          <a:prstGeom prst="rect">
            <a:avLst/>
          </a:prstGeom>
          <a:noFill/>
        </p:spPr>
        <p:txBody>
          <a:bodyPr wrap="square" rtlCol="0">
            <a:spAutoFit/>
          </a:bodyPr>
          <a:lstStyle/>
          <a:p>
            <a:r>
              <a:rPr lang="en-US" sz="2400" b="1" dirty="0"/>
              <a:t>e</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402227"/>
            <a:ext cx="0" cy="222710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59342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22452688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28511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17538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313648"/>
            <a:ext cx="794657" cy="461665"/>
          </a:xfrm>
          <a:prstGeom prst="rect">
            <a:avLst/>
          </a:prstGeom>
          <a:noFill/>
        </p:spPr>
        <p:txBody>
          <a:bodyPr wrap="square" rtlCol="0">
            <a:spAutoFit/>
          </a:bodyPr>
          <a:lstStyle/>
          <a:p>
            <a:r>
              <a:rPr lang="en-US" sz="2400" b="1" dirty="0"/>
              <a:t>e</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28862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12331491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224155"/>
            <a:ext cx="10515600" cy="1325563"/>
          </a:xfrm>
        </p:spPr>
        <p:txBody>
          <a:bodyPr/>
          <a:lstStyle/>
          <a:p>
            <a:r>
              <a:rPr lang="en-US" dirty="0"/>
              <a:t>Is this graph 4-colorable?</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23634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34958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345941379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B580B-1053-433F-B017-B007353AB38A}"/>
              </a:ext>
            </a:extLst>
          </p:cNvPr>
          <p:cNvSpPr>
            <a:spLocks noGrp="1"/>
          </p:cNvSpPr>
          <p:nvPr>
            <p:ph type="title"/>
          </p:nvPr>
        </p:nvSpPr>
        <p:spPr/>
        <p:txBody>
          <a:bodyPr/>
          <a:lstStyle/>
          <a:p>
            <a:r>
              <a:rPr lang="en-US" dirty="0"/>
              <a:t>Is this graph 4-colorable?</a:t>
            </a:r>
          </a:p>
        </p:txBody>
      </p:sp>
      <p:sp>
        <p:nvSpPr>
          <p:cNvPr id="3" name="Content Placeholder 2">
            <a:extLst>
              <a:ext uri="{FF2B5EF4-FFF2-40B4-BE49-F238E27FC236}">
                <a16:creationId xmlns:a16="http://schemas.microsoft.com/office/drawing/2014/main" id="{7F0B27BD-E83B-44B5-9F17-84E6833F34BF}"/>
              </a:ext>
            </a:extLst>
          </p:cNvPr>
          <p:cNvSpPr>
            <a:spLocks noGrp="1"/>
          </p:cNvSpPr>
          <p:nvPr>
            <p:ph idx="1"/>
          </p:nvPr>
        </p:nvSpPr>
        <p:spPr/>
        <p:txBody>
          <a:bodyPr/>
          <a:lstStyle/>
          <a:p>
            <a:r>
              <a:rPr lang="en-US" dirty="0"/>
              <a:t>Yes, this graph is 4-colorable</a:t>
            </a:r>
          </a:p>
          <a:p>
            <a:pPr lvl="1"/>
            <a:r>
              <a:rPr lang="en-US" dirty="0"/>
              <a:t>Pop the nodes from the stack and assign colors</a:t>
            </a:r>
          </a:p>
        </p:txBody>
      </p:sp>
    </p:spTree>
    <p:extLst>
      <p:ext uri="{BB962C8B-B14F-4D97-AF65-F5344CB8AC3E}">
        <p14:creationId xmlns:p14="http://schemas.microsoft.com/office/powerpoint/2010/main" val="63783797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63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45986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598128"/>
            <a:ext cx="794657" cy="461665"/>
          </a:xfrm>
          <a:prstGeom prst="rect">
            <a:avLst/>
          </a:prstGeom>
          <a:noFill/>
        </p:spPr>
        <p:txBody>
          <a:bodyPr wrap="square" rtlCol="0">
            <a:spAutoFit/>
          </a:bodyPr>
          <a:lstStyle/>
          <a:p>
            <a:r>
              <a:rPr lang="en-US" sz="2400" b="1" dirty="0"/>
              <a:t>e(1)</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57310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24254098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22415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23634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696722"/>
            <a:ext cx="794657" cy="461665"/>
          </a:xfrm>
          <a:prstGeom prst="rect">
            <a:avLst/>
          </a:prstGeom>
          <a:noFill/>
        </p:spPr>
        <p:txBody>
          <a:bodyPr wrap="square" rtlCol="0">
            <a:spAutoFit/>
          </a:bodyPr>
          <a:lstStyle/>
          <a:p>
            <a:r>
              <a:rPr lang="en-US" sz="2400" b="1" dirty="0"/>
              <a:t>d(2)</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374608"/>
            <a:ext cx="794657" cy="461665"/>
          </a:xfrm>
          <a:prstGeom prst="rect">
            <a:avLst/>
          </a:prstGeom>
          <a:noFill/>
        </p:spPr>
        <p:txBody>
          <a:bodyPr wrap="square" rtlCol="0">
            <a:spAutoFit/>
          </a:bodyPr>
          <a:lstStyle/>
          <a:p>
            <a:r>
              <a:rPr lang="en-US" sz="2400" b="1" dirty="0"/>
              <a:t>e(1)</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158387"/>
            <a:ext cx="0" cy="222710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34958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342069250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8351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27698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16190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737362"/>
            <a:ext cx="794657" cy="461665"/>
          </a:xfrm>
          <a:prstGeom prst="rect">
            <a:avLst/>
          </a:prstGeom>
          <a:noFill/>
        </p:spPr>
        <p:txBody>
          <a:bodyPr wrap="square" rtlCol="0">
            <a:spAutoFit/>
          </a:bodyPr>
          <a:lstStyle/>
          <a:p>
            <a:r>
              <a:rPr lang="en-US" sz="2400" b="1" dirty="0"/>
              <a:t>d(2)</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415248"/>
            <a:ext cx="794657" cy="461665"/>
          </a:xfrm>
          <a:prstGeom prst="rect">
            <a:avLst/>
          </a:prstGeom>
          <a:noFill/>
        </p:spPr>
        <p:txBody>
          <a:bodyPr wrap="square" rtlCol="0">
            <a:spAutoFit/>
          </a:bodyPr>
          <a:lstStyle/>
          <a:p>
            <a:r>
              <a:rPr lang="en-US" sz="2400" b="1" dirty="0"/>
              <a:t>e(1)</a:t>
            </a:r>
          </a:p>
        </p:txBody>
      </p:sp>
      <p:sp>
        <p:nvSpPr>
          <p:cNvPr id="28" name="TextBox 27">
            <a:extLst>
              <a:ext uri="{FF2B5EF4-FFF2-40B4-BE49-F238E27FC236}">
                <a16:creationId xmlns:a16="http://schemas.microsoft.com/office/drawing/2014/main" id="{A05992F0-0C46-4415-BEB8-16700F0E1571}"/>
              </a:ext>
            </a:extLst>
          </p:cNvPr>
          <p:cNvSpPr txBox="1"/>
          <p:nvPr/>
        </p:nvSpPr>
        <p:spPr>
          <a:xfrm>
            <a:off x="4049486" y="4426134"/>
            <a:ext cx="794657" cy="461665"/>
          </a:xfrm>
          <a:prstGeom prst="rect">
            <a:avLst/>
          </a:prstGeom>
          <a:noFill/>
        </p:spPr>
        <p:txBody>
          <a:bodyPr wrap="square" rtlCol="0">
            <a:spAutoFit/>
          </a:bodyPr>
          <a:lstStyle/>
          <a:p>
            <a:r>
              <a:rPr lang="en-US" sz="2400" b="1" dirty="0"/>
              <a:t>c(3)</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19902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26134"/>
            <a:ext cx="2677886" cy="7619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39022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31724567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5303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0746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19238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767842"/>
            <a:ext cx="794657" cy="461665"/>
          </a:xfrm>
          <a:prstGeom prst="rect">
            <a:avLst/>
          </a:prstGeom>
          <a:noFill/>
        </p:spPr>
        <p:txBody>
          <a:bodyPr wrap="square" rtlCol="0">
            <a:spAutoFit/>
          </a:bodyPr>
          <a:lstStyle/>
          <a:p>
            <a:r>
              <a:rPr lang="en-US" sz="2400" b="1" dirty="0"/>
              <a:t>d(2)</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445728"/>
            <a:ext cx="794657" cy="461665"/>
          </a:xfrm>
          <a:prstGeom prst="rect">
            <a:avLst/>
          </a:prstGeom>
          <a:noFill/>
        </p:spPr>
        <p:txBody>
          <a:bodyPr wrap="square" rtlCol="0">
            <a:spAutoFit/>
          </a:bodyPr>
          <a:lstStyle/>
          <a:p>
            <a:r>
              <a:rPr lang="en-US" sz="2400" b="1" dirty="0"/>
              <a:t>e(1)</a:t>
            </a:r>
          </a:p>
        </p:txBody>
      </p:sp>
      <p:sp>
        <p:nvSpPr>
          <p:cNvPr id="28" name="TextBox 27">
            <a:extLst>
              <a:ext uri="{FF2B5EF4-FFF2-40B4-BE49-F238E27FC236}">
                <a16:creationId xmlns:a16="http://schemas.microsoft.com/office/drawing/2014/main" id="{A05992F0-0C46-4415-BEB8-16700F0E1571}"/>
              </a:ext>
            </a:extLst>
          </p:cNvPr>
          <p:cNvSpPr txBox="1"/>
          <p:nvPr/>
        </p:nvSpPr>
        <p:spPr>
          <a:xfrm>
            <a:off x="3712029" y="4467500"/>
            <a:ext cx="794657" cy="461665"/>
          </a:xfrm>
          <a:prstGeom prst="rect">
            <a:avLst/>
          </a:prstGeom>
          <a:noFill/>
        </p:spPr>
        <p:txBody>
          <a:bodyPr wrap="square" rtlCol="0">
            <a:spAutoFit/>
          </a:bodyPr>
          <a:lstStyle/>
          <a:p>
            <a:r>
              <a:rPr lang="en-US" sz="2400" b="1" dirty="0"/>
              <a:t>c(3)</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2950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56614"/>
            <a:ext cx="2677886" cy="761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0028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57635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1307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773788"/>
            <a:ext cx="794657" cy="461665"/>
          </a:xfrm>
          <a:prstGeom prst="rect">
            <a:avLst/>
          </a:prstGeom>
          <a:noFill/>
        </p:spPr>
        <p:txBody>
          <a:bodyPr wrap="square" rtlCol="0">
            <a:spAutoFit/>
          </a:bodyPr>
          <a:lstStyle/>
          <a:p>
            <a:r>
              <a:rPr lang="en-US" sz="2400" b="1" dirty="0"/>
              <a:t>f2(4)</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2070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279148375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6319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29730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18222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757682"/>
            <a:ext cx="794657" cy="461665"/>
          </a:xfrm>
          <a:prstGeom prst="rect">
            <a:avLst/>
          </a:prstGeom>
          <a:noFill/>
        </p:spPr>
        <p:txBody>
          <a:bodyPr wrap="square" rtlCol="0">
            <a:spAutoFit/>
          </a:bodyPr>
          <a:lstStyle/>
          <a:p>
            <a:r>
              <a:rPr lang="en-US" sz="2400" b="1" dirty="0"/>
              <a:t>d(2)</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435568"/>
            <a:ext cx="794657" cy="461665"/>
          </a:xfrm>
          <a:prstGeom prst="rect">
            <a:avLst/>
          </a:prstGeom>
          <a:noFill/>
        </p:spPr>
        <p:txBody>
          <a:bodyPr wrap="square" rtlCol="0">
            <a:spAutoFit/>
          </a:bodyPr>
          <a:lstStyle/>
          <a:p>
            <a:r>
              <a:rPr lang="en-US" sz="2400" b="1" dirty="0"/>
              <a:t>e(1)</a:t>
            </a:r>
          </a:p>
        </p:txBody>
      </p:sp>
      <p:sp>
        <p:nvSpPr>
          <p:cNvPr id="28" name="TextBox 27">
            <a:extLst>
              <a:ext uri="{FF2B5EF4-FFF2-40B4-BE49-F238E27FC236}">
                <a16:creationId xmlns:a16="http://schemas.microsoft.com/office/drawing/2014/main" id="{A05992F0-0C46-4415-BEB8-16700F0E1571}"/>
              </a:ext>
            </a:extLst>
          </p:cNvPr>
          <p:cNvSpPr txBox="1"/>
          <p:nvPr/>
        </p:nvSpPr>
        <p:spPr>
          <a:xfrm>
            <a:off x="3875315" y="4435568"/>
            <a:ext cx="794657" cy="461665"/>
          </a:xfrm>
          <a:prstGeom prst="rect">
            <a:avLst/>
          </a:prstGeom>
          <a:noFill/>
        </p:spPr>
        <p:txBody>
          <a:bodyPr wrap="square" rtlCol="0">
            <a:spAutoFit/>
          </a:bodyPr>
          <a:lstStyle/>
          <a:p>
            <a:r>
              <a:rPr lang="en-US" sz="2400" b="1" dirty="0"/>
              <a:t>c(3)</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1934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4645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164908"/>
            <a:ext cx="1017138" cy="461665"/>
          </a:xfrm>
          <a:prstGeom prst="rect">
            <a:avLst/>
          </a:prstGeom>
          <a:noFill/>
        </p:spPr>
        <p:txBody>
          <a:bodyPr wrap="square" rtlCol="0">
            <a:spAutoFit/>
          </a:bodyPr>
          <a:lstStyle/>
          <a:p>
            <a:r>
              <a:rPr lang="en-US" sz="2400" b="1" dirty="0"/>
              <a:t>b3(4)</a:t>
            </a:r>
          </a:p>
        </p:txBody>
      </p: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43556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56619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19012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19012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56619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0291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763628"/>
            <a:ext cx="794657" cy="461665"/>
          </a:xfrm>
          <a:prstGeom prst="rect">
            <a:avLst/>
          </a:prstGeom>
          <a:noFill/>
        </p:spPr>
        <p:txBody>
          <a:bodyPr wrap="square" rtlCol="0">
            <a:spAutoFit/>
          </a:bodyPr>
          <a:lstStyle/>
          <a:p>
            <a:r>
              <a:rPr lang="en-US" sz="2400" b="1" dirty="0"/>
              <a:t>f2(4)</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1054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7824048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5303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0746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19238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C58215-70CB-4803-B850-C7FD234D1794}"/>
              </a:ext>
            </a:extLst>
          </p:cNvPr>
          <p:cNvSpPr txBox="1"/>
          <p:nvPr/>
        </p:nvSpPr>
        <p:spPr>
          <a:xfrm>
            <a:off x="6770913" y="1767842"/>
            <a:ext cx="794657" cy="461665"/>
          </a:xfrm>
          <a:prstGeom prst="rect">
            <a:avLst/>
          </a:prstGeom>
          <a:noFill/>
        </p:spPr>
        <p:txBody>
          <a:bodyPr wrap="square" rtlCol="0">
            <a:spAutoFit/>
          </a:bodyPr>
          <a:lstStyle/>
          <a:p>
            <a:r>
              <a:rPr lang="en-US" sz="2400" b="1" dirty="0"/>
              <a:t>d(2)</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92684" y="4445728"/>
            <a:ext cx="794657" cy="461665"/>
          </a:xfrm>
          <a:prstGeom prst="rect">
            <a:avLst/>
          </a:prstGeom>
          <a:noFill/>
        </p:spPr>
        <p:txBody>
          <a:bodyPr wrap="square" rtlCol="0">
            <a:spAutoFit/>
          </a:bodyPr>
          <a:lstStyle/>
          <a:p>
            <a:r>
              <a:rPr lang="en-US" sz="2400" b="1" dirty="0"/>
              <a:t>e(1)</a:t>
            </a:r>
          </a:p>
        </p:txBody>
      </p:sp>
      <p:sp>
        <p:nvSpPr>
          <p:cNvPr id="28" name="TextBox 27">
            <a:extLst>
              <a:ext uri="{FF2B5EF4-FFF2-40B4-BE49-F238E27FC236}">
                <a16:creationId xmlns:a16="http://schemas.microsoft.com/office/drawing/2014/main" id="{A05992F0-0C46-4415-BEB8-16700F0E1571}"/>
              </a:ext>
            </a:extLst>
          </p:cNvPr>
          <p:cNvSpPr txBox="1"/>
          <p:nvPr/>
        </p:nvSpPr>
        <p:spPr>
          <a:xfrm>
            <a:off x="3755572" y="4456614"/>
            <a:ext cx="794657" cy="461665"/>
          </a:xfrm>
          <a:prstGeom prst="rect">
            <a:avLst/>
          </a:prstGeom>
          <a:noFill/>
        </p:spPr>
        <p:txBody>
          <a:bodyPr wrap="square" rtlCol="0">
            <a:spAutoFit/>
          </a:bodyPr>
          <a:lstStyle/>
          <a:p>
            <a:r>
              <a:rPr lang="en-US" sz="2400" b="1" dirty="0"/>
              <a:t>c(3)</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2950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5661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175069"/>
            <a:ext cx="1055913" cy="461665"/>
          </a:xfrm>
          <a:prstGeom prst="rect">
            <a:avLst/>
          </a:prstGeom>
          <a:noFill/>
        </p:spPr>
        <p:txBody>
          <a:bodyPr wrap="square" rtlCol="0">
            <a:spAutoFit/>
          </a:bodyPr>
          <a:lstStyle/>
          <a:p>
            <a:r>
              <a:rPr lang="en-US" sz="2400" b="1" dirty="0"/>
              <a:t>b3(4)</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746071"/>
            <a:ext cx="863599" cy="461665"/>
          </a:xfrm>
          <a:prstGeom prst="rect">
            <a:avLst/>
          </a:prstGeom>
          <a:noFill/>
        </p:spPr>
        <p:txBody>
          <a:bodyPr wrap="square" rtlCol="0">
            <a:spAutoFit/>
          </a:bodyPr>
          <a:lstStyle/>
          <a:p>
            <a:r>
              <a:rPr lang="en-US" sz="2400" b="1" dirty="0"/>
              <a:t>b2(1)</a:t>
            </a:r>
          </a:p>
        </p:txBody>
      </p:sp>
      <p:cxnSp>
        <p:nvCxnSpPr>
          <p:cNvPr id="33" name="Straight Connector 32">
            <a:extLst>
              <a:ext uri="{FF2B5EF4-FFF2-40B4-BE49-F238E27FC236}">
                <a16:creationId xmlns:a16="http://schemas.microsoft.com/office/drawing/2014/main" id="{AAA3335B-6EAA-480F-BA8A-09B65C9AEB56}"/>
              </a:ext>
            </a:extLst>
          </p:cNvPr>
          <p:cNvCxnSpPr>
            <a:cxnSpLocks/>
            <a:endCxn id="30" idx="1"/>
          </p:cNvCxnSpPr>
          <p:nvPr/>
        </p:nvCxnSpPr>
        <p:spPr>
          <a:xfrm flipV="1">
            <a:off x="4278083" y="1976904"/>
            <a:ext cx="4506691" cy="25667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cxnSpLocks/>
            <a:endCxn id="30" idx="1"/>
          </p:cNvCxnSpPr>
          <p:nvPr/>
        </p:nvCxnSpPr>
        <p:spPr>
          <a:xfrm flipV="1">
            <a:off x="6950527" y="1976904"/>
            <a:ext cx="1834247" cy="248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44572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57635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0028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0028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57635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1307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773788"/>
            <a:ext cx="794657" cy="461665"/>
          </a:xfrm>
          <a:prstGeom prst="rect">
            <a:avLst/>
          </a:prstGeom>
          <a:noFill/>
        </p:spPr>
        <p:txBody>
          <a:bodyPr wrap="square" rtlCol="0">
            <a:spAutoFit/>
          </a:bodyPr>
          <a:lstStyle/>
          <a:p>
            <a:r>
              <a:rPr lang="en-US" sz="2400" b="1" dirty="0"/>
              <a:t>f2(4)</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2070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6456453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0223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5826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24318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54946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243183"/>
            <a:ext cx="2677886" cy="2340428"/>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70C0E-536D-48A3-8D78-EF496628C2F1}"/>
              </a:ext>
            </a:extLst>
          </p:cNvPr>
          <p:cNvSpPr txBox="1"/>
          <p:nvPr/>
        </p:nvSpPr>
        <p:spPr>
          <a:xfrm>
            <a:off x="8948055" y="3277329"/>
            <a:ext cx="794657" cy="461665"/>
          </a:xfrm>
          <a:prstGeom prst="rect">
            <a:avLst/>
          </a:prstGeom>
          <a:noFill/>
        </p:spPr>
        <p:txBody>
          <a:bodyPr wrap="square" rtlCol="0">
            <a:spAutoFit/>
          </a:bodyPr>
          <a:lstStyle/>
          <a:p>
            <a:r>
              <a:rPr lang="en-US" sz="2400" b="1" dirty="0"/>
              <a:t>f1(1)</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8030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507414"/>
            <a:ext cx="2677886" cy="761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cxnSpLocks/>
          </p:cNvCxnSpPr>
          <p:nvPr/>
        </p:nvCxnSpPr>
        <p:spPr>
          <a:xfrm flipV="1">
            <a:off x="4278083" y="202770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cxnSpLocks/>
          </p:cNvCxnSpPr>
          <p:nvPr/>
        </p:nvCxnSpPr>
        <p:spPr>
          <a:xfrm flipV="1">
            <a:off x="6950527" y="202770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49652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2715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5108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5108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2715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63870"/>
            <a:ext cx="1340304" cy="14765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7150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
        <p:nvSpPr>
          <p:cNvPr id="53" name="TextBox 52">
            <a:extLst>
              <a:ext uri="{FF2B5EF4-FFF2-40B4-BE49-F238E27FC236}">
                <a16:creationId xmlns:a16="http://schemas.microsoft.com/office/drawing/2014/main" id="{72E940C3-65C8-497E-9266-89C5F0AEFF04}"/>
              </a:ext>
            </a:extLst>
          </p:cNvPr>
          <p:cNvSpPr txBox="1"/>
          <p:nvPr/>
        </p:nvSpPr>
        <p:spPr>
          <a:xfrm>
            <a:off x="6770913" y="1785986"/>
            <a:ext cx="794657" cy="461665"/>
          </a:xfrm>
          <a:prstGeom prst="rect">
            <a:avLst/>
          </a:prstGeom>
          <a:noFill/>
        </p:spPr>
        <p:txBody>
          <a:bodyPr wrap="square" rtlCol="0">
            <a:spAutoFit/>
          </a:bodyPr>
          <a:lstStyle/>
          <a:p>
            <a:r>
              <a:rPr lang="en-US" sz="2400" b="1" dirty="0"/>
              <a:t>d(2)</a:t>
            </a:r>
          </a:p>
        </p:txBody>
      </p:sp>
      <p:sp>
        <p:nvSpPr>
          <p:cNvPr id="55" name="TextBox 54">
            <a:extLst>
              <a:ext uri="{FF2B5EF4-FFF2-40B4-BE49-F238E27FC236}">
                <a16:creationId xmlns:a16="http://schemas.microsoft.com/office/drawing/2014/main" id="{70195CCE-A173-4F3A-8A9A-081A8895C950}"/>
              </a:ext>
            </a:extLst>
          </p:cNvPr>
          <p:cNvSpPr txBox="1"/>
          <p:nvPr/>
        </p:nvSpPr>
        <p:spPr>
          <a:xfrm>
            <a:off x="6781798" y="4540072"/>
            <a:ext cx="794657" cy="461665"/>
          </a:xfrm>
          <a:prstGeom prst="rect">
            <a:avLst/>
          </a:prstGeom>
          <a:noFill/>
        </p:spPr>
        <p:txBody>
          <a:bodyPr wrap="square" rtlCol="0">
            <a:spAutoFit/>
          </a:bodyPr>
          <a:lstStyle/>
          <a:p>
            <a:r>
              <a:rPr lang="en-US" sz="2400" b="1" dirty="0"/>
              <a:t>e(1)</a:t>
            </a:r>
          </a:p>
        </p:txBody>
      </p:sp>
      <p:sp>
        <p:nvSpPr>
          <p:cNvPr id="56" name="TextBox 55">
            <a:extLst>
              <a:ext uri="{FF2B5EF4-FFF2-40B4-BE49-F238E27FC236}">
                <a16:creationId xmlns:a16="http://schemas.microsoft.com/office/drawing/2014/main" id="{B559A468-411A-4693-87F4-CFE54504E73A}"/>
              </a:ext>
            </a:extLst>
          </p:cNvPr>
          <p:cNvSpPr txBox="1"/>
          <p:nvPr/>
        </p:nvSpPr>
        <p:spPr>
          <a:xfrm>
            <a:off x="3842658" y="4638044"/>
            <a:ext cx="794657" cy="461665"/>
          </a:xfrm>
          <a:prstGeom prst="rect">
            <a:avLst/>
          </a:prstGeom>
          <a:noFill/>
        </p:spPr>
        <p:txBody>
          <a:bodyPr wrap="square" rtlCol="0">
            <a:spAutoFit/>
          </a:bodyPr>
          <a:lstStyle/>
          <a:p>
            <a:r>
              <a:rPr lang="en-US" sz="2400" b="1" dirty="0"/>
              <a:t>c(3)</a:t>
            </a:r>
          </a:p>
        </p:txBody>
      </p:sp>
      <p:sp>
        <p:nvSpPr>
          <p:cNvPr id="57" name="TextBox 56">
            <a:extLst>
              <a:ext uri="{FF2B5EF4-FFF2-40B4-BE49-F238E27FC236}">
                <a16:creationId xmlns:a16="http://schemas.microsoft.com/office/drawing/2014/main" id="{BF71961E-7E23-4EF5-AD40-82A54B139AFE}"/>
              </a:ext>
            </a:extLst>
          </p:cNvPr>
          <p:cNvSpPr txBox="1"/>
          <p:nvPr/>
        </p:nvSpPr>
        <p:spPr>
          <a:xfrm>
            <a:off x="8294916" y="5312955"/>
            <a:ext cx="1132115" cy="461665"/>
          </a:xfrm>
          <a:prstGeom prst="rect">
            <a:avLst/>
          </a:prstGeom>
          <a:noFill/>
        </p:spPr>
        <p:txBody>
          <a:bodyPr wrap="square" rtlCol="0">
            <a:spAutoFit/>
          </a:bodyPr>
          <a:lstStyle/>
          <a:p>
            <a:r>
              <a:rPr lang="en-US" sz="2400" b="1" dirty="0"/>
              <a:t>b3(4)</a:t>
            </a:r>
          </a:p>
        </p:txBody>
      </p:sp>
      <p:sp>
        <p:nvSpPr>
          <p:cNvPr id="58" name="TextBox 57">
            <a:extLst>
              <a:ext uri="{FF2B5EF4-FFF2-40B4-BE49-F238E27FC236}">
                <a16:creationId xmlns:a16="http://schemas.microsoft.com/office/drawing/2014/main" id="{86E35AE7-10FE-4892-968C-17831A80C9D5}"/>
              </a:ext>
            </a:extLst>
          </p:cNvPr>
          <p:cNvSpPr txBox="1"/>
          <p:nvPr/>
        </p:nvSpPr>
        <p:spPr>
          <a:xfrm>
            <a:off x="8784774" y="1807759"/>
            <a:ext cx="1132115" cy="461665"/>
          </a:xfrm>
          <a:prstGeom prst="rect">
            <a:avLst/>
          </a:prstGeom>
          <a:noFill/>
        </p:spPr>
        <p:txBody>
          <a:bodyPr wrap="square" rtlCol="0">
            <a:spAutoFit/>
          </a:bodyPr>
          <a:lstStyle/>
          <a:p>
            <a:r>
              <a:rPr lang="en-US" sz="2400" b="1" dirty="0"/>
              <a:t>b2(1)</a:t>
            </a:r>
          </a:p>
        </p:txBody>
      </p:sp>
      <p:cxnSp>
        <p:nvCxnSpPr>
          <p:cNvPr id="59" name="Straight Connector 58">
            <a:extLst>
              <a:ext uri="{FF2B5EF4-FFF2-40B4-BE49-F238E27FC236}">
                <a16:creationId xmlns:a16="http://schemas.microsoft.com/office/drawing/2014/main" id="{1196F638-5862-45FF-8CE0-951644159E8F}"/>
              </a:ext>
            </a:extLst>
          </p:cNvPr>
          <p:cNvCxnSpPr/>
          <p:nvPr/>
        </p:nvCxnSpPr>
        <p:spPr>
          <a:xfrm>
            <a:off x="6911069" y="4507414"/>
            <a:ext cx="1623330" cy="779812"/>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E7DE5F1-49E8-4637-B369-65D52ED5AC2D}"/>
              </a:ext>
            </a:extLst>
          </p:cNvPr>
          <p:cNvSpPr txBox="1"/>
          <p:nvPr/>
        </p:nvSpPr>
        <p:spPr>
          <a:xfrm>
            <a:off x="5366655" y="5835474"/>
            <a:ext cx="794657" cy="461665"/>
          </a:xfrm>
          <a:prstGeom prst="rect">
            <a:avLst/>
          </a:prstGeom>
          <a:noFill/>
        </p:spPr>
        <p:txBody>
          <a:bodyPr wrap="square" rtlCol="0">
            <a:spAutoFit/>
          </a:bodyPr>
          <a:lstStyle/>
          <a:p>
            <a:r>
              <a:rPr lang="en-US" sz="2400" b="1" dirty="0"/>
              <a:t>f2(4)</a:t>
            </a:r>
          </a:p>
        </p:txBody>
      </p:sp>
    </p:spTree>
    <p:extLst>
      <p:ext uri="{BB962C8B-B14F-4D97-AF65-F5344CB8AC3E}">
        <p14:creationId xmlns:p14="http://schemas.microsoft.com/office/powerpoint/2010/main" val="24141760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2255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3794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22286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52914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22286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22286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352914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352914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1970315" y="3267892"/>
            <a:ext cx="794657" cy="461665"/>
          </a:xfrm>
          <a:prstGeom prst="rect">
            <a:avLst/>
          </a:prstGeom>
          <a:noFill/>
        </p:spPr>
        <p:txBody>
          <a:bodyPr wrap="square" rtlCol="0">
            <a:spAutoFit/>
          </a:bodyPr>
          <a:lstStyle/>
          <a:p>
            <a:r>
              <a:rPr lang="en-US" sz="2400" b="1" dirty="0"/>
              <a:t>a(4)</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79832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257009"/>
            <a:ext cx="794657" cy="461665"/>
          </a:xfrm>
          <a:prstGeom prst="rect">
            <a:avLst/>
          </a:prstGeom>
          <a:noFill/>
        </p:spPr>
        <p:txBody>
          <a:bodyPr wrap="square" rtlCol="0">
            <a:spAutoFit/>
          </a:bodyPr>
          <a:lstStyle/>
          <a:p>
            <a:r>
              <a:rPr lang="en-US" sz="2400" b="1" dirty="0"/>
              <a:t>f1</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5998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8709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268BD70-F9C2-4D2D-954B-707D8B5E1E98}"/>
              </a:ext>
            </a:extLst>
          </p:cNvPr>
          <p:cNvSpPr txBox="1"/>
          <p:nvPr/>
        </p:nvSpPr>
        <p:spPr>
          <a:xfrm>
            <a:off x="8784774" y="1776551"/>
            <a:ext cx="794657" cy="461665"/>
          </a:xfrm>
          <a:prstGeom prst="rect">
            <a:avLst/>
          </a:prstGeom>
          <a:noFill/>
        </p:spPr>
        <p:txBody>
          <a:bodyPr wrap="square" rtlCol="0">
            <a:spAutoFit/>
          </a:bodyPr>
          <a:lstStyle/>
          <a:p>
            <a:r>
              <a:rPr lang="en-US" sz="2400" b="1" dirty="0"/>
              <a:t>b2</a:t>
            </a:r>
          </a:p>
        </p:txBody>
      </p: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00738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00738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47620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0683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3076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3076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0683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4355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80426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5118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
        <p:nvSpPr>
          <p:cNvPr id="34" name="TextBox 33">
            <a:extLst>
              <a:ext uri="{FF2B5EF4-FFF2-40B4-BE49-F238E27FC236}">
                <a16:creationId xmlns:a16="http://schemas.microsoft.com/office/drawing/2014/main" id="{13AED7E1-DC32-48C3-9F77-E5542DF421D4}"/>
              </a:ext>
            </a:extLst>
          </p:cNvPr>
          <p:cNvSpPr txBox="1"/>
          <p:nvPr/>
        </p:nvSpPr>
        <p:spPr>
          <a:xfrm>
            <a:off x="6770913" y="1798322"/>
            <a:ext cx="794657" cy="461665"/>
          </a:xfrm>
          <a:prstGeom prst="rect">
            <a:avLst/>
          </a:prstGeom>
          <a:noFill/>
        </p:spPr>
        <p:txBody>
          <a:bodyPr wrap="square" rtlCol="0">
            <a:spAutoFit/>
          </a:bodyPr>
          <a:lstStyle/>
          <a:p>
            <a:r>
              <a:rPr lang="en-US" sz="2400" b="1" dirty="0"/>
              <a:t>d(2)</a:t>
            </a:r>
          </a:p>
        </p:txBody>
      </p:sp>
      <p:sp>
        <p:nvSpPr>
          <p:cNvPr id="36" name="TextBox 35">
            <a:extLst>
              <a:ext uri="{FF2B5EF4-FFF2-40B4-BE49-F238E27FC236}">
                <a16:creationId xmlns:a16="http://schemas.microsoft.com/office/drawing/2014/main" id="{8067B8B7-7BFD-403C-98AF-7F1FCAB23A34}"/>
              </a:ext>
            </a:extLst>
          </p:cNvPr>
          <p:cNvSpPr txBox="1"/>
          <p:nvPr/>
        </p:nvSpPr>
        <p:spPr>
          <a:xfrm>
            <a:off x="8948055" y="3257009"/>
            <a:ext cx="794657" cy="461665"/>
          </a:xfrm>
          <a:prstGeom prst="rect">
            <a:avLst/>
          </a:prstGeom>
          <a:noFill/>
        </p:spPr>
        <p:txBody>
          <a:bodyPr wrap="square" rtlCol="0">
            <a:spAutoFit/>
          </a:bodyPr>
          <a:lstStyle/>
          <a:p>
            <a:r>
              <a:rPr lang="en-US" sz="2400" b="1" dirty="0"/>
              <a:t>f1(1)</a:t>
            </a:r>
          </a:p>
        </p:txBody>
      </p:sp>
      <p:sp>
        <p:nvSpPr>
          <p:cNvPr id="37" name="TextBox 36">
            <a:extLst>
              <a:ext uri="{FF2B5EF4-FFF2-40B4-BE49-F238E27FC236}">
                <a16:creationId xmlns:a16="http://schemas.microsoft.com/office/drawing/2014/main" id="{099A2BDB-D786-435D-A601-9C672F78E1AC}"/>
              </a:ext>
            </a:extLst>
          </p:cNvPr>
          <p:cNvSpPr txBox="1"/>
          <p:nvPr/>
        </p:nvSpPr>
        <p:spPr>
          <a:xfrm>
            <a:off x="6716483" y="4487094"/>
            <a:ext cx="794657" cy="461665"/>
          </a:xfrm>
          <a:prstGeom prst="rect">
            <a:avLst/>
          </a:prstGeom>
          <a:noFill/>
        </p:spPr>
        <p:txBody>
          <a:bodyPr wrap="square" rtlCol="0">
            <a:spAutoFit/>
          </a:bodyPr>
          <a:lstStyle/>
          <a:p>
            <a:r>
              <a:rPr lang="en-US" sz="2400" b="1" dirty="0"/>
              <a:t>e(1)</a:t>
            </a:r>
          </a:p>
        </p:txBody>
      </p:sp>
      <p:sp>
        <p:nvSpPr>
          <p:cNvPr id="38" name="TextBox 37">
            <a:extLst>
              <a:ext uri="{FF2B5EF4-FFF2-40B4-BE49-F238E27FC236}">
                <a16:creationId xmlns:a16="http://schemas.microsoft.com/office/drawing/2014/main" id="{2E309DC3-C222-4C2C-9C5F-0890BD03E315}"/>
              </a:ext>
            </a:extLst>
          </p:cNvPr>
          <p:cNvSpPr txBox="1"/>
          <p:nvPr/>
        </p:nvSpPr>
        <p:spPr>
          <a:xfrm>
            <a:off x="3842658" y="4552409"/>
            <a:ext cx="794657" cy="461665"/>
          </a:xfrm>
          <a:prstGeom prst="rect">
            <a:avLst/>
          </a:prstGeom>
          <a:noFill/>
        </p:spPr>
        <p:txBody>
          <a:bodyPr wrap="square" rtlCol="0">
            <a:spAutoFit/>
          </a:bodyPr>
          <a:lstStyle/>
          <a:p>
            <a:r>
              <a:rPr lang="en-US" sz="2400" b="1" dirty="0"/>
              <a:t>c(3)</a:t>
            </a:r>
          </a:p>
        </p:txBody>
      </p:sp>
      <p:sp>
        <p:nvSpPr>
          <p:cNvPr id="42" name="TextBox 41">
            <a:extLst>
              <a:ext uri="{FF2B5EF4-FFF2-40B4-BE49-F238E27FC236}">
                <a16:creationId xmlns:a16="http://schemas.microsoft.com/office/drawing/2014/main" id="{A45DB806-C1E6-41D2-8E5E-53100D7F46BE}"/>
              </a:ext>
            </a:extLst>
          </p:cNvPr>
          <p:cNvSpPr txBox="1"/>
          <p:nvPr/>
        </p:nvSpPr>
        <p:spPr>
          <a:xfrm>
            <a:off x="8501745" y="5227320"/>
            <a:ext cx="1132115" cy="461665"/>
          </a:xfrm>
          <a:prstGeom prst="rect">
            <a:avLst/>
          </a:prstGeom>
          <a:noFill/>
        </p:spPr>
        <p:txBody>
          <a:bodyPr wrap="square" rtlCol="0">
            <a:spAutoFit/>
          </a:bodyPr>
          <a:lstStyle/>
          <a:p>
            <a:r>
              <a:rPr lang="en-US" sz="2400" b="1" dirty="0"/>
              <a:t>b3(4)</a:t>
            </a:r>
          </a:p>
        </p:txBody>
      </p:sp>
      <p:sp>
        <p:nvSpPr>
          <p:cNvPr id="45" name="TextBox 44">
            <a:extLst>
              <a:ext uri="{FF2B5EF4-FFF2-40B4-BE49-F238E27FC236}">
                <a16:creationId xmlns:a16="http://schemas.microsoft.com/office/drawing/2014/main" id="{402A0972-28FF-4C28-8E63-12F3F0E2C8B6}"/>
              </a:ext>
            </a:extLst>
          </p:cNvPr>
          <p:cNvSpPr txBox="1"/>
          <p:nvPr/>
        </p:nvSpPr>
        <p:spPr>
          <a:xfrm>
            <a:off x="8784774" y="1776552"/>
            <a:ext cx="1132115" cy="461665"/>
          </a:xfrm>
          <a:prstGeom prst="rect">
            <a:avLst/>
          </a:prstGeom>
          <a:noFill/>
        </p:spPr>
        <p:txBody>
          <a:bodyPr wrap="square" rtlCol="0">
            <a:spAutoFit/>
          </a:bodyPr>
          <a:lstStyle/>
          <a:p>
            <a:r>
              <a:rPr lang="en-US" sz="2400" b="1" dirty="0"/>
              <a:t>b2(1)</a:t>
            </a:r>
          </a:p>
        </p:txBody>
      </p:sp>
      <p:cxnSp>
        <p:nvCxnSpPr>
          <p:cNvPr id="46" name="Straight Connector 45">
            <a:extLst>
              <a:ext uri="{FF2B5EF4-FFF2-40B4-BE49-F238E27FC236}">
                <a16:creationId xmlns:a16="http://schemas.microsoft.com/office/drawing/2014/main" id="{D6DEDF4B-971A-44A3-9A56-1BE3A464F64A}"/>
              </a:ext>
            </a:extLst>
          </p:cNvPr>
          <p:cNvCxnSpPr/>
          <p:nvPr/>
        </p:nvCxnSpPr>
        <p:spPr>
          <a:xfrm>
            <a:off x="6911069" y="4476208"/>
            <a:ext cx="1623330" cy="779812"/>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A6AEDC2-0367-40EA-8002-1D88C20BD965}"/>
              </a:ext>
            </a:extLst>
          </p:cNvPr>
          <p:cNvSpPr txBox="1"/>
          <p:nvPr/>
        </p:nvSpPr>
        <p:spPr>
          <a:xfrm>
            <a:off x="5627913" y="5804268"/>
            <a:ext cx="794657" cy="461665"/>
          </a:xfrm>
          <a:prstGeom prst="rect">
            <a:avLst/>
          </a:prstGeom>
          <a:noFill/>
        </p:spPr>
        <p:txBody>
          <a:bodyPr wrap="square" rtlCol="0">
            <a:spAutoFit/>
          </a:bodyPr>
          <a:lstStyle/>
          <a:p>
            <a:r>
              <a:rPr lang="en-US" sz="2400" b="1" dirty="0"/>
              <a:t>f2(4)</a:t>
            </a:r>
          </a:p>
        </p:txBody>
      </p:sp>
    </p:spTree>
    <p:extLst>
      <p:ext uri="{BB962C8B-B14F-4D97-AF65-F5344CB8AC3E}">
        <p14:creationId xmlns:p14="http://schemas.microsoft.com/office/powerpoint/2010/main" val="362730172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11239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4810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23302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53930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23302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23302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353930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353930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1937657" y="3278052"/>
            <a:ext cx="794657" cy="461665"/>
          </a:xfrm>
          <a:prstGeom prst="rect">
            <a:avLst/>
          </a:prstGeom>
          <a:noFill/>
        </p:spPr>
        <p:txBody>
          <a:bodyPr wrap="square" rtlCol="0">
            <a:spAutoFit/>
          </a:bodyPr>
          <a:lstStyle/>
          <a:p>
            <a:r>
              <a:rPr lang="en-US" sz="2400" b="1" dirty="0"/>
              <a:t>a(4)</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1862911"/>
            <a:ext cx="1055915" cy="461665"/>
          </a:xfrm>
          <a:prstGeom prst="rect">
            <a:avLst/>
          </a:prstGeom>
          <a:noFill/>
        </p:spPr>
        <p:txBody>
          <a:bodyPr wrap="square" rtlCol="0">
            <a:spAutoFit/>
          </a:bodyPr>
          <a:lstStyle/>
          <a:p>
            <a:r>
              <a:rPr lang="en-US" sz="2400" b="1" dirty="0"/>
              <a:t>b1(1)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808482"/>
            <a:ext cx="794657" cy="461665"/>
          </a:xfrm>
          <a:prstGeom prst="rect">
            <a:avLst/>
          </a:prstGeom>
          <a:noFill/>
        </p:spPr>
        <p:txBody>
          <a:bodyPr wrap="square" rtlCol="0">
            <a:spAutoFit/>
          </a:bodyPr>
          <a:lstStyle/>
          <a:p>
            <a:r>
              <a:rPr lang="en-US" sz="2400" b="1" dirty="0"/>
              <a:t>d</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267169"/>
            <a:ext cx="794657" cy="461665"/>
          </a:xfrm>
          <a:prstGeom prst="rect">
            <a:avLst/>
          </a:prstGeom>
          <a:noFill/>
        </p:spPr>
        <p:txBody>
          <a:bodyPr wrap="square" rtlCol="0">
            <a:spAutoFit/>
          </a:bodyPr>
          <a:lstStyle/>
          <a:p>
            <a:r>
              <a:rPr lang="en-US" sz="2400" b="1" dirty="0"/>
              <a:t>f1</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7014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49725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268BD70-F9C2-4D2D-954B-707D8B5E1E98}"/>
              </a:ext>
            </a:extLst>
          </p:cNvPr>
          <p:cNvSpPr txBox="1"/>
          <p:nvPr/>
        </p:nvSpPr>
        <p:spPr>
          <a:xfrm>
            <a:off x="8784774" y="1786711"/>
            <a:ext cx="794657" cy="461665"/>
          </a:xfrm>
          <a:prstGeom prst="rect">
            <a:avLst/>
          </a:prstGeom>
          <a:noFill/>
        </p:spPr>
        <p:txBody>
          <a:bodyPr wrap="square" rtlCol="0">
            <a:spAutoFit/>
          </a:bodyPr>
          <a:lstStyle/>
          <a:p>
            <a:r>
              <a:rPr lang="en-US" sz="2400" b="1" dirty="0"/>
              <a:t>b2</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26568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24837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endCxn id="30" idx="1"/>
          </p:cNvCxnSpPr>
          <p:nvPr/>
        </p:nvCxnSpPr>
        <p:spPr>
          <a:xfrm flipV="1">
            <a:off x="4278083" y="2017544"/>
            <a:ext cx="4506691" cy="256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endCxn id="30" idx="1"/>
          </p:cNvCxnSpPr>
          <p:nvPr/>
        </p:nvCxnSpPr>
        <p:spPr>
          <a:xfrm flipV="1">
            <a:off x="6950527" y="2017544"/>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48636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1699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4092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4092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1699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5371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814428"/>
            <a:ext cx="794657" cy="461665"/>
          </a:xfrm>
          <a:prstGeom prst="rect">
            <a:avLst/>
          </a:prstGeom>
          <a:noFill/>
        </p:spPr>
        <p:txBody>
          <a:bodyPr wrap="square" rtlCol="0">
            <a:spAutoFit/>
          </a:bodyPr>
          <a:lstStyle/>
          <a:p>
            <a:r>
              <a:rPr lang="en-US" sz="2400" b="1" dirty="0"/>
              <a:t>f2</a:t>
            </a:r>
          </a:p>
        </p:txBody>
      </p: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6134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
        <p:nvSpPr>
          <p:cNvPr id="34" name="TextBox 33">
            <a:extLst>
              <a:ext uri="{FF2B5EF4-FFF2-40B4-BE49-F238E27FC236}">
                <a16:creationId xmlns:a16="http://schemas.microsoft.com/office/drawing/2014/main" id="{A409197B-D615-4166-9B90-EDCB3DA4A108}"/>
              </a:ext>
            </a:extLst>
          </p:cNvPr>
          <p:cNvSpPr txBox="1"/>
          <p:nvPr/>
        </p:nvSpPr>
        <p:spPr>
          <a:xfrm>
            <a:off x="3940629" y="1862911"/>
            <a:ext cx="1053192" cy="461665"/>
          </a:xfrm>
          <a:prstGeom prst="rect">
            <a:avLst/>
          </a:prstGeom>
          <a:noFill/>
        </p:spPr>
        <p:txBody>
          <a:bodyPr wrap="square" rtlCol="0">
            <a:spAutoFit/>
          </a:bodyPr>
          <a:lstStyle/>
          <a:p>
            <a:r>
              <a:rPr lang="en-US" sz="2400" b="1" dirty="0"/>
              <a:t>b1(1)</a:t>
            </a:r>
          </a:p>
        </p:txBody>
      </p:sp>
      <p:sp>
        <p:nvSpPr>
          <p:cNvPr id="36" name="TextBox 35">
            <a:extLst>
              <a:ext uri="{FF2B5EF4-FFF2-40B4-BE49-F238E27FC236}">
                <a16:creationId xmlns:a16="http://schemas.microsoft.com/office/drawing/2014/main" id="{80FE6791-C9C2-452A-AE2E-2BA155382B4C}"/>
              </a:ext>
            </a:extLst>
          </p:cNvPr>
          <p:cNvSpPr txBox="1"/>
          <p:nvPr/>
        </p:nvSpPr>
        <p:spPr>
          <a:xfrm>
            <a:off x="6770913" y="1808482"/>
            <a:ext cx="794657" cy="461665"/>
          </a:xfrm>
          <a:prstGeom prst="rect">
            <a:avLst/>
          </a:prstGeom>
          <a:noFill/>
        </p:spPr>
        <p:txBody>
          <a:bodyPr wrap="square" rtlCol="0">
            <a:spAutoFit/>
          </a:bodyPr>
          <a:lstStyle/>
          <a:p>
            <a:r>
              <a:rPr lang="en-US" sz="2400" b="1" dirty="0"/>
              <a:t>d(2)</a:t>
            </a:r>
          </a:p>
        </p:txBody>
      </p:sp>
      <p:sp>
        <p:nvSpPr>
          <p:cNvPr id="37" name="TextBox 36">
            <a:extLst>
              <a:ext uri="{FF2B5EF4-FFF2-40B4-BE49-F238E27FC236}">
                <a16:creationId xmlns:a16="http://schemas.microsoft.com/office/drawing/2014/main" id="{D380A789-1678-458B-AD2B-4B1433CB5688}"/>
              </a:ext>
            </a:extLst>
          </p:cNvPr>
          <p:cNvSpPr txBox="1"/>
          <p:nvPr/>
        </p:nvSpPr>
        <p:spPr>
          <a:xfrm>
            <a:off x="8948055" y="3267169"/>
            <a:ext cx="794657" cy="461665"/>
          </a:xfrm>
          <a:prstGeom prst="rect">
            <a:avLst/>
          </a:prstGeom>
          <a:noFill/>
        </p:spPr>
        <p:txBody>
          <a:bodyPr wrap="square" rtlCol="0">
            <a:spAutoFit/>
          </a:bodyPr>
          <a:lstStyle/>
          <a:p>
            <a:r>
              <a:rPr lang="en-US" sz="2400" b="1" dirty="0"/>
              <a:t>f1(1)</a:t>
            </a:r>
          </a:p>
        </p:txBody>
      </p:sp>
      <p:sp>
        <p:nvSpPr>
          <p:cNvPr id="38" name="TextBox 37">
            <a:extLst>
              <a:ext uri="{FF2B5EF4-FFF2-40B4-BE49-F238E27FC236}">
                <a16:creationId xmlns:a16="http://schemas.microsoft.com/office/drawing/2014/main" id="{426A9B8D-F684-494E-B6B4-42C37A85D5F8}"/>
              </a:ext>
            </a:extLst>
          </p:cNvPr>
          <p:cNvSpPr txBox="1"/>
          <p:nvPr/>
        </p:nvSpPr>
        <p:spPr>
          <a:xfrm>
            <a:off x="6694712" y="4475483"/>
            <a:ext cx="794657" cy="461665"/>
          </a:xfrm>
          <a:prstGeom prst="rect">
            <a:avLst/>
          </a:prstGeom>
          <a:noFill/>
        </p:spPr>
        <p:txBody>
          <a:bodyPr wrap="square" rtlCol="0">
            <a:spAutoFit/>
          </a:bodyPr>
          <a:lstStyle/>
          <a:p>
            <a:r>
              <a:rPr lang="en-US" sz="2400" b="1" dirty="0"/>
              <a:t>e(1)</a:t>
            </a:r>
          </a:p>
        </p:txBody>
      </p:sp>
      <p:sp>
        <p:nvSpPr>
          <p:cNvPr id="42" name="TextBox 41">
            <a:extLst>
              <a:ext uri="{FF2B5EF4-FFF2-40B4-BE49-F238E27FC236}">
                <a16:creationId xmlns:a16="http://schemas.microsoft.com/office/drawing/2014/main" id="{A76FC253-6773-4853-9CCD-8B84E756B954}"/>
              </a:ext>
            </a:extLst>
          </p:cNvPr>
          <p:cNvSpPr txBox="1"/>
          <p:nvPr/>
        </p:nvSpPr>
        <p:spPr>
          <a:xfrm>
            <a:off x="3777343" y="4714969"/>
            <a:ext cx="794657" cy="461665"/>
          </a:xfrm>
          <a:prstGeom prst="rect">
            <a:avLst/>
          </a:prstGeom>
          <a:noFill/>
        </p:spPr>
        <p:txBody>
          <a:bodyPr wrap="square" rtlCol="0">
            <a:spAutoFit/>
          </a:bodyPr>
          <a:lstStyle/>
          <a:p>
            <a:r>
              <a:rPr lang="en-US" sz="2400" b="1" dirty="0"/>
              <a:t>c(3)</a:t>
            </a:r>
          </a:p>
        </p:txBody>
      </p:sp>
      <p:sp>
        <p:nvSpPr>
          <p:cNvPr id="45" name="TextBox 44">
            <a:extLst>
              <a:ext uri="{FF2B5EF4-FFF2-40B4-BE49-F238E27FC236}">
                <a16:creationId xmlns:a16="http://schemas.microsoft.com/office/drawing/2014/main" id="{7CEB9A56-8C5C-44A7-9975-8D6EEDC128B8}"/>
              </a:ext>
            </a:extLst>
          </p:cNvPr>
          <p:cNvSpPr txBox="1"/>
          <p:nvPr/>
        </p:nvSpPr>
        <p:spPr>
          <a:xfrm>
            <a:off x="8447316" y="5302795"/>
            <a:ext cx="1132115" cy="461665"/>
          </a:xfrm>
          <a:prstGeom prst="rect">
            <a:avLst/>
          </a:prstGeom>
          <a:noFill/>
        </p:spPr>
        <p:txBody>
          <a:bodyPr wrap="square" rtlCol="0">
            <a:spAutoFit/>
          </a:bodyPr>
          <a:lstStyle/>
          <a:p>
            <a:r>
              <a:rPr lang="en-US" sz="2400" b="1" dirty="0"/>
              <a:t>b3(4)</a:t>
            </a:r>
          </a:p>
        </p:txBody>
      </p:sp>
      <p:sp>
        <p:nvSpPr>
          <p:cNvPr id="46" name="TextBox 45">
            <a:extLst>
              <a:ext uri="{FF2B5EF4-FFF2-40B4-BE49-F238E27FC236}">
                <a16:creationId xmlns:a16="http://schemas.microsoft.com/office/drawing/2014/main" id="{25519980-BEFE-4061-B669-1D1DFA47D3B0}"/>
              </a:ext>
            </a:extLst>
          </p:cNvPr>
          <p:cNvSpPr txBox="1"/>
          <p:nvPr/>
        </p:nvSpPr>
        <p:spPr>
          <a:xfrm>
            <a:off x="8784774" y="1786712"/>
            <a:ext cx="1132115" cy="461665"/>
          </a:xfrm>
          <a:prstGeom prst="rect">
            <a:avLst/>
          </a:prstGeom>
          <a:noFill/>
        </p:spPr>
        <p:txBody>
          <a:bodyPr wrap="square" rtlCol="0">
            <a:spAutoFit/>
          </a:bodyPr>
          <a:lstStyle/>
          <a:p>
            <a:r>
              <a:rPr lang="en-US" sz="2400" b="1" dirty="0"/>
              <a:t>b2(1)</a:t>
            </a:r>
          </a:p>
        </p:txBody>
      </p:sp>
      <p:cxnSp>
        <p:nvCxnSpPr>
          <p:cNvPr id="49" name="Straight Connector 48">
            <a:extLst>
              <a:ext uri="{FF2B5EF4-FFF2-40B4-BE49-F238E27FC236}">
                <a16:creationId xmlns:a16="http://schemas.microsoft.com/office/drawing/2014/main" id="{459AECCD-DC13-4B51-ABEF-98EFFF092E7D}"/>
              </a:ext>
            </a:extLst>
          </p:cNvPr>
          <p:cNvCxnSpPr/>
          <p:nvPr/>
        </p:nvCxnSpPr>
        <p:spPr>
          <a:xfrm>
            <a:off x="6911069" y="4486368"/>
            <a:ext cx="1623330" cy="779812"/>
          </a:xfrm>
          <a:prstGeom prst="line">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BB39E11E-6236-4FED-9E62-D56604034978}"/>
              </a:ext>
            </a:extLst>
          </p:cNvPr>
          <p:cNvSpPr txBox="1"/>
          <p:nvPr/>
        </p:nvSpPr>
        <p:spPr>
          <a:xfrm>
            <a:off x="5627913" y="5814428"/>
            <a:ext cx="794657" cy="461665"/>
          </a:xfrm>
          <a:prstGeom prst="rect">
            <a:avLst/>
          </a:prstGeom>
          <a:noFill/>
        </p:spPr>
        <p:txBody>
          <a:bodyPr wrap="square" rtlCol="0">
            <a:spAutoFit/>
          </a:bodyPr>
          <a:lstStyle/>
          <a:p>
            <a:r>
              <a:rPr lang="en-US" sz="2400" b="1" dirty="0"/>
              <a:t>f2(4)</a:t>
            </a:r>
          </a:p>
        </p:txBody>
      </p:sp>
    </p:spTree>
    <p:extLst>
      <p:ext uri="{BB962C8B-B14F-4D97-AF65-F5344CB8AC3E}">
        <p14:creationId xmlns:p14="http://schemas.microsoft.com/office/powerpoint/2010/main" val="42583246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6CA2-42C0-48D5-AE8B-89F9CFB4BDE4}"/>
              </a:ext>
            </a:extLst>
          </p:cNvPr>
          <p:cNvSpPr>
            <a:spLocks noGrp="1"/>
          </p:cNvSpPr>
          <p:nvPr>
            <p:ph type="title"/>
          </p:nvPr>
        </p:nvSpPr>
        <p:spPr>
          <a:xfrm>
            <a:off x="838200" y="-92075"/>
            <a:ext cx="10515600" cy="1325563"/>
          </a:xfrm>
        </p:spPr>
        <p:txBody>
          <a:bodyPr/>
          <a:lstStyle/>
          <a:p>
            <a:r>
              <a:rPr lang="en-US" dirty="0"/>
              <a:t>Assigning colors</a:t>
            </a:r>
          </a:p>
        </p:txBody>
      </p:sp>
      <p:sp>
        <p:nvSpPr>
          <p:cNvPr id="3" name="Content Placeholder 2">
            <a:extLst>
              <a:ext uri="{FF2B5EF4-FFF2-40B4-BE49-F238E27FC236}">
                <a16:creationId xmlns:a16="http://schemas.microsoft.com/office/drawing/2014/main" id="{BDEDE905-6E3B-4961-A41F-BED11D800060}"/>
              </a:ext>
            </a:extLst>
          </p:cNvPr>
          <p:cNvSpPr>
            <a:spLocks noGrp="1"/>
          </p:cNvSpPr>
          <p:nvPr>
            <p:ph idx="1"/>
          </p:nvPr>
        </p:nvSpPr>
        <p:spPr>
          <a:xfrm>
            <a:off x="838200" y="1368425"/>
            <a:ext cx="10515600" cy="4351338"/>
          </a:xfrm>
        </p:spPr>
        <p:txBody>
          <a:bodyPr/>
          <a:lstStyle/>
          <a:p>
            <a:pPr marL="0" indent="0">
              <a:buNone/>
            </a:pPr>
            <a:endParaRPr lang="en-US" dirty="0"/>
          </a:p>
          <a:p>
            <a:pPr marL="0" indent="0">
              <a:buNone/>
            </a:pPr>
            <a:endParaRPr lang="en-US" dirty="0"/>
          </a:p>
          <a:p>
            <a:pPr marL="0" indent="0">
              <a:buNone/>
            </a:pPr>
            <a:r>
              <a:rPr lang="en-US" dirty="0"/>
              <a:t>         </a:t>
            </a:r>
          </a:p>
        </p:txBody>
      </p:sp>
      <p:cxnSp>
        <p:nvCxnSpPr>
          <p:cNvPr id="6" name="Straight Connector 5">
            <a:extLst>
              <a:ext uri="{FF2B5EF4-FFF2-40B4-BE49-F238E27FC236}">
                <a16:creationId xmlns:a16="http://schemas.microsoft.com/office/drawing/2014/main" id="{5BDE85A8-EDE3-49A4-90FA-501D44E1E125}"/>
              </a:ext>
            </a:extLst>
          </p:cNvPr>
          <p:cNvCxnSpPr/>
          <p:nvPr/>
        </p:nvCxnSpPr>
        <p:spPr>
          <a:xfrm>
            <a:off x="6901543" y="2253343"/>
            <a:ext cx="1992086"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DBE677-2CF6-471D-A810-DD53B3793D79}"/>
              </a:ext>
            </a:extLst>
          </p:cNvPr>
          <p:cNvCxnSpPr/>
          <p:nvPr/>
        </p:nvCxnSpPr>
        <p:spPr>
          <a:xfrm flipV="1">
            <a:off x="4223657" y="3559629"/>
            <a:ext cx="4669972"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6CA5EA3-A948-4F77-BF50-838FC14E64D5}"/>
              </a:ext>
            </a:extLst>
          </p:cNvPr>
          <p:cNvCxnSpPr/>
          <p:nvPr/>
        </p:nvCxnSpPr>
        <p:spPr>
          <a:xfrm flipV="1">
            <a:off x="4223657" y="2253343"/>
            <a:ext cx="2677886" cy="234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72D85E-1AEA-489D-B2F8-FC9DC992BC7C}"/>
              </a:ext>
            </a:extLst>
          </p:cNvPr>
          <p:cNvCxnSpPr/>
          <p:nvPr/>
        </p:nvCxnSpPr>
        <p:spPr>
          <a:xfrm flipV="1">
            <a:off x="2590800" y="2253343"/>
            <a:ext cx="4310743" cy="1306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E0A496-E0FD-46C0-BBC9-99BFE1F62185}"/>
              </a:ext>
            </a:extLst>
          </p:cNvPr>
          <p:cNvCxnSpPr/>
          <p:nvPr/>
        </p:nvCxnSpPr>
        <p:spPr>
          <a:xfrm>
            <a:off x="2601686" y="3559629"/>
            <a:ext cx="1621971" cy="103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788AAE-2A48-4AE6-84C8-FE322FEF8345}"/>
              </a:ext>
            </a:extLst>
          </p:cNvPr>
          <p:cNvCxnSpPr/>
          <p:nvPr/>
        </p:nvCxnSpPr>
        <p:spPr>
          <a:xfrm>
            <a:off x="2590800" y="3559629"/>
            <a:ext cx="630282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2C3362-65C2-4142-8F1F-DC9F1D14F486}"/>
              </a:ext>
            </a:extLst>
          </p:cNvPr>
          <p:cNvSpPr txBox="1"/>
          <p:nvPr/>
        </p:nvSpPr>
        <p:spPr>
          <a:xfrm>
            <a:off x="1915886" y="3298372"/>
            <a:ext cx="794657" cy="461665"/>
          </a:xfrm>
          <a:prstGeom prst="rect">
            <a:avLst/>
          </a:prstGeom>
          <a:noFill/>
        </p:spPr>
        <p:txBody>
          <a:bodyPr wrap="square" rtlCol="0">
            <a:spAutoFit/>
          </a:bodyPr>
          <a:lstStyle/>
          <a:p>
            <a:r>
              <a:rPr lang="en-US" sz="2400" b="1" dirty="0"/>
              <a:t>a(4)</a:t>
            </a:r>
          </a:p>
        </p:txBody>
      </p:sp>
      <p:sp>
        <p:nvSpPr>
          <p:cNvPr id="24" name="TextBox 23">
            <a:extLst>
              <a:ext uri="{FF2B5EF4-FFF2-40B4-BE49-F238E27FC236}">
                <a16:creationId xmlns:a16="http://schemas.microsoft.com/office/drawing/2014/main" id="{BC20D066-9815-4A50-8F56-3B179C6A6E56}"/>
              </a:ext>
            </a:extLst>
          </p:cNvPr>
          <p:cNvSpPr txBox="1"/>
          <p:nvPr/>
        </p:nvSpPr>
        <p:spPr>
          <a:xfrm>
            <a:off x="3940629" y="1883231"/>
            <a:ext cx="1053192" cy="461665"/>
          </a:xfrm>
          <a:prstGeom prst="rect">
            <a:avLst/>
          </a:prstGeom>
          <a:noFill/>
        </p:spPr>
        <p:txBody>
          <a:bodyPr wrap="square" rtlCol="0">
            <a:spAutoFit/>
          </a:bodyPr>
          <a:lstStyle/>
          <a:p>
            <a:r>
              <a:rPr lang="en-US" sz="2400" b="1" dirty="0"/>
              <a:t>b1(1)</a:t>
            </a:r>
          </a:p>
        </p:txBody>
      </p:sp>
      <p:sp>
        <p:nvSpPr>
          <p:cNvPr id="25" name="TextBox 24">
            <a:extLst>
              <a:ext uri="{FF2B5EF4-FFF2-40B4-BE49-F238E27FC236}">
                <a16:creationId xmlns:a16="http://schemas.microsoft.com/office/drawing/2014/main" id="{81C58215-70CB-4803-B850-C7FD234D1794}"/>
              </a:ext>
            </a:extLst>
          </p:cNvPr>
          <p:cNvSpPr txBox="1"/>
          <p:nvPr/>
        </p:nvSpPr>
        <p:spPr>
          <a:xfrm>
            <a:off x="6770913" y="1828802"/>
            <a:ext cx="794657" cy="461665"/>
          </a:xfrm>
          <a:prstGeom prst="rect">
            <a:avLst/>
          </a:prstGeom>
          <a:noFill/>
        </p:spPr>
        <p:txBody>
          <a:bodyPr wrap="square" rtlCol="0">
            <a:spAutoFit/>
          </a:bodyPr>
          <a:lstStyle/>
          <a:p>
            <a:r>
              <a:rPr lang="en-US" sz="2400" b="1" dirty="0"/>
              <a:t>d(2)</a:t>
            </a:r>
          </a:p>
        </p:txBody>
      </p:sp>
      <p:sp>
        <p:nvSpPr>
          <p:cNvPr id="26" name="TextBox 25">
            <a:extLst>
              <a:ext uri="{FF2B5EF4-FFF2-40B4-BE49-F238E27FC236}">
                <a16:creationId xmlns:a16="http://schemas.microsoft.com/office/drawing/2014/main" id="{56870C0E-536D-48A3-8D78-EF496628C2F1}"/>
              </a:ext>
            </a:extLst>
          </p:cNvPr>
          <p:cNvSpPr txBox="1"/>
          <p:nvPr/>
        </p:nvSpPr>
        <p:spPr>
          <a:xfrm>
            <a:off x="8948055" y="3287489"/>
            <a:ext cx="794657" cy="461665"/>
          </a:xfrm>
          <a:prstGeom prst="rect">
            <a:avLst/>
          </a:prstGeom>
          <a:noFill/>
        </p:spPr>
        <p:txBody>
          <a:bodyPr wrap="square" rtlCol="0">
            <a:spAutoFit/>
          </a:bodyPr>
          <a:lstStyle/>
          <a:p>
            <a:r>
              <a:rPr lang="en-US" sz="2400" b="1" dirty="0"/>
              <a:t>f1(1)</a:t>
            </a:r>
          </a:p>
        </p:txBody>
      </p:sp>
      <p:sp>
        <p:nvSpPr>
          <p:cNvPr id="27" name="TextBox 26">
            <a:extLst>
              <a:ext uri="{FF2B5EF4-FFF2-40B4-BE49-F238E27FC236}">
                <a16:creationId xmlns:a16="http://schemas.microsoft.com/office/drawing/2014/main" id="{18C78166-C70F-499B-9F2E-FEB867BFDCE4}"/>
              </a:ext>
            </a:extLst>
          </p:cNvPr>
          <p:cNvSpPr txBox="1"/>
          <p:nvPr/>
        </p:nvSpPr>
        <p:spPr>
          <a:xfrm>
            <a:off x="6781798" y="4582889"/>
            <a:ext cx="794657" cy="461665"/>
          </a:xfrm>
          <a:prstGeom prst="rect">
            <a:avLst/>
          </a:prstGeom>
          <a:noFill/>
        </p:spPr>
        <p:txBody>
          <a:bodyPr wrap="square" rtlCol="0">
            <a:spAutoFit/>
          </a:bodyPr>
          <a:lstStyle/>
          <a:p>
            <a:r>
              <a:rPr lang="en-US" sz="2400" b="1" dirty="0"/>
              <a:t>e(1)</a:t>
            </a:r>
          </a:p>
        </p:txBody>
      </p:sp>
      <p:sp>
        <p:nvSpPr>
          <p:cNvPr id="28" name="TextBox 27">
            <a:extLst>
              <a:ext uri="{FF2B5EF4-FFF2-40B4-BE49-F238E27FC236}">
                <a16:creationId xmlns:a16="http://schemas.microsoft.com/office/drawing/2014/main" id="{A05992F0-0C46-4415-BEB8-16700F0E1571}"/>
              </a:ext>
            </a:extLst>
          </p:cNvPr>
          <p:cNvSpPr txBox="1"/>
          <p:nvPr/>
        </p:nvSpPr>
        <p:spPr>
          <a:xfrm>
            <a:off x="3842658" y="4550232"/>
            <a:ext cx="794657" cy="461665"/>
          </a:xfrm>
          <a:prstGeom prst="rect">
            <a:avLst/>
          </a:prstGeom>
          <a:noFill/>
        </p:spPr>
        <p:txBody>
          <a:bodyPr wrap="square" rtlCol="0">
            <a:spAutoFit/>
          </a:bodyPr>
          <a:lstStyle/>
          <a:p>
            <a:r>
              <a:rPr lang="en-US" sz="2400" b="1" dirty="0"/>
              <a:t>c(3)</a:t>
            </a:r>
          </a:p>
        </p:txBody>
      </p:sp>
      <p:cxnSp>
        <p:nvCxnSpPr>
          <p:cNvPr id="7" name="Straight Connector 6">
            <a:extLst>
              <a:ext uri="{FF2B5EF4-FFF2-40B4-BE49-F238E27FC236}">
                <a16:creationId xmlns:a16="http://schemas.microsoft.com/office/drawing/2014/main" id="{EA857C41-C503-4E80-830A-37AECE62ECBB}"/>
              </a:ext>
            </a:extLst>
          </p:cNvPr>
          <p:cNvCxnSpPr/>
          <p:nvPr/>
        </p:nvCxnSpPr>
        <p:spPr>
          <a:xfrm>
            <a:off x="6901543" y="2290467"/>
            <a:ext cx="0" cy="2227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E1C9F2-1987-4534-ABC9-9CE36981D79F}"/>
              </a:ext>
            </a:extLst>
          </p:cNvPr>
          <p:cNvCxnSpPr/>
          <p:nvPr/>
        </p:nvCxnSpPr>
        <p:spPr>
          <a:xfrm flipV="1">
            <a:off x="4223657" y="4517574"/>
            <a:ext cx="2677886" cy="76197"/>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935A2B-7EAB-450A-BB97-D95AA1E82020}"/>
              </a:ext>
            </a:extLst>
          </p:cNvPr>
          <p:cNvSpPr txBox="1"/>
          <p:nvPr/>
        </p:nvSpPr>
        <p:spPr>
          <a:xfrm>
            <a:off x="8447316" y="5323115"/>
            <a:ext cx="1132115" cy="461665"/>
          </a:xfrm>
          <a:prstGeom prst="rect">
            <a:avLst/>
          </a:prstGeom>
          <a:noFill/>
        </p:spPr>
        <p:txBody>
          <a:bodyPr wrap="square" rtlCol="0">
            <a:spAutoFit/>
          </a:bodyPr>
          <a:lstStyle/>
          <a:p>
            <a:r>
              <a:rPr lang="en-US" sz="2400" b="1" dirty="0"/>
              <a:t>b3(4)</a:t>
            </a:r>
          </a:p>
        </p:txBody>
      </p:sp>
      <p:sp>
        <p:nvSpPr>
          <p:cNvPr id="30" name="TextBox 29">
            <a:extLst>
              <a:ext uri="{FF2B5EF4-FFF2-40B4-BE49-F238E27FC236}">
                <a16:creationId xmlns:a16="http://schemas.microsoft.com/office/drawing/2014/main" id="{F268BD70-F9C2-4D2D-954B-707D8B5E1E98}"/>
              </a:ext>
            </a:extLst>
          </p:cNvPr>
          <p:cNvSpPr txBox="1"/>
          <p:nvPr/>
        </p:nvSpPr>
        <p:spPr>
          <a:xfrm>
            <a:off x="8784774" y="1807032"/>
            <a:ext cx="1132115" cy="461665"/>
          </a:xfrm>
          <a:prstGeom prst="rect">
            <a:avLst/>
          </a:prstGeom>
          <a:noFill/>
        </p:spPr>
        <p:txBody>
          <a:bodyPr wrap="square" rtlCol="0">
            <a:spAutoFit/>
          </a:bodyPr>
          <a:lstStyle/>
          <a:p>
            <a:r>
              <a:rPr lang="en-US" sz="2400" b="1" dirty="0"/>
              <a:t>b2(1)</a:t>
            </a:r>
          </a:p>
        </p:txBody>
      </p:sp>
      <p:cxnSp>
        <p:nvCxnSpPr>
          <p:cNvPr id="15" name="Straight Connector 14">
            <a:extLst>
              <a:ext uri="{FF2B5EF4-FFF2-40B4-BE49-F238E27FC236}">
                <a16:creationId xmlns:a16="http://schemas.microsoft.com/office/drawing/2014/main" id="{58A57708-CFB8-41EC-833C-EB4C6CA135AF}"/>
              </a:ext>
            </a:extLst>
          </p:cNvPr>
          <p:cNvCxnSpPr/>
          <p:nvPr/>
        </p:nvCxnSpPr>
        <p:spPr>
          <a:xfrm>
            <a:off x="4223656" y="2286006"/>
            <a:ext cx="0" cy="2307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4ECF2B-2108-4B94-803C-24C6E850C969}"/>
              </a:ext>
            </a:extLst>
          </p:cNvPr>
          <p:cNvCxnSpPr/>
          <p:nvPr/>
        </p:nvCxnSpPr>
        <p:spPr>
          <a:xfrm flipV="1">
            <a:off x="4223657" y="2268696"/>
            <a:ext cx="2677886"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A3335B-6EAA-480F-BA8A-09B65C9AEB56}"/>
              </a:ext>
            </a:extLst>
          </p:cNvPr>
          <p:cNvCxnSpPr>
            <a:cxnSpLocks/>
            <a:endCxn id="30" idx="1"/>
          </p:cNvCxnSpPr>
          <p:nvPr/>
        </p:nvCxnSpPr>
        <p:spPr>
          <a:xfrm flipV="1">
            <a:off x="4278083" y="2037865"/>
            <a:ext cx="4506691" cy="2566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56CC31-A4F8-47C7-8EFA-6D93F0450DAF}"/>
              </a:ext>
            </a:extLst>
          </p:cNvPr>
          <p:cNvCxnSpPr>
            <a:cxnSpLocks/>
            <a:endCxn id="30" idx="1"/>
          </p:cNvCxnSpPr>
          <p:nvPr/>
        </p:nvCxnSpPr>
        <p:spPr>
          <a:xfrm flipV="1">
            <a:off x="6950527" y="2037865"/>
            <a:ext cx="1834247" cy="24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F40CBC-F211-47DA-B79B-8515BEEDA877}"/>
              </a:ext>
            </a:extLst>
          </p:cNvPr>
          <p:cNvCxnSpPr/>
          <p:nvPr/>
        </p:nvCxnSpPr>
        <p:spPr>
          <a:xfrm>
            <a:off x="6911069" y="4506688"/>
            <a:ext cx="1623330" cy="779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2C62710-AEC4-473B-A9AD-786E6EFBDDD8}"/>
              </a:ext>
            </a:extLst>
          </p:cNvPr>
          <p:cNvCxnSpPr/>
          <p:nvPr/>
        </p:nvCxnSpPr>
        <p:spPr>
          <a:xfrm>
            <a:off x="4253592" y="4637315"/>
            <a:ext cx="4318234" cy="700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BD880A-67C4-49F8-B51E-0221A401F77D}"/>
              </a:ext>
            </a:extLst>
          </p:cNvPr>
          <p:cNvCxnSpPr/>
          <p:nvPr/>
        </p:nvCxnSpPr>
        <p:spPr>
          <a:xfrm>
            <a:off x="6950527" y="2261243"/>
            <a:ext cx="1660073" cy="3097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8B2C1B-4B45-4428-9EE3-C6F4D19C3FDE}"/>
              </a:ext>
            </a:extLst>
          </p:cNvPr>
          <p:cNvCxnSpPr/>
          <p:nvPr/>
        </p:nvCxnSpPr>
        <p:spPr>
          <a:xfrm flipH="1">
            <a:off x="5562600" y="2261243"/>
            <a:ext cx="1338943" cy="3736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CA6B2D-BC5E-460B-B54E-80F7A56C4647}"/>
              </a:ext>
            </a:extLst>
          </p:cNvPr>
          <p:cNvCxnSpPr/>
          <p:nvPr/>
        </p:nvCxnSpPr>
        <p:spPr>
          <a:xfrm>
            <a:off x="4283528" y="4637315"/>
            <a:ext cx="1289958" cy="1313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96DF3A-4E02-453C-99CC-8F8D3CE7034C}"/>
              </a:ext>
            </a:extLst>
          </p:cNvPr>
          <p:cNvCxnSpPr/>
          <p:nvPr/>
        </p:nvCxnSpPr>
        <p:spPr>
          <a:xfrm flipH="1">
            <a:off x="5570764" y="4474030"/>
            <a:ext cx="1340304" cy="14765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66956FA-B84E-40E5-ADCD-2B224926BA67}"/>
              </a:ext>
            </a:extLst>
          </p:cNvPr>
          <p:cNvSpPr txBox="1"/>
          <p:nvPr/>
        </p:nvSpPr>
        <p:spPr>
          <a:xfrm>
            <a:off x="5627913" y="5834748"/>
            <a:ext cx="794657" cy="461665"/>
          </a:xfrm>
          <a:prstGeom prst="rect">
            <a:avLst/>
          </a:prstGeom>
          <a:noFill/>
        </p:spPr>
        <p:txBody>
          <a:bodyPr wrap="square" rtlCol="0">
            <a:spAutoFit/>
          </a:bodyPr>
          <a:lstStyle/>
          <a:p>
            <a:r>
              <a:rPr lang="en-US" sz="2400" b="1" dirty="0"/>
              <a:t>f2(4)</a:t>
            </a:r>
          </a:p>
        </p:txBody>
      </p:sp>
      <p:sp>
        <p:nvSpPr>
          <p:cNvPr id="49" name="TextBox 48">
            <a:extLst>
              <a:ext uri="{FF2B5EF4-FFF2-40B4-BE49-F238E27FC236}">
                <a16:creationId xmlns:a16="http://schemas.microsoft.com/office/drawing/2014/main" id="{2336E27D-7748-441A-AD20-7D2DE586B36E}"/>
              </a:ext>
            </a:extLst>
          </p:cNvPr>
          <p:cNvSpPr txBox="1"/>
          <p:nvPr/>
        </p:nvSpPr>
        <p:spPr>
          <a:xfrm>
            <a:off x="2340430" y="1262752"/>
            <a:ext cx="794657" cy="461665"/>
          </a:xfrm>
          <a:prstGeom prst="rect">
            <a:avLst/>
          </a:prstGeom>
          <a:noFill/>
        </p:spPr>
        <p:txBody>
          <a:bodyPr wrap="square" rtlCol="0">
            <a:spAutoFit/>
          </a:bodyPr>
          <a:lstStyle/>
          <a:p>
            <a:r>
              <a:rPr lang="en-US" sz="2400" b="1" dirty="0"/>
              <a:t>f3(1)</a:t>
            </a:r>
          </a:p>
        </p:txBody>
      </p:sp>
      <p:cxnSp>
        <p:nvCxnSpPr>
          <p:cNvPr id="51" name="Straight Connector 50">
            <a:extLst>
              <a:ext uri="{FF2B5EF4-FFF2-40B4-BE49-F238E27FC236}">
                <a16:creationId xmlns:a16="http://schemas.microsoft.com/office/drawing/2014/main" id="{2D1F3FA2-0E3F-48C7-901B-FC4D7B7DAEA8}"/>
              </a:ext>
            </a:extLst>
          </p:cNvPr>
          <p:cNvCxnSpPr/>
          <p:nvPr/>
        </p:nvCxnSpPr>
        <p:spPr>
          <a:xfrm flipH="1" flipV="1">
            <a:off x="2786743" y="1665514"/>
            <a:ext cx="1488621" cy="29173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4432041-6F88-4492-9914-02B33869BC92}"/>
              </a:ext>
            </a:extLst>
          </p:cNvPr>
          <p:cNvCxnSpPr/>
          <p:nvPr/>
        </p:nvCxnSpPr>
        <p:spPr>
          <a:xfrm>
            <a:off x="2830286" y="1665514"/>
            <a:ext cx="4071257" cy="587829"/>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18F3F82A-7BDB-4734-B81A-55580FCC448D}"/>
              </a:ext>
            </a:extLst>
          </p:cNvPr>
          <p:cNvGraphicFramePr>
            <a:graphicFrameLocks noGrp="1"/>
          </p:cNvGraphicFramePr>
          <p:nvPr/>
        </p:nvGraphicFramePr>
        <p:xfrm>
          <a:off x="551543" y="1481665"/>
          <a:ext cx="863599" cy="4494590"/>
        </p:xfrm>
        <a:graphic>
          <a:graphicData uri="http://schemas.openxmlformats.org/drawingml/2006/table">
            <a:tbl>
              <a:tblPr bandRow="1">
                <a:tableStyleId>{5C22544A-7EE6-4342-B048-85BDC9FD1C3A}</a:tableStyleId>
              </a:tblPr>
              <a:tblGrid>
                <a:gridCol w="863599">
                  <a:extLst>
                    <a:ext uri="{9D8B030D-6E8A-4147-A177-3AD203B41FA5}">
                      <a16:colId xmlns:a16="http://schemas.microsoft.com/office/drawing/2014/main" val="2189129000"/>
                    </a:ext>
                  </a:extLst>
                </a:gridCol>
              </a:tblGrid>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18859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54550"/>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11984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159835"/>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9063"/>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6651"/>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986527"/>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147198"/>
                  </a:ext>
                </a:extLst>
              </a:tr>
              <a:tr h="44945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552812"/>
                  </a:ext>
                </a:extLst>
              </a:tr>
              <a:tr h="44945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73447"/>
                  </a:ext>
                </a:extLst>
              </a:tr>
            </a:tbl>
          </a:graphicData>
        </a:graphic>
      </p:graphicFrame>
    </p:spTree>
    <p:extLst>
      <p:ext uri="{BB962C8B-B14F-4D97-AF65-F5344CB8AC3E}">
        <p14:creationId xmlns:p14="http://schemas.microsoft.com/office/powerpoint/2010/main" val="3087193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158115"/>
            <a:ext cx="10515600" cy="1325563"/>
          </a:xfrm>
        </p:spPr>
        <p:txBody>
          <a:bodyPr/>
          <a:lstStyle/>
          <a:p>
            <a:r>
              <a:rPr lang="en-US" dirty="0"/>
              <a:t>Before register allocation</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838200" y="137858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800600" y="168656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942116" y="1610358"/>
            <a:ext cx="1643742" cy="1477328"/>
          </a:xfrm>
          <a:prstGeom prst="rect">
            <a:avLst/>
          </a:prstGeom>
          <a:noFill/>
        </p:spPr>
        <p:txBody>
          <a:bodyPr wrap="square" rtlCol="0">
            <a:spAutoFit/>
          </a:bodyPr>
          <a:lstStyle/>
          <a:p>
            <a:r>
              <a:rPr lang="en-US" dirty="0"/>
              <a:t>  b1 = load </a:t>
            </a:r>
            <a:r>
              <a:rPr lang="en-US" dirty="0" err="1"/>
              <a:t>ba</a:t>
            </a:r>
            <a:r>
              <a:rPr lang="en-US" dirty="0"/>
              <a:t>  </a:t>
            </a:r>
          </a:p>
          <a:p>
            <a:r>
              <a:rPr lang="en-US" dirty="0"/>
              <a:t>  a = b1 + c</a:t>
            </a:r>
          </a:p>
          <a:p>
            <a:r>
              <a:rPr lang="en-US" dirty="0"/>
              <a:t>  d = d – c</a:t>
            </a:r>
          </a:p>
          <a:p>
            <a:r>
              <a:rPr lang="en-US" dirty="0"/>
              <a:t>  f1 = load fa</a:t>
            </a:r>
          </a:p>
          <a:p>
            <a:r>
              <a:rPr lang="en-US" dirty="0"/>
              <a:t>  e = a + f1</a:t>
            </a:r>
          </a:p>
        </p:txBody>
      </p:sp>
      <p:sp>
        <p:nvSpPr>
          <p:cNvPr id="6" name="Rectangle 5">
            <a:extLst>
              <a:ext uri="{FF2B5EF4-FFF2-40B4-BE49-F238E27FC236}">
                <a16:creationId xmlns:a16="http://schemas.microsoft.com/office/drawing/2014/main" id="{A105924F-CD40-4F9B-9A3E-110017B6A40B}"/>
              </a:ext>
            </a:extLst>
          </p:cNvPr>
          <p:cNvSpPr/>
          <p:nvPr/>
        </p:nvSpPr>
        <p:spPr>
          <a:xfrm>
            <a:off x="2688773" y="3700418"/>
            <a:ext cx="1534887" cy="740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797628" y="3776617"/>
            <a:ext cx="1643742" cy="646331"/>
          </a:xfrm>
          <a:prstGeom prst="rect">
            <a:avLst/>
          </a:prstGeom>
          <a:noFill/>
        </p:spPr>
        <p:txBody>
          <a:bodyPr wrap="square" rtlCol="0">
            <a:spAutoFit/>
          </a:bodyPr>
          <a:lstStyle/>
          <a:p>
            <a:r>
              <a:rPr lang="en-US" dirty="0"/>
              <a:t>  f2 = e – d</a:t>
            </a:r>
          </a:p>
          <a:p>
            <a:r>
              <a:rPr lang="en-US" dirty="0"/>
              <a:t>  store f2, fa</a:t>
            </a:r>
          </a:p>
        </p:txBody>
      </p:sp>
      <p:sp>
        <p:nvSpPr>
          <p:cNvPr id="8" name="Rectangle 7">
            <a:extLst>
              <a:ext uri="{FF2B5EF4-FFF2-40B4-BE49-F238E27FC236}">
                <a16:creationId xmlns:a16="http://schemas.microsoft.com/office/drawing/2014/main" id="{2EC3F743-5E0D-4ACC-9B26-321C6ADA35C1}"/>
              </a:ext>
            </a:extLst>
          </p:cNvPr>
          <p:cNvSpPr/>
          <p:nvPr/>
        </p:nvSpPr>
        <p:spPr>
          <a:xfrm>
            <a:off x="4822370" y="483253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963886" y="5006705"/>
            <a:ext cx="1643742" cy="646331"/>
          </a:xfrm>
          <a:prstGeom prst="rect">
            <a:avLst/>
          </a:prstGeom>
          <a:noFill/>
        </p:spPr>
        <p:txBody>
          <a:bodyPr wrap="square" rtlCol="0">
            <a:spAutoFit/>
          </a:bodyPr>
          <a:lstStyle/>
          <a:p>
            <a:r>
              <a:rPr lang="en-US" dirty="0"/>
              <a:t>   b3 = d + c</a:t>
            </a:r>
          </a:p>
          <a:p>
            <a:r>
              <a:rPr lang="en-US" dirty="0"/>
              <a:t>   store b3, </a:t>
            </a:r>
            <a:r>
              <a:rPr lang="en-US" dirty="0" err="1"/>
              <a:t>ba</a:t>
            </a:r>
            <a:endParaRPr lang="en-US" dirty="0"/>
          </a:p>
        </p:txBody>
      </p:sp>
      <p:sp>
        <p:nvSpPr>
          <p:cNvPr id="10" name="Rectangle 9">
            <a:extLst>
              <a:ext uri="{FF2B5EF4-FFF2-40B4-BE49-F238E27FC236}">
                <a16:creationId xmlns:a16="http://schemas.microsoft.com/office/drawing/2014/main" id="{104E023B-01F4-4FFA-B4BA-2BC5B5ECA16D}"/>
              </a:ext>
            </a:extLst>
          </p:cNvPr>
          <p:cNvSpPr/>
          <p:nvPr/>
        </p:nvSpPr>
        <p:spPr>
          <a:xfrm>
            <a:off x="7326084" y="3439161"/>
            <a:ext cx="1534887" cy="11103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532914" y="3439161"/>
            <a:ext cx="1643742" cy="1200329"/>
          </a:xfrm>
          <a:prstGeom prst="rect">
            <a:avLst/>
          </a:prstGeom>
          <a:noFill/>
        </p:spPr>
        <p:txBody>
          <a:bodyPr wrap="square" rtlCol="0">
            <a:spAutoFit/>
          </a:bodyPr>
          <a:lstStyle/>
          <a:p>
            <a:r>
              <a:rPr lang="en-US" dirty="0"/>
              <a:t>f3 = load fa</a:t>
            </a:r>
          </a:p>
          <a:p>
            <a:r>
              <a:rPr lang="en-US" dirty="0"/>
              <a:t>b2 = c + f3</a:t>
            </a:r>
          </a:p>
          <a:p>
            <a:r>
              <a:rPr lang="en-US" dirty="0"/>
              <a:t>store b2, </a:t>
            </a:r>
            <a:r>
              <a:rPr lang="en-US" dirty="0" err="1"/>
              <a:t>ba</a:t>
            </a:r>
            <a:endParaRPr lang="en-US" dirty="0"/>
          </a:p>
          <a:p>
            <a:r>
              <a:rPr lang="en-US" dirty="0"/>
              <a:t>e = d - c</a:t>
            </a:r>
          </a:p>
        </p:txBody>
      </p:sp>
      <p:cxnSp>
        <p:nvCxnSpPr>
          <p:cNvPr id="23" name="Straight Arrow Connector 22">
            <a:extLst>
              <a:ext uri="{FF2B5EF4-FFF2-40B4-BE49-F238E27FC236}">
                <a16:creationId xmlns:a16="http://schemas.microsoft.com/office/drawing/2014/main" id="{650F6590-9ACF-4CD2-B85B-F54D378FAC81}"/>
              </a:ext>
            </a:extLst>
          </p:cNvPr>
          <p:cNvCxnSpPr>
            <a:cxnSpLocks/>
            <a:stCxn id="6" idx="2"/>
          </p:cNvCxnSpPr>
          <p:nvPr/>
        </p:nvCxnSpPr>
        <p:spPr>
          <a:xfrm>
            <a:off x="3456217" y="4440645"/>
            <a:ext cx="1366153" cy="391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cxnSpLocks/>
            <a:stCxn id="10" idx="2"/>
          </p:cNvCxnSpPr>
          <p:nvPr/>
        </p:nvCxnSpPr>
        <p:spPr>
          <a:xfrm flipH="1">
            <a:off x="6705602" y="4549503"/>
            <a:ext cx="1387926" cy="28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cxnSpLocks/>
            <a:endCxn id="6" idx="0"/>
          </p:cNvCxnSpPr>
          <p:nvPr/>
        </p:nvCxnSpPr>
        <p:spPr>
          <a:xfrm flipH="1">
            <a:off x="3456217" y="2980004"/>
            <a:ext cx="1366154" cy="720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cxnSpLocks/>
            <a:endCxn id="10" idx="0"/>
          </p:cNvCxnSpPr>
          <p:nvPr/>
        </p:nvCxnSpPr>
        <p:spPr>
          <a:xfrm>
            <a:off x="6705600" y="2980004"/>
            <a:ext cx="1387928"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731327" y="106947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727370" y="583402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850081" y="4538616"/>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83485" y="5072019"/>
            <a:ext cx="2247900" cy="369332"/>
          </a:xfrm>
          <a:prstGeom prst="rect">
            <a:avLst/>
          </a:prstGeom>
          <a:noFill/>
        </p:spPr>
        <p:txBody>
          <a:bodyPr wrap="square" rtlCol="0">
            <a:spAutoFit/>
          </a:bodyPr>
          <a:lstStyle/>
          <a:p>
            <a:r>
              <a:rPr lang="en-US" dirty="0" err="1">
                <a:solidFill>
                  <a:srgbClr val="FF0000"/>
                </a:solidFill>
              </a:rPr>
              <a:t>d,e</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946569" y="5953767"/>
            <a:ext cx="2247900" cy="369332"/>
          </a:xfrm>
          <a:prstGeom prst="rect">
            <a:avLst/>
          </a:prstGeom>
          <a:noFill/>
        </p:spPr>
        <p:txBody>
          <a:bodyPr wrap="square" rtlCol="0">
            <a:spAutoFit/>
          </a:bodyPr>
          <a:lstStyle/>
          <a:p>
            <a:r>
              <a:rPr lang="en-US" dirty="0" err="1">
                <a:solidFill>
                  <a:srgbClr val="FF0000"/>
                </a:solidFill>
              </a:rPr>
              <a:t>c,d,e</a:t>
            </a:r>
            <a:r>
              <a:rPr lang="en-US" dirty="0">
                <a:solidFill>
                  <a:srgbClr val="FF0000"/>
                </a:solidFill>
              </a:rPr>
              <a:t> live</a:t>
            </a:r>
          </a:p>
        </p:txBody>
      </p:sp>
      <p:cxnSp>
        <p:nvCxnSpPr>
          <p:cNvPr id="20" name="Connector: Curved 19">
            <a:extLst>
              <a:ext uri="{FF2B5EF4-FFF2-40B4-BE49-F238E27FC236}">
                <a16:creationId xmlns:a16="http://schemas.microsoft.com/office/drawing/2014/main" id="{2E5AEF93-3984-48FB-83D5-012D15816CF3}"/>
              </a:ext>
            </a:extLst>
          </p:cNvPr>
          <p:cNvCxnSpPr>
            <a:stCxn id="8" idx="2"/>
            <a:endCxn id="5" idx="0"/>
          </p:cNvCxnSpPr>
          <p:nvPr/>
        </p:nvCxnSpPr>
        <p:spPr>
          <a:xfrm rot="5400000" flipH="1">
            <a:off x="3657598" y="3716748"/>
            <a:ext cx="4223662" cy="10883"/>
          </a:xfrm>
          <a:prstGeom prst="curvedConnector5">
            <a:avLst>
              <a:gd name="adj1" fmla="val -5412"/>
              <a:gd name="adj2" fmla="val 34058495"/>
              <a:gd name="adj3" fmla="val 10541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15839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8B18-FF49-4D6F-9CD3-B4468FCC3E9A}"/>
              </a:ext>
            </a:extLst>
          </p:cNvPr>
          <p:cNvSpPr>
            <a:spLocks noGrp="1"/>
          </p:cNvSpPr>
          <p:nvPr>
            <p:ph type="title"/>
          </p:nvPr>
        </p:nvSpPr>
        <p:spPr>
          <a:xfrm>
            <a:off x="838200" y="-127635"/>
            <a:ext cx="10515600" cy="1325563"/>
          </a:xfrm>
        </p:spPr>
        <p:txBody>
          <a:bodyPr/>
          <a:lstStyle/>
          <a:p>
            <a:r>
              <a:rPr lang="en-US" dirty="0"/>
              <a:t>After register allocation</a:t>
            </a:r>
          </a:p>
        </p:txBody>
      </p:sp>
      <p:sp>
        <p:nvSpPr>
          <p:cNvPr id="3" name="Content Placeholder 2">
            <a:extLst>
              <a:ext uri="{FF2B5EF4-FFF2-40B4-BE49-F238E27FC236}">
                <a16:creationId xmlns:a16="http://schemas.microsoft.com/office/drawing/2014/main" id="{06D4550F-96B3-4409-AE68-6F24A73CD1C6}"/>
              </a:ext>
            </a:extLst>
          </p:cNvPr>
          <p:cNvSpPr>
            <a:spLocks noGrp="1"/>
          </p:cNvSpPr>
          <p:nvPr>
            <p:ph idx="1"/>
          </p:nvPr>
        </p:nvSpPr>
        <p:spPr>
          <a:xfrm>
            <a:off x="838200" y="140906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697110E-7932-48C9-B930-A5CC4597FCA8}"/>
              </a:ext>
            </a:extLst>
          </p:cNvPr>
          <p:cNvSpPr/>
          <p:nvPr/>
        </p:nvSpPr>
        <p:spPr>
          <a:xfrm>
            <a:off x="4800600" y="171704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7DBE5F-B4F5-4B2E-8B2B-C783EB9830E7}"/>
              </a:ext>
            </a:extLst>
          </p:cNvPr>
          <p:cNvSpPr txBox="1"/>
          <p:nvPr/>
        </p:nvSpPr>
        <p:spPr>
          <a:xfrm>
            <a:off x="4942116" y="1640838"/>
            <a:ext cx="1643742" cy="1477328"/>
          </a:xfrm>
          <a:prstGeom prst="rect">
            <a:avLst/>
          </a:prstGeom>
          <a:noFill/>
        </p:spPr>
        <p:txBody>
          <a:bodyPr wrap="square" rtlCol="0">
            <a:spAutoFit/>
          </a:bodyPr>
          <a:lstStyle/>
          <a:p>
            <a:r>
              <a:rPr lang="en-US" dirty="0"/>
              <a:t>  r1 = load </a:t>
            </a:r>
            <a:r>
              <a:rPr lang="en-US" dirty="0" err="1"/>
              <a:t>ba</a:t>
            </a:r>
            <a:r>
              <a:rPr lang="en-US" dirty="0"/>
              <a:t>  </a:t>
            </a:r>
          </a:p>
          <a:p>
            <a:r>
              <a:rPr lang="en-US" dirty="0"/>
              <a:t>  r4 = r1 + r3</a:t>
            </a:r>
          </a:p>
          <a:p>
            <a:r>
              <a:rPr lang="en-US" dirty="0"/>
              <a:t>  r2 = r2 – r3</a:t>
            </a:r>
          </a:p>
          <a:p>
            <a:r>
              <a:rPr lang="en-US" dirty="0"/>
              <a:t>  r1 = load fa</a:t>
            </a:r>
          </a:p>
          <a:p>
            <a:r>
              <a:rPr lang="en-US" dirty="0"/>
              <a:t>  r1 = r4 + r1</a:t>
            </a:r>
          </a:p>
        </p:txBody>
      </p:sp>
      <p:sp>
        <p:nvSpPr>
          <p:cNvPr id="6" name="Rectangle 5">
            <a:extLst>
              <a:ext uri="{FF2B5EF4-FFF2-40B4-BE49-F238E27FC236}">
                <a16:creationId xmlns:a16="http://schemas.microsoft.com/office/drawing/2014/main" id="{A105924F-CD40-4F9B-9A3E-110017B6A40B}"/>
              </a:ext>
            </a:extLst>
          </p:cNvPr>
          <p:cNvSpPr/>
          <p:nvPr/>
        </p:nvSpPr>
        <p:spPr>
          <a:xfrm>
            <a:off x="2688773" y="3730898"/>
            <a:ext cx="1534887" cy="740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B909D-DC1D-402A-8EAC-E91393A0233B}"/>
              </a:ext>
            </a:extLst>
          </p:cNvPr>
          <p:cNvSpPr txBox="1"/>
          <p:nvPr/>
        </p:nvSpPr>
        <p:spPr>
          <a:xfrm>
            <a:off x="2797628" y="3807097"/>
            <a:ext cx="1643742" cy="646331"/>
          </a:xfrm>
          <a:prstGeom prst="rect">
            <a:avLst/>
          </a:prstGeom>
          <a:noFill/>
        </p:spPr>
        <p:txBody>
          <a:bodyPr wrap="square" rtlCol="0">
            <a:spAutoFit/>
          </a:bodyPr>
          <a:lstStyle/>
          <a:p>
            <a:r>
              <a:rPr lang="en-US" dirty="0"/>
              <a:t>  r4 = r1 – r2</a:t>
            </a:r>
          </a:p>
          <a:p>
            <a:r>
              <a:rPr lang="en-US" dirty="0"/>
              <a:t>  store r4, fa</a:t>
            </a:r>
          </a:p>
        </p:txBody>
      </p:sp>
      <p:sp>
        <p:nvSpPr>
          <p:cNvPr id="8" name="Rectangle 7">
            <a:extLst>
              <a:ext uri="{FF2B5EF4-FFF2-40B4-BE49-F238E27FC236}">
                <a16:creationId xmlns:a16="http://schemas.microsoft.com/office/drawing/2014/main" id="{2EC3F743-5E0D-4ACC-9B26-321C6ADA35C1}"/>
              </a:ext>
            </a:extLst>
          </p:cNvPr>
          <p:cNvSpPr/>
          <p:nvPr/>
        </p:nvSpPr>
        <p:spPr>
          <a:xfrm>
            <a:off x="4822370" y="486301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63D99F-216D-416D-8520-50B5B2082356}"/>
              </a:ext>
            </a:extLst>
          </p:cNvPr>
          <p:cNvSpPr txBox="1"/>
          <p:nvPr/>
        </p:nvSpPr>
        <p:spPr>
          <a:xfrm>
            <a:off x="4963886" y="5037185"/>
            <a:ext cx="1643742" cy="646331"/>
          </a:xfrm>
          <a:prstGeom prst="rect">
            <a:avLst/>
          </a:prstGeom>
          <a:noFill/>
        </p:spPr>
        <p:txBody>
          <a:bodyPr wrap="square" rtlCol="0">
            <a:spAutoFit/>
          </a:bodyPr>
          <a:lstStyle/>
          <a:p>
            <a:r>
              <a:rPr lang="en-US" dirty="0"/>
              <a:t>   r4 = r2 + r3</a:t>
            </a:r>
          </a:p>
          <a:p>
            <a:r>
              <a:rPr lang="en-US" dirty="0"/>
              <a:t>   store r4, </a:t>
            </a:r>
            <a:r>
              <a:rPr lang="en-US" dirty="0" err="1"/>
              <a:t>ba</a:t>
            </a:r>
            <a:endParaRPr lang="en-US" dirty="0"/>
          </a:p>
        </p:txBody>
      </p:sp>
      <p:sp>
        <p:nvSpPr>
          <p:cNvPr id="10" name="Rectangle 9">
            <a:extLst>
              <a:ext uri="{FF2B5EF4-FFF2-40B4-BE49-F238E27FC236}">
                <a16:creationId xmlns:a16="http://schemas.microsoft.com/office/drawing/2014/main" id="{104E023B-01F4-4FFA-B4BA-2BC5B5ECA16D}"/>
              </a:ext>
            </a:extLst>
          </p:cNvPr>
          <p:cNvSpPr/>
          <p:nvPr/>
        </p:nvSpPr>
        <p:spPr>
          <a:xfrm>
            <a:off x="7326084" y="3469641"/>
            <a:ext cx="1534887" cy="11103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2715A6-15B3-48C5-BFE8-FCB0E8974826}"/>
              </a:ext>
            </a:extLst>
          </p:cNvPr>
          <p:cNvSpPr txBox="1"/>
          <p:nvPr/>
        </p:nvSpPr>
        <p:spPr>
          <a:xfrm>
            <a:off x="7532914" y="3469641"/>
            <a:ext cx="1643742" cy="1200329"/>
          </a:xfrm>
          <a:prstGeom prst="rect">
            <a:avLst/>
          </a:prstGeom>
          <a:noFill/>
        </p:spPr>
        <p:txBody>
          <a:bodyPr wrap="square" rtlCol="0">
            <a:spAutoFit/>
          </a:bodyPr>
          <a:lstStyle/>
          <a:p>
            <a:r>
              <a:rPr lang="en-US" dirty="0"/>
              <a:t>r1 = load fa</a:t>
            </a:r>
          </a:p>
          <a:p>
            <a:r>
              <a:rPr lang="en-US" dirty="0"/>
              <a:t>r1 = r3 + r1</a:t>
            </a:r>
          </a:p>
          <a:p>
            <a:r>
              <a:rPr lang="en-US" dirty="0"/>
              <a:t>store r1, </a:t>
            </a:r>
            <a:r>
              <a:rPr lang="en-US" dirty="0" err="1"/>
              <a:t>ba</a:t>
            </a:r>
            <a:endParaRPr lang="en-US" dirty="0"/>
          </a:p>
          <a:p>
            <a:r>
              <a:rPr lang="en-US" dirty="0"/>
              <a:t>r1 = r2 – r3</a:t>
            </a:r>
          </a:p>
        </p:txBody>
      </p:sp>
      <p:cxnSp>
        <p:nvCxnSpPr>
          <p:cNvPr id="23" name="Straight Arrow Connector 22">
            <a:extLst>
              <a:ext uri="{FF2B5EF4-FFF2-40B4-BE49-F238E27FC236}">
                <a16:creationId xmlns:a16="http://schemas.microsoft.com/office/drawing/2014/main" id="{650F6590-9ACF-4CD2-B85B-F54D378FAC81}"/>
              </a:ext>
            </a:extLst>
          </p:cNvPr>
          <p:cNvCxnSpPr>
            <a:cxnSpLocks/>
            <a:stCxn id="6" idx="2"/>
          </p:cNvCxnSpPr>
          <p:nvPr/>
        </p:nvCxnSpPr>
        <p:spPr>
          <a:xfrm>
            <a:off x="3456217" y="4471125"/>
            <a:ext cx="1366153" cy="391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09CAAB-539C-4DCE-BBBA-312FE43CAE71}"/>
              </a:ext>
            </a:extLst>
          </p:cNvPr>
          <p:cNvCxnSpPr>
            <a:cxnSpLocks/>
            <a:stCxn id="10" idx="2"/>
          </p:cNvCxnSpPr>
          <p:nvPr/>
        </p:nvCxnSpPr>
        <p:spPr>
          <a:xfrm flipH="1">
            <a:off x="6705602" y="4579983"/>
            <a:ext cx="1387926" cy="28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C1E3677-D4D4-4465-BF09-94C09BF3E7ED}"/>
              </a:ext>
            </a:extLst>
          </p:cNvPr>
          <p:cNvCxnSpPr>
            <a:cxnSpLocks/>
            <a:endCxn id="6" idx="0"/>
          </p:cNvCxnSpPr>
          <p:nvPr/>
        </p:nvCxnSpPr>
        <p:spPr>
          <a:xfrm flipH="1">
            <a:off x="3456217" y="3010484"/>
            <a:ext cx="1366154" cy="720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41A93CB-523A-41A4-9936-FBEF5EDDAB01}"/>
              </a:ext>
            </a:extLst>
          </p:cNvPr>
          <p:cNvCxnSpPr>
            <a:cxnSpLocks/>
            <a:endCxn id="10" idx="0"/>
          </p:cNvCxnSpPr>
          <p:nvPr/>
        </p:nvCxnSpPr>
        <p:spPr>
          <a:xfrm>
            <a:off x="6705600" y="3010484"/>
            <a:ext cx="1387928"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2B3AE4-8947-4B53-9841-0923E9D350A3}"/>
              </a:ext>
            </a:extLst>
          </p:cNvPr>
          <p:cNvCxnSpPr/>
          <p:nvPr/>
        </p:nvCxnSpPr>
        <p:spPr>
          <a:xfrm>
            <a:off x="5731327" y="109995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A14F2BF-58B1-45DA-B267-A66086BD2E5A}"/>
              </a:ext>
            </a:extLst>
          </p:cNvPr>
          <p:cNvCxnSpPr/>
          <p:nvPr/>
        </p:nvCxnSpPr>
        <p:spPr>
          <a:xfrm>
            <a:off x="6727370" y="586450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AEB0FA3-184A-45BB-B1EB-59BC300A5908}"/>
              </a:ext>
            </a:extLst>
          </p:cNvPr>
          <p:cNvCxnSpPr/>
          <p:nvPr/>
        </p:nvCxnSpPr>
        <p:spPr>
          <a:xfrm>
            <a:off x="8850081" y="4569096"/>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E9F4411-AF0E-466B-9636-281FDA630206}"/>
              </a:ext>
            </a:extLst>
          </p:cNvPr>
          <p:cNvSpPr txBox="1"/>
          <p:nvPr/>
        </p:nvSpPr>
        <p:spPr>
          <a:xfrm>
            <a:off x="9383485" y="5102499"/>
            <a:ext cx="2247900" cy="369332"/>
          </a:xfrm>
          <a:prstGeom prst="rect">
            <a:avLst/>
          </a:prstGeom>
          <a:noFill/>
        </p:spPr>
        <p:txBody>
          <a:bodyPr wrap="square" rtlCol="0">
            <a:spAutoFit/>
          </a:bodyPr>
          <a:lstStyle/>
          <a:p>
            <a:r>
              <a:rPr lang="en-US" dirty="0" err="1">
                <a:solidFill>
                  <a:srgbClr val="FF0000"/>
                </a:solidFill>
              </a:rPr>
              <a:t>d,e</a:t>
            </a:r>
            <a:r>
              <a:rPr lang="en-US" dirty="0">
                <a:solidFill>
                  <a:srgbClr val="FF0000"/>
                </a:solidFill>
              </a:rPr>
              <a:t> live</a:t>
            </a:r>
          </a:p>
        </p:txBody>
      </p:sp>
      <p:sp>
        <p:nvSpPr>
          <p:cNvPr id="52" name="TextBox 51">
            <a:extLst>
              <a:ext uri="{FF2B5EF4-FFF2-40B4-BE49-F238E27FC236}">
                <a16:creationId xmlns:a16="http://schemas.microsoft.com/office/drawing/2014/main" id="{F8661A73-DC7C-4F36-A9C9-97DDDCC34C6F}"/>
              </a:ext>
            </a:extLst>
          </p:cNvPr>
          <p:cNvSpPr txBox="1"/>
          <p:nvPr/>
        </p:nvSpPr>
        <p:spPr>
          <a:xfrm>
            <a:off x="7946569" y="5984247"/>
            <a:ext cx="2247900" cy="369332"/>
          </a:xfrm>
          <a:prstGeom prst="rect">
            <a:avLst/>
          </a:prstGeom>
          <a:noFill/>
        </p:spPr>
        <p:txBody>
          <a:bodyPr wrap="square" rtlCol="0">
            <a:spAutoFit/>
          </a:bodyPr>
          <a:lstStyle/>
          <a:p>
            <a:r>
              <a:rPr lang="en-US" dirty="0" err="1">
                <a:solidFill>
                  <a:srgbClr val="FF0000"/>
                </a:solidFill>
              </a:rPr>
              <a:t>c,d,e</a:t>
            </a:r>
            <a:r>
              <a:rPr lang="en-US" dirty="0">
                <a:solidFill>
                  <a:srgbClr val="FF0000"/>
                </a:solidFill>
              </a:rPr>
              <a:t> live</a:t>
            </a:r>
          </a:p>
        </p:txBody>
      </p:sp>
      <p:cxnSp>
        <p:nvCxnSpPr>
          <p:cNvPr id="20" name="Connector: Curved 19">
            <a:extLst>
              <a:ext uri="{FF2B5EF4-FFF2-40B4-BE49-F238E27FC236}">
                <a16:creationId xmlns:a16="http://schemas.microsoft.com/office/drawing/2014/main" id="{2E5AEF93-3984-48FB-83D5-012D15816CF3}"/>
              </a:ext>
            </a:extLst>
          </p:cNvPr>
          <p:cNvCxnSpPr>
            <a:stCxn id="8" idx="2"/>
            <a:endCxn id="5" idx="0"/>
          </p:cNvCxnSpPr>
          <p:nvPr/>
        </p:nvCxnSpPr>
        <p:spPr>
          <a:xfrm rot="5400000" flipH="1">
            <a:off x="3657598" y="3747228"/>
            <a:ext cx="4223662" cy="10883"/>
          </a:xfrm>
          <a:prstGeom prst="curvedConnector5">
            <a:avLst>
              <a:gd name="adj1" fmla="val -5412"/>
              <a:gd name="adj2" fmla="val 34058495"/>
              <a:gd name="adj3" fmla="val 10541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82087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E79CA-4521-4673-71E9-A1A738D9D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F5B63-7E71-1CB3-0205-82A8DB774460}"/>
              </a:ext>
            </a:extLst>
          </p:cNvPr>
          <p:cNvSpPr>
            <a:spLocks noGrp="1"/>
          </p:cNvSpPr>
          <p:nvPr>
            <p:ph type="title"/>
          </p:nvPr>
        </p:nvSpPr>
        <p:spPr>
          <a:xfrm>
            <a:off x="838200" y="-127635"/>
            <a:ext cx="10515600" cy="1325563"/>
          </a:xfrm>
        </p:spPr>
        <p:txBody>
          <a:bodyPr/>
          <a:lstStyle/>
          <a:p>
            <a:r>
              <a:rPr lang="en-US" dirty="0"/>
              <a:t>Quiz</a:t>
            </a:r>
          </a:p>
        </p:txBody>
      </p:sp>
      <p:sp>
        <p:nvSpPr>
          <p:cNvPr id="3" name="Content Placeholder 2">
            <a:extLst>
              <a:ext uri="{FF2B5EF4-FFF2-40B4-BE49-F238E27FC236}">
                <a16:creationId xmlns:a16="http://schemas.microsoft.com/office/drawing/2014/main" id="{8E0DE82C-3139-33DC-D574-3F8F17D48014}"/>
              </a:ext>
            </a:extLst>
          </p:cNvPr>
          <p:cNvSpPr>
            <a:spLocks noGrp="1"/>
          </p:cNvSpPr>
          <p:nvPr>
            <p:ph idx="1"/>
          </p:nvPr>
        </p:nvSpPr>
        <p:spPr>
          <a:xfrm>
            <a:off x="838200" y="1409065"/>
            <a:ext cx="10515600" cy="4351338"/>
          </a:xfrm>
        </p:spPr>
        <p:txBody>
          <a:bodyPr/>
          <a:lstStyle/>
          <a:p>
            <a:pPr marL="0" indent="0">
              <a:buNone/>
            </a:pPr>
            <a:r>
              <a:rPr lang="en-US" dirty="0"/>
              <a:t>				</a:t>
            </a:r>
          </a:p>
        </p:txBody>
      </p:sp>
      <p:sp>
        <p:nvSpPr>
          <p:cNvPr id="4" name="Rectangle 3">
            <a:extLst>
              <a:ext uri="{FF2B5EF4-FFF2-40B4-BE49-F238E27FC236}">
                <a16:creationId xmlns:a16="http://schemas.microsoft.com/office/drawing/2014/main" id="{EA7C93B6-A0E7-C414-D0A7-401EC57997D2}"/>
              </a:ext>
            </a:extLst>
          </p:cNvPr>
          <p:cNvSpPr/>
          <p:nvPr/>
        </p:nvSpPr>
        <p:spPr>
          <a:xfrm>
            <a:off x="4800600" y="1717040"/>
            <a:ext cx="19050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5B1C502-E94B-2EE2-BB17-92D5BA3AE9AC}"/>
              </a:ext>
            </a:extLst>
          </p:cNvPr>
          <p:cNvSpPr txBox="1"/>
          <p:nvPr/>
        </p:nvSpPr>
        <p:spPr>
          <a:xfrm>
            <a:off x="4942116" y="1640838"/>
            <a:ext cx="1643742" cy="1477328"/>
          </a:xfrm>
          <a:prstGeom prst="rect">
            <a:avLst/>
          </a:prstGeom>
          <a:noFill/>
        </p:spPr>
        <p:txBody>
          <a:bodyPr wrap="square" rtlCol="0">
            <a:spAutoFit/>
          </a:bodyPr>
          <a:lstStyle/>
          <a:p>
            <a:r>
              <a:rPr lang="en-US" dirty="0"/>
              <a:t>  r1 = load </a:t>
            </a:r>
            <a:r>
              <a:rPr lang="en-US" dirty="0" err="1"/>
              <a:t>ba</a:t>
            </a:r>
            <a:r>
              <a:rPr lang="en-US" dirty="0"/>
              <a:t>  </a:t>
            </a:r>
          </a:p>
          <a:p>
            <a:r>
              <a:rPr lang="en-US" dirty="0"/>
              <a:t>  r4 = r1 + r3</a:t>
            </a:r>
          </a:p>
          <a:p>
            <a:r>
              <a:rPr lang="en-US" dirty="0"/>
              <a:t>  r2 = r2 – r3</a:t>
            </a:r>
          </a:p>
          <a:p>
            <a:r>
              <a:rPr lang="en-US" dirty="0"/>
              <a:t>  r1 = load fa</a:t>
            </a:r>
          </a:p>
          <a:p>
            <a:r>
              <a:rPr lang="en-US" dirty="0"/>
              <a:t>  r1 = r4 + r1</a:t>
            </a:r>
          </a:p>
        </p:txBody>
      </p:sp>
      <p:sp>
        <p:nvSpPr>
          <p:cNvPr id="6" name="Rectangle 5">
            <a:extLst>
              <a:ext uri="{FF2B5EF4-FFF2-40B4-BE49-F238E27FC236}">
                <a16:creationId xmlns:a16="http://schemas.microsoft.com/office/drawing/2014/main" id="{24049B93-3455-C4EB-1590-822698DB89F0}"/>
              </a:ext>
            </a:extLst>
          </p:cNvPr>
          <p:cNvSpPr/>
          <p:nvPr/>
        </p:nvSpPr>
        <p:spPr>
          <a:xfrm>
            <a:off x="2688773" y="3730898"/>
            <a:ext cx="1534887" cy="740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42F848E-F310-6605-E9F5-FA078B404A36}"/>
              </a:ext>
            </a:extLst>
          </p:cNvPr>
          <p:cNvSpPr txBox="1"/>
          <p:nvPr/>
        </p:nvSpPr>
        <p:spPr>
          <a:xfrm>
            <a:off x="2797628" y="3807097"/>
            <a:ext cx="1643742" cy="646331"/>
          </a:xfrm>
          <a:prstGeom prst="rect">
            <a:avLst/>
          </a:prstGeom>
          <a:noFill/>
        </p:spPr>
        <p:txBody>
          <a:bodyPr wrap="square" rtlCol="0">
            <a:spAutoFit/>
          </a:bodyPr>
          <a:lstStyle/>
          <a:p>
            <a:r>
              <a:rPr lang="en-US" dirty="0"/>
              <a:t>  r4 = r1 – r2</a:t>
            </a:r>
          </a:p>
          <a:p>
            <a:r>
              <a:rPr lang="en-US" dirty="0"/>
              <a:t>  store r4, fa</a:t>
            </a:r>
          </a:p>
        </p:txBody>
      </p:sp>
      <p:sp>
        <p:nvSpPr>
          <p:cNvPr id="8" name="Rectangle 7">
            <a:extLst>
              <a:ext uri="{FF2B5EF4-FFF2-40B4-BE49-F238E27FC236}">
                <a16:creationId xmlns:a16="http://schemas.microsoft.com/office/drawing/2014/main" id="{46E20788-3CE5-261C-C87A-B89605208CA7}"/>
              </a:ext>
            </a:extLst>
          </p:cNvPr>
          <p:cNvSpPr/>
          <p:nvPr/>
        </p:nvSpPr>
        <p:spPr>
          <a:xfrm>
            <a:off x="4822370" y="4863014"/>
            <a:ext cx="1905000" cy="100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A7012A4-5FD2-1A6E-FFBE-CD214C775137}"/>
              </a:ext>
            </a:extLst>
          </p:cNvPr>
          <p:cNvSpPr txBox="1"/>
          <p:nvPr/>
        </p:nvSpPr>
        <p:spPr>
          <a:xfrm>
            <a:off x="4963886" y="5037185"/>
            <a:ext cx="1643742" cy="646331"/>
          </a:xfrm>
          <a:prstGeom prst="rect">
            <a:avLst/>
          </a:prstGeom>
          <a:noFill/>
        </p:spPr>
        <p:txBody>
          <a:bodyPr wrap="square" rtlCol="0">
            <a:spAutoFit/>
          </a:bodyPr>
          <a:lstStyle/>
          <a:p>
            <a:r>
              <a:rPr lang="en-US" dirty="0"/>
              <a:t>   r4 = r2 + r3</a:t>
            </a:r>
          </a:p>
          <a:p>
            <a:r>
              <a:rPr lang="en-US" dirty="0"/>
              <a:t>   store r4, </a:t>
            </a:r>
            <a:r>
              <a:rPr lang="en-US" dirty="0" err="1"/>
              <a:t>ba</a:t>
            </a:r>
            <a:endParaRPr lang="en-US" dirty="0"/>
          </a:p>
        </p:txBody>
      </p:sp>
      <p:sp>
        <p:nvSpPr>
          <p:cNvPr id="10" name="Rectangle 9">
            <a:extLst>
              <a:ext uri="{FF2B5EF4-FFF2-40B4-BE49-F238E27FC236}">
                <a16:creationId xmlns:a16="http://schemas.microsoft.com/office/drawing/2014/main" id="{F8B2D0F4-6A7A-9FA1-1BAE-2FC87D7100F2}"/>
              </a:ext>
            </a:extLst>
          </p:cNvPr>
          <p:cNvSpPr/>
          <p:nvPr/>
        </p:nvSpPr>
        <p:spPr>
          <a:xfrm>
            <a:off x="7326084" y="3469641"/>
            <a:ext cx="1534887" cy="11103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0742784-2E61-5CC8-31D3-8E603B7D1374}"/>
              </a:ext>
            </a:extLst>
          </p:cNvPr>
          <p:cNvSpPr txBox="1"/>
          <p:nvPr/>
        </p:nvSpPr>
        <p:spPr>
          <a:xfrm>
            <a:off x="7532914" y="3469641"/>
            <a:ext cx="1643742" cy="1200329"/>
          </a:xfrm>
          <a:prstGeom prst="rect">
            <a:avLst/>
          </a:prstGeom>
          <a:noFill/>
        </p:spPr>
        <p:txBody>
          <a:bodyPr wrap="square" rtlCol="0">
            <a:spAutoFit/>
          </a:bodyPr>
          <a:lstStyle/>
          <a:p>
            <a:r>
              <a:rPr lang="en-US" dirty="0"/>
              <a:t>r1 = load fa</a:t>
            </a:r>
          </a:p>
          <a:p>
            <a:r>
              <a:rPr lang="en-US" dirty="0"/>
              <a:t>r1 = r3 + r1</a:t>
            </a:r>
          </a:p>
          <a:p>
            <a:r>
              <a:rPr lang="en-US" dirty="0"/>
              <a:t>store r1, </a:t>
            </a:r>
            <a:r>
              <a:rPr lang="en-US" dirty="0" err="1"/>
              <a:t>ba</a:t>
            </a:r>
            <a:endParaRPr lang="en-US" dirty="0"/>
          </a:p>
          <a:p>
            <a:r>
              <a:rPr lang="en-US" dirty="0"/>
              <a:t>r1 = r2 – r3</a:t>
            </a:r>
          </a:p>
        </p:txBody>
      </p:sp>
      <p:cxnSp>
        <p:nvCxnSpPr>
          <p:cNvPr id="23" name="Straight Arrow Connector 22">
            <a:extLst>
              <a:ext uri="{FF2B5EF4-FFF2-40B4-BE49-F238E27FC236}">
                <a16:creationId xmlns:a16="http://schemas.microsoft.com/office/drawing/2014/main" id="{A3226EE0-32D9-2B0D-8F64-F133C8D01875}"/>
              </a:ext>
            </a:extLst>
          </p:cNvPr>
          <p:cNvCxnSpPr>
            <a:cxnSpLocks/>
            <a:stCxn id="6" idx="2"/>
          </p:cNvCxnSpPr>
          <p:nvPr/>
        </p:nvCxnSpPr>
        <p:spPr>
          <a:xfrm>
            <a:off x="3456217" y="4471125"/>
            <a:ext cx="1366153" cy="391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6FD9AB2-39D0-E352-FA6D-6636477E1BCD}"/>
              </a:ext>
            </a:extLst>
          </p:cNvPr>
          <p:cNvCxnSpPr>
            <a:cxnSpLocks/>
            <a:stCxn id="10" idx="2"/>
          </p:cNvCxnSpPr>
          <p:nvPr/>
        </p:nvCxnSpPr>
        <p:spPr>
          <a:xfrm flipH="1">
            <a:off x="6705602" y="4579983"/>
            <a:ext cx="1387926" cy="28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E68C801-88FE-8457-6297-488434D88E07}"/>
              </a:ext>
            </a:extLst>
          </p:cNvPr>
          <p:cNvCxnSpPr>
            <a:cxnSpLocks/>
            <a:endCxn id="6" idx="0"/>
          </p:cNvCxnSpPr>
          <p:nvPr/>
        </p:nvCxnSpPr>
        <p:spPr>
          <a:xfrm flipH="1">
            <a:off x="3456217" y="3010484"/>
            <a:ext cx="1366154" cy="720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55BFBF8-FBA8-54DD-C804-780B91CC7DB4}"/>
              </a:ext>
            </a:extLst>
          </p:cNvPr>
          <p:cNvCxnSpPr>
            <a:cxnSpLocks/>
            <a:endCxn id="10" idx="0"/>
          </p:cNvCxnSpPr>
          <p:nvPr/>
        </p:nvCxnSpPr>
        <p:spPr>
          <a:xfrm>
            <a:off x="6705600" y="3010484"/>
            <a:ext cx="1387928"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852BAC1-B945-2441-03CC-D0EA286EC806}"/>
              </a:ext>
            </a:extLst>
          </p:cNvPr>
          <p:cNvCxnSpPr/>
          <p:nvPr/>
        </p:nvCxnSpPr>
        <p:spPr>
          <a:xfrm>
            <a:off x="5731327" y="1099957"/>
            <a:ext cx="0" cy="60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7975C7A-A2EF-E003-F981-1782F796F58C}"/>
              </a:ext>
            </a:extLst>
          </p:cNvPr>
          <p:cNvCxnSpPr/>
          <p:nvPr/>
        </p:nvCxnSpPr>
        <p:spPr>
          <a:xfrm>
            <a:off x="6727370" y="5864500"/>
            <a:ext cx="1132117" cy="337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23A9770-287E-3260-80C7-BA07389022CB}"/>
              </a:ext>
            </a:extLst>
          </p:cNvPr>
          <p:cNvCxnSpPr/>
          <p:nvPr/>
        </p:nvCxnSpPr>
        <p:spPr>
          <a:xfrm>
            <a:off x="8850081" y="4569096"/>
            <a:ext cx="914403" cy="45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DF37693-37F8-2A56-3690-CDB41E81184E}"/>
              </a:ext>
            </a:extLst>
          </p:cNvPr>
          <p:cNvSpPr txBox="1"/>
          <p:nvPr/>
        </p:nvSpPr>
        <p:spPr>
          <a:xfrm>
            <a:off x="9383485" y="5102499"/>
            <a:ext cx="2247900" cy="369332"/>
          </a:xfrm>
          <a:prstGeom prst="rect">
            <a:avLst/>
          </a:prstGeom>
          <a:noFill/>
        </p:spPr>
        <p:txBody>
          <a:bodyPr wrap="square" rtlCol="0">
            <a:spAutoFit/>
          </a:bodyPr>
          <a:lstStyle/>
          <a:p>
            <a:r>
              <a:rPr lang="en-US" dirty="0" err="1">
                <a:solidFill>
                  <a:srgbClr val="FF0000"/>
                </a:solidFill>
              </a:rPr>
              <a:t>d,e</a:t>
            </a:r>
            <a:r>
              <a:rPr lang="en-US" dirty="0">
                <a:solidFill>
                  <a:srgbClr val="FF0000"/>
                </a:solidFill>
              </a:rPr>
              <a:t> live</a:t>
            </a:r>
          </a:p>
        </p:txBody>
      </p:sp>
      <p:sp>
        <p:nvSpPr>
          <p:cNvPr id="52" name="TextBox 51">
            <a:extLst>
              <a:ext uri="{FF2B5EF4-FFF2-40B4-BE49-F238E27FC236}">
                <a16:creationId xmlns:a16="http://schemas.microsoft.com/office/drawing/2014/main" id="{3C27E8C7-19F7-7146-E1D1-6D6FAFFA0D08}"/>
              </a:ext>
            </a:extLst>
          </p:cNvPr>
          <p:cNvSpPr txBox="1"/>
          <p:nvPr/>
        </p:nvSpPr>
        <p:spPr>
          <a:xfrm>
            <a:off x="7946569" y="5984247"/>
            <a:ext cx="2247900" cy="369332"/>
          </a:xfrm>
          <a:prstGeom prst="rect">
            <a:avLst/>
          </a:prstGeom>
          <a:noFill/>
        </p:spPr>
        <p:txBody>
          <a:bodyPr wrap="square" rtlCol="0">
            <a:spAutoFit/>
          </a:bodyPr>
          <a:lstStyle/>
          <a:p>
            <a:r>
              <a:rPr lang="en-US" dirty="0" err="1">
                <a:solidFill>
                  <a:srgbClr val="FF0000"/>
                </a:solidFill>
              </a:rPr>
              <a:t>c,d,e</a:t>
            </a:r>
            <a:r>
              <a:rPr lang="en-US" dirty="0">
                <a:solidFill>
                  <a:srgbClr val="FF0000"/>
                </a:solidFill>
              </a:rPr>
              <a:t> live</a:t>
            </a:r>
          </a:p>
        </p:txBody>
      </p:sp>
      <p:cxnSp>
        <p:nvCxnSpPr>
          <p:cNvPr id="20" name="Connector: Curved 19">
            <a:extLst>
              <a:ext uri="{FF2B5EF4-FFF2-40B4-BE49-F238E27FC236}">
                <a16:creationId xmlns:a16="http://schemas.microsoft.com/office/drawing/2014/main" id="{1D108F44-18F8-0138-F97E-3AA85C76338A}"/>
              </a:ext>
            </a:extLst>
          </p:cNvPr>
          <p:cNvCxnSpPr>
            <a:stCxn id="8" idx="2"/>
            <a:endCxn id="5" idx="0"/>
          </p:cNvCxnSpPr>
          <p:nvPr/>
        </p:nvCxnSpPr>
        <p:spPr>
          <a:xfrm rot="5400000" flipH="1">
            <a:off x="3657598" y="3747228"/>
            <a:ext cx="4223662" cy="10883"/>
          </a:xfrm>
          <a:prstGeom prst="curvedConnector5">
            <a:avLst>
              <a:gd name="adj1" fmla="val -5412"/>
              <a:gd name="adj2" fmla="val 34058495"/>
              <a:gd name="adj3" fmla="val 10541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0A465-434C-2CF9-6E65-8B2F9A0C5787}"/>
              </a:ext>
            </a:extLst>
          </p:cNvPr>
          <p:cNvSpPr txBox="1"/>
          <p:nvPr/>
        </p:nvSpPr>
        <p:spPr>
          <a:xfrm>
            <a:off x="7859488" y="674914"/>
            <a:ext cx="3875312" cy="1015663"/>
          </a:xfrm>
          <a:prstGeom prst="rect">
            <a:avLst/>
          </a:prstGeom>
          <a:noFill/>
        </p:spPr>
        <p:txBody>
          <a:bodyPr wrap="square" rtlCol="0">
            <a:spAutoFit/>
          </a:bodyPr>
          <a:lstStyle/>
          <a:p>
            <a:r>
              <a:rPr lang="en-IN" sz="2000" dirty="0"/>
              <a:t>Why are we not assigning a register to </a:t>
            </a:r>
            <a:r>
              <a:rPr lang="en-IN" sz="2000" dirty="0" err="1">
                <a:solidFill>
                  <a:schemeClr val="accent1"/>
                </a:solidFill>
              </a:rPr>
              <a:t>ba</a:t>
            </a:r>
            <a:r>
              <a:rPr lang="en-IN" sz="2000" dirty="0"/>
              <a:t>? How can the compiler generate code for </a:t>
            </a:r>
            <a:r>
              <a:rPr lang="en-IN" sz="2000" dirty="0">
                <a:solidFill>
                  <a:schemeClr val="accent1"/>
                </a:solidFill>
              </a:rPr>
              <a:t>r1 = load </a:t>
            </a:r>
            <a:r>
              <a:rPr lang="en-IN" sz="2000" dirty="0" err="1">
                <a:solidFill>
                  <a:schemeClr val="accent1"/>
                </a:solidFill>
              </a:rPr>
              <a:t>ba</a:t>
            </a:r>
            <a:r>
              <a:rPr lang="en-IN" sz="2000" dirty="0"/>
              <a:t>?</a:t>
            </a:r>
          </a:p>
        </p:txBody>
      </p:sp>
    </p:spTree>
    <p:extLst>
      <p:ext uri="{BB962C8B-B14F-4D97-AF65-F5344CB8AC3E}">
        <p14:creationId xmlns:p14="http://schemas.microsoft.com/office/powerpoint/2010/main" val="5481786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CF3B3-A51C-4A6C-985C-9148F8DA892F}"/>
              </a:ext>
            </a:extLst>
          </p:cNvPr>
          <p:cNvSpPr>
            <a:spLocks noGrp="1"/>
          </p:cNvSpPr>
          <p:nvPr>
            <p:ph type="title"/>
          </p:nvPr>
        </p:nvSpPr>
        <p:spPr/>
        <p:txBody>
          <a:bodyPr/>
          <a:lstStyle/>
          <a:p>
            <a:r>
              <a:rPr lang="en-US" dirty="0"/>
              <a:t>Register allocation</a:t>
            </a:r>
          </a:p>
        </p:txBody>
      </p:sp>
      <p:sp>
        <p:nvSpPr>
          <p:cNvPr id="3" name="Content Placeholder 2">
            <a:extLst>
              <a:ext uri="{FF2B5EF4-FFF2-40B4-BE49-F238E27FC236}">
                <a16:creationId xmlns:a16="http://schemas.microsoft.com/office/drawing/2014/main" id="{35A0EF90-62AF-4C50-9B22-0D28B9B51F9D}"/>
              </a:ext>
            </a:extLst>
          </p:cNvPr>
          <p:cNvSpPr>
            <a:spLocks noGrp="1"/>
          </p:cNvSpPr>
          <p:nvPr>
            <p:ph idx="1"/>
          </p:nvPr>
        </p:nvSpPr>
        <p:spPr/>
        <p:txBody>
          <a:bodyPr/>
          <a:lstStyle/>
          <a:p>
            <a:r>
              <a:rPr lang="en-US" dirty="0"/>
              <a:t>CISC architecture like x86, requires some instructions to use specific registers as an operands</a:t>
            </a:r>
          </a:p>
          <a:p>
            <a:pPr lvl="1"/>
            <a:r>
              <a:rPr lang="en-US" dirty="0"/>
              <a:t>e.g., </a:t>
            </a:r>
            <a:r>
              <a:rPr lang="en-US" dirty="0" err="1"/>
              <a:t>idiv</a:t>
            </a:r>
            <a:r>
              <a:rPr lang="en-US" dirty="0"/>
              <a:t>, </a:t>
            </a:r>
            <a:r>
              <a:rPr lang="en-US" dirty="0" err="1"/>
              <a:t>imul</a:t>
            </a:r>
            <a:r>
              <a:rPr lang="en-US" dirty="0"/>
              <a:t>, </a:t>
            </a:r>
            <a:r>
              <a:rPr lang="en-US" dirty="0" err="1"/>
              <a:t>rdtsc</a:t>
            </a:r>
            <a:r>
              <a:rPr lang="en-US" dirty="0"/>
              <a:t>, etc., implicitly take EDX and EAX as operands</a:t>
            </a:r>
          </a:p>
          <a:p>
            <a:pPr lvl="1"/>
            <a:r>
              <a:rPr lang="en-US" dirty="0"/>
              <a:t>register allocator may need to do more analysis for these architectures</a:t>
            </a:r>
          </a:p>
        </p:txBody>
      </p:sp>
    </p:spTree>
    <p:extLst>
      <p:ext uri="{BB962C8B-B14F-4D97-AF65-F5344CB8AC3E}">
        <p14:creationId xmlns:p14="http://schemas.microsoft.com/office/powerpoint/2010/main" val="38463055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2956-DBF4-B8D1-8096-93AED57678C6}"/>
              </a:ext>
            </a:extLst>
          </p:cNvPr>
          <p:cNvSpPr>
            <a:spLocks noGrp="1"/>
          </p:cNvSpPr>
          <p:nvPr>
            <p:ph type="title"/>
          </p:nvPr>
        </p:nvSpPr>
        <p:spPr/>
        <p:txBody>
          <a:bodyPr/>
          <a:lstStyle/>
          <a:p>
            <a:r>
              <a:rPr lang="en-US" dirty="0"/>
              <a:t>Register allocation</a:t>
            </a:r>
            <a:endParaRPr lang="en-IN" dirty="0"/>
          </a:p>
        </p:txBody>
      </p:sp>
      <p:sp>
        <p:nvSpPr>
          <p:cNvPr id="3" name="Content Placeholder 2">
            <a:extLst>
              <a:ext uri="{FF2B5EF4-FFF2-40B4-BE49-F238E27FC236}">
                <a16:creationId xmlns:a16="http://schemas.microsoft.com/office/drawing/2014/main" id="{B2F744D3-7C6A-881C-62D5-DCD469FCCF1E}"/>
              </a:ext>
            </a:extLst>
          </p:cNvPr>
          <p:cNvSpPr>
            <a:spLocks noGrp="1"/>
          </p:cNvSpPr>
          <p:nvPr>
            <p:ph idx="1"/>
          </p:nvPr>
        </p:nvSpPr>
        <p:spPr/>
        <p:txBody>
          <a:bodyPr/>
          <a:lstStyle/>
          <a:p>
            <a:r>
              <a:rPr lang="en-US" dirty="0"/>
              <a:t>Does the choice of picking a variable for spilling may impact performance?</a:t>
            </a:r>
            <a:endParaRPr lang="en-IN" dirty="0"/>
          </a:p>
        </p:txBody>
      </p:sp>
    </p:spTree>
    <p:extLst>
      <p:ext uri="{BB962C8B-B14F-4D97-AF65-F5344CB8AC3E}">
        <p14:creationId xmlns:p14="http://schemas.microsoft.com/office/powerpoint/2010/main" val="16754335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2956-DBF4-B8D1-8096-93AED57678C6}"/>
              </a:ext>
            </a:extLst>
          </p:cNvPr>
          <p:cNvSpPr>
            <a:spLocks noGrp="1"/>
          </p:cNvSpPr>
          <p:nvPr>
            <p:ph type="title"/>
          </p:nvPr>
        </p:nvSpPr>
        <p:spPr/>
        <p:txBody>
          <a:bodyPr/>
          <a:lstStyle/>
          <a:p>
            <a:r>
              <a:rPr lang="en-US" dirty="0"/>
              <a:t>Register allocation</a:t>
            </a:r>
            <a:endParaRPr lang="en-IN" dirty="0"/>
          </a:p>
        </p:txBody>
      </p:sp>
      <p:sp>
        <p:nvSpPr>
          <p:cNvPr id="3" name="Content Placeholder 2">
            <a:extLst>
              <a:ext uri="{FF2B5EF4-FFF2-40B4-BE49-F238E27FC236}">
                <a16:creationId xmlns:a16="http://schemas.microsoft.com/office/drawing/2014/main" id="{B2F744D3-7C6A-881C-62D5-DCD469FCCF1E}"/>
              </a:ext>
            </a:extLst>
          </p:cNvPr>
          <p:cNvSpPr>
            <a:spLocks noGrp="1"/>
          </p:cNvSpPr>
          <p:nvPr>
            <p:ph idx="1"/>
          </p:nvPr>
        </p:nvSpPr>
        <p:spPr/>
        <p:txBody>
          <a:bodyPr/>
          <a:lstStyle/>
          <a:p>
            <a:r>
              <a:rPr lang="en-US" dirty="0"/>
              <a:t>Does the choice of picking a variable for spilling may impact performance?</a:t>
            </a:r>
          </a:p>
          <a:p>
            <a:pPr lvl="1"/>
            <a:r>
              <a:rPr lang="en-US" dirty="0"/>
              <a:t>Yes, we should avoid spilling variables used in loops</a:t>
            </a:r>
            <a:endParaRPr lang="en-IN" dirty="0"/>
          </a:p>
        </p:txBody>
      </p:sp>
    </p:spTree>
    <p:extLst>
      <p:ext uri="{BB962C8B-B14F-4D97-AF65-F5344CB8AC3E}">
        <p14:creationId xmlns:p14="http://schemas.microsoft.com/office/powerpoint/2010/main" val="2391646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1B52-FD31-4A61-B8BF-A8FF2B822E10}"/>
              </a:ext>
            </a:extLst>
          </p:cNvPr>
          <p:cNvSpPr>
            <a:spLocks noGrp="1"/>
          </p:cNvSpPr>
          <p:nvPr>
            <p:ph type="title"/>
          </p:nvPr>
        </p:nvSpPr>
        <p:spPr/>
        <p:txBody>
          <a:bodyPr/>
          <a:lstStyle/>
          <a:p>
            <a:r>
              <a:rPr lang="en-US" dirty="0"/>
              <a:t>So far we have discussed..</a:t>
            </a:r>
          </a:p>
        </p:txBody>
      </p:sp>
      <p:sp>
        <p:nvSpPr>
          <p:cNvPr id="3" name="Content Placeholder 2">
            <a:extLst>
              <a:ext uri="{FF2B5EF4-FFF2-40B4-BE49-F238E27FC236}">
                <a16:creationId xmlns:a16="http://schemas.microsoft.com/office/drawing/2014/main" id="{83688985-0C49-4A76-8AB4-4E75EE77B038}"/>
              </a:ext>
            </a:extLst>
          </p:cNvPr>
          <p:cNvSpPr>
            <a:spLocks noGrp="1"/>
          </p:cNvSpPr>
          <p:nvPr>
            <p:ph idx="1"/>
          </p:nvPr>
        </p:nvSpPr>
        <p:spPr/>
        <p:txBody>
          <a:bodyPr>
            <a:normAutofit fontScale="92500" lnSpcReduction="10000"/>
          </a:bodyPr>
          <a:lstStyle/>
          <a:p>
            <a:r>
              <a:rPr lang="en-US" dirty="0"/>
              <a:t>Optimizations</a:t>
            </a:r>
          </a:p>
          <a:p>
            <a:pPr lvl="1"/>
            <a:r>
              <a:rPr lang="en-US" dirty="0"/>
              <a:t>The optimizer takes an IR and generates an optimized IR without changing the meaning of the IR</a:t>
            </a:r>
          </a:p>
          <a:p>
            <a:pPr lvl="1"/>
            <a:endParaRPr lang="en-US" dirty="0"/>
          </a:p>
          <a:p>
            <a:pPr lvl="1"/>
            <a:endParaRPr lang="en-US" dirty="0"/>
          </a:p>
          <a:p>
            <a:r>
              <a:rPr lang="en-US" dirty="0"/>
              <a:t>Memory management</a:t>
            </a:r>
          </a:p>
          <a:p>
            <a:pPr lvl="1"/>
            <a:r>
              <a:rPr lang="en-US" dirty="0"/>
              <a:t>Garbage collection, reference counting, unique pointers, etc.</a:t>
            </a:r>
          </a:p>
          <a:p>
            <a:endParaRPr lang="en-US" dirty="0"/>
          </a:p>
          <a:p>
            <a:r>
              <a:rPr lang="en-US" dirty="0"/>
              <a:t>Register allocation</a:t>
            </a:r>
          </a:p>
          <a:p>
            <a:endParaRPr lang="en-US" dirty="0"/>
          </a:p>
          <a:p>
            <a:r>
              <a:rPr lang="en-US" dirty="0"/>
              <a:t>Calling conventions</a:t>
            </a:r>
          </a:p>
        </p:txBody>
      </p:sp>
    </p:spTree>
    <p:extLst>
      <p:ext uri="{BB962C8B-B14F-4D97-AF65-F5344CB8AC3E}">
        <p14:creationId xmlns:p14="http://schemas.microsoft.com/office/powerpoint/2010/main" val="3114223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4393</TotalTime>
  <Words>6011</Words>
  <Application>Microsoft Office PowerPoint</Application>
  <PresentationFormat>Widescreen</PresentationFormat>
  <Paragraphs>1442</Paragraphs>
  <Slides>120</Slides>
  <Notes>113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120</vt:i4>
      </vt:variant>
    </vt:vector>
  </HeadingPairs>
  <TitlesOfParts>
    <vt:vector size="127" baseType="lpstr">
      <vt:lpstr>Arial</vt:lpstr>
      <vt:lpstr>Calibri</vt:lpstr>
      <vt:lpstr>Calibri Light</vt:lpstr>
      <vt:lpstr>Cambria Math</vt:lpstr>
      <vt:lpstr>Consolas</vt:lpstr>
      <vt:lpstr>Wingdings</vt:lpstr>
      <vt:lpstr>Office Theme</vt:lpstr>
      <vt:lpstr>Compilers</vt:lpstr>
      <vt:lpstr>Today’s topics</vt:lpstr>
      <vt:lpstr>Unique pointers</vt:lpstr>
      <vt:lpstr>Unique pointers</vt:lpstr>
      <vt:lpstr>Unique pointers</vt:lpstr>
      <vt:lpstr>Unique pointers</vt:lpstr>
      <vt:lpstr>Unique pointers</vt:lpstr>
      <vt:lpstr>Automatic memory management</vt:lpstr>
      <vt:lpstr>Automatic memory management</vt:lpstr>
      <vt:lpstr>Loop optimizations</vt:lpstr>
      <vt:lpstr>Loop optimizations</vt:lpstr>
      <vt:lpstr>Back-edge</vt:lpstr>
      <vt:lpstr>Back-edge</vt:lpstr>
      <vt:lpstr>Natural loop</vt:lpstr>
      <vt:lpstr>Natural loop</vt:lpstr>
      <vt:lpstr>Natural loop</vt:lpstr>
      <vt:lpstr>Natural loop</vt:lpstr>
      <vt:lpstr>Natural loop</vt:lpstr>
      <vt:lpstr>Natural loop</vt:lpstr>
      <vt:lpstr>Loop optimizations</vt:lpstr>
      <vt:lpstr>Loop-invariant code motion</vt:lpstr>
      <vt:lpstr>Loop unrolling</vt:lpstr>
      <vt:lpstr>Loop vectorization</vt:lpstr>
      <vt:lpstr>Loop vectorization</vt:lpstr>
      <vt:lpstr>Loop vectorization</vt:lpstr>
      <vt:lpstr>Loop vectorization</vt:lpstr>
      <vt:lpstr>Register allocation</vt:lpstr>
      <vt:lpstr>Register allocation</vt:lpstr>
      <vt:lpstr>Can we generate code without registers?</vt:lpstr>
      <vt:lpstr>Register allocation</vt:lpstr>
      <vt:lpstr>Register allocation</vt:lpstr>
      <vt:lpstr>Global register allocation</vt:lpstr>
      <vt:lpstr>Register allocation</vt:lpstr>
      <vt:lpstr>Live variable analysis</vt:lpstr>
      <vt:lpstr>Register-interference graph</vt:lpstr>
      <vt:lpstr>Register-interference graph</vt:lpstr>
      <vt:lpstr>Graph coloring</vt:lpstr>
      <vt:lpstr>Graph coloring</vt:lpstr>
      <vt:lpstr>Graph coloring</vt:lpstr>
      <vt:lpstr>Register-interference graph</vt:lpstr>
      <vt:lpstr>Register allocation</vt:lpstr>
      <vt:lpstr>Register allocation</vt:lpstr>
      <vt:lpstr>Graph coloring algorithm</vt:lpstr>
      <vt:lpstr>Graph coloring algorithm</vt:lpstr>
      <vt:lpstr>Register allocation algorithm</vt:lpstr>
      <vt:lpstr>Is this graph 5-colorable?</vt:lpstr>
      <vt:lpstr>Is this graph 5-colorable?</vt:lpstr>
      <vt:lpstr>Is this graph 5-colorable?</vt:lpstr>
      <vt:lpstr>Is this graph 5-colorable?</vt:lpstr>
      <vt:lpstr>Is this graph 5-colorable?</vt:lpstr>
      <vt:lpstr>Is this graph 5-colorable?</vt:lpstr>
      <vt:lpstr>Is this graph 5-colorable?</vt:lpstr>
      <vt:lpstr>Is this graph 5-colorable?</vt:lpstr>
      <vt:lpstr>Assigning colors</vt:lpstr>
      <vt:lpstr>Assigning colors</vt:lpstr>
      <vt:lpstr>Assigning colors</vt:lpstr>
      <vt:lpstr>Assigning colors</vt:lpstr>
      <vt:lpstr>Assigning colors</vt:lpstr>
      <vt:lpstr>Graph coloring solution</vt:lpstr>
      <vt:lpstr>Register allocation</vt:lpstr>
      <vt:lpstr>Register allocation</vt:lpstr>
      <vt:lpstr>Is this graph 4-colorable?</vt:lpstr>
      <vt:lpstr>Is this graph 4-colorable?</vt:lpstr>
      <vt:lpstr>Spilling</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Optimistic coloring (example)</vt:lpstr>
      <vt:lpstr>Optimistic coloring (example)</vt:lpstr>
      <vt:lpstr>Spilling</vt:lpstr>
      <vt:lpstr>Spilling</vt:lpstr>
      <vt:lpstr>Spilling</vt:lpstr>
      <vt:lpstr>Register-interference graph after spilling</vt:lpstr>
      <vt:lpstr>Checking for 4-colorable</vt:lpstr>
      <vt:lpstr>Checking for 4-colorable</vt:lpstr>
      <vt:lpstr>Checking for 4-colorable</vt:lpstr>
      <vt:lpstr>Checking for 4-colorable</vt:lpstr>
      <vt:lpstr>Checking for 4-colorable</vt:lpstr>
      <vt:lpstr>Checking for 4-colorable</vt:lpstr>
      <vt:lpstr>Spill f</vt:lpstr>
      <vt:lpstr>Spilling</vt:lpstr>
      <vt:lpstr>Spilling</vt:lpstr>
      <vt:lpstr>Spilling</vt:lpstr>
      <vt:lpstr>Register-interference graph after 2nd spill</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Is this graph 4-colorable?</vt:lpstr>
      <vt:lpstr>Assigning colors</vt:lpstr>
      <vt:lpstr>Assigning colors</vt:lpstr>
      <vt:lpstr>Assigning colors</vt:lpstr>
      <vt:lpstr>Assigning colors</vt:lpstr>
      <vt:lpstr>Assigning colors</vt:lpstr>
      <vt:lpstr>Assigning colors</vt:lpstr>
      <vt:lpstr>Assigning colors</vt:lpstr>
      <vt:lpstr>Assigning colors</vt:lpstr>
      <vt:lpstr>Assigning colors</vt:lpstr>
      <vt:lpstr>Assigning colors</vt:lpstr>
      <vt:lpstr>Before register allocation</vt:lpstr>
      <vt:lpstr>After register allocation</vt:lpstr>
      <vt:lpstr>Quiz</vt:lpstr>
      <vt:lpstr>Register allocation</vt:lpstr>
      <vt:lpstr>Register allocation</vt:lpstr>
      <vt:lpstr>Register allocation</vt:lpstr>
      <vt:lpstr>So far we have discussed..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659</cp:revision>
  <cp:lastPrinted>2022-10-06T07:25:52Z</cp:lastPrinted>
  <dcterms:created xsi:type="dcterms:W3CDTF">2020-08-23T12:23:07Z</dcterms:created>
  <dcterms:modified xsi:type="dcterms:W3CDTF">2024-02-16T07:24:39Z</dcterms:modified>
</cp:coreProperties>
</file>