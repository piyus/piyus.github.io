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79" r:id="rId2"/>
    <p:sldId id="822" r:id="rId3"/>
    <p:sldId id="923" r:id="rId4"/>
    <p:sldId id="930" r:id="rId5"/>
    <p:sldId id="931" r:id="rId6"/>
    <p:sldId id="260" r:id="rId7"/>
    <p:sldId id="959" r:id="rId8"/>
    <p:sldId id="960" r:id="rId9"/>
    <p:sldId id="961" r:id="rId10"/>
    <p:sldId id="962" r:id="rId11"/>
    <p:sldId id="963" r:id="rId12"/>
    <p:sldId id="964" r:id="rId13"/>
    <p:sldId id="965" r:id="rId14"/>
    <p:sldId id="966" r:id="rId15"/>
    <p:sldId id="1007" r:id="rId16"/>
    <p:sldId id="1008" r:id="rId17"/>
    <p:sldId id="1009" r:id="rId18"/>
    <p:sldId id="1010" r:id="rId19"/>
    <p:sldId id="972" r:id="rId20"/>
    <p:sldId id="954" r:id="rId21"/>
    <p:sldId id="955" r:id="rId22"/>
    <p:sldId id="956" r:id="rId23"/>
    <p:sldId id="957" r:id="rId24"/>
    <p:sldId id="958" r:id="rId25"/>
    <p:sldId id="1002" r:id="rId26"/>
    <p:sldId id="978" r:id="rId27"/>
    <p:sldId id="976" r:id="rId28"/>
    <p:sldId id="980" r:id="rId29"/>
    <p:sldId id="981" r:id="rId30"/>
    <p:sldId id="982" r:id="rId31"/>
    <p:sldId id="983" r:id="rId32"/>
    <p:sldId id="984" r:id="rId33"/>
    <p:sldId id="1011" r:id="rId34"/>
    <p:sldId id="985" r:id="rId35"/>
    <p:sldId id="987" r:id="rId36"/>
    <p:sldId id="988" r:id="rId37"/>
    <p:sldId id="989" r:id="rId38"/>
    <p:sldId id="990" r:id="rId39"/>
    <p:sldId id="991" r:id="rId40"/>
    <p:sldId id="992" r:id="rId41"/>
    <p:sldId id="993" r:id="rId42"/>
    <p:sldId id="994" r:id="rId43"/>
    <p:sldId id="995" r:id="rId44"/>
    <p:sldId id="997" r:id="rId45"/>
    <p:sldId id="99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0.66</c:v>
                </c:pt>
                <c:pt idx="1">
                  <c:v>1.5</c:v>
                </c:pt>
                <c:pt idx="2">
                  <c:v>2</c:v>
                </c:pt>
                <c:pt idx="3">
                  <c:v>0.66</c:v>
                </c:pt>
              </c:numCache>
            </c:numRef>
          </c:xVal>
          <c:yVal>
            <c:numRef>
              <c:f>Sheet1!$B$2:$B$5</c:f>
              <c:numCache>
                <c:formatCode>General</c:formatCode>
                <c:ptCount val="4"/>
                <c:pt idx="0">
                  <c:v>0.25</c:v>
                </c:pt>
                <c:pt idx="1">
                  <c:v>0.75</c:v>
                </c:pt>
                <c:pt idx="2">
                  <c:v>0.5</c:v>
                </c:pt>
                <c:pt idx="3">
                  <c:v>0.25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0.33072</cdr:x>
      <cdr:y>0.19196</cdr:y>
    </cdr:from>
    <cdr:to>
      <cdr:x>0.55855</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3477768" y="835279"/>
          <a:ext cx="2395728"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IN" sz="2800" dirty="0"/>
        </a:p>
        <a:p xmlns:a="http://schemas.openxmlformats.org/drawingml/2006/main">
          <a:r>
            <a:rPr lang="en-IN" sz="2800" dirty="0"/>
            <a:t>2y &lt;= x</a:t>
          </a:r>
        </a:p>
      </cdr:txBody>
    </cdr:sp>
  </cdr:relSizeAnchor>
  <cdr:relSizeAnchor xmlns:cdr="http://schemas.openxmlformats.org/drawingml/2006/chartDrawing">
    <cdr:from>
      <cdr:x>0.47729</cdr:x>
      <cdr:y>0.44203</cdr:y>
    </cdr:from>
    <cdr:to>
      <cdr:x>0.70812</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9040" y="1923415"/>
          <a:ext cx="2427224" cy="2427923"/>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endParaRPr lang="en-IN" sz="2800" dirty="0"/>
        </a:p>
        <a:p xmlns:a="http://schemas.openxmlformats.org/drawingml/2006/main">
          <a:r>
            <a:rPr lang="en-IN" sz="2800" dirty="0"/>
            <a:t>8y &gt;= 2 + x</a:t>
          </a:r>
        </a:p>
      </cdr:txBody>
    </cdr:sp>
  </cdr:relSizeAnchor>
  <cdr:relSizeAnchor xmlns:cdr="http://schemas.openxmlformats.org/drawingml/2006/chartDrawing">
    <cdr:from>
      <cdr:x>0.70377</cdr:x>
      <cdr:y>0.19196</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7400544" y="835279"/>
          <a:ext cx="3115056" cy="303682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2y &lt;= 3 – x</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9CD5D6-C95F-4685-A441-7AA2FADA3643}" type="datetimeFigureOut">
              <a:rPr lang="en-IN" smtClean="0"/>
              <a:t>15-10-2024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5A1DF-3A0B-449C-9B15-B63154BD93CA}" type="slidenum">
              <a:rPr lang="en-IN" smtClean="0"/>
              <a:t>‹#›</a:t>
            </a:fld>
            <a:endParaRPr lang="en-IN"/>
          </a:p>
        </p:txBody>
      </p:sp>
    </p:spTree>
    <p:extLst>
      <p:ext uri="{BB962C8B-B14F-4D97-AF65-F5344CB8AC3E}">
        <p14:creationId xmlns:p14="http://schemas.microsoft.com/office/powerpoint/2010/main" val="3380159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352ED-8DCB-9B8E-9EB8-CCA90F445B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8E61A4-3C55-FB45-693E-74B382B9E0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4266CF-BFFB-0550-C9E1-953C1F268BF2}"/>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375D9EFE-5CB5-0293-1E28-FD105358B5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4EC31D-B73C-46A9-732A-8921911F80DB}"/>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423293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5A11E-BA6D-0D3C-3ABD-92693489A3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7D950C-2EEA-42BB-C86F-003F7A3973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000FB6-C4A7-4559-0B94-58582A101E45}"/>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EEE1A71A-980C-F086-64BF-4A2FD85A9C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B83A09-D3FD-00B5-C332-C7331C026BC7}"/>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3072571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95EB8-3102-00FE-6993-762DC30420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11CE0-204E-E3FF-8626-40EA3F50AD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AEDF76-FD1E-07B8-2F34-49EAE709C823}"/>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B2CE6666-A5B2-D148-27CD-1EFE7AEE20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2474E0-5701-3BB2-57A9-4C9DBBACD819}"/>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749319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45104-5DC8-280C-28ED-80C587DB82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495131-6240-7E7F-2AF3-E7BD16C059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DEED0E-0362-E115-6E06-614793D7F3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9477EF5-5800-6907-8A50-FECB0A30470A}"/>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6" name="Footer Placeholder 5">
            <a:extLst>
              <a:ext uri="{FF2B5EF4-FFF2-40B4-BE49-F238E27FC236}">
                <a16:creationId xmlns:a16="http://schemas.microsoft.com/office/drawing/2014/main" id="{9DC2BED4-CA9B-9B3A-4D94-B5F48143AB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2E5197-B377-B3F7-9DBE-31E971B0D158}"/>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411755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985A8-B8FF-103A-D0FF-CF027A82C6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69E227-CC46-5FF3-C36D-06CF897722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13FE86-995E-899E-5590-66DBC907C4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D2DC347-F980-1B7E-A2E8-DDA5E4370D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CFB2F7-198D-8381-B289-3017B8FFDB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CBF816-1A73-345E-30EE-DC85A32F8135}"/>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8" name="Footer Placeholder 7">
            <a:extLst>
              <a:ext uri="{FF2B5EF4-FFF2-40B4-BE49-F238E27FC236}">
                <a16:creationId xmlns:a16="http://schemas.microsoft.com/office/drawing/2014/main" id="{5B10D210-AA3B-E3FD-DA4B-5590203EA2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490248-847A-58FD-210A-A2985C51181B}"/>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2701267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C71C0-09B5-D128-C5B7-D57AAFCBD0E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32341F9-F222-F3A4-5459-DF6FD415FD79}"/>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4" name="Footer Placeholder 3">
            <a:extLst>
              <a:ext uri="{FF2B5EF4-FFF2-40B4-BE49-F238E27FC236}">
                <a16:creationId xmlns:a16="http://schemas.microsoft.com/office/drawing/2014/main" id="{AE8E7A37-14A9-A75A-AA01-B46334DFE4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BE24222-DEA4-9EA0-D13B-D3FA608DBBCF}"/>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646788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9A88F4-E8A7-681D-67FA-3C07AB09FB9E}"/>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3" name="Footer Placeholder 2">
            <a:extLst>
              <a:ext uri="{FF2B5EF4-FFF2-40B4-BE49-F238E27FC236}">
                <a16:creationId xmlns:a16="http://schemas.microsoft.com/office/drawing/2014/main" id="{DB9DF46F-4ACF-52F7-3F58-A9BD9AEB16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1F1404-1458-D942-57AD-8A1A322AB0A9}"/>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3144023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81364-7C2A-F57A-01A5-A389705A88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EEBE61-D070-BB97-3E81-3D3D3FE7B8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FDE945-DDC8-6C89-315F-04521D26D3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B3909A-8840-93A5-B42C-94B8B79C196C}"/>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6" name="Footer Placeholder 5">
            <a:extLst>
              <a:ext uri="{FF2B5EF4-FFF2-40B4-BE49-F238E27FC236}">
                <a16:creationId xmlns:a16="http://schemas.microsoft.com/office/drawing/2014/main" id="{82EA2988-A922-4C27-D94A-6C546C647E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13EBC9-2219-5CD1-1357-987C5A622DE8}"/>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2506706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9B142-6BE4-0FDE-A312-60583A2AD2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9C4A39-7B82-B871-543D-1034BA603D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CFE559-33F6-5BDB-3C43-21DD4E445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93139E-50C3-6755-47D1-60B31C8C7903}"/>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6" name="Footer Placeholder 5">
            <a:extLst>
              <a:ext uri="{FF2B5EF4-FFF2-40B4-BE49-F238E27FC236}">
                <a16:creationId xmlns:a16="http://schemas.microsoft.com/office/drawing/2014/main" id="{2AB286BB-1F0A-FFA0-054E-C54F1AEACA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555324-E0A4-D839-0AB5-25353DB08625}"/>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53208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8E52E-BC98-2A78-660A-6B70887780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F53ED6-6C8D-0200-F659-22A72FD1F7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9466D5-BED2-43A1-1EEE-AEE348C88CF6}"/>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3BB61DCA-2DB4-FC7B-13E3-E9F38E614C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A3463B-C890-E933-A69D-C3B6C908011F}"/>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766885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45B063-583E-D02F-8C36-22CCFA8CF0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C256E1-A1A1-EA8C-DCEA-56105E0FB7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654D90-7C41-B7CD-C290-94AA19A63B90}"/>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DAC8D8DA-0ACB-932B-70FA-F10803F590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3302F8-A926-58D8-58FB-79A174119E33}"/>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556779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AF2790-EB6F-8E67-E303-3D84BC52F6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6C69A7-7831-B7C4-B793-B6EC58CE27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218DB7-871D-BD78-E09D-EF420CF8C3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E012F5FB-B33A-AF7B-00D5-7867ACB88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FC4AA1-EC0C-4E12-5906-A4C2BF297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0CEB20-7C06-49A5-AC2E-2B051F179D26}" type="slidenum">
              <a:rPr lang="en-IN" smtClean="0"/>
              <a:t>‹#›</a:t>
            </a:fld>
            <a:endParaRPr lang="en-IN"/>
          </a:p>
        </p:txBody>
      </p:sp>
    </p:spTree>
    <p:extLst>
      <p:ext uri="{BB962C8B-B14F-4D97-AF65-F5344CB8AC3E}">
        <p14:creationId xmlns:p14="http://schemas.microsoft.com/office/powerpoint/2010/main" val="3779580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2.xml"/><Relationship Id="rId5" Type="http://schemas.openxmlformats.org/officeDocument/2006/relationships/image" Target="../media/image230.png"/><Relationship Id="rId4" Type="http://schemas.openxmlformats.org/officeDocument/2006/relationships/image" Target="../media/image220.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40.png"/><Relationship Id="rId1" Type="http://schemas.openxmlformats.org/officeDocument/2006/relationships/slideLayout" Target="../slideLayouts/slideLayout2.xml"/><Relationship Id="rId5" Type="http://schemas.openxmlformats.org/officeDocument/2006/relationships/image" Target="../media/image270.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2.xml"/><Relationship Id="rId5" Type="http://schemas.openxmlformats.org/officeDocument/2006/relationships/image" Target="../media/image311.png"/><Relationship Id="rId4" Type="http://schemas.openxmlformats.org/officeDocument/2006/relationships/image" Target="../media/image300.png"/></Relationships>
</file>

<file path=ppt/slides/_rels/slide23.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0.png"/><Relationship Id="rId1" Type="http://schemas.openxmlformats.org/officeDocument/2006/relationships/slideLayout" Target="../slideLayouts/slideLayout2.xml"/><Relationship Id="rId5" Type="http://schemas.openxmlformats.org/officeDocument/2006/relationships/image" Target="../media/image350.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2.xml"/><Relationship Id="rId5" Type="http://schemas.openxmlformats.org/officeDocument/2006/relationships/image" Target="../media/image360.png"/><Relationship Id="rId4" Type="http://schemas.openxmlformats.org/officeDocument/2006/relationships/image" Target="../media/image300.png"/></Relationships>
</file>

<file path=ppt/slides/_rels/slide2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90.png"/><Relationship Id="rId1" Type="http://schemas.openxmlformats.org/officeDocument/2006/relationships/slideLayout" Target="../slideLayouts/slideLayout2.xml"/><Relationship Id="rId5" Type="http://schemas.openxmlformats.org/officeDocument/2006/relationships/image" Target="../media/image420.png"/><Relationship Id="rId4" Type="http://schemas.openxmlformats.org/officeDocument/2006/relationships/image" Target="../media/image410.png"/></Relationships>
</file>

<file path=ppt/slides/_rels/slide40.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0.png"/></Relationships>
</file>

<file path=ppt/slides/_rels/slide41.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60.png"/></Relationships>
</file>

<file path=ppt/slides/_rels/slide42.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9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3" Type="http://schemas.openxmlformats.org/officeDocument/2006/relationships/image" Target="../media/image390.png"/><Relationship Id="rId7" Type="http://schemas.openxmlformats.org/officeDocument/2006/relationships/image" Target="../media/image54.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999ED-6968-6990-2E49-8421409C436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3A18A03-7EC3-730B-D934-4292599735E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43144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B165B-3508-7AE3-F7F7-5CA20D1B48A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11DBA975-A3BA-3C64-C03B-480467CC4458}"/>
              </a:ext>
            </a:extLst>
          </p:cNvPr>
          <p:cNvSpPr>
            <a:spLocks noGrp="1"/>
          </p:cNvSpPr>
          <p:nvPr>
            <p:ph idx="1"/>
          </p:nvPr>
        </p:nvSpPr>
        <p:spPr/>
        <p:txBody>
          <a:bodyPr/>
          <a:lstStyle/>
          <a:p>
            <a:r>
              <a:rPr lang="en-IN" dirty="0"/>
              <a:t>Chapter-5 from the DP book</a:t>
            </a:r>
          </a:p>
        </p:txBody>
      </p:sp>
    </p:spTree>
    <p:extLst>
      <p:ext uri="{BB962C8B-B14F-4D97-AF65-F5344CB8AC3E}">
        <p14:creationId xmlns:p14="http://schemas.microsoft.com/office/powerpoint/2010/main" val="850028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F51FB-9AAC-2E85-6060-81B12CBC20AD}"/>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583C56-A216-4B44-2E98-F9D631814D82}"/>
                  </a:ext>
                </a:extLst>
              </p:cNvPr>
              <p:cNvSpPr>
                <a:spLocks noGrp="1"/>
              </p:cNvSpPr>
              <p:nvPr>
                <p:ph idx="1"/>
              </p:nvPr>
            </p:nvSpPr>
            <p:spPr>
              <a:xfrm>
                <a:off x="5518370" y="235974"/>
                <a:ext cx="6526161" cy="6449961"/>
              </a:xfrm>
            </p:spPr>
            <p:txBody>
              <a:bodyPr>
                <a:normAutofit/>
              </a:bodyPr>
              <a:lstStyle/>
              <a:p>
                <a:pPr marL="0" indent="0">
                  <a:lnSpc>
                    <a:spcPct val="120000"/>
                  </a:lnSpc>
                  <a:spcBef>
                    <a:spcPts val="0"/>
                  </a:spcBef>
                  <a:buNone/>
                </a:pPr>
                <a:r>
                  <a:rPr lang="en-IN" sz="1800" dirty="0">
                    <a:solidFill>
                      <a:schemeClr val="accent1"/>
                    </a:solidFill>
                  </a:rPr>
                  <a:t>Algorithm: </a:t>
                </a:r>
                <a:r>
                  <a:rPr lang="en-IN" sz="1800" dirty="0" err="1">
                    <a:solidFill>
                      <a:schemeClr val="accent1"/>
                    </a:solidFill>
                  </a:rPr>
                  <a:t>Omega_Test</a:t>
                </a:r>
                <a:endParaRPr lang="en-IN" sz="1800" dirty="0">
                  <a:solidFill>
                    <a:schemeClr val="accent1"/>
                  </a:solidFill>
                </a:endParaRPr>
              </a:p>
              <a:p>
                <a:pPr marL="0" indent="0">
                  <a:lnSpc>
                    <a:spcPct val="120000"/>
                  </a:lnSpc>
                  <a:spcBef>
                    <a:spcPts val="0"/>
                  </a:spcBef>
                  <a:buNone/>
                </a:pPr>
                <a:r>
                  <a:rPr lang="en-IN" sz="1800" dirty="0">
                    <a:solidFill>
                      <a:schemeClr val="accent1"/>
                    </a:solidFill>
                  </a:rPr>
                  <a:t>Input: A conjunction of constraints C</a:t>
                </a:r>
              </a:p>
              <a:p>
                <a:pPr marL="0" indent="0">
                  <a:lnSpc>
                    <a:spcPct val="120000"/>
                  </a:lnSpc>
                  <a:spcBef>
                    <a:spcPts val="0"/>
                  </a:spcBef>
                  <a:buNone/>
                </a:pPr>
                <a:r>
                  <a:rPr lang="en-IN" sz="1800" dirty="0">
                    <a:solidFill>
                      <a:schemeClr val="accent1"/>
                    </a:solidFill>
                  </a:rPr>
                  <a:t>Output: “Satisfiable” if C is satisfiable; otherwise, “Unsatisfiable”</a:t>
                </a:r>
              </a:p>
              <a:p>
                <a:pPr marL="0" indent="0">
                  <a:lnSpc>
                    <a:spcPct val="120000"/>
                  </a:lnSpc>
                  <a:spcBef>
                    <a:spcPts val="0"/>
                  </a:spcBef>
                  <a:buNone/>
                </a:pPr>
                <a:r>
                  <a:rPr lang="en-IN" sz="1800" dirty="0"/>
                  <a:t>if C contains only one variable:</a:t>
                </a:r>
              </a:p>
              <a:p>
                <a:pPr marL="0" indent="0">
                  <a:lnSpc>
                    <a:spcPct val="120000"/>
                  </a:lnSpc>
                  <a:spcBef>
                    <a:spcPts val="0"/>
                  </a:spcBef>
                  <a:buNone/>
                </a:pPr>
                <a:r>
                  <a:rPr lang="en-IN" sz="1800" dirty="0"/>
                  <a:t>    Solve and return result;</a:t>
                </a:r>
              </a:p>
              <a:p>
                <a:pPr marL="0" indent="0">
                  <a:lnSpc>
                    <a:spcPct val="120000"/>
                  </a:lnSpc>
                  <a:spcBef>
                    <a:spcPts val="0"/>
                  </a:spcBef>
                  <a:buNone/>
                </a:pPr>
                <a:r>
                  <a:rPr lang="en-IN" sz="1800" dirty="0"/>
                  <a:t>Otherwise, choose a variable v that occurs in C</a:t>
                </a:r>
              </a:p>
              <a:p>
                <a:pPr marL="0" indent="0">
                  <a:lnSpc>
                    <a:spcPct val="120000"/>
                  </a:lnSpc>
                  <a:spcBef>
                    <a:spcPts val="0"/>
                  </a:spcBef>
                  <a:buNone/>
                </a:pPr>
                <a14:m>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𝑅</m:t>
                        </m:r>
                      </m:sub>
                    </m:sSub>
                    <m:r>
                      <a:rPr lang="en-IN" sz="1800" b="0" i="1" smtClean="0">
                        <a:latin typeface="Cambria Math" panose="02040503050406030204" pitchFamily="18" charset="0"/>
                      </a:rPr>
                      <m:t>:=</m:t>
                    </m:r>
                    <m:r>
                      <a:rPr lang="en-IN" sz="1800" b="0" i="1" smtClean="0">
                        <a:latin typeface="Cambria Math" panose="02040503050406030204" pitchFamily="18" charset="0"/>
                      </a:rPr>
                      <m:t>𝑅𝑒𝑎𝑙</m:t>
                    </m:r>
                    <m:r>
                      <a:rPr lang="en-IN" sz="1800" b="0" i="1" smtClean="0">
                        <a:latin typeface="Cambria Math" panose="02040503050406030204" pitchFamily="18" charset="0"/>
                      </a:rPr>
                      <m:t>_</m:t>
                    </m:r>
                    <m:r>
                      <a:rPr lang="en-IN" sz="1800" b="0" i="1" smtClean="0">
                        <a:latin typeface="Cambria Math" panose="02040503050406030204" pitchFamily="18" charset="0"/>
                      </a:rPr>
                      <m:t>𝑆h𝑎𝑑𝑜𝑤</m:t>
                    </m:r>
                  </m:oMath>
                </a14:m>
                <a:r>
                  <a:rPr lang="en-IN" sz="1800" dirty="0"/>
                  <a:t>(C, v);</a:t>
                </a:r>
              </a:p>
              <a:p>
                <a:pPr marL="0" indent="0">
                  <a:lnSpc>
                    <a:spcPct val="120000"/>
                  </a:lnSpc>
                  <a:spcBef>
                    <a:spcPts val="0"/>
                  </a:spcBef>
                  <a:buNone/>
                </a:pPr>
                <a:r>
                  <a:rPr lang="en-IN" sz="1800" dirty="0"/>
                  <a:t>if </a:t>
                </a:r>
                <a:r>
                  <a:rPr lang="en-IN" sz="1800" dirty="0" err="1"/>
                  <a:t>Omega_Test</a:t>
                </a:r>
                <a:r>
                  <a:rPr lang="en-IN" sz="1800" dirty="0"/>
                  <a:t>(</a:t>
                </a:r>
                <a14:m>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𝑅</m:t>
                        </m:r>
                      </m:sub>
                    </m:sSub>
                  </m:oMath>
                </a14:m>
                <a:r>
                  <a:rPr lang="en-IN" sz="1800" dirty="0"/>
                  <a:t>) = “Unsatisfiable”: </a:t>
                </a:r>
              </a:p>
              <a:p>
                <a:pPr marL="0" indent="0">
                  <a:lnSpc>
                    <a:spcPct val="120000"/>
                  </a:lnSpc>
                  <a:spcBef>
                    <a:spcPts val="0"/>
                  </a:spcBef>
                  <a:buNone/>
                </a:pPr>
                <a:r>
                  <a:rPr lang="en-IN" sz="1800" dirty="0"/>
                  <a:t>    return “Unsatisfiable”</a:t>
                </a:r>
              </a:p>
              <a:p>
                <a:pPr marL="0" indent="0">
                  <a:lnSpc>
                    <a:spcPct val="120000"/>
                  </a:lnSpc>
                  <a:spcBef>
                    <a:spcPts val="0"/>
                  </a:spcBef>
                  <a:buNone/>
                </a:pPr>
                <a14:m>
                  <m:oMathPara xmlns:m="http://schemas.openxmlformats.org/officeDocument/2006/math">
                    <m:oMathParaPr>
                      <m:jc m:val="left"/>
                    </m:oMathParaPr>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𝐷</m:t>
                          </m:r>
                        </m:sub>
                      </m:sSub>
                      <m:r>
                        <a:rPr lang="en-IN" sz="1800" b="0" i="1" smtClean="0">
                          <a:latin typeface="Cambria Math" panose="02040503050406030204" pitchFamily="18" charset="0"/>
                        </a:rPr>
                        <m:t>:=</m:t>
                      </m:r>
                      <m:r>
                        <a:rPr lang="en-IN" sz="1800" b="0" i="1" smtClean="0">
                          <a:latin typeface="Cambria Math" panose="02040503050406030204" pitchFamily="18" charset="0"/>
                        </a:rPr>
                        <m:t>𝐷𝑎𝑟𝑘</m:t>
                      </m:r>
                      <m:r>
                        <m:rPr>
                          <m:lit/>
                        </m:rPr>
                        <a:rPr lang="en-IN" sz="1800" b="0" i="1" smtClean="0">
                          <a:latin typeface="Cambria Math" panose="02040503050406030204" pitchFamily="18" charset="0"/>
                        </a:rPr>
                        <m:t>_</m:t>
                      </m:r>
                      <m:r>
                        <a:rPr lang="en-IN" sz="1800" b="0" i="1" smtClean="0">
                          <a:latin typeface="Cambria Math" panose="02040503050406030204" pitchFamily="18" charset="0"/>
                        </a:rPr>
                        <m:t>𝑆h𝑎𝑑𝑜𝑤</m:t>
                      </m:r>
                      <m:d>
                        <m:dPr>
                          <m:ctrlPr>
                            <a:rPr lang="en-IN" sz="1800" b="0" i="1" smtClean="0">
                              <a:latin typeface="Cambria Math" panose="02040503050406030204" pitchFamily="18" charset="0"/>
                            </a:rPr>
                          </m:ctrlPr>
                        </m:dPr>
                        <m:e>
                          <m:r>
                            <a:rPr lang="en-IN" sz="1800" b="0" i="1" smtClean="0">
                              <a:latin typeface="Cambria Math" panose="02040503050406030204" pitchFamily="18" charset="0"/>
                            </a:rPr>
                            <m:t>𝐶</m:t>
                          </m:r>
                          <m:r>
                            <a:rPr lang="en-IN" sz="1800" b="0" i="1" smtClean="0">
                              <a:latin typeface="Cambria Math" panose="02040503050406030204" pitchFamily="18" charset="0"/>
                            </a:rPr>
                            <m:t>, </m:t>
                          </m:r>
                          <m:r>
                            <a:rPr lang="en-IN" sz="1800" b="0" i="1" smtClean="0">
                              <a:latin typeface="Cambria Math" panose="02040503050406030204" pitchFamily="18" charset="0"/>
                            </a:rPr>
                            <m:t>𝑣</m:t>
                          </m:r>
                        </m:e>
                      </m:d>
                      <m:r>
                        <a:rPr lang="en-IN" sz="1800" b="0" i="1" smtClean="0">
                          <a:latin typeface="Cambria Math" panose="02040503050406030204" pitchFamily="18" charset="0"/>
                        </a:rPr>
                        <m:t>;</m:t>
                      </m:r>
                    </m:oMath>
                  </m:oMathPara>
                </a14:m>
                <a:endParaRPr lang="en-IN" sz="1800" dirty="0"/>
              </a:p>
              <a:p>
                <a:pPr marL="0" indent="0">
                  <a:lnSpc>
                    <a:spcPct val="120000"/>
                  </a:lnSpc>
                  <a:spcBef>
                    <a:spcPts val="0"/>
                  </a:spcBef>
                  <a:buNone/>
                </a:pPr>
                <a:r>
                  <a:rPr lang="en-IN" sz="1800" dirty="0"/>
                  <a:t>if </a:t>
                </a:r>
                <a:r>
                  <a:rPr lang="en-IN" sz="1800" dirty="0" err="1"/>
                  <a:t>Omega_Test</a:t>
                </a:r>
                <a:r>
                  <a:rPr lang="en-IN" sz="1800" dirty="0"/>
                  <a:t>(</a:t>
                </a:r>
                <a14:m>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𝐷</m:t>
                        </m:r>
                      </m:sub>
                    </m:sSub>
                  </m:oMath>
                </a14:m>
                <a:r>
                  <a:rPr lang="en-IN" sz="1800" dirty="0"/>
                  <a:t>) = “Satisfiable”:</a:t>
                </a:r>
              </a:p>
              <a:p>
                <a:pPr marL="0" indent="0">
                  <a:lnSpc>
                    <a:spcPct val="120000"/>
                  </a:lnSpc>
                  <a:spcBef>
                    <a:spcPts val="0"/>
                  </a:spcBef>
                  <a:buNone/>
                </a:pPr>
                <a:r>
                  <a:rPr lang="en-IN" sz="1800" dirty="0"/>
                  <a:t>    return “Satisfiable”;</a:t>
                </a:r>
              </a:p>
              <a:p>
                <a:pPr marL="0" indent="0">
                  <a:lnSpc>
                    <a:spcPct val="120000"/>
                  </a:lnSpc>
                  <a:spcBef>
                    <a:spcPts val="0"/>
                  </a:spcBef>
                  <a:buNone/>
                </a:pPr>
                <a:r>
                  <a:rPr lang="en-IN" sz="1800" dirty="0"/>
                  <a:t>if </a:t>
                </a:r>
                <a14:m>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𝑅</m:t>
                        </m:r>
                      </m:sub>
                    </m:sSub>
                    <m:r>
                      <a:rPr lang="en-IN" sz="1800" b="0" i="1" smtClean="0">
                        <a:latin typeface="Cambria Math" panose="02040503050406030204" pitchFamily="18" charset="0"/>
                      </a:rPr>
                      <m:t>=</m:t>
                    </m:r>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𝐷</m:t>
                        </m:r>
                      </m:sub>
                    </m:sSub>
                    <m:r>
                      <a:rPr lang="en-IN" sz="1800" b="0" i="1" smtClean="0">
                        <a:latin typeface="Cambria Math" panose="02040503050406030204" pitchFamily="18" charset="0"/>
                      </a:rPr>
                      <m:t>:</m:t>
                    </m:r>
                  </m:oMath>
                </a14:m>
                <a:endParaRPr lang="en-IN" sz="1800" b="0" dirty="0"/>
              </a:p>
              <a:p>
                <a:pPr marL="0" indent="0">
                  <a:lnSpc>
                    <a:spcPct val="120000"/>
                  </a:lnSpc>
                  <a:spcBef>
                    <a:spcPts val="0"/>
                  </a:spcBef>
                  <a:buNone/>
                </a:pPr>
                <a:r>
                  <a:rPr lang="en-IN" sz="1800" dirty="0"/>
                  <a:t>    return “Unsatisfiable”;</a:t>
                </a:r>
              </a:p>
              <a:p>
                <a:pPr marL="0" indent="0">
                  <a:lnSpc>
                    <a:spcPct val="120000"/>
                  </a:lnSpc>
                  <a:spcBef>
                    <a:spcPts val="0"/>
                  </a:spcBef>
                  <a:buNone/>
                </a:pPr>
                <a14:m>
                  <m:oMathPara xmlns:m="http://schemas.openxmlformats.org/officeDocument/2006/math">
                    <m:oMathParaPr>
                      <m:jc m:val="left"/>
                    </m:oMathParaPr>
                    <m:oMath xmlns:m="http://schemas.openxmlformats.org/officeDocument/2006/math">
                      <m:sSubSup>
                        <m:sSubSupPr>
                          <m:ctrlPr>
                            <a:rPr lang="en-IN" sz="1800" b="0" i="1" smtClean="0">
                              <a:latin typeface="Cambria Math" panose="02040503050406030204" pitchFamily="18" charset="0"/>
                            </a:rPr>
                          </m:ctrlPr>
                        </m:sSubSupPr>
                        <m:e>
                          <m:r>
                            <a:rPr lang="en-IN" sz="1800" b="0" i="1" smtClean="0">
                              <a:latin typeface="Cambria Math" panose="02040503050406030204" pitchFamily="18" charset="0"/>
                            </a:rPr>
                            <m:t>𝐶</m:t>
                          </m:r>
                        </m:e>
                        <m:sub>
                          <m:r>
                            <a:rPr lang="en-IN" sz="1800" b="0" i="1" smtClean="0">
                              <a:latin typeface="Cambria Math" panose="02040503050406030204" pitchFamily="18" charset="0"/>
                            </a:rPr>
                            <m:t>𝐺</m:t>
                          </m:r>
                        </m:sub>
                        <m:sup>
                          <m:r>
                            <a:rPr lang="en-IN" sz="1800" b="0" i="1" smtClean="0">
                              <a:latin typeface="Cambria Math" panose="02040503050406030204" pitchFamily="18" charset="0"/>
                            </a:rPr>
                            <m:t>1</m:t>
                          </m:r>
                        </m:sup>
                      </m:sSubSup>
                      <m:r>
                        <a:rPr lang="en-IN" sz="1800" b="0" i="1" smtClean="0">
                          <a:latin typeface="Cambria Math" panose="02040503050406030204" pitchFamily="18" charset="0"/>
                        </a:rPr>
                        <m:t>, …,</m:t>
                      </m:r>
                      <m:sSubSup>
                        <m:sSubSupPr>
                          <m:ctrlPr>
                            <a:rPr lang="en-IN" sz="1800" b="0" i="1" smtClean="0">
                              <a:latin typeface="Cambria Math" panose="02040503050406030204" pitchFamily="18" charset="0"/>
                            </a:rPr>
                          </m:ctrlPr>
                        </m:sSubSupPr>
                        <m:e>
                          <m:r>
                            <a:rPr lang="en-IN" sz="1800" b="0" i="1" smtClean="0">
                              <a:latin typeface="Cambria Math" panose="02040503050406030204" pitchFamily="18" charset="0"/>
                            </a:rPr>
                            <m:t>𝐶</m:t>
                          </m:r>
                        </m:e>
                        <m:sub>
                          <m:r>
                            <a:rPr lang="en-IN" sz="1800" b="0" i="1" smtClean="0">
                              <a:latin typeface="Cambria Math" panose="02040503050406030204" pitchFamily="18" charset="0"/>
                            </a:rPr>
                            <m:t>𝐺</m:t>
                          </m:r>
                        </m:sub>
                        <m:sup>
                          <m:r>
                            <a:rPr lang="en-IN" sz="1800" b="0" i="1" smtClean="0">
                              <a:latin typeface="Cambria Math" panose="02040503050406030204" pitchFamily="18" charset="0"/>
                            </a:rPr>
                            <m:t>𝑛</m:t>
                          </m:r>
                        </m:sup>
                      </m:sSubSup>
                      <m:r>
                        <a:rPr lang="en-IN" sz="1800" b="0" i="1" smtClean="0">
                          <a:latin typeface="Cambria Math" panose="02040503050406030204" pitchFamily="18" charset="0"/>
                        </a:rPr>
                        <m:t> ≔</m:t>
                      </m:r>
                      <m:r>
                        <a:rPr lang="en-IN" sz="1800" b="0" i="1" smtClean="0">
                          <a:latin typeface="Cambria Math" panose="02040503050406030204" pitchFamily="18" charset="0"/>
                        </a:rPr>
                        <m:t>𝐺𝑟𝑎𝑦</m:t>
                      </m:r>
                      <m:r>
                        <m:rPr>
                          <m:lit/>
                        </m:rPr>
                        <a:rPr lang="en-IN" sz="1800" b="0" i="1" smtClean="0">
                          <a:latin typeface="Cambria Math" panose="02040503050406030204" pitchFamily="18" charset="0"/>
                        </a:rPr>
                        <m:t>_</m:t>
                      </m:r>
                      <m:r>
                        <a:rPr lang="en-IN" sz="1800" b="0" i="1" smtClean="0">
                          <a:latin typeface="Cambria Math" panose="02040503050406030204" pitchFamily="18" charset="0"/>
                        </a:rPr>
                        <m:t>𝑆h𝑎𝑑𝑜𝑤</m:t>
                      </m:r>
                      <m:d>
                        <m:dPr>
                          <m:ctrlPr>
                            <a:rPr lang="en-IN" sz="1800" b="0" i="1" smtClean="0">
                              <a:latin typeface="Cambria Math" panose="02040503050406030204" pitchFamily="18" charset="0"/>
                            </a:rPr>
                          </m:ctrlPr>
                        </m:dPr>
                        <m:e>
                          <m:r>
                            <a:rPr lang="en-IN" sz="1800" b="0" i="1" smtClean="0">
                              <a:latin typeface="Cambria Math" panose="02040503050406030204" pitchFamily="18" charset="0"/>
                            </a:rPr>
                            <m:t>𝐶</m:t>
                          </m:r>
                          <m:r>
                            <a:rPr lang="en-IN" sz="1800" b="0" i="1" smtClean="0">
                              <a:latin typeface="Cambria Math" panose="02040503050406030204" pitchFamily="18" charset="0"/>
                            </a:rPr>
                            <m:t>, </m:t>
                          </m:r>
                          <m:r>
                            <a:rPr lang="en-IN" sz="1800" b="0" i="1" smtClean="0">
                              <a:latin typeface="Cambria Math" panose="02040503050406030204" pitchFamily="18" charset="0"/>
                            </a:rPr>
                            <m:t>𝑣</m:t>
                          </m:r>
                        </m:e>
                      </m:d>
                      <m:r>
                        <a:rPr lang="en-IN" sz="1800" b="0" i="1" smtClean="0">
                          <a:latin typeface="Cambria Math" panose="02040503050406030204" pitchFamily="18" charset="0"/>
                        </a:rPr>
                        <m:t>;</m:t>
                      </m:r>
                    </m:oMath>
                  </m:oMathPara>
                </a14:m>
                <a:endParaRPr lang="en-IN" sz="1800" b="0" dirty="0"/>
              </a:p>
              <a:p>
                <a:pPr marL="0" indent="0">
                  <a:lnSpc>
                    <a:spcPct val="120000"/>
                  </a:lnSpc>
                  <a:spcBef>
                    <a:spcPts val="0"/>
                  </a:spcBef>
                  <a:buNone/>
                </a:pPr>
                <a:r>
                  <a:rPr lang="en-IN" sz="1800" dirty="0"/>
                  <a:t>for </a:t>
                </a:r>
                <a:r>
                  <a:rPr lang="en-IN" sz="1800" dirty="0" err="1"/>
                  <a:t>i</a:t>
                </a:r>
                <a:r>
                  <a:rPr lang="en-IN" sz="1800" dirty="0"/>
                  <a:t> = 1 to n:</a:t>
                </a:r>
              </a:p>
              <a:p>
                <a:pPr marL="0" indent="0">
                  <a:lnSpc>
                    <a:spcPct val="120000"/>
                  </a:lnSpc>
                  <a:spcBef>
                    <a:spcPts val="0"/>
                  </a:spcBef>
                  <a:buNone/>
                </a:pPr>
                <a:r>
                  <a:rPr lang="en-IN" sz="1800" dirty="0"/>
                  <a:t>    if </a:t>
                </a:r>
                <a:r>
                  <a:rPr lang="en-IN" sz="1800" dirty="0" err="1"/>
                  <a:t>Omega_Test</a:t>
                </a:r>
                <a:r>
                  <a:rPr lang="en-IN" sz="1800" dirty="0"/>
                  <a:t>(</a:t>
                </a:r>
                <a14:m>
                  <m:oMath xmlns:m="http://schemas.openxmlformats.org/officeDocument/2006/math">
                    <m:sSubSup>
                      <m:sSubSupPr>
                        <m:ctrlPr>
                          <a:rPr lang="en-IN" sz="1800" b="0" i="1" smtClean="0">
                            <a:latin typeface="Cambria Math" panose="02040503050406030204" pitchFamily="18" charset="0"/>
                          </a:rPr>
                        </m:ctrlPr>
                      </m:sSubSupPr>
                      <m:e>
                        <m:r>
                          <a:rPr lang="en-IN" sz="1800" b="0" i="1" smtClean="0">
                            <a:latin typeface="Cambria Math" panose="02040503050406030204" pitchFamily="18" charset="0"/>
                          </a:rPr>
                          <m:t>𝐶</m:t>
                        </m:r>
                      </m:e>
                      <m:sub>
                        <m:r>
                          <a:rPr lang="en-IN" sz="1800" b="0" i="1" smtClean="0">
                            <a:latin typeface="Cambria Math" panose="02040503050406030204" pitchFamily="18" charset="0"/>
                          </a:rPr>
                          <m:t>𝐺</m:t>
                        </m:r>
                      </m:sub>
                      <m:sup>
                        <m:r>
                          <a:rPr lang="en-IN" sz="1800" b="0" i="1" smtClean="0">
                            <a:latin typeface="Cambria Math" panose="02040503050406030204" pitchFamily="18" charset="0"/>
                          </a:rPr>
                          <m:t>𝑖</m:t>
                        </m:r>
                      </m:sup>
                    </m:sSubSup>
                  </m:oMath>
                </a14:m>
                <a:r>
                  <a:rPr lang="en-IN" sz="1800" dirty="0"/>
                  <a:t>) = “Satisfiable”:</a:t>
                </a:r>
              </a:p>
              <a:p>
                <a:pPr marL="0" indent="0">
                  <a:lnSpc>
                    <a:spcPct val="120000"/>
                  </a:lnSpc>
                  <a:spcBef>
                    <a:spcPts val="0"/>
                  </a:spcBef>
                  <a:buNone/>
                </a:pPr>
                <a:r>
                  <a:rPr lang="en-IN" sz="1800" dirty="0"/>
                  <a:t>        return “Satisfiable”;</a:t>
                </a:r>
              </a:p>
              <a:p>
                <a:pPr marL="0" indent="0">
                  <a:lnSpc>
                    <a:spcPct val="120000"/>
                  </a:lnSpc>
                  <a:spcBef>
                    <a:spcPts val="0"/>
                  </a:spcBef>
                  <a:buNone/>
                </a:pPr>
                <a:r>
                  <a:rPr lang="en-IN" sz="1800" dirty="0"/>
                  <a:t>return “Unsatisfiable”</a:t>
                </a:r>
              </a:p>
              <a:p>
                <a:pPr marL="0" indent="0">
                  <a:lnSpc>
                    <a:spcPct val="120000"/>
                  </a:lnSpc>
                  <a:spcBef>
                    <a:spcPts val="0"/>
                  </a:spcBef>
                  <a:buNone/>
                </a:pPr>
                <a:endParaRPr lang="en-IN" sz="1800"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62583C56-A216-4B44-2E98-F9D631814D82}"/>
                  </a:ext>
                </a:extLst>
              </p:cNvPr>
              <p:cNvSpPr>
                <a:spLocks noGrp="1" noRot="1" noChangeAspect="1" noMove="1" noResize="1" noEditPoints="1" noAdjustHandles="1" noChangeArrowheads="1" noChangeShapeType="1" noTextEdit="1"/>
              </p:cNvSpPr>
              <p:nvPr>
                <p:ph idx="1"/>
              </p:nvPr>
            </p:nvSpPr>
            <p:spPr>
              <a:xfrm>
                <a:off x="5518370" y="235974"/>
                <a:ext cx="6526161" cy="6449961"/>
              </a:xfrm>
              <a:blipFill>
                <a:blip r:embed="rId2"/>
                <a:stretch>
                  <a:fillRect l="-747" b="-95"/>
                </a:stretch>
              </a:blipFill>
            </p:spPr>
            <p:txBody>
              <a:bodyPr/>
              <a:lstStyle/>
              <a:p>
                <a:r>
                  <a:rPr lang="en-IN">
                    <a:noFill/>
                  </a:rPr>
                  <a:t> </a:t>
                </a:r>
              </a:p>
            </p:txBody>
          </p:sp>
        </mc:Fallback>
      </mc:AlternateContent>
    </p:spTree>
    <p:extLst>
      <p:ext uri="{BB962C8B-B14F-4D97-AF65-F5344CB8AC3E}">
        <p14:creationId xmlns:p14="http://schemas.microsoft.com/office/powerpoint/2010/main" val="3019347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Dark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BDEF99F-CEE9-CE0F-C24C-C09EE9378BEB}"/>
                  </a:ext>
                </a:extLst>
              </p:cNvPr>
              <p:cNvSpPr txBox="1"/>
              <p:nvPr/>
            </p:nvSpPr>
            <p:spPr>
              <a:xfrm>
                <a:off x="910466" y="2063467"/>
                <a:ext cx="10037752" cy="3785652"/>
              </a:xfrm>
              <a:prstGeom prst="rect">
                <a:avLst/>
              </a:prstGeom>
              <a:noFill/>
            </p:spPr>
            <p:txBody>
              <a:bodyPr wrap="square" rtlCol="0">
                <a:spAutoFit/>
              </a:bodyPr>
              <a:lstStyle/>
              <a:p>
                <a:endParaRPr lang="en-IN" sz="2400" dirty="0"/>
              </a:p>
              <a:p>
                <a:r>
                  <a:rPr lang="en-IN" sz="2400" b="0" dirty="0"/>
                  <a:t>for each pair of constraints: </a:t>
                </a:r>
                <a14:m>
                  <m:oMath xmlns:m="http://schemas.openxmlformats.org/officeDocument/2006/math">
                    <m:r>
                      <a:rPr lang="en-IN" sz="2400" b="0" i="1" smtClean="0">
                        <a:latin typeface="Cambria Math" panose="02040503050406030204" pitchFamily="18" charset="0"/>
                      </a:rPr>
                      <m:t>𝑏𝑧</m:t>
                    </m:r>
                    <m:r>
                      <a:rPr lang="en-IN" sz="2400" b="0" i="1" smtClean="0">
                        <a:latin typeface="Cambria Math" panose="02040503050406030204" pitchFamily="18" charset="0"/>
                      </a:rPr>
                      <m:t>≥</m:t>
                    </m:r>
                    <m:r>
                      <a:rPr lang="en-IN" sz="2400" b="0" i="1" smtClean="0">
                        <a:latin typeface="Cambria Math" panose="02040503050406030204" pitchFamily="18" charset="0"/>
                      </a:rPr>
                      <m:t>𝛽</m:t>
                    </m:r>
                  </m:oMath>
                </a14:m>
                <a:r>
                  <a:rPr lang="en-IN" sz="2400" dirty="0"/>
                  <a:t>    </a:t>
                </a:r>
                <a14:m>
                  <m:oMath xmlns:m="http://schemas.openxmlformats.org/officeDocument/2006/math">
                    <m:r>
                      <a:rPr lang="en-IN" sz="2400" b="0" i="1" dirty="0" smtClean="0">
                        <a:latin typeface="Cambria Math" panose="02040503050406030204" pitchFamily="18" charset="0"/>
                      </a:rPr>
                      <m:t>∧</m:t>
                    </m:r>
                  </m:oMath>
                </a14:m>
                <a:r>
                  <a:rPr lang="en-IN" sz="2400" dirty="0"/>
                  <a:t>     </a:t>
                </a:r>
                <a14:m>
                  <m:oMath xmlns:m="http://schemas.openxmlformats.org/officeDocument/2006/math">
                    <m:r>
                      <a:rPr lang="en-IN" sz="2400" b="0" i="1" dirty="0" smtClean="0">
                        <a:latin typeface="Cambria Math" panose="02040503050406030204" pitchFamily="18" charset="0"/>
                      </a:rPr>
                      <m:t>𝑐𝑧</m:t>
                    </m:r>
                    <m:r>
                      <a:rPr lang="en-IN" sz="2400" b="0" i="1" dirty="0" smtClean="0">
                        <a:latin typeface="Cambria Math" panose="02040503050406030204" pitchFamily="18" charset="0"/>
                      </a:rPr>
                      <m:t>≤</m:t>
                    </m:r>
                    <m:r>
                      <a:rPr lang="en-IN" sz="2400" b="0" i="1" dirty="0" smtClean="0">
                        <a:latin typeface="Cambria Math" panose="02040503050406030204" pitchFamily="18" charset="0"/>
                      </a:rPr>
                      <m:t>𝛾</m:t>
                    </m:r>
                  </m:oMath>
                </a14:m>
                <a:r>
                  <a:rPr lang="en-IN" sz="2400" dirty="0"/>
                  <a:t>    </a:t>
                </a:r>
              </a:p>
              <a:p>
                <a:r>
                  <a:rPr lang="en-IN" sz="2400" dirty="0"/>
                  <a:t>Eliminate </a:t>
                </a:r>
                <a14:m>
                  <m:oMath xmlns:m="http://schemas.openxmlformats.org/officeDocument/2006/math">
                    <m:r>
                      <a:rPr lang="en-IN" sz="2400" b="0" i="1" smtClean="0">
                        <a:latin typeface="Cambria Math" panose="02040503050406030204" pitchFamily="18" charset="0"/>
                      </a:rPr>
                      <m:t>𝑧</m:t>
                    </m:r>
                  </m:oMath>
                </a14:m>
                <a:r>
                  <a:rPr lang="en-IN" sz="2400" b="0" dirty="0"/>
                  <a:t> using:</a:t>
                </a:r>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𝑏</m:t>
                      </m:r>
                      <m:r>
                        <a:rPr lang="en-IN" sz="2400" b="0" i="1" smtClean="0">
                          <a:latin typeface="Cambria Math" panose="02040503050406030204" pitchFamily="18" charset="0"/>
                        </a:rPr>
                        <m:t>𝛾</m:t>
                      </m:r>
                      <m:r>
                        <a:rPr lang="en-IN" sz="2400" b="0" i="1" smtClean="0">
                          <a:latin typeface="Cambria Math" panose="02040503050406030204" pitchFamily="18" charset="0"/>
                        </a:rPr>
                        <m:t>−</m:t>
                      </m:r>
                      <m:r>
                        <a:rPr lang="en-IN" sz="2400" b="0" i="1" smtClean="0">
                          <a:latin typeface="Cambria Math" panose="02040503050406030204" pitchFamily="18" charset="0"/>
                        </a:rPr>
                        <m:t>𝑐</m:t>
                      </m:r>
                      <m:r>
                        <a:rPr lang="en-IN" sz="2400" b="0" i="1" smtClean="0">
                          <a:latin typeface="Cambria Math" panose="02040503050406030204" pitchFamily="18" charset="0"/>
                        </a:rPr>
                        <m:t>𝛽</m:t>
                      </m:r>
                      <m:r>
                        <a:rPr lang="en-IN" sz="2400" b="0" i="1" smtClean="0">
                          <a:latin typeface="Cambria Math" panose="02040503050406030204" pitchFamily="18" charset="0"/>
                        </a:rPr>
                        <m:t>≥</m:t>
                      </m:r>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𝑐</m:t>
                          </m:r>
                          <m:r>
                            <a:rPr lang="en-IN" sz="2400" b="0" i="1" smtClean="0">
                              <a:latin typeface="Cambria Math" panose="02040503050406030204" pitchFamily="18" charset="0"/>
                            </a:rPr>
                            <m:t>−1</m:t>
                          </m:r>
                        </m:e>
                      </m:d>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𝑏</m:t>
                          </m:r>
                          <m:r>
                            <a:rPr lang="en-IN" sz="2400" b="0" i="1" smtClean="0">
                              <a:latin typeface="Cambria Math" panose="02040503050406030204" pitchFamily="18" charset="0"/>
                            </a:rPr>
                            <m:t>−1</m:t>
                          </m:r>
                        </m:e>
                      </m:d>
                    </m:oMath>
                  </m:oMathPara>
                </a14:m>
                <a:endParaRPr lang="en-IN" sz="2400" b="0" dirty="0"/>
              </a:p>
              <a:p>
                <a:pPr/>
                <a:endParaRPr lang="en-IN" sz="2400" dirty="0"/>
              </a:p>
              <a:p>
                <a:pPr/>
                <a:r>
                  <a:rPr lang="en-US" sz="2400" dirty="0"/>
                  <a:t>The resulting constraints are the dark-shadow constraints.</a:t>
                </a:r>
              </a:p>
              <a:p>
                <a:pPr/>
                <a:endParaRPr lang="en-US" sz="2400" dirty="0"/>
              </a:p>
              <a:p>
                <a:pPr/>
                <a:r>
                  <a:rPr lang="en-US" sz="2400" dirty="0"/>
                  <a:t>If the dark-shadow constraints have integer solutions, then the original constraints have a satisfying integer assignment for </a:t>
                </a:r>
                <a14:m>
                  <m:oMath xmlns:m="http://schemas.openxmlformats.org/officeDocument/2006/math">
                    <m:r>
                      <a:rPr lang="en-US" sz="2400" i="1" dirty="0" smtClean="0">
                        <a:latin typeface="Cambria Math" panose="02040503050406030204" pitchFamily="18" charset="0"/>
                      </a:rPr>
                      <m:t>𝑧</m:t>
                    </m:r>
                  </m:oMath>
                </a14:m>
                <a:r>
                  <a:rPr lang="en-US" sz="2400" dirty="0"/>
                  <a:t> for each solution of the dark-shadow constraints.</a:t>
                </a:r>
                <a:endParaRPr lang="en-IN" sz="2400" b="0" dirty="0"/>
              </a:p>
            </p:txBody>
          </p:sp>
        </mc:Choice>
        <mc:Fallback>
          <p:sp>
            <p:nvSpPr>
              <p:cNvPr id="5" name="TextBox 4">
                <a:extLst>
                  <a:ext uri="{FF2B5EF4-FFF2-40B4-BE49-F238E27FC236}">
                    <a16:creationId xmlns:a16="http://schemas.microsoft.com/office/drawing/2014/main" id="{9BDEF99F-CEE9-CE0F-C24C-C09EE9378BEB}"/>
                  </a:ext>
                </a:extLst>
              </p:cNvPr>
              <p:cNvSpPr txBox="1">
                <a:spLocks noRot="1" noChangeAspect="1" noMove="1" noResize="1" noEditPoints="1" noAdjustHandles="1" noChangeArrowheads="1" noChangeShapeType="1" noTextEdit="1"/>
              </p:cNvSpPr>
              <p:nvPr/>
            </p:nvSpPr>
            <p:spPr>
              <a:xfrm>
                <a:off x="910466" y="2063467"/>
                <a:ext cx="10037752" cy="3785652"/>
              </a:xfrm>
              <a:prstGeom prst="rect">
                <a:avLst/>
              </a:prstGeom>
              <a:blipFill>
                <a:blip r:embed="rId2"/>
                <a:stretch>
                  <a:fillRect l="-911" b="-2572"/>
                </a:stretch>
              </a:blipFill>
            </p:spPr>
            <p:txBody>
              <a:bodyPr/>
              <a:lstStyle/>
              <a:p>
                <a:r>
                  <a:rPr lang="en-IN">
                    <a:noFill/>
                  </a:rPr>
                  <a:t> </a:t>
                </a:r>
              </a:p>
            </p:txBody>
          </p:sp>
        </mc:Fallback>
      </mc:AlternateContent>
    </p:spTree>
    <p:extLst>
      <p:ext uri="{BB962C8B-B14F-4D97-AF65-F5344CB8AC3E}">
        <p14:creationId xmlns:p14="http://schemas.microsoft.com/office/powerpoint/2010/main" val="2644168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Gray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C216980-5477-B7AD-A512-494DF03D418E}"/>
                  </a:ext>
                </a:extLst>
              </p:cNvPr>
              <p:cNvSpPr txBox="1"/>
              <p:nvPr/>
            </p:nvSpPr>
            <p:spPr>
              <a:xfrm>
                <a:off x="910466" y="2063467"/>
                <a:ext cx="10037752" cy="1901739"/>
              </a:xfrm>
              <a:prstGeom prst="rect">
                <a:avLst/>
              </a:prstGeom>
              <a:noFill/>
            </p:spPr>
            <p:txBody>
              <a:bodyPr wrap="square" rtlCol="0">
                <a:spAutoFit/>
              </a:bodyPr>
              <a:lstStyle/>
              <a:p>
                <a:endParaRPr lang="en-IN" sz="2400" dirty="0"/>
              </a:p>
              <a:p>
                <a:r>
                  <a:rPr lang="en-IN" sz="2400" b="0" dirty="0"/>
                  <a:t>for each pair of constraints: </a:t>
                </a:r>
                <a14:m>
                  <m:oMath xmlns:m="http://schemas.openxmlformats.org/officeDocument/2006/math">
                    <m:r>
                      <a:rPr lang="en-IN" sz="2400" b="0" i="1" smtClean="0">
                        <a:latin typeface="Cambria Math" panose="02040503050406030204" pitchFamily="18" charset="0"/>
                      </a:rPr>
                      <m:t>𝑏𝑧</m:t>
                    </m:r>
                    <m:r>
                      <a:rPr lang="en-IN" sz="2400" b="0" i="1" smtClean="0">
                        <a:latin typeface="Cambria Math" panose="02040503050406030204" pitchFamily="18" charset="0"/>
                      </a:rPr>
                      <m:t>≥</m:t>
                    </m:r>
                    <m:r>
                      <a:rPr lang="en-IN" sz="2400" b="0" i="1" smtClean="0">
                        <a:latin typeface="Cambria Math" panose="02040503050406030204" pitchFamily="18" charset="0"/>
                      </a:rPr>
                      <m:t>𝛽</m:t>
                    </m:r>
                  </m:oMath>
                </a14:m>
                <a:r>
                  <a:rPr lang="en-IN" sz="2400" dirty="0"/>
                  <a:t>    </a:t>
                </a:r>
                <a14:m>
                  <m:oMath xmlns:m="http://schemas.openxmlformats.org/officeDocument/2006/math">
                    <m:r>
                      <a:rPr lang="en-IN" sz="2400" b="0" i="1" dirty="0" smtClean="0">
                        <a:latin typeface="Cambria Math" panose="02040503050406030204" pitchFamily="18" charset="0"/>
                      </a:rPr>
                      <m:t>∧</m:t>
                    </m:r>
                  </m:oMath>
                </a14:m>
                <a:r>
                  <a:rPr lang="en-IN" sz="2400" dirty="0"/>
                  <a:t>     </a:t>
                </a:r>
                <a14:m>
                  <m:oMath xmlns:m="http://schemas.openxmlformats.org/officeDocument/2006/math">
                    <m:r>
                      <a:rPr lang="en-IN" sz="2400" b="0" i="1" dirty="0" smtClean="0">
                        <a:latin typeface="Cambria Math" panose="02040503050406030204" pitchFamily="18" charset="0"/>
                      </a:rPr>
                      <m:t>𝑐𝑧</m:t>
                    </m:r>
                    <m:r>
                      <a:rPr lang="en-IN" sz="2400" b="0" i="1" dirty="0" smtClean="0">
                        <a:latin typeface="Cambria Math" panose="02040503050406030204" pitchFamily="18" charset="0"/>
                      </a:rPr>
                      <m:t>≤</m:t>
                    </m:r>
                    <m:r>
                      <a:rPr lang="en-IN" sz="2400" b="0" i="1" dirty="0" smtClean="0">
                        <a:latin typeface="Cambria Math" panose="02040503050406030204" pitchFamily="18" charset="0"/>
                      </a:rPr>
                      <m:t>𝛾</m:t>
                    </m:r>
                  </m:oMath>
                </a14:m>
                <a:r>
                  <a:rPr lang="en-IN" sz="2400" dirty="0"/>
                  <a:t>    </a:t>
                </a:r>
              </a:p>
              <a:p>
                <a:r>
                  <a:rPr lang="en-IN" sz="2400" dirty="0"/>
                  <a:t>The omega test tries all possible values of </a:t>
                </a:r>
                <a14:m>
                  <m:oMath xmlns:m="http://schemas.openxmlformats.org/officeDocument/2006/math">
                    <m:r>
                      <a:rPr lang="en-IN" sz="2400" i="1" dirty="0" smtClean="0">
                        <a:latin typeface="Cambria Math" panose="02040503050406030204" pitchFamily="18" charset="0"/>
                      </a:rPr>
                      <m:t>𝑏𝑧</m:t>
                    </m:r>
                  </m:oMath>
                </a14:m>
                <a:r>
                  <a:rPr lang="en-IN" sz="2400" dirty="0"/>
                  <a:t> between these two bounds </a:t>
                </a:r>
              </a:p>
              <a:p>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𝛽</m:t>
                      </m:r>
                      <m:r>
                        <a:rPr lang="en-IN" sz="2400" b="0" i="1" smtClean="0">
                          <a:latin typeface="Cambria Math" panose="02040503050406030204" pitchFamily="18" charset="0"/>
                        </a:rPr>
                        <m:t>≤</m:t>
                      </m:r>
                      <m:r>
                        <a:rPr lang="en-IN" sz="2400" b="0" i="1" smtClean="0">
                          <a:latin typeface="Cambria Math" panose="02040503050406030204" pitchFamily="18" charset="0"/>
                        </a:rPr>
                        <m:t>𝑏𝑧</m:t>
                      </m:r>
                      <m:r>
                        <a:rPr lang="en-IN" sz="2400" b="0" i="1" smtClean="0">
                          <a:latin typeface="Cambria Math" panose="02040503050406030204" pitchFamily="18" charset="0"/>
                        </a:rPr>
                        <m:t>≤</m:t>
                      </m:r>
                      <m:r>
                        <a:rPr lang="en-IN" sz="2400" b="0" i="1" smtClean="0">
                          <a:latin typeface="Cambria Math" panose="02040503050406030204" pitchFamily="18" charset="0"/>
                        </a:rPr>
                        <m:t>𝛽</m:t>
                      </m:r>
                      <m:r>
                        <a:rPr lang="en-IN" sz="2400" b="0" i="1" smtClean="0">
                          <a:latin typeface="Cambria Math" panose="02040503050406030204" pitchFamily="18" charset="0"/>
                        </a:rPr>
                        <m:t>+</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𝑐𝑏</m:t>
                          </m:r>
                          <m:r>
                            <a:rPr lang="en-IN" sz="2400" b="0" i="1" smtClean="0">
                              <a:latin typeface="Cambria Math" panose="02040503050406030204" pitchFamily="18" charset="0"/>
                            </a:rPr>
                            <m:t>−</m:t>
                          </m:r>
                          <m:r>
                            <a:rPr lang="en-IN" sz="2400" b="0" i="1" smtClean="0">
                              <a:latin typeface="Cambria Math" panose="02040503050406030204" pitchFamily="18" charset="0"/>
                            </a:rPr>
                            <m:t>𝑐</m:t>
                          </m:r>
                          <m:r>
                            <a:rPr lang="en-IN" sz="2400" b="0" i="1" smtClean="0">
                              <a:latin typeface="Cambria Math" panose="02040503050406030204" pitchFamily="18" charset="0"/>
                            </a:rPr>
                            <m:t>−</m:t>
                          </m:r>
                          <m:r>
                            <a:rPr lang="en-IN" sz="2400" b="0" i="1" smtClean="0">
                              <a:latin typeface="Cambria Math" panose="02040503050406030204" pitchFamily="18" charset="0"/>
                            </a:rPr>
                            <m:t>𝑏</m:t>
                          </m:r>
                        </m:num>
                        <m:den>
                          <m:r>
                            <a:rPr lang="en-IN" sz="2400" b="0" i="1" smtClean="0">
                              <a:latin typeface="Cambria Math" panose="02040503050406030204" pitchFamily="18" charset="0"/>
                            </a:rPr>
                            <m:t>𝑐</m:t>
                          </m:r>
                        </m:den>
                      </m:f>
                    </m:oMath>
                  </m:oMathPara>
                </a14:m>
                <a:endParaRPr lang="en-IN" sz="2400" b="0" dirty="0"/>
              </a:p>
            </p:txBody>
          </p:sp>
        </mc:Choice>
        <mc:Fallback>
          <p:sp>
            <p:nvSpPr>
              <p:cNvPr id="5" name="TextBox 4">
                <a:extLst>
                  <a:ext uri="{FF2B5EF4-FFF2-40B4-BE49-F238E27FC236}">
                    <a16:creationId xmlns:a16="http://schemas.microsoft.com/office/drawing/2014/main" id="{5C216980-5477-B7AD-A512-494DF03D418E}"/>
                  </a:ext>
                </a:extLst>
              </p:cNvPr>
              <p:cNvSpPr txBox="1">
                <a:spLocks noRot="1" noChangeAspect="1" noMove="1" noResize="1" noEditPoints="1" noAdjustHandles="1" noChangeArrowheads="1" noChangeShapeType="1" noTextEdit="1"/>
              </p:cNvSpPr>
              <p:nvPr/>
            </p:nvSpPr>
            <p:spPr>
              <a:xfrm>
                <a:off x="910466" y="2063467"/>
                <a:ext cx="10037752" cy="1901739"/>
              </a:xfrm>
              <a:prstGeom prst="rect">
                <a:avLst/>
              </a:prstGeom>
              <a:blipFill>
                <a:blip r:embed="rId2"/>
                <a:stretch>
                  <a:fillRect l="-911"/>
                </a:stretch>
              </a:blipFill>
            </p:spPr>
            <p:txBody>
              <a:bodyPr/>
              <a:lstStyle/>
              <a:p>
                <a:r>
                  <a:rPr lang="en-IN">
                    <a:noFill/>
                  </a:rPr>
                  <a:t> </a:t>
                </a:r>
              </a:p>
            </p:txBody>
          </p:sp>
        </mc:Fallback>
      </mc:AlternateContent>
    </p:spTree>
    <p:extLst>
      <p:ext uri="{BB962C8B-B14F-4D97-AF65-F5344CB8AC3E}">
        <p14:creationId xmlns:p14="http://schemas.microsoft.com/office/powerpoint/2010/main" val="1747477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Example</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03395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394D7-F7DF-BBAA-82B4-9FA7538CB2DF}"/>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309B0C-1461-76E7-6599-D1F680C69534}"/>
                  </a:ext>
                </a:extLst>
              </p:cNvPr>
              <p:cNvSpPr>
                <a:spLocks noGrp="1"/>
              </p:cNvSpPr>
              <p:nvPr>
                <p:ph idx="1"/>
              </p:nvPr>
            </p:nvSpPr>
            <p:spPr/>
            <p:txBody>
              <a:bodyPr>
                <a:normAutofit fontScale="92500" lnSpcReduction="10000"/>
              </a:bodyPr>
              <a:lstStyle/>
              <a:p>
                <a:pPr marL="0" indent="0">
                  <a:buNone/>
                </a:pPr>
                <a14:m>
                  <m:oMath xmlns:m="http://schemas.openxmlformats.org/officeDocument/2006/math">
                    <m:r>
                      <m:rPr>
                        <m:nor/>
                      </m:rPr>
                      <a:rPr lang="en-IN" dirty="0" smtClean="0">
                        <a:latin typeface="Cambria Math" panose="02040503050406030204" pitchFamily="18" charset="0"/>
                      </a:rPr>
                      <m:t>2</m:t>
                    </m:r>
                    <m:r>
                      <m:rPr>
                        <m:nor/>
                      </m:rPr>
                      <a:rPr lang="en-IN" dirty="0" smtClean="0"/>
                      <m:t>y</m:t>
                    </m:r>
                    <m:r>
                      <m:rPr>
                        <m:nor/>
                      </m:rPr>
                      <a:rPr lang="en-IN" dirty="0" smtClean="0"/>
                      <m:t> </m:t>
                    </m:r>
                    <m:r>
                      <a:rPr lang="en-IN" b="0" i="1" dirty="0" smtClean="0">
                        <a:latin typeface="Cambria Math" panose="02040503050406030204" pitchFamily="18" charset="0"/>
                      </a:rPr>
                      <m:t>≤</m:t>
                    </m:r>
                    <m:r>
                      <m:rPr>
                        <m:nor/>
                      </m:rPr>
                      <a:rPr lang="en-IN" dirty="0" smtClean="0"/>
                      <m:t> </m:t>
                    </m:r>
                    <m:r>
                      <m:rPr>
                        <m:nor/>
                      </m:rPr>
                      <a:rPr lang="en-IN" b="0" i="0" dirty="0" smtClean="0"/>
                      <m:t>x</m:t>
                    </m:r>
                    <m:r>
                      <m:rPr>
                        <m:nor/>
                      </m:rPr>
                      <a:rPr lang="en-IN" b="0" i="0" dirty="0" smtClean="0"/>
                      <m:t>                </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b="0" i="1" dirty="0" smtClean="0">
                          <a:latin typeface="Cambria Math" panose="02040503050406030204" pitchFamily="18" charset="0"/>
                        </a:rPr>
                        <m:t>𝑦</m:t>
                      </m:r>
                      <m:r>
                        <a:rPr lang="en-IN" sz="2800" i="1" dirty="0" smtClean="0">
                          <a:latin typeface="Cambria Math" panose="02040503050406030204" pitchFamily="18" charset="0"/>
                        </a:rPr>
                        <m:t>≤</m:t>
                      </m:r>
                      <m:r>
                        <a:rPr lang="en-IN" sz="2800" b="0" i="1" dirty="0" smtClean="0">
                          <a:latin typeface="Cambria Math" panose="02040503050406030204" pitchFamily="18" charset="0"/>
                        </a:rPr>
                        <m:t>3</m:t>
                      </m:r>
                      <m:r>
                        <a:rPr lang="en-IN" sz="2800" i="1" dirty="0" smtClean="0">
                          <a:latin typeface="Cambria Math" panose="02040503050406030204" pitchFamily="18" charset="0"/>
                        </a:rPr>
                        <m:t> –</m:t>
                      </m:r>
                      <m:r>
                        <a:rPr lang="en-IN" sz="2800" i="1" dirty="0" smtClean="0">
                          <a:latin typeface="Cambria Math" panose="02040503050406030204" pitchFamily="18" charset="0"/>
                        </a:rPr>
                        <m:t>𝑥</m:t>
                      </m:r>
                      <m:r>
                        <a:rPr lang="en-IN" sz="2800" b="0" i="1" dirty="0" smtClean="0">
                          <a:latin typeface="Cambria Math" panose="02040503050406030204" pitchFamily="18" charset="0"/>
                        </a:rPr>
                        <m:t>                −(</m:t>
                      </m:r>
                      <m:r>
                        <a:rPr lang="en-IN" sz="2800" b="0" i="1" dirty="0" smtClean="0">
                          <a:latin typeface="Cambria Math" panose="02040503050406030204" pitchFamily="18" charset="0"/>
                        </a:rPr>
                        <m:t>𝑖𝑖</m:t>
                      </m:r>
                      <m:r>
                        <a:rPr lang="en-IN" sz="2800" b="0" i="1" dirty="0"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sz="2800" i="1" dirty="0" smtClean="0">
                          <a:latin typeface="Cambria Math" panose="02040503050406030204" pitchFamily="18" charset="0"/>
                        </a:rPr>
                        <m:t>𝑦</m:t>
                      </m:r>
                      <m:r>
                        <a:rPr lang="en-IN" sz="2800" i="1" dirty="0" smtClean="0">
                          <a:latin typeface="Cambria Math" panose="02040503050406030204" pitchFamily="18" charset="0"/>
                        </a:rPr>
                        <m:t>≥2+</m:t>
                      </m:r>
                      <m:r>
                        <a:rPr lang="en-IN" sz="2800" i="1" dirty="0" smtClean="0">
                          <a:latin typeface="Cambria Math" panose="02040503050406030204" pitchFamily="18" charset="0"/>
                        </a:rPr>
                        <m:t>𝑥</m:t>
                      </m:r>
                      <m:r>
                        <a:rPr lang="en-IN" sz="2800" i="1" dirty="0" smtClean="0">
                          <a:latin typeface="Cambria Math" panose="02040503050406030204" pitchFamily="18" charset="0"/>
                        </a:rPr>
                        <m:t>              −(</m:t>
                      </m:r>
                      <m:r>
                        <a:rPr lang="en-IN" sz="2800" b="0" i="1" dirty="0" smtClean="0">
                          <a:latin typeface="Cambria Math" panose="02040503050406030204" pitchFamily="18" charset="0"/>
                        </a:rPr>
                        <m:t>𝑖𝑖𝑖</m:t>
                      </m:r>
                      <m:r>
                        <a:rPr lang="en-IN" sz="2800" b="0" i="1" dirty="0" smtClean="0">
                          <a:latin typeface="Cambria Math" panose="02040503050406030204" pitchFamily="18" charset="0"/>
                        </a:rPr>
                        <m:t>)</m:t>
                      </m:r>
                    </m:oMath>
                  </m:oMathPara>
                </a14:m>
                <a:endParaRPr lang="en-IN" sz="2800" dirty="0"/>
              </a:p>
              <a:p>
                <a:pPr marL="0" indent="0">
                  <a:buNone/>
                </a:pPr>
                <a:endParaRPr lang="en-IN" dirty="0"/>
              </a:p>
              <a:p>
                <a:pPr marL="0" indent="0">
                  <a:buNone/>
                </a:pPr>
                <a:r>
                  <a:rPr lang="en-IN" sz="2800" dirty="0"/>
                  <a:t>Eliminate y and check if the rest of the constraints have integer solutions.</a:t>
                </a:r>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4</m:t>
                      </m:r>
                      <m:r>
                        <a:rPr lang="en-IN" sz="2800" b="0" i="1" smtClean="0">
                          <a:latin typeface="Cambria Math" panose="02040503050406030204" pitchFamily="18" charset="0"/>
                        </a:rPr>
                        <m:t>𝑥</m:t>
                      </m:r>
                      <m:r>
                        <a:rPr lang="en-IN" sz="2800" b="0" i="1" smtClean="0">
                          <a:latin typeface="Cambria Math" panose="02040503050406030204" pitchFamily="18" charset="0"/>
                        </a:rPr>
                        <m:t>≥2+</m:t>
                      </m:r>
                      <m:r>
                        <a:rPr lang="en-IN" sz="2800" b="0" i="1" smtClean="0">
                          <a:latin typeface="Cambria Math" panose="02040503050406030204" pitchFamily="18" charset="0"/>
                        </a:rPr>
                        <m:t>𝑥</m:t>
                      </m:r>
                      <m:r>
                        <a:rPr lang="en-IN" sz="2800" b="0" i="1" smtClean="0">
                          <a:latin typeface="Cambria Math" panose="02040503050406030204" pitchFamily="18" charset="0"/>
                        </a:rPr>
                        <m:t>                             </m:t>
                      </m:r>
                      <m:r>
                        <a:rPr lang="en-IN" sz="2800" b="0" i="1" smtClean="0">
                          <a:latin typeface="Cambria Math" panose="02040503050406030204" pitchFamily="18" charset="0"/>
                        </a:rPr>
                        <m:t>𝑓𝑟𝑜𝑚</m:t>
                      </m:r>
                      <m:r>
                        <a:rPr lang="en-IN" sz="2800" b="0" i="1" smtClean="0">
                          <a:latin typeface="Cambria Math" panose="02040503050406030204" pitchFamily="18" charset="0"/>
                        </a:rPr>
                        <m:t> </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𝑖</m:t>
                          </m:r>
                        </m:e>
                      </m:d>
                      <m:r>
                        <a:rPr lang="en-IN" sz="2800" b="0" i="1" smtClean="0">
                          <a:latin typeface="Cambria Math" panose="02040503050406030204" pitchFamily="18" charset="0"/>
                        </a:rPr>
                        <m:t> </m:t>
                      </m:r>
                      <m:r>
                        <a:rPr lang="en-IN" sz="2800" b="0" i="1" smtClean="0">
                          <a:latin typeface="Cambria Math" panose="02040503050406030204" pitchFamily="18" charset="0"/>
                        </a:rPr>
                        <m:t>𝑎𝑛𝑑</m:t>
                      </m:r>
                      <m:r>
                        <a:rPr lang="en-IN" sz="2800" b="0" i="1" smtClean="0">
                          <a:latin typeface="Cambria Math" panose="02040503050406030204" pitchFamily="18" charset="0"/>
                        </a:rPr>
                        <m:t> (</m:t>
                      </m:r>
                      <m:r>
                        <a:rPr lang="en-IN" sz="2800" b="0" i="1" smtClean="0">
                          <a:latin typeface="Cambria Math" panose="02040503050406030204" pitchFamily="18" charset="0"/>
                        </a:rPr>
                        <m:t>𝑖𝑖𝑖</m:t>
                      </m:r>
                      <m:r>
                        <a:rPr lang="en-IN" sz="2800" b="0" i="1"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𝑥</m:t>
                      </m:r>
                      <m:r>
                        <a:rPr lang="en-IN" sz="2800" b="0" i="1" smtClean="0">
                          <a:latin typeface="Cambria Math" panose="02040503050406030204" pitchFamily="18" charset="0"/>
                        </a:rPr>
                        <m:t>≥</m:t>
                      </m:r>
                      <m:f>
                        <m:fPr>
                          <m:ctrlPr>
                            <a:rPr lang="en-IN" sz="2800" b="0" i="1" smtClean="0">
                              <a:latin typeface="Cambria Math" panose="02040503050406030204" pitchFamily="18" charset="0"/>
                            </a:rPr>
                          </m:ctrlPr>
                        </m:fPr>
                        <m:num>
                          <m:r>
                            <a:rPr lang="en-IN" sz="2800" b="0" i="1" smtClean="0">
                              <a:latin typeface="Cambria Math" panose="02040503050406030204" pitchFamily="18" charset="0"/>
                            </a:rPr>
                            <m:t>2</m:t>
                          </m:r>
                        </m:num>
                        <m:den>
                          <m:r>
                            <a:rPr lang="en-IN" sz="2800" b="0" i="1" smtClean="0">
                              <a:latin typeface="Cambria Math" panose="02040503050406030204" pitchFamily="18" charset="0"/>
                            </a:rPr>
                            <m:t>3</m:t>
                          </m:r>
                        </m:den>
                      </m:f>
                    </m:oMath>
                  </m:oMathPara>
                </a14:m>
                <a:endParaRPr lang="en-IN" sz="2800" b="0" dirty="0"/>
              </a:p>
              <a:p>
                <a:pPr marL="0" indent="0">
                  <a:buNone/>
                </a:pPr>
                <a14:m>
                  <m:oMath xmlns:m="http://schemas.openxmlformats.org/officeDocument/2006/math">
                    <m:r>
                      <a:rPr lang="en-IN" i="1">
                        <a:latin typeface="Cambria Math" panose="02040503050406030204" pitchFamily="18" charset="0"/>
                      </a:rPr>
                      <m:t>4</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3−</m:t>
                        </m:r>
                        <m:r>
                          <a:rPr lang="en-IN" sz="2800" b="0" i="1" smtClean="0">
                            <a:latin typeface="Cambria Math" panose="02040503050406030204" pitchFamily="18" charset="0"/>
                          </a:rPr>
                          <m:t>𝑥</m:t>
                        </m:r>
                      </m:e>
                    </m:d>
                    <m:r>
                      <a:rPr lang="en-IN" sz="2800" b="0" i="1" smtClean="0">
                        <a:latin typeface="Cambria Math" panose="02040503050406030204" pitchFamily="18" charset="0"/>
                      </a:rPr>
                      <m:t>≥2+</m:t>
                    </m:r>
                    <m:r>
                      <a:rPr lang="en-IN" sz="2800" b="0" i="1" smtClean="0">
                        <a:latin typeface="Cambria Math" panose="02040503050406030204" pitchFamily="18" charset="0"/>
                      </a:rPr>
                      <m:t>𝑥</m:t>
                    </m:r>
                  </m:oMath>
                </a14:m>
                <a:r>
                  <a:rPr lang="en-IN" sz="2800" dirty="0"/>
                  <a:t>                 from (ii) and (iii)</a:t>
                </a:r>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𝑥</m:t>
                      </m:r>
                      <m:r>
                        <a:rPr lang="en-IN" sz="2800" b="0" i="1" smtClean="0">
                          <a:latin typeface="Cambria Math" panose="02040503050406030204" pitchFamily="18" charset="0"/>
                        </a:rPr>
                        <m:t>≤2</m:t>
                      </m:r>
                    </m:oMath>
                  </m:oMathPara>
                </a14:m>
                <a:endParaRPr lang="en-IN" sz="2800" b="0" dirty="0"/>
              </a:p>
              <a:p>
                <a:pPr marL="0" indent="0">
                  <a:buNone/>
                </a:pPr>
                <a:r>
                  <a:rPr lang="en-IN" dirty="0"/>
                  <a:t>Thus, the rest of the formula has integer solutions.</a:t>
                </a:r>
                <a:endParaRPr lang="en-IN" sz="2800"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C3309B0C-1461-76E7-6599-D1F680C69534}"/>
                  </a:ext>
                </a:extLst>
              </p:cNvPr>
              <p:cNvSpPr>
                <a:spLocks noGrp="1" noRot="1" noChangeAspect="1" noMove="1" noResize="1" noEditPoints="1" noAdjustHandles="1" noChangeArrowheads="1" noChangeShapeType="1" noTextEdit="1"/>
              </p:cNvSpPr>
              <p:nvPr>
                <p:ph idx="1"/>
              </p:nvPr>
            </p:nvSpPr>
            <p:spPr>
              <a:blipFill>
                <a:blip r:embed="rId2"/>
                <a:stretch>
                  <a:fillRect l="-1043" b="-2241"/>
                </a:stretch>
              </a:blipFill>
            </p:spPr>
            <p:txBody>
              <a:bodyPr/>
              <a:lstStyle/>
              <a:p>
                <a:r>
                  <a:rPr lang="en-IN">
                    <a:noFill/>
                  </a:rPr>
                  <a:t> </a:t>
                </a:r>
              </a:p>
            </p:txBody>
          </p:sp>
        </mc:Fallback>
      </mc:AlternateContent>
    </p:spTree>
    <p:extLst>
      <p:ext uri="{BB962C8B-B14F-4D97-AF65-F5344CB8AC3E}">
        <p14:creationId xmlns:p14="http://schemas.microsoft.com/office/powerpoint/2010/main" val="1507824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a:latin typeface="Cambria Math" panose="02040503050406030204" pitchFamily="18" charset="0"/>
                      </a:rPr>
                      <m:t>2</m:t>
                    </m:r>
                    <m:r>
                      <m:rPr>
                        <m:nor/>
                      </m:rPr>
                      <a:rPr lang="en-IN" dirty="0"/>
                      <m:t>y</m:t>
                    </m:r>
                    <m:r>
                      <m:rPr>
                        <m:nor/>
                      </m:rPr>
                      <a:rPr lang="en-IN" dirty="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Because the real-shadow has integer solutions, we can check whether the dark-shadow has integer solutions.</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1835972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a:latin typeface="Cambria Math" panose="02040503050406030204" pitchFamily="18" charset="0"/>
                      </a:rPr>
                      <m:t>2</m:t>
                    </m:r>
                    <m:r>
                      <m:rPr>
                        <m:nor/>
                      </m:rPr>
                      <a:rPr lang="en-IN" dirty="0"/>
                      <m:t>y</m:t>
                    </m:r>
                    <m:r>
                      <m:rPr>
                        <m:nor/>
                      </m:rPr>
                      <a:rPr lang="en-IN" dirty="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Dark-shadow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eliminate z using </a:t>
                </a:r>
                <a14:m>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−1</m:t>
                        </m:r>
                      </m:e>
                    </m:d>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303129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a:latin typeface="Cambria Math" panose="02040503050406030204" pitchFamily="18" charset="0"/>
                      </a:rPr>
                      <m:t>2</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Dark-shadow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eliminate z using </a:t>
                </a:r>
                <a14:m>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−1</m:t>
                        </m:r>
                      </m:e>
                    </m:d>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a14:m>
                <a:endParaRPr lang="en-IN" dirty="0"/>
              </a:p>
              <a:p>
                <a:pPr marL="0" indent="0">
                  <a:buNone/>
                </a:pPr>
                <a14:m>
                  <m:oMath xmlns:m="http://schemas.openxmlformats.org/officeDocument/2006/math">
                    <m:r>
                      <a:rPr lang="en-IN" i="1">
                        <a:latin typeface="Cambria Math" panose="02040503050406030204" pitchFamily="18" charset="0"/>
                      </a:rPr>
                      <m:t>8</m:t>
                    </m:r>
                    <m:r>
                      <a:rPr lang="en-IN" b="0" i="1" smtClean="0">
                        <a:latin typeface="Cambria Math" panose="02040503050406030204" pitchFamily="18" charset="0"/>
                      </a:rPr>
                      <m:t>𝑥</m:t>
                    </m:r>
                    <m:r>
                      <a:rPr lang="en-IN" b="0" i="1" smtClean="0">
                        <a:latin typeface="Cambria Math" panose="02040503050406030204" pitchFamily="18" charset="0"/>
                      </a:rPr>
                      <m:t>−2∗</m:t>
                    </m:r>
                    <m:d>
                      <m:dPr>
                        <m:ctrlPr>
                          <a:rPr lang="en-IN" b="0" i="1" smtClean="0">
                            <a:latin typeface="Cambria Math" panose="02040503050406030204" pitchFamily="18" charset="0"/>
                          </a:rPr>
                        </m:ctrlPr>
                      </m:dPr>
                      <m:e>
                        <m:r>
                          <a:rPr lang="en-IN" b="0" i="1" smtClean="0">
                            <a:latin typeface="Cambria Math" panose="02040503050406030204" pitchFamily="18" charset="0"/>
                          </a:rPr>
                          <m:t>2+</m:t>
                        </m:r>
                        <m:r>
                          <a:rPr lang="en-IN" b="0" i="1" smtClean="0">
                            <a:latin typeface="Cambria Math" panose="02040503050406030204" pitchFamily="18" charset="0"/>
                          </a:rPr>
                          <m:t>𝑥</m:t>
                        </m:r>
                      </m:e>
                    </m:d>
                    <m:r>
                      <a:rPr lang="en-IN" b="0" i="1" smtClean="0">
                        <a:latin typeface="Cambria Math" panose="02040503050406030204" pitchFamily="18" charset="0"/>
                      </a:rPr>
                      <m:t>≥1∗7</m:t>
                    </m:r>
                  </m:oMath>
                </a14:m>
                <a:r>
                  <a:rPr lang="en-IN" dirty="0"/>
                  <a:t>          from (</a:t>
                </a:r>
                <a:r>
                  <a:rPr lang="en-IN" dirty="0" err="1"/>
                  <a:t>i</a:t>
                </a:r>
                <a:r>
                  <a:rPr lang="en-IN" dirty="0"/>
                  <a:t>) and (iii)</a:t>
                </a:r>
              </a:p>
              <a:p>
                <a:pPr marL="0" indent="0">
                  <a:buNone/>
                </a:pPr>
                <a14:m>
                  <m:oMath xmlns:m="http://schemas.openxmlformats.org/officeDocument/2006/math">
                    <m:r>
                      <a:rPr lang="en-IN" b="0" i="1" smtClean="0">
                        <a:latin typeface="Cambria Math" panose="02040503050406030204" pitchFamily="18" charset="0"/>
                      </a:rPr>
                      <m:t>8∗</m:t>
                    </m:r>
                    <m:d>
                      <m:dPr>
                        <m:ctrlPr>
                          <a:rPr lang="en-IN" b="0" i="1" smtClean="0">
                            <a:latin typeface="Cambria Math" panose="02040503050406030204" pitchFamily="18" charset="0"/>
                          </a:rPr>
                        </m:ctrlPr>
                      </m:dPr>
                      <m:e>
                        <m:r>
                          <a:rPr lang="en-IN" b="0" i="1" smtClean="0">
                            <a:latin typeface="Cambria Math" panose="02040503050406030204" pitchFamily="18" charset="0"/>
                          </a:rPr>
                          <m:t>3−</m:t>
                        </m:r>
                        <m:r>
                          <a:rPr lang="en-IN" b="0" i="1" smtClean="0">
                            <a:latin typeface="Cambria Math" panose="02040503050406030204" pitchFamily="18" charset="0"/>
                          </a:rPr>
                          <m:t>𝑥</m:t>
                        </m:r>
                      </m:e>
                    </m:d>
                    <m:r>
                      <a:rPr lang="en-IN" b="0" i="1" smtClean="0">
                        <a:latin typeface="Cambria Math" panose="02040503050406030204" pitchFamily="18" charset="0"/>
                      </a:rPr>
                      <m:t>−2∗</m:t>
                    </m:r>
                    <m:d>
                      <m:dPr>
                        <m:ctrlPr>
                          <a:rPr lang="en-IN" b="0" i="1" smtClean="0">
                            <a:latin typeface="Cambria Math" panose="02040503050406030204" pitchFamily="18" charset="0"/>
                          </a:rPr>
                        </m:ctrlPr>
                      </m:dPr>
                      <m:e>
                        <m:r>
                          <a:rPr lang="en-IN" b="0" i="1" smtClean="0">
                            <a:latin typeface="Cambria Math" panose="02040503050406030204" pitchFamily="18" charset="0"/>
                          </a:rPr>
                          <m:t>2+</m:t>
                        </m:r>
                        <m:r>
                          <a:rPr lang="en-IN" b="0" i="1" smtClean="0">
                            <a:latin typeface="Cambria Math" panose="02040503050406030204" pitchFamily="18" charset="0"/>
                          </a:rPr>
                          <m:t>𝑥</m:t>
                        </m:r>
                      </m:e>
                    </m:d>
                    <m:r>
                      <a:rPr lang="en-IN" b="0" i="1" smtClean="0">
                        <a:latin typeface="Cambria Math" panose="02040503050406030204" pitchFamily="18" charset="0"/>
                      </a:rPr>
                      <m:t>≥1 ∗7</m:t>
                    </m:r>
                  </m:oMath>
                </a14:m>
                <a:r>
                  <a:rPr lang="en-IN" dirty="0"/>
                  <a:t>       from (ii) and (iii)</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b="-3081"/>
                </a:stretch>
              </a:blipFill>
            </p:spPr>
            <p:txBody>
              <a:bodyPr/>
              <a:lstStyle/>
              <a:p>
                <a:r>
                  <a:rPr lang="en-IN">
                    <a:noFill/>
                  </a:rPr>
                  <a:t> </a:t>
                </a:r>
              </a:p>
            </p:txBody>
          </p:sp>
        </mc:Fallback>
      </mc:AlternateContent>
    </p:spTree>
    <p:extLst>
      <p:ext uri="{BB962C8B-B14F-4D97-AF65-F5344CB8AC3E}">
        <p14:creationId xmlns:p14="http://schemas.microsoft.com/office/powerpoint/2010/main" val="3186606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a:latin typeface="Cambria Math" panose="02040503050406030204" pitchFamily="18" charset="0"/>
                      </a:rPr>
                      <m:t>2</m:t>
                    </m:r>
                    <m:r>
                      <m:rPr>
                        <m:nor/>
                      </m:rPr>
                      <a:rPr lang="en-IN" dirty="0"/>
                      <m:t>y</m:t>
                    </m:r>
                    <m:r>
                      <m:rPr>
                        <m:nor/>
                      </m:rPr>
                      <a:rPr lang="en-IN" dirty="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Constraints after Dark-shadow elimination:</a:t>
                </a:r>
              </a:p>
              <a:p>
                <a:pPr marL="0" indent="0">
                  <a:buNone/>
                </a:pPr>
                <a:r>
                  <a:rPr lang="en-IN" dirty="0"/>
                  <a:t>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11</m:t>
                        </m:r>
                      </m:num>
                      <m:den>
                        <m:r>
                          <a:rPr lang="en-IN" b="0" i="1" smtClean="0">
                            <a:latin typeface="Cambria Math" panose="02040503050406030204" pitchFamily="18" charset="0"/>
                          </a:rPr>
                          <m:t>6</m:t>
                        </m:r>
                      </m:den>
                    </m:f>
                  </m:oMath>
                </a14:m>
                <a:endParaRPr lang="en-IN" b="0" dirty="0"/>
              </a:p>
              <a:p>
                <a:pPr marL="0" indent="0">
                  <a:buNone/>
                </a:pP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13</m:t>
                        </m:r>
                      </m:num>
                      <m:den>
                        <m:r>
                          <a:rPr lang="en-IN" b="0" i="1" smtClean="0">
                            <a:latin typeface="Cambria Math" panose="02040503050406030204" pitchFamily="18" charset="0"/>
                          </a:rPr>
                          <m:t>10</m:t>
                        </m:r>
                      </m:den>
                    </m:f>
                  </m:oMath>
                </a14:m>
                <a:r>
                  <a:rPr lang="en-IN" dirty="0"/>
                  <a:t> </a:t>
                </a:r>
              </a:p>
              <a:p>
                <a:pPr marL="0" indent="0">
                  <a:buNone/>
                </a:pPr>
                <a:r>
                  <a:rPr lang="en-IN" dirty="0"/>
                  <a:t>The above constraints are unsatisfiable.</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1095441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36B2D-B5F9-29B3-962D-CE994E1DFDD0}"/>
              </a:ext>
            </a:extLst>
          </p:cNvPr>
          <p:cNvSpPr>
            <a:spLocks noGrp="1"/>
          </p:cNvSpPr>
          <p:nvPr>
            <p:ph type="title"/>
          </p:nvPr>
        </p:nvSpPr>
        <p:spPr/>
        <p:txBody>
          <a:bodyPr/>
          <a:lstStyle/>
          <a:p>
            <a:r>
              <a:rPr lang="en-IN" dirty="0"/>
              <a:t>Omega test</a:t>
            </a:r>
          </a:p>
        </p:txBody>
      </p:sp>
      <p:sp>
        <p:nvSpPr>
          <p:cNvPr id="3" name="Content Placeholder 2">
            <a:extLst>
              <a:ext uri="{FF2B5EF4-FFF2-40B4-BE49-F238E27FC236}">
                <a16:creationId xmlns:a16="http://schemas.microsoft.com/office/drawing/2014/main" id="{855D1A2A-BBB8-7968-216B-5924C892BA6D}"/>
              </a:ext>
            </a:extLst>
          </p:cNvPr>
          <p:cNvSpPr>
            <a:spLocks noGrp="1"/>
          </p:cNvSpPr>
          <p:nvPr>
            <p:ph idx="1"/>
          </p:nvPr>
        </p:nvSpPr>
        <p:spPr/>
        <p:txBody>
          <a:bodyPr/>
          <a:lstStyle/>
          <a:p>
            <a:r>
              <a:rPr lang="en-IN" dirty="0"/>
              <a:t>Even though the dark shadow doesn’t have any solution, the Gray shadow might have</a:t>
            </a:r>
          </a:p>
          <a:p>
            <a:pPr marL="0" indent="0">
              <a:buNone/>
            </a:pPr>
            <a:endParaRPr lang="en-IN" dirty="0"/>
          </a:p>
        </p:txBody>
      </p:sp>
    </p:spTree>
    <p:extLst>
      <p:ext uri="{BB962C8B-B14F-4D97-AF65-F5344CB8AC3E}">
        <p14:creationId xmlns:p14="http://schemas.microsoft.com/office/powerpoint/2010/main" val="1811984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a:latin typeface="Cambria Math" panose="02040503050406030204" pitchFamily="18" charset="0"/>
                      </a:rPr>
                      <m:t>2</m:t>
                    </m:r>
                    <m:r>
                      <m:rPr>
                        <m:nor/>
                      </m:rPr>
                      <a:rPr lang="en-IN" dirty="0"/>
                      <m:t>y</m:t>
                    </m:r>
                    <m:r>
                      <m:rPr>
                        <m:nor/>
                      </m:rPr>
                      <a:rPr lang="en-IN" dirty="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Gray-shadow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Try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oMath>
                </a14:m>
                <a:r>
                  <a:rPr lang="en-IN" dirty="0"/>
                  <a:t> where </a:t>
                </a:r>
                <a14:m>
                  <m:oMath xmlns:m="http://schemas.openxmlformats.org/officeDocument/2006/math">
                    <m:r>
                      <a:rPr lang="en-IN">
                        <a:latin typeface="Cambria Math" panose="02040503050406030204" pitchFamily="18" charset="0"/>
                      </a:rPr>
                      <m:t>0</m:t>
                    </m:r>
                    <m:r>
                      <a:rPr lang="en-IN" b="0" i="0"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𝑐𝑏</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num>
                      <m:den>
                        <m:r>
                          <a:rPr lang="en-IN" b="0" i="1" smtClean="0">
                            <a:latin typeface="Cambria Math" panose="02040503050406030204" pitchFamily="18" charset="0"/>
                          </a:rPr>
                          <m:t>𝑐</m:t>
                        </m:r>
                      </m:den>
                    </m:f>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1078718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a:latin typeface="Cambria Math" panose="02040503050406030204" pitchFamily="18" charset="0"/>
                      </a:rPr>
                      <m:t>2</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For </a:t>
                </a:r>
                <a14:m>
                  <m:oMath xmlns:m="http://schemas.openxmlformats.org/officeDocument/2006/math">
                    <m:r>
                      <a:rPr lang="en-IN" i="1">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𝑥</m:t>
                    </m:r>
                  </m:oMath>
                </a14:m>
                <a:r>
                  <a:rPr lang="en-IN" dirty="0"/>
                  <a:t>, the only possible value of c is 2.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𝑐𝑏</m:t>
                        </m:r>
                        <m:r>
                          <a:rPr lang="en-IN" b="0" i="1" smtClean="0">
                            <a:latin typeface="Cambria Math" panose="02040503050406030204" pitchFamily="18" charset="0"/>
                          </a:rPr>
                          <m:t> −</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num>
                      <m:den>
                        <m:r>
                          <a:rPr lang="en-IN" b="0" i="1" smtClean="0">
                            <a:latin typeface="Cambria Math" panose="02040503050406030204" pitchFamily="18" charset="0"/>
                          </a:rPr>
                          <m:t>𝑐</m:t>
                        </m:r>
                      </m:den>
                    </m:f>
                    <m:r>
                      <a:rPr lang="en-IN" b="0" i="1" smtClean="0">
                        <a:latin typeface="Cambria Math" panose="02040503050406030204" pitchFamily="18" charset="0"/>
                      </a:rPr>
                      <m:t>=3</m:t>
                    </m:r>
                  </m:oMath>
                </a14:m>
                <a:endParaRPr lang="en-IN" dirty="0"/>
              </a:p>
              <a:p>
                <a:pPr marL="0" indent="0">
                  <a:buNone/>
                </a:pPr>
                <a:r>
                  <a:rPr lang="en-IN" dirty="0"/>
                  <a:t>Try </a:t>
                </a:r>
                <a14:m>
                  <m:oMath xmlns:m="http://schemas.openxmlformats.org/officeDocument/2006/math">
                    <m:r>
                      <a:rPr lang="en-IN" b="0" i="0"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𝑥</m:t>
                    </m:r>
                  </m:oMath>
                </a14:m>
                <a:r>
                  <a:rPr lang="en-IN" dirty="0"/>
                  <a:t> </a:t>
                </a:r>
                <a14:m>
                  <m:oMath xmlns:m="http://schemas.openxmlformats.org/officeDocument/2006/math">
                    <m:r>
                      <a:rPr lang="en-IN" b="0" i="1" dirty="0" smtClean="0">
                        <a:latin typeface="Cambria Math" panose="02040503050406030204" pitchFamily="18" charset="0"/>
                      </a:rPr>
                      <m:t>∨</m:t>
                    </m:r>
                  </m:oMath>
                </a14:m>
                <a:r>
                  <a:rPr lang="en-IN" dirty="0"/>
                  <a:t> </a:t>
                </a:r>
                <a14:m>
                  <m:oMath xmlns:m="http://schemas.openxmlformats.org/officeDocument/2006/math">
                    <m:r>
                      <a:rPr lang="en-IN" b="0" i="0" smtClean="0">
                        <a:latin typeface="Cambria Math" panose="02040503050406030204" pitchFamily="18" charset="0"/>
                      </a:rPr>
                      <m:t>8</m:t>
                    </m:r>
                    <m:r>
                      <a:rPr lang="en-IN" i="1">
                        <a:latin typeface="Cambria Math" panose="02040503050406030204" pitchFamily="18" charset="0"/>
                      </a:rPr>
                      <m:t>𝑦</m:t>
                    </m:r>
                    <m:r>
                      <a:rPr lang="en-IN" i="1">
                        <a:latin typeface="Cambria Math" panose="02040503050406030204" pitchFamily="18" charset="0"/>
                      </a:rPr>
                      <m:t>=3+</m:t>
                    </m:r>
                    <m:r>
                      <a:rPr lang="en-IN" i="1">
                        <a:latin typeface="Cambria Math" panose="02040503050406030204" pitchFamily="18" charset="0"/>
                      </a:rPr>
                      <m:t>𝑥</m:t>
                    </m:r>
                  </m:oMath>
                </a14:m>
                <a:r>
                  <a:rPr lang="en-IN" dirty="0"/>
                  <a:t> </a:t>
                </a:r>
                <a14:m>
                  <m:oMath xmlns:m="http://schemas.openxmlformats.org/officeDocument/2006/math">
                    <m:r>
                      <a:rPr lang="en-IN" b="0" i="1" dirty="0" smtClean="0">
                        <a:latin typeface="Cambria Math" panose="02040503050406030204" pitchFamily="18" charset="0"/>
                      </a:rPr>
                      <m:t>∨</m:t>
                    </m:r>
                    <m:r>
                      <a:rPr lang="en-IN" i="1">
                        <a:latin typeface="Cambria Math" panose="02040503050406030204" pitchFamily="18" charset="0"/>
                      </a:rPr>
                      <m:t>…∨</m:t>
                    </m:r>
                    <m:r>
                      <a:rPr lang="en-IN" b="0" i="1" smtClean="0">
                        <a:latin typeface="Cambria Math" panose="02040503050406030204" pitchFamily="18" charset="0"/>
                      </a:rPr>
                      <m:t>8</m:t>
                    </m:r>
                    <m:r>
                      <a:rPr lang="en-IN" i="1">
                        <a:latin typeface="Cambria Math" panose="02040503050406030204" pitchFamily="18" charset="0"/>
                      </a:rPr>
                      <m:t>𝑦</m:t>
                    </m:r>
                    <m:r>
                      <a:rPr lang="en-IN" i="1">
                        <a:latin typeface="Cambria Math" panose="02040503050406030204" pitchFamily="18" charset="0"/>
                      </a:rPr>
                      <m:t>=5+</m:t>
                    </m:r>
                    <m:r>
                      <a:rPr lang="en-IN" i="1">
                        <a:latin typeface="Cambria Math" panose="02040503050406030204" pitchFamily="18" charset="0"/>
                      </a:rPr>
                      <m:t>𝑥</m:t>
                    </m:r>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3807035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a:latin typeface="Cambria Math" panose="02040503050406030204" pitchFamily="18" charset="0"/>
                      </a:rPr>
                      <m:t>2</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b="0" i="1" dirty="0" smtClean="0">
                          <a:latin typeface="Cambria Math" panose="02040503050406030204" pitchFamily="18" charset="0"/>
                        </a:rPr>
                        <m:t>=</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BCD8CE4-0779-FBDC-2B0F-D286C22D0E67}"/>
                  </a:ext>
                </a:extLst>
              </p:cNvPr>
              <p:cNvSpPr txBox="1"/>
              <p:nvPr/>
            </p:nvSpPr>
            <p:spPr>
              <a:xfrm>
                <a:off x="838200" y="3167743"/>
                <a:ext cx="7456714" cy="2585323"/>
              </a:xfrm>
              <a:prstGeom prst="rect">
                <a:avLst/>
              </a:prstGeom>
              <a:noFill/>
            </p:spPr>
            <p:txBody>
              <a:bodyPr wrap="square" rtlCol="0">
                <a:spAutoFit/>
              </a:bodyPr>
              <a:lstStyle/>
              <a:p>
                <a:r>
                  <a:rPr lang="en-IN" dirty="0"/>
                  <a:t>check if the above equations have integer solutions</a:t>
                </a:r>
              </a:p>
              <a:p>
                <a:r>
                  <a:rPr lang="en-IN" dirty="0" err="1"/>
                  <a:t>eq</a:t>
                </a:r>
                <a:r>
                  <a:rPr lang="en-IN" dirty="0"/>
                  <a:t> (iii) has integer solutions because the coefficient of x is one</a:t>
                </a:r>
              </a:p>
              <a:p>
                <a:endParaRPr lang="en-IN" dirty="0"/>
              </a:p>
              <a:p>
                <a:r>
                  <a:rPr lang="en-IN" dirty="0"/>
                  <a:t>eliminating x by substituting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−2</m:t>
                    </m:r>
                  </m:oMath>
                </a14:m>
                <a:r>
                  <a:rPr lang="en-IN" dirty="0"/>
                  <a:t> in </a:t>
                </a:r>
                <a:r>
                  <a:rPr lang="en-IN" dirty="0" err="1"/>
                  <a:t>eqs</a:t>
                </a:r>
                <a:r>
                  <a:rPr lang="en-IN" dirty="0"/>
                  <a:t>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 −2     →6</m:t>
                      </m:r>
                      <m:r>
                        <a:rPr lang="en-IN" b="0" i="1" smtClean="0">
                          <a:latin typeface="Cambria Math" panose="02040503050406030204" pitchFamily="18" charset="0"/>
                        </a:rPr>
                        <m:t>𝑦</m:t>
                      </m:r>
                      <m:r>
                        <a:rPr lang="en-IN" b="0" i="1" smtClean="0">
                          <a:latin typeface="Cambria Math" panose="02040503050406030204" pitchFamily="18" charset="0"/>
                        </a:rPr>
                        <m:t>≥2    →</m:t>
                      </m:r>
                      <m:r>
                        <a:rPr lang="en-IN" b="0" i="1" smtClean="0">
                          <a:latin typeface="Cambria Math" panose="02040503050406030204" pitchFamily="18" charset="0"/>
                        </a:rPr>
                        <m:t>𝑦</m:t>
                      </m:r>
                      <m:r>
                        <a:rPr lang="en-IN" b="0" i="1" smtClean="0">
                          <a:latin typeface="Cambria Math" panose="02040503050406030204" pitchFamily="18" charset="0"/>
                        </a:rPr>
                        <m:t>≥1</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≤3 −</m:t>
                      </m:r>
                      <m:d>
                        <m:dPr>
                          <m:ctrlPr>
                            <a:rPr lang="en-IN" b="0" i="1" smtClean="0">
                              <a:latin typeface="Cambria Math" panose="02040503050406030204" pitchFamily="18" charset="0"/>
                            </a:rPr>
                          </m:ctrlPr>
                        </m:dPr>
                        <m:e>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−2</m:t>
                          </m:r>
                        </m:e>
                      </m:d>
                      <m:r>
                        <a:rPr lang="en-IN" b="0" i="1" smtClean="0">
                          <a:latin typeface="Cambria Math" panose="02040503050406030204" pitchFamily="18" charset="0"/>
                        </a:rPr>
                        <m:t>    →   10</m:t>
                      </m:r>
                      <m:r>
                        <a:rPr lang="en-IN" b="0" i="1" smtClean="0">
                          <a:latin typeface="Cambria Math" panose="02040503050406030204" pitchFamily="18" charset="0"/>
                        </a:rPr>
                        <m:t>𝑦</m:t>
                      </m:r>
                      <m:r>
                        <a:rPr lang="en-IN" b="0" i="1" smtClean="0">
                          <a:latin typeface="Cambria Math" panose="02040503050406030204" pitchFamily="18" charset="0"/>
                        </a:rPr>
                        <m:t>≤5    →   </m:t>
                      </m:r>
                      <m:r>
                        <a:rPr lang="en-IN" b="0" i="1" smtClean="0">
                          <a:latin typeface="Cambria Math" panose="02040503050406030204" pitchFamily="18" charset="0"/>
                        </a:rPr>
                        <m:t>𝑦</m:t>
                      </m:r>
                      <m:r>
                        <a:rPr lang="en-IN" b="0" i="1" smtClean="0">
                          <a:latin typeface="Cambria Math" panose="02040503050406030204" pitchFamily="18" charset="0"/>
                        </a:rPr>
                        <m:t>≤0</m:t>
                      </m:r>
                    </m:oMath>
                  </m:oMathPara>
                </a14:m>
                <a:endParaRPr lang="en-IN" b="0" dirty="0"/>
              </a:p>
              <a:p>
                <a:endParaRPr lang="en-IN" dirty="0"/>
              </a:p>
              <a:p>
                <a:r>
                  <a:rPr lang="en-IN" dirty="0"/>
                  <a:t>the resulting constraints are</a:t>
                </a:r>
                <a:r>
                  <a:rPr lang="en-IN" b="0" dirty="0"/>
                  <a:t> unsatisfiable.</a:t>
                </a:r>
              </a:p>
              <a:p>
                <a:endParaRPr lang="en-IN" dirty="0"/>
              </a:p>
            </p:txBody>
          </p:sp>
        </mc:Choice>
        <mc:Fallback xmlns="">
          <p:sp>
            <p:nvSpPr>
              <p:cNvPr id="4" name="TextBox 3">
                <a:extLst>
                  <a:ext uri="{FF2B5EF4-FFF2-40B4-BE49-F238E27FC236}">
                    <a16:creationId xmlns:a16="http://schemas.microsoft.com/office/drawing/2014/main" id="{6BCD8CE4-0779-FBDC-2B0F-D286C22D0E67}"/>
                  </a:ext>
                </a:extLst>
              </p:cNvPr>
              <p:cNvSpPr txBox="1">
                <a:spLocks noRot="1" noChangeAspect="1" noMove="1" noResize="1" noEditPoints="1" noAdjustHandles="1" noChangeArrowheads="1" noChangeShapeType="1" noTextEdit="1"/>
              </p:cNvSpPr>
              <p:nvPr/>
            </p:nvSpPr>
            <p:spPr>
              <a:xfrm>
                <a:off x="838200" y="3167743"/>
                <a:ext cx="7456714" cy="2585323"/>
              </a:xfrm>
              <a:prstGeom prst="rect">
                <a:avLst/>
              </a:prstGeom>
              <a:blipFill>
                <a:blip r:embed="rId3"/>
                <a:stretch>
                  <a:fillRect l="-736" t="-1415"/>
                </a:stretch>
              </a:blipFill>
            </p:spPr>
            <p:txBody>
              <a:bodyPr/>
              <a:lstStyle/>
              <a:p>
                <a:r>
                  <a:rPr lang="en-IN">
                    <a:noFill/>
                  </a:rPr>
                  <a:t> </a:t>
                </a:r>
              </a:p>
            </p:txBody>
          </p:sp>
        </mc:Fallback>
      </mc:AlternateContent>
    </p:spTree>
    <p:extLst>
      <p:ext uri="{BB962C8B-B14F-4D97-AF65-F5344CB8AC3E}">
        <p14:creationId xmlns:p14="http://schemas.microsoft.com/office/powerpoint/2010/main" val="394564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a:latin typeface="Cambria Math" panose="02040503050406030204" pitchFamily="18" charset="0"/>
                      </a:rPr>
                      <m:t>2</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b="0" i="1" dirty="0" smtClean="0">
                          <a:latin typeface="Cambria Math" panose="02040503050406030204" pitchFamily="18" charset="0"/>
                        </a:rPr>
                        <m:t>=3</m:t>
                      </m:r>
                      <m:r>
                        <a:rPr lang="en-IN" i="1" dirty="0">
                          <a:latin typeface="Cambria Math" panose="02040503050406030204" pitchFamily="18" charset="0"/>
                        </a:rPr>
                        <m:t>+</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BCD8CE4-0779-FBDC-2B0F-D286C22D0E67}"/>
                  </a:ext>
                </a:extLst>
              </p:cNvPr>
              <p:cNvSpPr txBox="1"/>
              <p:nvPr/>
            </p:nvSpPr>
            <p:spPr>
              <a:xfrm>
                <a:off x="838200" y="3167743"/>
                <a:ext cx="7456714" cy="2585323"/>
              </a:xfrm>
              <a:prstGeom prst="rect">
                <a:avLst/>
              </a:prstGeom>
              <a:noFill/>
            </p:spPr>
            <p:txBody>
              <a:bodyPr wrap="square" rtlCol="0">
                <a:spAutoFit/>
              </a:bodyPr>
              <a:lstStyle/>
              <a:p>
                <a:r>
                  <a:rPr lang="en-IN" dirty="0"/>
                  <a:t>check if the above equations have integer solutions</a:t>
                </a:r>
              </a:p>
              <a:p>
                <a:r>
                  <a:rPr lang="en-IN" dirty="0" err="1"/>
                  <a:t>eq</a:t>
                </a:r>
                <a:r>
                  <a:rPr lang="en-IN" dirty="0"/>
                  <a:t> (iii) has integer solutions because the coefficient of x is one</a:t>
                </a:r>
              </a:p>
              <a:p>
                <a:endParaRPr lang="en-IN" dirty="0"/>
              </a:p>
              <a:p>
                <a:r>
                  <a:rPr lang="en-IN" dirty="0"/>
                  <a:t>eliminating x by substituting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−3</m:t>
                    </m:r>
                  </m:oMath>
                </a14:m>
                <a:r>
                  <a:rPr lang="en-IN" dirty="0"/>
                  <a:t> in </a:t>
                </a:r>
                <a:r>
                  <a:rPr lang="en-IN" dirty="0" err="1"/>
                  <a:t>eqs</a:t>
                </a:r>
                <a:r>
                  <a:rPr lang="en-IN" dirty="0"/>
                  <a:t>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 −3     →6</m:t>
                      </m:r>
                      <m:r>
                        <a:rPr lang="en-IN" b="0" i="1" smtClean="0">
                          <a:latin typeface="Cambria Math" panose="02040503050406030204" pitchFamily="18" charset="0"/>
                        </a:rPr>
                        <m:t>𝑦</m:t>
                      </m:r>
                      <m:r>
                        <a:rPr lang="en-IN" b="0" i="1" smtClean="0">
                          <a:latin typeface="Cambria Math" panose="02040503050406030204" pitchFamily="18" charset="0"/>
                        </a:rPr>
                        <m:t>≥3    →</m:t>
                      </m:r>
                      <m:r>
                        <a:rPr lang="en-IN" b="0" i="1" smtClean="0">
                          <a:latin typeface="Cambria Math" panose="02040503050406030204" pitchFamily="18" charset="0"/>
                        </a:rPr>
                        <m:t>𝑦</m:t>
                      </m:r>
                      <m:r>
                        <a:rPr lang="en-IN" b="0" i="1" smtClean="0">
                          <a:latin typeface="Cambria Math" panose="02040503050406030204" pitchFamily="18" charset="0"/>
                        </a:rPr>
                        <m:t>≥1</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≤3 −</m:t>
                      </m:r>
                      <m:d>
                        <m:dPr>
                          <m:ctrlPr>
                            <a:rPr lang="en-IN" b="0" i="1" smtClean="0">
                              <a:latin typeface="Cambria Math" panose="02040503050406030204" pitchFamily="18" charset="0"/>
                            </a:rPr>
                          </m:ctrlPr>
                        </m:dPr>
                        <m:e>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−3</m:t>
                          </m:r>
                        </m:e>
                      </m:d>
                      <m:r>
                        <a:rPr lang="en-IN" b="0" i="1" smtClean="0">
                          <a:latin typeface="Cambria Math" panose="02040503050406030204" pitchFamily="18" charset="0"/>
                        </a:rPr>
                        <m:t>    →   10</m:t>
                      </m:r>
                      <m:r>
                        <a:rPr lang="en-IN" b="0" i="1" smtClean="0">
                          <a:latin typeface="Cambria Math" panose="02040503050406030204" pitchFamily="18" charset="0"/>
                        </a:rPr>
                        <m:t>𝑦</m:t>
                      </m:r>
                      <m:r>
                        <a:rPr lang="en-IN" b="0" i="1" smtClean="0">
                          <a:latin typeface="Cambria Math" panose="02040503050406030204" pitchFamily="18" charset="0"/>
                        </a:rPr>
                        <m:t>≤6    →   </m:t>
                      </m:r>
                      <m:r>
                        <a:rPr lang="en-IN" b="0" i="1" smtClean="0">
                          <a:latin typeface="Cambria Math" panose="02040503050406030204" pitchFamily="18" charset="0"/>
                        </a:rPr>
                        <m:t>𝑦</m:t>
                      </m:r>
                      <m:r>
                        <a:rPr lang="en-IN" b="0" i="1" smtClean="0">
                          <a:latin typeface="Cambria Math" panose="02040503050406030204" pitchFamily="18" charset="0"/>
                        </a:rPr>
                        <m:t>≤0</m:t>
                      </m:r>
                    </m:oMath>
                  </m:oMathPara>
                </a14:m>
                <a:endParaRPr lang="en-IN" b="0" dirty="0"/>
              </a:p>
              <a:p>
                <a:endParaRPr lang="en-IN" dirty="0"/>
              </a:p>
              <a:p>
                <a:r>
                  <a:rPr lang="en-IN" dirty="0"/>
                  <a:t>the resulting constraints are</a:t>
                </a:r>
                <a:r>
                  <a:rPr lang="en-IN" b="0" dirty="0"/>
                  <a:t> unsatisfiable.</a:t>
                </a:r>
              </a:p>
              <a:p>
                <a:endParaRPr lang="en-IN" dirty="0"/>
              </a:p>
            </p:txBody>
          </p:sp>
        </mc:Choice>
        <mc:Fallback xmlns="">
          <p:sp>
            <p:nvSpPr>
              <p:cNvPr id="4" name="TextBox 3">
                <a:extLst>
                  <a:ext uri="{FF2B5EF4-FFF2-40B4-BE49-F238E27FC236}">
                    <a16:creationId xmlns:a16="http://schemas.microsoft.com/office/drawing/2014/main" id="{6BCD8CE4-0779-FBDC-2B0F-D286C22D0E67}"/>
                  </a:ext>
                </a:extLst>
              </p:cNvPr>
              <p:cNvSpPr txBox="1">
                <a:spLocks noRot="1" noChangeAspect="1" noMove="1" noResize="1" noEditPoints="1" noAdjustHandles="1" noChangeArrowheads="1" noChangeShapeType="1" noTextEdit="1"/>
              </p:cNvSpPr>
              <p:nvPr/>
            </p:nvSpPr>
            <p:spPr>
              <a:xfrm>
                <a:off x="838200" y="3167743"/>
                <a:ext cx="7456714" cy="2585323"/>
              </a:xfrm>
              <a:prstGeom prst="rect">
                <a:avLst/>
              </a:prstGeom>
              <a:blipFill>
                <a:blip r:embed="rId3"/>
                <a:stretch>
                  <a:fillRect l="-736" t="-1415"/>
                </a:stretch>
              </a:blipFill>
            </p:spPr>
            <p:txBody>
              <a:bodyPr/>
              <a:lstStyle/>
              <a:p>
                <a:r>
                  <a:rPr lang="en-IN">
                    <a:noFill/>
                  </a:rPr>
                  <a:t> </a:t>
                </a:r>
              </a:p>
            </p:txBody>
          </p:sp>
        </mc:Fallback>
      </mc:AlternateContent>
    </p:spTree>
    <p:extLst>
      <p:ext uri="{BB962C8B-B14F-4D97-AF65-F5344CB8AC3E}">
        <p14:creationId xmlns:p14="http://schemas.microsoft.com/office/powerpoint/2010/main" val="3329281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a:latin typeface="Cambria Math" panose="02040503050406030204" pitchFamily="18" charset="0"/>
                      </a:rPr>
                      <m:t>2</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b="0" i="1" dirty="0" smtClean="0">
                          <a:latin typeface="Cambria Math" panose="02040503050406030204" pitchFamily="18" charset="0"/>
                        </a:rPr>
                        <m:t>=4</m:t>
                      </m:r>
                      <m:r>
                        <a:rPr lang="en-IN" i="1" dirty="0">
                          <a:latin typeface="Cambria Math" panose="02040503050406030204" pitchFamily="18" charset="0"/>
                        </a:rPr>
                        <m:t>+</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BCD8CE4-0779-FBDC-2B0F-D286C22D0E67}"/>
                  </a:ext>
                </a:extLst>
              </p:cNvPr>
              <p:cNvSpPr txBox="1"/>
              <p:nvPr/>
            </p:nvSpPr>
            <p:spPr>
              <a:xfrm>
                <a:off x="838200" y="3167743"/>
                <a:ext cx="7456714" cy="2585323"/>
              </a:xfrm>
              <a:prstGeom prst="rect">
                <a:avLst/>
              </a:prstGeom>
              <a:noFill/>
            </p:spPr>
            <p:txBody>
              <a:bodyPr wrap="square" rtlCol="0">
                <a:spAutoFit/>
              </a:bodyPr>
              <a:lstStyle/>
              <a:p>
                <a:r>
                  <a:rPr lang="en-IN" dirty="0"/>
                  <a:t>check if the above equations have integer solutions</a:t>
                </a:r>
              </a:p>
              <a:p>
                <a:r>
                  <a:rPr lang="en-IN" dirty="0" err="1"/>
                  <a:t>eq</a:t>
                </a:r>
                <a:r>
                  <a:rPr lang="en-IN" dirty="0"/>
                  <a:t> (iii) has integer solutions because the coefficient of x is one</a:t>
                </a:r>
              </a:p>
              <a:p>
                <a:endParaRPr lang="en-IN" dirty="0"/>
              </a:p>
              <a:p>
                <a:r>
                  <a:rPr lang="en-IN" dirty="0"/>
                  <a:t>eliminating x by substituting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−4</m:t>
                    </m:r>
                  </m:oMath>
                </a14:m>
                <a:r>
                  <a:rPr lang="en-IN" dirty="0"/>
                  <a:t> in </a:t>
                </a:r>
                <a:r>
                  <a:rPr lang="en-IN" dirty="0" err="1"/>
                  <a:t>eqs</a:t>
                </a:r>
                <a:r>
                  <a:rPr lang="en-IN" dirty="0"/>
                  <a:t>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 −4     →6</m:t>
                      </m:r>
                      <m:r>
                        <a:rPr lang="en-IN" b="0" i="1" smtClean="0">
                          <a:latin typeface="Cambria Math" panose="02040503050406030204" pitchFamily="18" charset="0"/>
                        </a:rPr>
                        <m:t>𝑦</m:t>
                      </m:r>
                      <m:r>
                        <a:rPr lang="en-IN" b="0" i="1" smtClean="0">
                          <a:latin typeface="Cambria Math" panose="02040503050406030204" pitchFamily="18" charset="0"/>
                        </a:rPr>
                        <m:t>≥4    →</m:t>
                      </m:r>
                      <m:r>
                        <a:rPr lang="en-IN" b="0" i="1" smtClean="0">
                          <a:latin typeface="Cambria Math" panose="02040503050406030204" pitchFamily="18" charset="0"/>
                        </a:rPr>
                        <m:t>𝑦</m:t>
                      </m:r>
                      <m:r>
                        <a:rPr lang="en-IN" b="0" i="1" smtClean="0">
                          <a:latin typeface="Cambria Math" panose="02040503050406030204" pitchFamily="18" charset="0"/>
                        </a:rPr>
                        <m:t>≥1</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≤3 −</m:t>
                      </m:r>
                      <m:d>
                        <m:dPr>
                          <m:ctrlPr>
                            <a:rPr lang="en-IN" b="0" i="1" smtClean="0">
                              <a:latin typeface="Cambria Math" panose="02040503050406030204" pitchFamily="18" charset="0"/>
                            </a:rPr>
                          </m:ctrlPr>
                        </m:dPr>
                        <m:e>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−4</m:t>
                          </m:r>
                        </m:e>
                      </m:d>
                      <m:r>
                        <a:rPr lang="en-IN" b="0" i="1" smtClean="0">
                          <a:latin typeface="Cambria Math" panose="02040503050406030204" pitchFamily="18" charset="0"/>
                        </a:rPr>
                        <m:t>    →   10</m:t>
                      </m:r>
                      <m:r>
                        <a:rPr lang="en-IN" b="0" i="1" smtClean="0">
                          <a:latin typeface="Cambria Math" panose="02040503050406030204" pitchFamily="18" charset="0"/>
                        </a:rPr>
                        <m:t>𝑦</m:t>
                      </m:r>
                      <m:r>
                        <a:rPr lang="en-IN" b="0" i="1" smtClean="0">
                          <a:latin typeface="Cambria Math" panose="02040503050406030204" pitchFamily="18" charset="0"/>
                        </a:rPr>
                        <m:t>≤7    →   </m:t>
                      </m:r>
                      <m:r>
                        <a:rPr lang="en-IN" b="0" i="1" smtClean="0">
                          <a:latin typeface="Cambria Math" panose="02040503050406030204" pitchFamily="18" charset="0"/>
                        </a:rPr>
                        <m:t>𝑦</m:t>
                      </m:r>
                      <m:r>
                        <a:rPr lang="en-IN" b="0" i="1" smtClean="0">
                          <a:latin typeface="Cambria Math" panose="02040503050406030204" pitchFamily="18" charset="0"/>
                        </a:rPr>
                        <m:t>≤0</m:t>
                      </m:r>
                    </m:oMath>
                  </m:oMathPara>
                </a14:m>
                <a:endParaRPr lang="en-IN" b="0" dirty="0"/>
              </a:p>
              <a:p>
                <a:endParaRPr lang="en-IN" dirty="0"/>
              </a:p>
              <a:p>
                <a:r>
                  <a:rPr lang="en-IN" dirty="0"/>
                  <a:t>the resulting constraints are</a:t>
                </a:r>
                <a:r>
                  <a:rPr lang="en-IN" b="0" dirty="0"/>
                  <a:t> unsatisfiable.</a:t>
                </a:r>
              </a:p>
              <a:p>
                <a:endParaRPr lang="en-IN" dirty="0"/>
              </a:p>
            </p:txBody>
          </p:sp>
        </mc:Choice>
        <mc:Fallback xmlns="">
          <p:sp>
            <p:nvSpPr>
              <p:cNvPr id="4" name="TextBox 3">
                <a:extLst>
                  <a:ext uri="{FF2B5EF4-FFF2-40B4-BE49-F238E27FC236}">
                    <a16:creationId xmlns:a16="http://schemas.microsoft.com/office/drawing/2014/main" id="{6BCD8CE4-0779-FBDC-2B0F-D286C22D0E67}"/>
                  </a:ext>
                </a:extLst>
              </p:cNvPr>
              <p:cNvSpPr txBox="1">
                <a:spLocks noRot="1" noChangeAspect="1" noMove="1" noResize="1" noEditPoints="1" noAdjustHandles="1" noChangeArrowheads="1" noChangeShapeType="1" noTextEdit="1"/>
              </p:cNvSpPr>
              <p:nvPr/>
            </p:nvSpPr>
            <p:spPr>
              <a:xfrm>
                <a:off x="838200" y="3167743"/>
                <a:ext cx="7456714" cy="2585323"/>
              </a:xfrm>
              <a:prstGeom prst="rect">
                <a:avLst/>
              </a:prstGeom>
              <a:blipFill>
                <a:blip r:embed="rId3"/>
                <a:stretch>
                  <a:fillRect l="-736" t="-1415"/>
                </a:stretch>
              </a:blipFill>
            </p:spPr>
            <p:txBody>
              <a:bodyPr/>
              <a:lstStyle/>
              <a:p>
                <a:r>
                  <a:rPr lang="en-IN">
                    <a:noFill/>
                  </a:rPr>
                  <a:t> </a:t>
                </a:r>
              </a:p>
            </p:txBody>
          </p:sp>
        </mc:Fallback>
      </mc:AlternateContent>
    </p:spTree>
    <p:extLst>
      <p:ext uri="{BB962C8B-B14F-4D97-AF65-F5344CB8AC3E}">
        <p14:creationId xmlns:p14="http://schemas.microsoft.com/office/powerpoint/2010/main" val="2147545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a:latin typeface="Cambria Math" panose="02040503050406030204" pitchFamily="18" charset="0"/>
                      </a:rPr>
                      <m:t>2</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m:t>
                    </m:r>
                    <m:r>
                      <m:rPr>
                        <m:nor/>
                      </m:rPr>
                      <a:rPr lang="en-IN" dirty="0"/>
                      <m:t>x</m:t>
                    </m:r>
                    <m:r>
                      <m:rPr>
                        <m:nor/>
                      </m:rPr>
                      <a:rPr lang="en-IN" dirty="0"/>
                      <m:t>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2</m:t>
                      </m:r>
                      <m:r>
                        <a:rPr lang="en-IN" i="1" dirty="0">
                          <a:latin typeface="Cambria Math" panose="02040503050406030204" pitchFamily="18" charset="0"/>
                        </a:rPr>
                        <m:t>𝑦</m:t>
                      </m:r>
                      <m:r>
                        <a:rPr lang="en-IN" i="1" dirty="0">
                          <a:latin typeface="Cambria Math" panose="02040503050406030204" pitchFamily="18" charset="0"/>
                        </a:rPr>
                        <m:t>≤3 –</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8</m:t>
                      </m:r>
                      <m:r>
                        <a:rPr lang="en-IN" i="1" dirty="0">
                          <a:latin typeface="Cambria Math" panose="02040503050406030204" pitchFamily="18" charset="0"/>
                        </a:rPr>
                        <m:t>𝑦</m:t>
                      </m:r>
                      <m:r>
                        <a:rPr lang="en-IN" b="0" i="1" dirty="0" smtClean="0">
                          <a:latin typeface="Cambria Math" panose="02040503050406030204" pitchFamily="18" charset="0"/>
                        </a:rPr>
                        <m:t>=5</m:t>
                      </m:r>
                      <m:r>
                        <a:rPr lang="en-IN" i="1" dirty="0">
                          <a:latin typeface="Cambria Math" panose="02040503050406030204" pitchFamily="18" charset="0"/>
                        </a:rPr>
                        <m:t>+</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BCD8CE4-0779-FBDC-2B0F-D286C22D0E67}"/>
                  </a:ext>
                </a:extLst>
              </p:cNvPr>
              <p:cNvSpPr txBox="1"/>
              <p:nvPr/>
            </p:nvSpPr>
            <p:spPr>
              <a:xfrm>
                <a:off x="838200" y="3167743"/>
                <a:ext cx="7456714" cy="3139321"/>
              </a:xfrm>
              <a:prstGeom prst="rect">
                <a:avLst/>
              </a:prstGeom>
              <a:noFill/>
            </p:spPr>
            <p:txBody>
              <a:bodyPr wrap="square" rtlCol="0">
                <a:spAutoFit/>
              </a:bodyPr>
              <a:lstStyle/>
              <a:p>
                <a:r>
                  <a:rPr lang="en-IN" dirty="0"/>
                  <a:t>check if the above equations have integer solutions</a:t>
                </a:r>
              </a:p>
              <a:p>
                <a:r>
                  <a:rPr lang="en-IN" dirty="0" err="1"/>
                  <a:t>eq</a:t>
                </a:r>
                <a:r>
                  <a:rPr lang="en-IN" dirty="0"/>
                  <a:t> (iii) has integer solutions because the coefficient of x is one</a:t>
                </a:r>
              </a:p>
              <a:p>
                <a:endParaRPr lang="en-IN" dirty="0"/>
              </a:p>
              <a:p>
                <a:r>
                  <a:rPr lang="en-IN" dirty="0"/>
                  <a:t>eliminating x by substituting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−5</m:t>
                    </m:r>
                  </m:oMath>
                </a14:m>
                <a:r>
                  <a:rPr lang="en-IN" dirty="0"/>
                  <a:t> in </a:t>
                </a:r>
                <a:r>
                  <a:rPr lang="en-IN" dirty="0" err="1"/>
                  <a:t>eqs</a:t>
                </a:r>
                <a:r>
                  <a:rPr lang="en-IN" dirty="0"/>
                  <a:t>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 −5     →6</m:t>
                      </m:r>
                      <m:r>
                        <a:rPr lang="en-IN" b="0" i="1" smtClean="0">
                          <a:latin typeface="Cambria Math" panose="02040503050406030204" pitchFamily="18" charset="0"/>
                        </a:rPr>
                        <m:t>𝑦</m:t>
                      </m:r>
                      <m:r>
                        <a:rPr lang="en-IN" b="0" i="1" smtClean="0">
                          <a:latin typeface="Cambria Math" panose="02040503050406030204" pitchFamily="18" charset="0"/>
                        </a:rPr>
                        <m:t>≥5    →</m:t>
                      </m:r>
                      <m:r>
                        <a:rPr lang="en-IN" b="0" i="1" smtClean="0">
                          <a:latin typeface="Cambria Math" panose="02040503050406030204" pitchFamily="18" charset="0"/>
                        </a:rPr>
                        <m:t>𝑦</m:t>
                      </m:r>
                      <m:r>
                        <a:rPr lang="en-IN" b="0" i="1" smtClean="0">
                          <a:latin typeface="Cambria Math" panose="02040503050406030204" pitchFamily="18" charset="0"/>
                        </a:rPr>
                        <m:t>≥1</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≤3 −</m:t>
                      </m:r>
                      <m:d>
                        <m:dPr>
                          <m:ctrlPr>
                            <a:rPr lang="en-IN" b="0" i="1" smtClean="0">
                              <a:latin typeface="Cambria Math" panose="02040503050406030204" pitchFamily="18" charset="0"/>
                            </a:rPr>
                          </m:ctrlPr>
                        </m:dPr>
                        <m:e>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−5</m:t>
                          </m:r>
                        </m:e>
                      </m:d>
                      <m:r>
                        <a:rPr lang="en-IN" b="0" i="1" smtClean="0">
                          <a:latin typeface="Cambria Math" panose="02040503050406030204" pitchFamily="18" charset="0"/>
                        </a:rPr>
                        <m:t>    →   10</m:t>
                      </m:r>
                      <m:r>
                        <a:rPr lang="en-IN" b="0" i="1" smtClean="0">
                          <a:latin typeface="Cambria Math" panose="02040503050406030204" pitchFamily="18" charset="0"/>
                        </a:rPr>
                        <m:t>𝑦</m:t>
                      </m:r>
                      <m:r>
                        <a:rPr lang="en-IN" b="0" i="1" smtClean="0">
                          <a:latin typeface="Cambria Math" panose="02040503050406030204" pitchFamily="18" charset="0"/>
                        </a:rPr>
                        <m:t>≤8    →   </m:t>
                      </m:r>
                      <m:r>
                        <a:rPr lang="en-IN" b="0" i="1" smtClean="0">
                          <a:latin typeface="Cambria Math" panose="02040503050406030204" pitchFamily="18" charset="0"/>
                        </a:rPr>
                        <m:t>𝑦</m:t>
                      </m:r>
                      <m:r>
                        <a:rPr lang="en-IN" b="0" i="1" smtClean="0">
                          <a:latin typeface="Cambria Math" panose="02040503050406030204" pitchFamily="18" charset="0"/>
                        </a:rPr>
                        <m:t>≤0</m:t>
                      </m:r>
                    </m:oMath>
                  </m:oMathPara>
                </a14:m>
                <a:endParaRPr lang="en-IN" b="0" dirty="0"/>
              </a:p>
              <a:p>
                <a:endParaRPr lang="en-IN" dirty="0"/>
              </a:p>
              <a:p>
                <a:r>
                  <a:rPr lang="en-IN" dirty="0"/>
                  <a:t>the resulting constraints are</a:t>
                </a:r>
                <a:r>
                  <a:rPr lang="en-IN" b="0" dirty="0"/>
                  <a:t> unsatisfiable.</a:t>
                </a:r>
              </a:p>
              <a:p>
                <a:r>
                  <a:rPr lang="en-IN" dirty="0"/>
                  <a:t>Since we have checked all the points in the Gray shadow, the set of equations has no integer solutions.</a:t>
                </a:r>
                <a:endParaRPr lang="en-IN" b="0" dirty="0"/>
              </a:p>
              <a:p>
                <a:endParaRPr lang="en-IN" dirty="0"/>
              </a:p>
            </p:txBody>
          </p:sp>
        </mc:Choice>
        <mc:Fallback xmlns="">
          <p:sp>
            <p:nvSpPr>
              <p:cNvPr id="4" name="TextBox 3">
                <a:extLst>
                  <a:ext uri="{FF2B5EF4-FFF2-40B4-BE49-F238E27FC236}">
                    <a16:creationId xmlns:a16="http://schemas.microsoft.com/office/drawing/2014/main" id="{6BCD8CE4-0779-FBDC-2B0F-D286C22D0E67}"/>
                  </a:ext>
                </a:extLst>
              </p:cNvPr>
              <p:cNvSpPr txBox="1">
                <a:spLocks noRot="1" noChangeAspect="1" noMove="1" noResize="1" noEditPoints="1" noAdjustHandles="1" noChangeArrowheads="1" noChangeShapeType="1" noTextEdit="1"/>
              </p:cNvSpPr>
              <p:nvPr/>
            </p:nvSpPr>
            <p:spPr>
              <a:xfrm>
                <a:off x="838200" y="3167743"/>
                <a:ext cx="7456714" cy="3139321"/>
              </a:xfrm>
              <a:prstGeom prst="rect">
                <a:avLst/>
              </a:prstGeom>
              <a:blipFill>
                <a:blip r:embed="rId3"/>
                <a:stretch>
                  <a:fillRect l="-736" t="-1165" r="-82"/>
                </a:stretch>
              </a:blipFill>
            </p:spPr>
            <p:txBody>
              <a:bodyPr/>
              <a:lstStyle/>
              <a:p>
                <a:r>
                  <a:rPr lang="en-IN">
                    <a:noFill/>
                  </a:rPr>
                  <a:t> </a:t>
                </a:r>
              </a:p>
            </p:txBody>
          </p:sp>
        </mc:Fallback>
      </mc:AlternateContent>
    </p:spTree>
    <p:extLst>
      <p:ext uri="{BB962C8B-B14F-4D97-AF65-F5344CB8AC3E}">
        <p14:creationId xmlns:p14="http://schemas.microsoft.com/office/powerpoint/2010/main" val="923529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F75B-941C-1F3B-BF78-AC7DA56B901E}"/>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B352C7-EFF1-9607-0CEE-82954C921223}"/>
                  </a:ext>
                </a:extLst>
              </p:cNvPr>
              <p:cNvSpPr>
                <a:spLocks noGrp="1"/>
              </p:cNvSpPr>
              <p:nvPr>
                <p:ph idx="1"/>
              </p:nvPr>
            </p:nvSpPr>
            <p:spPr/>
            <p:txBody>
              <a:bodyPr>
                <a:normAutofit/>
              </a:bodyPr>
              <a:lstStyle/>
              <a:p>
                <a:pPr marL="0" indent="0">
                  <a:buNone/>
                </a:pP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≥2</m:t>
                    </m:r>
                  </m:oMath>
                </a14:m>
                <a:r>
                  <a:rPr lang="en-IN" b="0" dirty="0"/>
                  <a:t>                - (</a:t>
                </a:r>
                <a:r>
                  <a:rPr lang="en-IN" b="0" dirty="0" err="1"/>
                  <a:t>i</a:t>
                </a:r>
                <a:r>
                  <a:rPr lang="en-IN" b="0" dirty="0"/>
                  <a:t>)</a:t>
                </a:r>
              </a:p>
              <a:p>
                <a:pPr marL="0" indent="0">
                  <a:buNone/>
                </a:pPr>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 −3</m:t>
                    </m:r>
                    <m:r>
                      <a:rPr lang="en-IN" b="0" i="1" smtClean="0">
                        <a:latin typeface="Cambria Math" panose="02040503050406030204" pitchFamily="18" charset="0"/>
                      </a:rPr>
                      <m:t>𝑦</m:t>
                    </m:r>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≥0</m:t>
                    </m:r>
                  </m:oMath>
                </a14:m>
                <a:r>
                  <a:rPr lang="en-IN" b="0" dirty="0"/>
                  <a:t>       - (ii)</a:t>
                </a:r>
              </a:p>
              <a:p>
                <a:pPr marL="0" indent="0">
                  <a:buNone/>
                </a:pPr>
                <a14:m>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≥1</m:t>
                    </m:r>
                  </m:oMath>
                </a14:m>
                <a:r>
                  <a:rPr lang="en-IN" dirty="0"/>
                  <a:t>                       - (iii)</a:t>
                </a:r>
              </a:p>
              <a:p>
                <a:pPr marL="0" indent="0">
                  <a:buNone/>
                </a:pPr>
                <a:endParaRPr lang="en-IN" dirty="0"/>
              </a:p>
              <a:p>
                <a:pPr marL="0" indent="0">
                  <a:buNone/>
                </a:pPr>
                <a:r>
                  <a:rPr lang="en-IN" dirty="0"/>
                  <a:t>(eliminate </a:t>
                </a:r>
                <a14:m>
                  <m:oMath xmlns:m="http://schemas.openxmlformats.org/officeDocument/2006/math">
                    <m:r>
                      <a:rPr lang="en-IN" i="1" dirty="0" smtClean="0">
                        <a:latin typeface="Cambria Math" panose="02040503050406030204" pitchFamily="18" charset="0"/>
                      </a:rPr>
                      <m:t>𝑧</m:t>
                    </m:r>
                  </m:oMath>
                </a14:m>
                <a:r>
                  <a:rPr lang="en-IN" dirty="0"/>
                  <a:t> first)</a:t>
                </a:r>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EAB352C7-EFF1-9607-0CEE-82954C921223}"/>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4472735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F75B-941C-1F3B-BF78-AC7DA56B901E}"/>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B352C7-EFF1-9607-0CEE-82954C921223}"/>
                  </a:ext>
                </a:extLst>
              </p:cNvPr>
              <p:cNvSpPr>
                <a:spLocks noGrp="1"/>
              </p:cNvSpPr>
              <p:nvPr>
                <p:ph idx="1"/>
              </p:nvPr>
            </p:nvSpPr>
            <p:spPr/>
            <p:txBody>
              <a:bodyPr>
                <a:normAutofit/>
              </a:bodyPr>
              <a:lstStyle/>
              <a:p>
                <a:pPr marL="0" indent="0">
                  <a:buNone/>
                </a:pP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≥2</m:t>
                    </m:r>
                  </m:oMath>
                </a14:m>
                <a:r>
                  <a:rPr lang="en-IN" b="0" dirty="0"/>
                  <a:t>                - (</a:t>
                </a:r>
                <a:r>
                  <a:rPr lang="en-IN" b="0" dirty="0" err="1"/>
                  <a:t>i</a:t>
                </a:r>
                <a:r>
                  <a:rPr lang="en-IN" b="0" dirty="0"/>
                  <a:t>)</a:t>
                </a:r>
              </a:p>
              <a:p>
                <a:pPr marL="0" indent="0">
                  <a:buNone/>
                </a:pPr>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 −3</m:t>
                    </m:r>
                    <m:r>
                      <a:rPr lang="en-IN" b="0" i="1" smtClean="0">
                        <a:latin typeface="Cambria Math" panose="02040503050406030204" pitchFamily="18" charset="0"/>
                      </a:rPr>
                      <m:t>𝑦</m:t>
                    </m:r>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≥0</m:t>
                    </m:r>
                  </m:oMath>
                </a14:m>
                <a:r>
                  <a:rPr lang="en-IN" b="0" dirty="0"/>
                  <a:t>       - (ii)</a:t>
                </a:r>
              </a:p>
              <a:p>
                <a:pPr marL="0" indent="0">
                  <a:buNone/>
                </a:pPr>
                <a14:m>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≥1</m:t>
                    </m:r>
                  </m:oMath>
                </a14:m>
                <a:r>
                  <a:rPr lang="en-IN" dirty="0"/>
                  <a:t>                       - (iii)</a:t>
                </a:r>
              </a:p>
              <a:p>
                <a:pPr marL="0" indent="0">
                  <a:buNone/>
                </a:pPr>
                <a:endParaRPr lang="en-IN" dirty="0"/>
              </a:p>
              <a:p>
                <a:pPr marL="0" indent="0">
                  <a:buNone/>
                </a:pPr>
                <a:r>
                  <a:rPr lang="en-IN" dirty="0"/>
                  <a:t>Eliminating z using real shadow:</a:t>
                </a:r>
              </a:p>
              <a:p>
                <a:pPr marL="0" indent="0">
                  <a:buNone/>
                </a:pPr>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oMath>
                </a14:m>
                <a:r>
                  <a:rPr lang="en-IN" b="0" dirty="0"/>
                  <a:t>           -(1)</a:t>
                </a:r>
              </a:p>
              <a:p>
                <a:pPr marL="0" indent="0">
                  <a:buNone/>
                </a:pPr>
                <a14:m>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oMath>
                </a14:m>
                <a:r>
                  <a:rPr lang="en-IN" b="0" dirty="0"/>
                  <a:t>             -(2)</a:t>
                </a:r>
              </a:p>
              <a:p>
                <a:pPr marL="0" indent="0">
                  <a:buNone/>
                </a:pPr>
                <a14:m>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≥1−</m:t>
                    </m:r>
                    <m:r>
                      <a:rPr lang="en-IN" b="0" i="1" smtClean="0">
                        <a:latin typeface="Cambria Math" panose="02040503050406030204" pitchFamily="18" charset="0"/>
                      </a:rPr>
                      <m:t>𝑦</m:t>
                    </m:r>
                  </m:oMath>
                </a14:m>
                <a:r>
                  <a:rPr lang="en-IN" dirty="0"/>
                  <a:t>                  -(3)</a:t>
                </a:r>
              </a:p>
            </p:txBody>
          </p:sp>
        </mc:Choice>
        <mc:Fallback xmlns="">
          <p:sp>
            <p:nvSpPr>
              <p:cNvPr id="3" name="Content Placeholder 2">
                <a:extLst>
                  <a:ext uri="{FF2B5EF4-FFF2-40B4-BE49-F238E27FC236}">
                    <a16:creationId xmlns:a16="http://schemas.microsoft.com/office/drawing/2014/main" id="{EAB352C7-EFF1-9607-0CEE-82954C921223}"/>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3A7D49-6CBD-AFA1-795B-C7F40A576D6D}"/>
                  </a:ext>
                </a:extLst>
              </p:cNvPr>
              <p:cNvSpPr txBox="1"/>
              <p:nvPr/>
            </p:nvSpPr>
            <p:spPr>
              <a:xfrm>
                <a:off x="5683043" y="4109884"/>
                <a:ext cx="3215148" cy="923330"/>
              </a:xfrm>
              <a:prstGeom prst="rect">
                <a:avLst/>
              </a:prstGeom>
              <a:noFill/>
            </p:spPr>
            <p:txBody>
              <a:bodyPr wrap="square" rtlCol="0">
                <a:spAutoFit/>
              </a:bodyPr>
              <a:lstStyle/>
              <a:p>
                <a:r>
                  <a:rPr lang="en-IN" dirty="0"/>
                  <a:t>Using 1 and 2</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e>
                      </m:d>
                      <m:r>
                        <a:rPr lang="en-IN" b="0" i="1" smtClean="0">
                          <a:latin typeface="Cambria Math" panose="02040503050406030204" pitchFamily="18" charset="0"/>
                        </a:rPr>
                        <m:t>≥2</m:t>
                      </m:r>
                      <m:d>
                        <m:dPr>
                          <m:ctrlPr>
                            <a:rPr lang="en-IN" b="0" i="1" smtClean="0">
                              <a:latin typeface="Cambria Math" panose="02040503050406030204" pitchFamily="18" charset="0"/>
                            </a:rPr>
                          </m:ctrlPr>
                        </m:dPr>
                        <m:e>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e>
                      </m:d>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 −3</m:t>
                      </m:r>
                      <m:r>
                        <a:rPr lang="en-IN" b="0" i="1" smtClean="0">
                          <a:latin typeface="Cambria Math" panose="02040503050406030204" pitchFamily="18" charset="0"/>
                        </a:rPr>
                        <m:t>𝑦</m:t>
                      </m:r>
                      <m:r>
                        <a:rPr lang="en-IN" b="0" i="1" smtClean="0">
                          <a:latin typeface="Cambria Math" panose="02040503050406030204" pitchFamily="18" charset="0"/>
                        </a:rPr>
                        <m:t>≥6</m:t>
                      </m:r>
                    </m:oMath>
                  </m:oMathPara>
                </a14:m>
                <a:endParaRPr lang="en-IN" dirty="0"/>
              </a:p>
            </p:txBody>
          </p:sp>
        </mc:Choice>
        <mc:Fallback xmlns="">
          <p:sp>
            <p:nvSpPr>
              <p:cNvPr id="4" name="TextBox 3">
                <a:extLst>
                  <a:ext uri="{FF2B5EF4-FFF2-40B4-BE49-F238E27FC236}">
                    <a16:creationId xmlns:a16="http://schemas.microsoft.com/office/drawing/2014/main" id="{323A7D49-6CBD-AFA1-795B-C7F40A576D6D}"/>
                  </a:ext>
                </a:extLst>
              </p:cNvPr>
              <p:cNvSpPr txBox="1">
                <a:spLocks noRot="1" noChangeAspect="1" noMove="1" noResize="1" noEditPoints="1" noAdjustHandles="1" noChangeArrowheads="1" noChangeShapeType="1" noTextEdit="1"/>
              </p:cNvSpPr>
              <p:nvPr/>
            </p:nvSpPr>
            <p:spPr>
              <a:xfrm>
                <a:off x="5683043" y="4109884"/>
                <a:ext cx="3215148" cy="923330"/>
              </a:xfrm>
              <a:prstGeom prst="rect">
                <a:avLst/>
              </a:prstGeom>
              <a:blipFill>
                <a:blip r:embed="rId3"/>
                <a:stretch>
                  <a:fillRect l="-1515" t="-3289" b="-3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0C8D42E-223F-4E60-8107-447783E4D81C}"/>
                  </a:ext>
                </a:extLst>
              </p:cNvPr>
              <p:cNvSpPr txBox="1"/>
              <p:nvPr/>
            </p:nvSpPr>
            <p:spPr>
              <a:xfrm>
                <a:off x="5648630" y="5107861"/>
                <a:ext cx="3215148" cy="923330"/>
              </a:xfrm>
              <a:prstGeom prst="rect">
                <a:avLst/>
              </a:prstGeom>
              <a:noFill/>
            </p:spPr>
            <p:txBody>
              <a:bodyPr wrap="square" rtlCol="0">
                <a:spAutoFit/>
              </a:bodyPr>
              <a:lstStyle/>
              <a:p>
                <a:r>
                  <a:rPr lang="en-IN" dirty="0"/>
                  <a:t>Using 1 and 3</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e>
                      </m:d>
                      <m:r>
                        <a:rPr lang="en-IN" b="0" i="1" smtClean="0">
                          <a:latin typeface="Cambria Math" panose="02040503050406030204" pitchFamily="18" charset="0"/>
                        </a:rPr>
                        <m:t>≥2</m:t>
                      </m:r>
                      <m:d>
                        <m:dPr>
                          <m:ctrlPr>
                            <a:rPr lang="en-IN" b="0" i="1" smtClean="0">
                              <a:latin typeface="Cambria Math" panose="02040503050406030204" pitchFamily="18" charset="0"/>
                            </a:rPr>
                          </m:ctrlPr>
                        </m:dPr>
                        <m:e>
                          <m:r>
                            <a:rPr lang="en-IN" b="0" i="1" smtClean="0">
                              <a:latin typeface="Cambria Math" panose="02040503050406030204" pitchFamily="18" charset="0"/>
                            </a:rPr>
                            <m:t>1−</m:t>
                          </m:r>
                          <m:r>
                            <a:rPr lang="en-IN" b="0" i="1" smtClean="0">
                              <a:latin typeface="Cambria Math" panose="02040503050406030204" pitchFamily="18" charset="0"/>
                            </a:rPr>
                            <m:t>𝑦</m:t>
                          </m:r>
                        </m:e>
                      </m:d>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dirty="0"/>
              </a:p>
            </p:txBody>
          </p:sp>
        </mc:Choice>
        <mc:Fallback xmlns="">
          <p:sp>
            <p:nvSpPr>
              <p:cNvPr id="5" name="TextBox 4">
                <a:extLst>
                  <a:ext uri="{FF2B5EF4-FFF2-40B4-BE49-F238E27FC236}">
                    <a16:creationId xmlns:a16="http://schemas.microsoft.com/office/drawing/2014/main" id="{20C8D42E-223F-4E60-8107-447783E4D81C}"/>
                  </a:ext>
                </a:extLst>
              </p:cNvPr>
              <p:cNvSpPr txBox="1">
                <a:spLocks noRot="1" noChangeAspect="1" noMove="1" noResize="1" noEditPoints="1" noAdjustHandles="1" noChangeArrowheads="1" noChangeShapeType="1" noTextEdit="1"/>
              </p:cNvSpPr>
              <p:nvPr/>
            </p:nvSpPr>
            <p:spPr>
              <a:xfrm>
                <a:off x="5648630" y="5107861"/>
                <a:ext cx="3215148" cy="923330"/>
              </a:xfrm>
              <a:prstGeom prst="rect">
                <a:avLst/>
              </a:prstGeom>
              <a:blipFill>
                <a:blip r:embed="rId4"/>
                <a:stretch>
                  <a:fillRect l="-1708" t="-3974" b="-46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95144D-535D-80ED-78B3-BA305C41FE32}"/>
                  </a:ext>
                </a:extLst>
              </p:cNvPr>
              <p:cNvSpPr txBox="1"/>
              <p:nvPr/>
            </p:nvSpPr>
            <p:spPr>
              <a:xfrm>
                <a:off x="8976856" y="4404852"/>
                <a:ext cx="2595712" cy="1200329"/>
              </a:xfrm>
              <a:prstGeom prst="rect">
                <a:avLst/>
              </a:prstGeom>
              <a:noFill/>
            </p:spPr>
            <p:txBody>
              <a:bodyPr wrap="square" rtlCol="0">
                <a:spAutoFit/>
              </a:bodyPr>
              <a:lstStyle/>
              <a:p>
                <a:r>
                  <a:rPr lang="en-IN" dirty="0"/>
                  <a:t>Check if</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≥6</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dirty="0"/>
              </a:p>
              <a:p>
                <a:r>
                  <a:rPr lang="en-IN" dirty="0"/>
                  <a:t>has integer solutions.</a:t>
                </a:r>
              </a:p>
            </p:txBody>
          </p:sp>
        </mc:Choice>
        <mc:Fallback xmlns="">
          <p:sp>
            <p:nvSpPr>
              <p:cNvPr id="6" name="TextBox 5">
                <a:extLst>
                  <a:ext uri="{FF2B5EF4-FFF2-40B4-BE49-F238E27FC236}">
                    <a16:creationId xmlns:a16="http://schemas.microsoft.com/office/drawing/2014/main" id="{1D95144D-535D-80ED-78B3-BA305C41FE32}"/>
                  </a:ext>
                </a:extLst>
              </p:cNvPr>
              <p:cNvSpPr txBox="1">
                <a:spLocks noRot="1" noChangeAspect="1" noMove="1" noResize="1" noEditPoints="1" noAdjustHandles="1" noChangeArrowheads="1" noChangeShapeType="1" noTextEdit="1"/>
              </p:cNvSpPr>
              <p:nvPr/>
            </p:nvSpPr>
            <p:spPr>
              <a:xfrm>
                <a:off x="8976856" y="4404852"/>
                <a:ext cx="2595712" cy="1200329"/>
              </a:xfrm>
              <a:prstGeom prst="rect">
                <a:avLst/>
              </a:prstGeom>
              <a:blipFill>
                <a:blip r:embed="rId5"/>
                <a:stretch>
                  <a:fillRect l="-2118" t="-3061" b="-7653"/>
                </a:stretch>
              </a:blipFill>
            </p:spPr>
            <p:txBody>
              <a:bodyPr/>
              <a:lstStyle/>
              <a:p>
                <a:r>
                  <a:rPr lang="en-IN">
                    <a:noFill/>
                  </a:rPr>
                  <a:t> </a:t>
                </a:r>
              </a:p>
            </p:txBody>
          </p:sp>
        </mc:Fallback>
      </mc:AlternateContent>
    </p:spTree>
    <p:extLst>
      <p:ext uri="{BB962C8B-B14F-4D97-AF65-F5344CB8AC3E}">
        <p14:creationId xmlns:p14="http://schemas.microsoft.com/office/powerpoint/2010/main" val="3137357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20ADA-F1CF-C144-B483-F4BB3E426450}"/>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2DE4DE-C209-D8E8-FDF2-F8E94F4A457B}"/>
                  </a:ext>
                </a:extLst>
              </p:cNvPr>
              <p:cNvSpPr txBox="1"/>
              <p:nvPr/>
            </p:nvSpPr>
            <p:spPr>
              <a:xfrm>
                <a:off x="943874" y="1602652"/>
                <a:ext cx="2595712" cy="1200329"/>
              </a:xfrm>
              <a:prstGeom prst="rect">
                <a:avLst/>
              </a:prstGeom>
              <a:noFill/>
            </p:spPr>
            <p:txBody>
              <a:bodyPr wrap="square" rtlCol="0">
                <a:spAutoFit/>
              </a:bodyPr>
              <a:lstStyle/>
              <a:p>
                <a:r>
                  <a:rPr lang="en-IN" dirty="0"/>
                  <a:t>Check if</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≥6</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dirty="0"/>
              </a:p>
              <a:p>
                <a:r>
                  <a:rPr lang="en-IN" dirty="0"/>
                  <a:t>has integer solutions.</a:t>
                </a:r>
              </a:p>
            </p:txBody>
          </p:sp>
        </mc:Choice>
        <mc:Fallback xmlns="">
          <p:sp>
            <p:nvSpPr>
              <p:cNvPr id="7" name="TextBox 6">
                <a:extLst>
                  <a:ext uri="{FF2B5EF4-FFF2-40B4-BE49-F238E27FC236}">
                    <a16:creationId xmlns:a16="http://schemas.microsoft.com/office/drawing/2014/main" id="{902DE4DE-C209-D8E8-FDF2-F8E94F4A457B}"/>
                  </a:ext>
                </a:extLst>
              </p:cNvPr>
              <p:cNvSpPr txBox="1">
                <a:spLocks noRot="1" noChangeAspect="1" noMove="1" noResize="1" noEditPoints="1" noAdjustHandles="1" noChangeArrowheads="1" noChangeShapeType="1" noTextEdit="1"/>
              </p:cNvSpPr>
              <p:nvPr/>
            </p:nvSpPr>
            <p:spPr>
              <a:xfrm>
                <a:off x="943874" y="1602652"/>
                <a:ext cx="2595712" cy="1200329"/>
              </a:xfrm>
              <a:prstGeom prst="rect">
                <a:avLst/>
              </a:prstGeom>
              <a:blipFill>
                <a:blip r:embed="rId2"/>
                <a:stretch>
                  <a:fillRect l="-2113" t="-3046" b="-71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22589B-C42B-1CC3-B837-3BDF3D08E096}"/>
                  </a:ext>
                </a:extLst>
              </p:cNvPr>
              <p:cNvSpPr txBox="1"/>
              <p:nvPr/>
            </p:nvSpPr>
            <p:spPr>
              <a:xfrm>
                <a:off x="997951" y="3190563"/>
                <a:ext cx="2595712" cy="3382721"/>
              </a:xfrm>
              <a:prstGeom prst="rect">
                <a:avLst/>
              </a:prstGeom>
              <a:noFill/>
            </p:spPr>
            <p:txBody>
              <a:bodyPr wrap="square" rtlCol="0">
                <a:spAutoFit/>
              </a:bodyPr>
              <a:lstStyle/>
              <a:p>
                <a:r>
                  <a:rPr lang="en-IN" dirty="0"/>
                  <a:t>Eliminating </a:t>
                </a:r>
                <a14:m>
                  <m:oMath xmlns:m="http://schemas.openxmlformats.org/officeDocument/2006/math">
                    <m:r>
                      <a:rPr lang="en-IN" i="1" dirty="0" smtClean="0">
                        <a:latin typeface="Cambria Math" panose="02040503050406030204" pitchFamily="18" charset="0"/>
                      </a:rPr>
                      <m:t>𝑥</m:t>
                    </m:r>
                  </m:oMath>
                </a14:m>
                <a:r>
                  <a:rPr lang="en-IN" dirty="0"/>
                  <a:t> using real shadow:</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−6</m:t>
                      </m:r>
                    </m:oMath>
                  </m:oMathPara>
                </a14:m>
                <a:endParaRPr lang="en-IN"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≥8−5</m:t>
                      </m:r>
                      <m:r>
                        <a:rPr lang="en-IN" b="0" i="1" smtClean="0">
                          <a:latin typeface="Cambria Math" panose="02040503050406030204" pitchFamily="18" charset="0"/>
                        </a:rPr>
                        <m:t>𝑦</m:t>
                      </m:r>
                    </m:oMath>
                  </m:oMathPara>
                </a14:m>
                <a:endParaRPr lang="en-IN" dirty="0"/>
              </a:p>
              <a:p>
                <a:r>
                  <a:rPr lang="en-IN" dirty="0"/>
                  <a:t>---------------------------</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−6</m:t>
                          </m:r>
                        </m:e>
                      </m:d>
                      <m:r>
                        <a:rPr lang="en-IN" b="0" i="1" smtClean="0">
                          <a:latin typeface="Cambria Math" panose="02040503050406030204" pitchFamily="18" charset="0"/>
                        </a:rPr>
                        <m:t>≥8−5</m:t>
                      </m:r>
                      <m:r>
                        <a:rPr lang="en-IN" b="0" i="1" smtClean="0">
                          <a:latin typeface="Cambria Math" panose="02040503050406030204" pitchFamily="18" charset="0"/>
                        </a:rPr>
                        <m:t>𝑦</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13</m:t>
                          </m:r>
                        </m:num>
                        <m:den>
                          <m:r>
                            <a:rPr lang="en-IN" b="0" i="1" smtClean="0">
                              <a:latin typeface="Cambria Math" panose="02040503050406030204" pitchFamily="18" charset="0"/>
                            </a:rPr>
                            <m:t>2</m:t>
                          </m:r>
                        </m:den>
                      </m:f>
                    </m:oMath>
                  </m:oMathPara>
                </a14:m>
                <a:endParaRPr lang="en-IN" dirty="0"/>
              </a:p>
              <a:p>
                <a:endParaRPr lang="en-IN" dirty="0"/>
              </a:p>
              <a:p>
                <a14:m>
                  <m:oMath xmlns:m="http://schemas.openxmlformats.org/officeDocument/2006/math">
                    <m:r>
                      <a:rPr lang="en-IN" b="0" i="1" smtClean="0">
                        <a:latin typeface="Cambria Math" panose="02040503050406030204" pitchFamily="18" charset="0"/>
                      </a:rPr>
                      <m:t>𝑦</m:t>
                    </m:r>
                  </m:oMath>
                </a14:m>
                <a:r>
                  <a:rPr lang="en-IN" dirty="0"/>
                  <a:t> has an integer solution; therefore, </a:t>
                </a:r>
                <a14:m>
                  <m:oMath xmlns:m="http://schemas.openxmlformats.org/officeDocument/2006/math">
                    <m:r>
                      <a:rPr lang="en-IN" i="1" dirty="0" smtClean="0">
                        <a:latin typeface="Cambria Math" panose="02040503050406030204" pitchFamily="18" charset="0"/>
                      </a:rPr>
                      <m:t>𝑥</m:t>
                    </m:r>
                  </m:oMath>
                </a14:m>
                <a:r>
                  <a:rPr lang="en-IN" dirty="0"/>
                  <a:t> must have a real solution.</a:t>
                </a:r>
              </a:p>
            </p:txBody>
          </p:sp>
        </mc:Choice>
        <mc:Fallback xmlns="">
          <p:sp>
            <p:nvSpPr>
              <p:cNvPr id="8" name="TextBox 7">
                <a:extLst>
                  <a:ext uri="{FF2B5EF4-FFF2-40B4-BE49-F238E27FC236}">
                    <a16:creationId xmlns:a16="http://schemas.microsoft.com/office/drawing/2014/main" id="{F622589B-C42B-1CC3-B837-3BDF3D08E096}"/>
                  </a:ext>
                </a:extLst>
              </p:cNvPr>
              <p:cNvSpPr txBox="1">
                <a:spLocks noRot="1" noChangeAspect="1" noMove="1" noResize="1" noEditPoints="1" noAdjustHandles="1" noChangeArrowheads="1" noChangeShapeType="1" noTextEdit="1"/>
              </p:cNvSpPr>
              <p:nvPr/>
            </p:nvSpPr>
            <p:spPr>
              <a:xfrm>
                <a:off x="997951" y="3190563"/>
                <a:ext cx="2595712" cy="3382721"/>
              </a:xfrm>
              <a:prstGeom prst="rect">
                <a:avLst/>
              </a:prstGeom>
              <a:blipFill>
                <a:blip r:embed="rId3"/>
                <a:stretch>
                  <a:fillRect l="-2113" t="-901" r="-2113" b="-180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F3087A7-9C86-122A-7026-3034BFE2FB35}"/>
                  </a:ext>
                </a:extLst>
              </p:cNvPr>
              <p:cNvSpPr txBox="1"/>
              <p:nvPr/>
            </p:nvSpPr>
            <p:spPr>
              <a:xfrm>
                <a:off x="4748967" y="3205311"/>
                <a:ext cx="3849371" cy="1200329"/>
              </a:xfrm>
              <a:prstGeom prst="rect">
                <a:avLst/>
              </a:prstGeom>
              <a:noFill/>
            </p:spPr>
            <p:txBody>
              <a:bodyPr wrap="square" rtlCol="0">
                <a:spAutoFit/>
              </a:bodyPr>
              <a:lstStyle/>
              <a:p>
                <a:r>
                  <a:rPr lang="en-IN" dirty="0"/>
                  <a:t>Eliminating x using dark shadow:</a:t>
                </a:r>
              </a:p>
              <a:p>
                <a:r>
                  <a:rPr lang="en-US" dirty="0"/>
                  <a:t>The dark shadow and the real shadow are the same during the elimination of </a:t>
                </a:r>
                <a14:m>
                  <m:oMath xmlns:m="http://schemas.openxmlformats.org/officeDocument/2006/math">
                    <m:r>
                      <a:rPr lang="en-US" i="1" dirty="0" smtClean="0">
                        <a:latin typeface="Cambria Math" panose="02040503050406030204" pitchFamily="18" charset="0"/>
                      </a:rPr>
                      <m:t>𝑥</m:t>
                    </m:r>
                  </m:oMath>
                </a14:m>
                <a:r>
                  <a:rPr lang="en-US" dirty="0"/>
                  <a:t> because the coefficient of </a:t>
                </a:r>
                <a14:m>
                  <m:oMath xmlns:m="http://schemas.openxmlformats.org/officeDocument/2006/math">
                    <m:r>
                      <a:rPr lang="en-US" i="1" dirty="0" smtClean="0">
                        <a:latin typeface="Cambria Math" panose="02040503050406030204" pitchFamily="18" charset="0"/>
                      </a:rPr>
                      <m:t>𝑥</m:t>
                    </m:r>
                  </m:oMath>
                </a14:m>
                <a:r>
                  <a:rPr lang="en-US" dirty="0"/>
                  <a:t> is 1.</a:t>
                </a:r>
                <a:endParaRPr lang="en-IN" dirty="0"/>
              </a:p>
            </p:txBody>
          </p:sp>
        </mc:Choice>
        <mc:Fallback xmlns="">
          <p:sp>
            <p:nvSpPr>
              <p:cNvPr id="10" name="TextBox 9">
                <a:extLst>
                  <a:ext uri="{FF2B5EF4-FFF2-40B4-BE49-F238E27FC236}">
                    <a16:creationId xmlns:a16="http://schemas.microsoft.com/office/drawing/2014/main" id="{1F3087A7-9C86-122A-7026-3034BFE2FB35}"/>
                  </a:ext>
                </a:extLst>
              </p:cNvPr>
              <p:cNvSpPr txBox="1">
                <a:spLocks noRot="1" noChangeAspect="1" noMove="1" noResize="1" noEditPoints="1" noAdjustHandles="1" noChangeArrowheads="1" noChangeShapeType="1" noTextEdit="1"/>
              </p:cNvSpPr>
              <p:nvPr/>
            </p:nvSpPr>
            <p:spPr>
              <a:xfrm>
                <a:off x="4748967" y="3205311"/>
                <a:ext cx="3849371" cy="1200329"/>
              </a:xfrm>
              <a:prstGeom prst="rect">
                <a:avLst/>
              </a:prstGeom>
              <a:blipFill>
                <a:blip r:embed="rId4"/>
                <a:stretch>
                  <a:fillRect l="-1268" t="-3046" r="-475" b="-71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F06CBF6-61E1-C942-79EE-A0BD7DE01114}"/>
                  </a:ext>
                </a:extLst>
              </p:cNvPr>
              <p:cNvSpPr txBox="1"/>
              <p:nvPr/>
            </p:nvSpPr>
            <p:spPr>
              <a:xfrm>
                <a:off x="8824457" y="3701844"/>
                <a:ext cx="2595712" cy="1200329"/>
              </a:xfrm>
              <a:prstGeom prst="rect">
                <a:avLst/>
              </a:prstGeom>
              <a:noFill/>
            </p:spPr>
            <p:txBody>
              <a:bodyPr wrap="square" rtlCol="0">
                <a:spAutoFit/>
              </a:bodyPr>
              <a:lstStyle/>
              <a:p>
                <a:r>
                  <a:rPr lang="en-IN" dirty="0"/>
                  <a:t>Therefore,</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≥6</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dirty="0"/>
              </a:p>
              <a:p>
                <a:r>
                  <a:rPr lang="en-IN" dirty="0"/>
                  <a:t>has integer solutions.</a:t>
                </a:r>
              </a:p>
            </p:txBody>
          </p:sp>
        </mc:Choice>
        <mc:Fallback xmlns="">
          <p:sp>
            <p:nvSpPr>
              <p:cNvPr id="11" name="TextBox 10">
                <a:extLst>
                  <a:ext uri="{FF2B5EF4-FFF2-40B4-BE49-F238E27FC236}">
                    <a16:creationId xmlns:a16="http://schemas.microsoft.com/office/drawing/2014/main" id="{8F06CBF6-61E1-C942-79EE-A0BD7DE01114}"/>
                  </a:ext>
                </a:extLst>
              </p:cNvPr>
              <p:cNvSpPr txBox="1">
                <a:spLocks noRot="1" noChangeAspect="1" noMove="1" noResize="1" noEditPoints="1" noAdjustHandles="1" noChangeArrowheads="1" noChangeShapeType="1" noTextEdit="1"/>
              </p:cNvSpPr>
              <p:nvPr/>
            </p:nvSpPr>
            <p:spPr>
              <a:xfrm>
                <a:off x="8824457" y="3701844"/>
                <a:ext cx="2595712" cy="1200329"/>
              </a:xfrm>
              <a:prstGeom prst="rect">
                <a:avLst/>
              </a:prstGeom>
              <a:blipFill>
                <a:blip r:embed="rId5"/>
                <a:stretch>
                  <a:fillRect l="-2118" t="-2538" b="-7107"/>
                </a:stretch>
              </a:blipFill>
            </p:spPr>
            <p:txBody>
              <a:bodyPr/>
              <a:lstStyle/>
              <a:p>
                <a:r>
                  <a:rPr lang="en-IN">
                    <a:noFill/>
                  </a:rPr>
                  <a:t> </a:t>
                </a:r>
              </a:p>
            </p:txBody>
          </p:sp>
        </mc:Fallback>
      </mc:AlternateContent>
    </p:spTree>
    <p:extLst>
      <p:ext uri="{BB962C8B-B14F-4D97-AF65-F5344CB8AC3E}">
        <p14:creationId xmlns:p14="http://schemas.microsoft.com/office/powerpoint/2010/main" val="3334773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F75B-941C-1F3B-BF78-AC7DA56B901E}"/>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B352C7-EFF1-9607-0CEE-82954C921223}"/>
                  </a:ext>
                </a:extLst>
              </p:cNvPr>
              <p:cNvSpPr>
                <a:spLocks noGrp="1"/>
              </p:cNvSpPr>
              <p:nvPr>
                <p:ph idx="1"/>
              </p:nvPr>
            </p:nvSpPr>
            <p:spPr/>
            <p:txBody>
              <a:bodyPr>
                <a:normAutofit/>
              </a:bodyPr>
              <a:lstStyle/>
              <a:p>
                <a:pPr marL="0" indent="0">
                  <a:buNone/>
                </a:pP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≥2</m:t>
                    </m:r>
                  </m:oMath>
                </a14:m>
                <a:r>
                  <a:rPr lang="en-IN" b="0" dirty="0"/>
                  <a:t>                - (</a:t>
                </a:r>
                <a:r>
                  <a:rPr lang="en-IN" b="0" dirty="0" err="1"/>
                  <a:t>i</a:t>
                </a:r>
                <a:r>
                  <a:rPr lang="en-IN" b="0" dirty="0"/>
                  <a:t>)</a:t>
                </a:r>
              </a:p>
              <a:p>
                <a:pPr marL="0" indent="0">
                  <a:buNone/>
                </a:pPr>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 −3</m:t>
                    </m:r>
                    <m:r>
                      <a:rPr lang="en-IN" b="0" i="1" smtClean="0">
                        <a:latin typeface="Cambria Math" panose="02040503050406030204" pitchFamily="18" charset="0"/>
                      </a:rPr>
                      <m:t>𝑦</m:t>
                    </m:r>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≥0</m:t>
                    </m:r>
                  </m:oMath>
                </a14:m>
                <a:r>
                  <a:rPr lang="en-IN" b="0" dirty="0"/>
                  <a:t>       - (ii)</a:t>
                </a:r>
              </a:p>
              <a:p>
                <a:pPr marL="0" indent="0">
                  <a:buNone/>
                </a:pPr>
                <a14:m>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≥1</m:t>
                    </m:r>
                  </m:oMath>
                </a14:m>
                <a:r>
                  <a:rPr lang="en-IN" dirty="0"/>
                  <a:t>                       - (iii)</a:t>
                </a:r>
              </a:p>
              <a:p>
                <a:pPr marL="0" indent="0">
                  <a:buNone/>
                </a:pPr>
                <a:endParaRPr lang="en-IN" dirty="0"/>
              </a:p>
              <a:p>
                <a:pPr marL="0" indent="0">
                  <a:buNone/>
                </a:pPr>
                <a:r>
                  <a:rPr lang="en-IN" dirty="0"/>
                  <a:t>Eliminating z using dark shadow:</a:t>
                </a:r>
              </a:p>
              <a:p>
                <a:pPr marL="0" indent="0">
                  <a:buNone/>
                </a:pPr>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oMath>
                </a14:m>
                <a:r>
                  <a:rPr lang="en-IN" b="0" dirty="0"/>
                  <a:t>           -(1)</a:t>
                </a:r>
              </a:p>
              <a:p>
                <a:pPr marL="0" indent="0">
                  <a:buNone/>
                </a:pPr>
                <a14:m>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oMath>
                </a14:m>
                <a:r>
                  <a:rPr lang="en-IN" b="0" dirty="0"/>
                  <a:t>             -(2)</a:t>
                </a:r>
              </a:p>
              <a:p>
                <a:pPr marL="0" indent="0">
                  <a:buNone/>
                </a:pPr>
                <a14:m>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≥1−</m:t>
                    </m:r>
                    <m:r>
                      <a:rPr lang="en-IN" b="0" i="1" smtClean="0">
                        <a:latin typeface="Cambria Math" panose="02040503050406030204" pitchFamily="18" charset="0"/>
                      </a:rPr>
                      <m:t>𝑦</m:t>
                    </m:r>
                  </m:oMath>
                </a14:m>
                <a:r>
                  <a:rPr lang="en-IN" dirty="0"/>
                  <a:t>                  -(3)</a:t>
                </a:r>
              </a:p>
            </p:txBody>
          </p:sp>
        </mc:Choice>
        <mc:Fallback xmlns="">
          <p:sp>
            <p:nvSpPr>
              <p:cNvPr id="3" name="Content Placeholder 2">
                <a:extLst>
                  <a:ext uri="{FF2B5EF4-FFF2-40B4-BE49-F238E27FC236}">
                    <a16:creationId xmlns:a16="http://schemas.microsoft.com/office/drawing/2014/main" id="{EAB352C7-EFF1-9607-0CEE-82954C921223}"/>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3A7D49-6CBD-AFA1-795B-C7F40A576D6D}"/>
                  </a:ext>
                </a:extLst>
              </p:cNvPr>
              <p:cNvSpPr txBox="1"/>
              <p:nvPr/>
            </p:nvSpPr>
            <p:spPr>
              <a:xfrm>
                <a:off x="5683042" y="4109884"/>
                <a:ext cx="3293813" cy="923330"/>
              </a:xfrm>
              <a:prstGeom prst="rect">
                <a:avLst/>
              </a:prstGeom>
              <a:noFill/>
            </p:spPr>
            <p:txBody>
              <a:bodyPr wrap="square" rtlCol="0">
                <a:spAutoFit/>
              </a:bodyPr>
              <a:lstStyle/>
              <a:p>
                <a:r>
                  <a:rPr lang="en-IN" dirty="0"/>
                  <a:t>Using 1 and 2</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e>
                      </m:d>
                      <m:r>
                        <a:rPr lang="en-IN" b="0" i="1" smtClean="0">
                          <a:latin typeface="Cambria Math" panose="02040503050406030204" pitchFamily="18" charset="0"/>
                        </a:rPr>
                        <m:t>−2</m:t>
                      </m:r>
                      <m:d>
                        <m:dPr>
                          <m:ctrlPr>
                            <a:rPr lang="en-IN" b="0" i="1" smtClean="0">
                              <a:latin typeface="Cambria Math" panose="02040503050406030204" pitchFamily="18" charset="0"/>
                            </a:rPr>
                          </m:ctrlPr>
                        </m:dPr>
                        <m:e>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e>
                      </m:d>
                      <m:r>
                        <a:rPr lang="en-IN" b="0" i="1" smtClean="0">
                          <a:latin typeface="Cambria Math" panose="02040503050406030204" pitchFamily="18" charset="0"/>
                        </a:rPr>
                        <m:t>≥2</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 −3</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dirty="0"/>
              </a:p>
            </p:txBody>
          </p:sp>
        </mc:Choice>
        <mc:Fallback xmlns="">
          <p:sp>
            <p:nvSpPr>
              <p:cNvPr id="4" name="TextBox 3">
                <a:extLst>
                  <a:ext uri="{FF2B5EF4-FFF2-40B4-BE49-F238E27FC236}">
                    <a16:creationId xmlns:a16="http://schemas.microsoft.com/office/drawing/2014/main" id="{323A7D49-6CBD-AFA1-795B-C7F40A576D6D}"/>
                  </a:ext>
                </a:extLst>
              </p:cNvPr>
              <p:cNvSpPr txBox="1">
                <a:spLocks noRot="1" noChangeAspect="1" noMove="1" noResize="1" noEditPoints="1" noAdjustHandles="1" noChangeArrowheads="1" noChangeShapeType="1" noTextEdit="1"/>
              </p:cNvSpPr>
              <p:nvPr/>
            </p:nvSpPr>
            <p:spPr>
              <a:xfrm>
                <a:off x="5683042" y="4109884"/>
                <a:ext cx="3293813" cy="923330"/>
              </a:xfrm>
              <a:prstGeom prst="rect">
                <a:avLst/>
              </a:prstGeom>
              <a:blipFill>
                <a:blip r:embed="rId3"/>
                <a:stretch>
                  <a:fillRect l="-1479" t="-3289" b="-3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0C8D42E-223F-4E60-8107-447783E4D81C}"/>
                  </a:ext>
                </a:extLst>
              </p:cNvPr>
              <p:cNvSpPr txBox="1"/>
              <p:nvPr/>
            </p:nvSpPr>
            <p:spPr>
              <a:xfrm>
                <a:off x="5648630" y="5107861"/>
                <a:ext cx="3215148" cy="923330"/>
              </a:xfrm>
              <a:prstGeom prst="rect">
                <a:avLst/>
              </a:prstGeom>
              <a:noFill/>
            </p:spPr>
            <p:txBody>
              <a:bodyPr wrap="square" rtlCol="0">
                <a:spAutoFit/>
              </a:bodyPr>
              <a:lstStyle/>
              <a:p>
                <a:r>
                  <a:rPr lang="en-IN" dirty="0"/>
                  <a:t>Using 1 and 3</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e>
                      </m:d>
                      <m:r>
                        <a:rPr lang="en-IN" b="0" i="1" smtClean="0">
                          <a:latin typeface="Cambria Math" panose="02040503050406030204" pitchFamily="18" charset="0"/>
                        </a:rPr>
                        <m:t>−2</m:t>
                      </m:r>
                      <m:d>
                        <m:dPr>
                          <m:ctrlPr>
                            <a:rPr lang="en-IN" b="0" i="1" smtClean="0">
                              <a:latin typeface="Cambria Math" panose="02040503050406030204" pitchFamily="18" charset="0"/>
                            </a:rPr>
                          </m:ctrlPr>
                        </m:dPr>
                        <m:e>
                          <m:r>
                            <a:rPr lang="en-IN" b="0" i="1" smtClean="0">
                              <a:latin typeface="Cambria Math" panose="02040503050406030204" pitchFamily="18" charset="0"/>
                            </a:rPr>
                            <m:t>1−</m:t>
                          </m:r>
                          <m:r>
                            <a:rPr lang="en-IN" b="0" i="1" smtClean="0">
                              <a:latin typeface="Cambria Math" panose="02040503050406030204" pitchFamily="18" charset="0"/>
                            </a:rPr>
                            <m:t>𝑦</m:t>
                          </m:r>
                        </m:e>
                      </m:d>
                      <m:r>
                        <a:rPr lang="en-IN" b="0" i="0" smtClean="0">
                          <a:latin typeface="Cambria Math" panose="02040503050406030204" pitchFamily="18" charset="0"/>
                        </a:rPr>
                        <m:t>≥2</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≥10</m:t>
                      </m:r>
                    </m:oMath>
                  </m:oMathPara>
                </a14:m>
                <a:endParaRPr lang="en-IN" dirty="0"/>
              </a:p>
            </p:txBody>
          </p:sp>
        </mc:Choice>
        <mc:Fallback xmlns="">
          <p:sp>
            <p:nvSpPr>
              <p:cNvPr id="5" name="TextBox 4">
                <a:extLst>
                  <a:ext uri="{FF2B5EF4-FFF2-40B4-BE49-F238E27FC236}">
                    <a16:creationId xmlns:a16="http://schemas.microsoft.com/office/drawing/2014/main" id="{20C8D42E-223F-4E60-8107-447783E4D81C}"/>
                  </a:ext>
                </a:extLst>
              </p:cNvPr>
              <p:cNvSpPr txBox="1">
                <a:spLocks noRot="1" noChangeAspect="1" noMove="1" noResize="1" noEditPoints="1" noAdjustHandles="1" noChangeArrowheads="1" noChangeShapeType="1" noTextEdit="1"/>
              </p:cNvSpPr>
              <p:nvPr/>
            </p:nvSpPr>
            <p:spPr>
              <a:xfrm>
                <a:off x="5648630" y="5107861"/>
                <a:ext cx="3215148" cy="923330"/>
              </a:xfrm>
              <a:prstGeom prst="rect">
                <a:avLst/>
              </a:prstGeom>
              <a:blipFill>
                <a:blip r:embed="rId4"/>
                <a:stretch>
                  <a:fillRect l="-1708" t="-3974" b="-46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95144D-535D-80ED-78B3-BA305C41FE32}"/>
                  </a:ext>
                </a:extLst>
              </p:cNvPr>
              <p:cNvSpPr txBox="1"/>
              <p:nvPr/>
            </p:nvSpPr>
            <p:spPr>
              <a:xfrm>
                <a:off x="9330818" y="4404852"/>
                <a:ext cx="2595712" cy="1200329"/>
              </a:xfrm>
              <a:prstGeom prst="rect">
                <a:avLst/>
              </a:prstGeom>
              <a:noFill/>
            </p:spPr>
            <p:txBody>
              <a:bodyPr wrap="square" rtlCol="0">
                <a:spAutoFit/>
              </a:bodyPr>
              <a:lstStyle/>
              <a:p>
                <a:r>
                  <a:rPr lang="en-IN" dirty="0"/>
                  <a:t>Check if</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≥10</m:t>
                      </m:r>
                    </m:oMath>
                  </m:oMathPara>
                </a14:m>
                <a:endParaRPr lang="en-IN" dirty="0"/>
              </a:p>
              <a:p>
                <a:r>
                  <a:rPr lang="en-IN" dirty="0"/>
                  <a:t>has integer solutions.</a:t>
                </a:r>
              </a:p>
            </p:txBody>
          </p:sp>
        </mc:Choice>
        <mc:Fallback xmlns="">
          <p:sp>
            <p:nvSpPr>
              <p:cNvPr id="6" name="TextBox 5">
                <a:extLst>
                  <a:ext uri="{FF2B5EF4-FFF2-40B4-BE49-F238E27FC236}">
                    <a16:creationId xmlns:a16="http://schemas.microsoft.com/office/drawing/2014/main" id="{1D95144D-535D-80ED-78B3-BA305C41FE32}"/>
                  </a:ext>
                </a:extLst>
              </p:cNvPr>
              <p:cNvSpPr txBox="1">
                <a:spLocks noRot="1" noChangeAspect="1" noMove="1" noResize="1" noEditPoints="1" noAdjustHandles="1" noChangeArrowheads="1" noChangeShapeType="1" noTextEdit="1"/>
              </p:cNvSpPr>
              <p:nvPr/>
            </p:nvSpPr>
            <p:spPr>
              <a:xfrm>
                <a:off x="9330818" y="4404852"/>
                <a:ext cx="2595712" cy="1200329"/>
              </a:xfrm>
              <a:prstGeom prst="rect">
                <a:avLst/>
              </a:prstGeom>
              <a:blipFill>
                <a:blip r:embed="rId5"/>
                <a:stretch>
                  <a:fillRect l="-2118" t="-3061" b="-7653"/>
                </a:stretch>
              </a:blipFill>
            </p:spPr>
            <p:txBody>
              <a:bodyPr/>
              <a:lstStyle/>
              <a:p>
                <a:r>
                  <a:rPr lang="en-IN">
                    <a:noFill/>
                  </a:rPr>
                  <a:t> </a:t>
                </a:r>
              </a:p>
            </p:txBody>
          </p:sp>
        </mc:Fallback>
      </mc:AlternateContent>
    </p:spTree>
    <p:extLst>
      <p:ext uri="{BB962C8B-B14F-4D97-AF65-F5344CB8AC3E}">
        <p14:creationId xmlns:p14="http://schemas.microsoft.com/office/powerpoint/2010/main" val="1459104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20ADA-F1CF-C144-B483-F4BB3E426450}"/>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2DE4DE-C209-D8E8-FDF2-F8E94F4A457B}"/>
                  </a:ext>
                </a:extLst>
              </p:cNvPr>
              <p:cNvSpPr txBox="1"/>
              <p:nvPr/>
            </p:nvSpPr>
            <p:spPr>
              <a:xfrm>
                <a:off x="943874" y="1602652"/>
                <a:ext cx="2595712" cy="1200329"/>
              </a:xfrm>
              <a:prstGeom prst="rect">
                <a:avLst/>
              </a:prstGeom>
              <a:noFill/>
            </p:spPr>
            <p:txBody>
              <a:bodyPr wrap="square" rtlCol="0">
                <a:spAutoFit/>
              </a:bodyPr>
              <a:lstStyle/>
              <a:p>
                <a:r>
                  <a:rPr lang="en-IN" dirty="0"/>
                  <a:t>Check</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≥10</m:t>
                      </m:r>
                    </m:oMath>
                  </m:oMathPara>
                </a14:m>
                <a:endParaRPr lang="en-IN" dirty="0"/>
              </a:p>
              <a:p>
                <a:r>
                  <a:rPr lang="en-IN" dirty="0"/>
                  <a:t>has integer solutions.</a:t>
                </a:r>
              </a:p>
            </p:txBody>
          </p:sp>
        </mc:Choice>
        <mc:Fallback xmlns="">
          <p:sp>
            <p:nvSpPr>
              <p:cNvPr id="7" name="TextBox 6">
                <a:extLst>
                  <a:ext uri="{FF2B5EF4-FFF2-40B4-BE49-F238E27FC236}">
                    <a16:creationId xmlns:a16="http://schemas.microsoft.com/office/drawing/2014/main" id="{902DE4DE-C209-D8E8-FDF2-F8E94F4A457B}"/>
                  </a:ext>
                </a:extLst>
              </p:cNvPr>
              <p:cNvSpPr txBox="1">
                <a:spLocks noRot="1" noChangeAspect="1" noMove="1" noResize="1" noEditPoints="1" noAdjustHandles="1" noChangeArrowheads="1" noChangeShapeType="1" noTextEdit="1"/>
              </p:cNvSpPr>
              <p:nvPr/>
            </p:nvSpPr>
            <p:spPr>
              <a:xfrm>
                <a:off x="943874" y="1602652"/>
                <a:ext cx="2595712" cy="1200329"/>
              </a:xfrm>
              <a:prstGeom prst="rect">
                <a:avLst/>
              </a:prstGeom>
              <a:blipFill>
                <a:blip r:embed="rId2"/>
                <a:stretch>
                  <a:fillRect l="-2113" t="-3046" b="-71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22589B-C42B-1CC3-B837-3BDF3D08E096}"/>
                  </a:ext>
                </a:extLst>
              </p:cNvPr>
              <p:cNvSpPr txBox="1"/>
              <p:nvPr/>
            </p:nvSpPr>
            <p:spPr>
              <a:xfrm>
                <a:off x="997951" y="3190563"/>
                <a:ext cx="2595712" cy="3380926"/>
              </a:xfrm>
              <a:prstGeom prst="rect">
                <a:avLst/>
              </a:prstGeom>
              <a:noFill/>
            </p:spPr>
            <p:txBody>
              <a:bodyPr wrap="square" rtlCol="0">
                <a:spAutoFit/>
              </a:bodyPr>
              <a:lstStyle/>
              <a:p>
                <a:r>
                  <a:rPr lang="en-IN" dirty="0"/>
                  <a:t>Eliminating x using real shadow:</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≥10−5</m:t>
                      </m:r>
                      <m:r>
                        <a:rPr lang="en-IN" b="0" i="1" smtClean="0">
                          <a:latin typeface="Cambria Math" panose="02040503050406030204" pitchFamily="18" charset="0"/>
                        </a:rPr>
                        <m:t>𝑦</m:t>
                      </m:r>
                    </m:oMath>
                  </m:oMathPara>
                </a14:m>
                <a:endParaRPr lang="en-IN" dirty="0"/>
              </a:p>
              <a:p>
                <a:r>
                  <a:rPr lang="en-IN" dirty="0"/>
                  <a:t>---------------------------</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−8</m:t>
                          </m:r>
                        </m:e>
                      </m:d>
                      <m:r>
                        <a:rPr lang="en-IN" b="0" i="1" smtClean="0">
                          <a:latin typeface="Cambria Math" panose="02040503050406030204" pitchFamily="18" charset="0"/>
                        </a:rPr>
                        <m:t>≥10−5</m:t>
                      </m:r>
                      <m:r>
                        <a:rPr lang="en-IN" b="0" i="1" smtClean="0">
                          <a:latin typeface="Cambria Math" panose="02040503050406030204" pitchFamily="18" charset="0"/>
                        </a:rPr>
                        <m:t>𝑦</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17</m:t>
                          </m:r>
                        </m:num>
                        <m:den>
                          <m:r>
                            <a:rPr lang="en-IN" b="0" i="1" smtClean="0">
                              <a:latin typeface="Cambria Math" panose="02040503050406030204" pitchFamily="18" charset="0"/>
                            </a:rPr>
                            <m:t>2</m:t>
                          </m:r>
                        </m:den>
                      </m:f>
                    </m:oMath>
                  </m:oMathPara>
                </a14:m>
                <a:endParaRPr lang="en-IN" dirty="0"/>
              </a:p>
              <a:p>
                <a:endParaRPr lang="en-IN" dirty="0"/>
              </a:p>
              <a:p>
                <a14:m>
                  <m:oMath xmlns:m="http://schemas.openxmlformats.org/officeDocument/2006/math">
                    <m:r>
                      <a:rPr lang="en-IN" b="0" i="1" smtClean="0">
                        <a:latin typeface="Cambria Math" panose="02040503050406030204" pitchFamily="18" charset="0"/>
                      </a:rPr>
                      <m:t>𝑦</m:t>
                    </m:r>
                  </m:oMath>
                </a14:m>
                <a:r>
                  <a:rPr lang="en-IN" dirty="0"/>
                  <a:t> has an integer solution; therefore, x must have a real solution.</a:t>
                </a:r>
              </a:p>
            </p:txBody>
          </p:sp>
        </mc:Choice>
        <mc:Fallback xmlns="">
          <p:sp>
            <p:nvSpPr>
              <p:cNvPr id="8" name="TextBox 7">
                <a:extLst>
                  <a:ext uri="{FF2B5EF4-FFF2-40B4-BE49-F238E27FC236}">
                    <a16:creationId xmlns:a16="http://schemas.microsoft.com/office/drawing/2014/main" id="{F622589B-C42B-1CC3-B837-3BDF3D08E096}"/>
                  </a:ext>
                </a:extLst>
              </p:cNvPr>
              <p:cNvSpPr txBox="1">
                <a:spLocks noRot="1" noChangeAspect="1" noMove="1" noResize="1" noEditPoints="1" noAdjustHandles="1" noChangeArrowheads="1" noChangeShapeType="1" noTextEdit="1"/>
              </p:cNvSpPr>
              <p:nvPr/>
            </p:nvSpPr>
            <p:spPr>
              <a:xfrm>
                <a:off x="997951" y="3190563"/>
                <a:ext cx="2595712" cy="3380926"/>
              </a:xfrm>
              <a:prstGeom prst="rect">
                <a:avLst/>
              </a:prstGeom>
              <a:blipFill>
                <a:blip r:embed="rId3"/>
                <a:stretch>
                  <a:fillRect l="-2113" t="-901" r="-2113" b="-180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F3087A7-9C86-122A-7026-3034BFE2FB35}"/>
                  </a:ext>
                </a:extLst>
              </p:cNvPr>
              <p:cNvSpPr txBox="1"/>
              <p:nvPr/>
            </p:nvSpPr>
            <p:spPr>
              <a:xfrm>
                <a:off x="4650995" y="3499225"/>
                <a:ext cx="3849371" cy="1477328"/>
              </a:xfrm>
              <a:prstGeom prst="rect">
                <a:avLst/>
              </a:prstGeom>
              <a:noFill/>
            </p:spPr>
            <p:txBody>
              <a:bodyPr wrap="square" rtlCol="0">
                <a:spAutoFit/>
              </a:bodyPr>
              <a:lstStyle/>
              <a:p>
                <a:r>
                  <a:rPr lang="en-IN" dirty="0"/>
                  <a:t>Eliminating x using dark shadow:</a:t>
                </a:r>
              </a:p>
              <a:p>
                <a:endParaRPr lang="en-IN" dirty="0"/>
              </a:p>
              <a:p>
                <a:r>
                  <a:rPr lang="en-US" dirty="0"/>
                  <a:t>The dark shadow and the real shadow are the same during the elimination of </a:t>
                </a:r>
                <a14:m>
                  <m:oMath xmlns:m="http://schemas.openxmlformats.org/officeDocument/2006/math">
                    <m:r>
                      <a:rPr lang="en-US" i="1" dirty="0">
                        <a:latin typeface="Cambria Math" panose="02040503050406030204" pitchFamily="18" charset="0"/>
                      </a:rPr>
                      <m:t>𝑥</m:t>
                    </m:r>
                  </m:oMath>
                </a14:m>
                <a:r>
                  <a:rPr lang="en-US" dirty="0"/>
                  <a:t> because the coefficient of </a:t>
                </a:r>
                <a14:m>
                  <m:oMath xmlns:m="http://schemas.openxmlformats.org/officeDocument/2006/math">
                    <m:r>
                      <a:rPr lang="en-US" i="1" dirty="0">
                        <a:latin typeface="Cambria Math" panose="02040503050406030204" pitchFamily="18" charset="0"/>
                      </a:rPr>
                      <m:t>𝑥</m:t>
                    </m:r>
                  </m:oMath>
                </a14:m>
                <a:r>
                  <a:rPr lang="en-US" dirty="0"/>
                  <a:t> is 1.</a:t>
                </a:r>
                <a:endParaRPr lang="en-IN" dirty="0"/>
              </a:p>
            </p:txBody>
          </p:sp>
        </mc:Choice>
        <mc:Fallback xmlns="">
          <p:sp>
            <p:nvSpPr>
              <p:cNvPr id="10" name="TextBox 9">
                <a:extLst>
                  <a:ext uri="{FF2B5EF4-FFF2-40B4-BE49-F238E27FC236}">
                    <a16:creationId xmlns:a16="http://schemas.microsoft.com/office/drawing/2014/main" id="{1F3087A7-9C86-122A-7026-3034BFE2FB35}"/>
                  </a:ext>
                </a:extLst>
              </p:cNvPr>
              <p:cNvSpPr txBox="1">
                <a:spLocks noRot="1" noChangeAspect="1" noMove="1" noResize="1" noEditPoints="1" noAdjustHandles="1" noChangeArrowheads="1" noChangeShapeType="1" noTextEdit="1"/>
              </p:cNvSpPr>
              <p:nvPr/>
            </p:nvSpPr>
            <p:spPr>
              <a:xfrm>
                <a:off x="4650995" y="3499225"/>
                <a:ext cx="3849371" cy="1477328"/>
              </a:xfrm>
              <a:prstGeom prst="rect">
                <a:avLst/>
              </a:prstGeom>
              <a:blipFill>
                <a:blip r:embed="rId4"/>
                <a:stretch>
                  <a:fillRect l="-1426" t="-2066" r="-317" b="-57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F06CBF6-61E1-C942-79EE-A0BD7DE01114}"/>
                  </a:ext>
                </a:extLst>
              </p:cNvPr>
              <p:cNvSpPr txBox="1"/>
              <p:nvPr/>
            </p:nvSpPr>
            <p:spPr>
              <a:xfrm>
                <a:off x="8824457" y="3701844"/>
                <a:ext cx="2595712" cy="2308324"/>
              </a:xfrm>
              <a:prstGeom prst="rect">
                <a:avLst/>
              </a:prstGeom>
              <a:noFill/>
            </p:spPr>
            <p:txBody>
              <a:bodyPr wrap="square" rtlCol="0">
                <a:spAutoFit/>
              </a:bodyPr>
              <a:lstStyle/>
              <a:p>
                <a:r>
                  <a:rPr lang="en-IN" dirty="0"/>
                  <a:t>Therefore,</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≥10</m:t>
                      </m:r>
                    </m:oMath>
                  </m:oMathPara>
                </a14:m>
                <a:endParaRPr lang="en-IN" dirty="0"/>
              </a:p>
              <a:p>
                <a:r>
                  <a:rPr lang="en-IN" dirty="0"/>
                  <a:t>has integer solutions.</a:t>
                </a:r>
              </a:p>
              <a:p>
                <a:endParaRPr lang="en-IN" dirty="0"/>
              </a:p>
              <a:p>
                <a:r>
                  <a:rPr lang="en-IN" dirty="0"/>
                  <a:t>One solution is:</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=−9</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=19</m:t>
                      </m:r>
                    </m:oMath>
                  </m:oMathPara>
                </a14:m>
                <a:endParaRPr lang="en-IN" dirty="0"/>
              </a:p>
            </p:txBody>
          </p:sp>
        </mc:Choice>
        <mc:Fallback xmlns="">
          <p:sp>
            <p:nvSpPr>
              <p:cNvPr id="11" name="TextBox 10">
                <a:extLst>
                  <a:ext uri="{FF2B5EF4-FFF2-40B4-BE49-F238E27FC236}">
                    <a16:creationId xmlns:a16="http://schemas.microsoft.com/office/drawing/2014/main" id="{8F06CBF6-61E1-C942-79EE-A0BD7DE01114}"/>
                  </a:ext>
                </a:extLst>
              </p:cNvPr>
              <p:cNvSpPr txBox="1">
                <a:spLocks noRot="1" noChangeAspect="1" noMove="1" noResize="1" noEditPoints="1" noAdjustHandles="1" noChangeArrowheads="1" noChangeShapeType="1" noTextEdit="1"/>
              </p:cNvSpPr>
              <p:nvPr/>
            </p:nvSpPr>
            <p:spPr>
              <a:xfrm>
                <a:off x="8824457" y="3701844"/>
                <a:ext cx="2595712" cy="2308324"/>
              </a:xfrm>
              <a:prstGeom prst="rect">
                <a:avLst/>
              </a:prstGeom>
              <a:blipFill>
                <a:blip r:embed="rId5"/>
                <a:stretch>
                  <a:fillRect l="-2118" t="-1319"/>
                </a:stretch>
              </a:blipFill>
            </p:spPr>
            <p:txBody>
              <a:bodyPr/>
              <a:lstStyle/>
              <a:p>
                <a:r>
                  <a:rPr lang="en-IN">
                    <a:noFill/>
                  </a:rPr>
                  <a:t> </a:t>
                </a:r>
              </a:p>
            </p:txBody>
          </p:sp>
        </mc:Fallback>
      </mc:AlternateContent>
    </p:spTree>
    <p:extLst>
      <p:ext uri="{BB962C8B-B14F-4D97-AF65-F5344CB8AC3E}">
        <p14:creationId xmlns:p14="http://schemas.microsoft.com/office/powerpoint/2010/main" val="4239465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9F75B-941C-1F3B-BF78-AC7DA56B901E}"/>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B352C7-EFF1-9607-0CEE-82954C921223}"/>
                  </a:ext>
                </a:extLst>
              </p:cNvPr>
              <p:cNvSpPr>
                <a:spLocks noGrp="1"/>
              </p:cNvSpPr>
              <p:nvPr>
                <p:ph idx="1"/>
              </p:nvPr>
            </p:nvSpPr>
            <p:spPr/>
            <p:txBody>
              <a:bodyPr>
                <a:normAutofit/>
              </a:bodyPr>
              <a:lstStyle/>
              <a:p>
                <a:pPr marL="0" indent="0">
                  <a:buNone/>
                </a:pP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≥2</m:t>
                    </m:r>
                  </m:oMath>
                </a14:m>
                <a:r>
                  <a:rPr lang="en-IN" b="0" dirty="0"/>
                  <a:t>                - (</a:t>
                </a:r>
                <a:r>
                  <a:rPr lang="en-IN" b="0" dirty="0" err="1"/>
                  <a:t>i</a:t>
                </a:r>
                <a:r>
                  <a:rPr lang="en-IN" b="0" dirty="0"/>
                  <a:t>)</a:t>
                </a:r>
              </a:p>
              <a:p>
                <a:pPr marL="0" indent="0">
                  <a:buNone/>
                </a:pPr>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 −3</m:t>
                    </m:r>
                    <m:r>
                      <a:rPr lang="en-IN" b="0" i="1" smtClean="0">
                        <a:latin typeface="Cambria Math" panose="02040503050406030204" pitchFamily="18" charset="0"/>
                      </a:rPr>
                      <m:t>𝑦</m:t>
                    </m:r>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≥0</m:t>
                    </m:r>
                  </m:oMath>
                </a14:m>
                <a:r>
                  <a:rPr lang="en-IN" b="0" dirty="0"/>
                  <a:t>       - (ii)</a:t>
                </a:r>
              </a:p>
              <a:p>
                <a:pPr marL="0" indent="0">
                  <a:buNone/>
                </a:pPr>
                <a14:m>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≥1</m:t>
                    </m:r>
                  </m:oMath>
                </a14:m>
                <a:r>
                  <a:rPr lang="en-IN" dirty="0"/>
                  <a:t>                       - (iii)</a:t>
                </a:r>
              </a:p>
              <a:p>
                <a:pPr marL="0" indent="0">
                  <a:buNone/>
                </a:pPr>
                <a:endParaRPr lang="en-IN" dirty="0"/>
              </a:p>
              <a:p>
                <a:pPr marL="0" indent="0">
                  <a:buNone/>
                </a:pPr>
                <a:r>
                  <a:rPr lang="en-IN" dirty="0"/>
                  <a:t>Eliminating z using dark shadow:</a:t>
                </a:r>
              </a:p>
              <a:p>
                <a:pPr marL="0" indent="0">
                  <a:buNone/>
                </a:pPr>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oMath>
                </a14:m>
                <a:r>
                  <a:rPr lang="en-IN" b="0" dirty="0"/>
                  <a:t>           -(1)</a:t>
                </a:r>
              </a:p>
              <a:p>
                <a:pPr marL="0" indent="0">
                  <a:buNone/>
                </a:pPr>
                <a14:m>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oMath>
                </a14:m>
                <a:r>
                  <a:rPr lang="en-IN" b="0" dirty="0"/>
                  <a:t>             -(2)</a:t>
                </a:r>
              </a:p>
              <a:p>
                <a:pPr marL="0" indent="0">
                  <a:buNone/>
                </a:pPr>
                <a14:m>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𝑧</m:t>
                    </m:r>
                    <m:r>
                      <a:rPr lang="en-IN" b="0" i="1" smtClean="0">
                        <a:latin typeface="Cambria Math" panose="02040503050406030204" pitchFamily="18" charset="0"/>
                      </a:rPr>
                      <m:t>≥1−</m:t>
                    </m:r>
                    <m:r>
                      <a:rPr lang="en-IN" b="0" i="1" smtClean="0">
                        <a:latin typeface="Cambria Math" panose="02040503050406030204" pitchFamily="18" charset="0"/>
                      </a:rPr>
                      <m:t>𝑦</m:t>
                    </m:r>
                  </m:oMath>
                </a14:m>
                <a:r>
                  <a:rPr lang="en-IN" dirty="0"/>
                  <a:t>                  -(3)</a:t>
                </a:r>
              </a:p>
            </p:txBody>
          </p:sp>
        </mc:Choice>
        <mc:Fallback xmlns="">
          <p:sp>
            <p:nvSpPr>
              <p:cNvPr id="3" name="Content Placeholder 2">
                <a:extLst>
                  <a:ext uri="{FF2B5EF4-FFF2-40B4-BE49-F238E27FC236}">
                    <a16:creationId xmlns:a16="http://schemas.microsoft.com/office/drawing/2014/main" id="{EAB352C7-EFF1-9607-0CEE-82954C921223}"/>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3A7D49-6CBD-AFA1-795B-C7F40A576D6D}"/>
                  </a:ext>
                </a:extLst>
              </p:cNvPr>
              <p:cNvSpPr txBox="1"/>
              <p:nvPr/>
            </p:nvSpPr>
            <p:spPr>
              <a:xfrm>
                <a:off x="5683042" y="4109884"/>
                <a:ext cx="3293813" cy="923330"/>
              </a:xfrm>
              <a:prstGeom prst="rect">
                <a:avLst/>
              </a:prstGeom>
              <a:noFill/>
            </p:spPr>
            <p:txBody>
              <a:bodyPr wrap="square" rtlCol="0">
                <a:spAutoFit/>
              </a:bodyPr>
              <a:lstStyle/>
              <a:p>
                <a:r>
                  <a:rPr lang="en-IN" dirty="0"/>
                  <a:t>Using 1 and 2</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e>
                      </m:d>
                      <m:r>
                        <a:rPr lang="en-IN" b="0" i="1" smtClean="0">
                          <a:latin typeface="Cambria Math" panose="02040503050406030204" pitchFamily="18" charset="0"/>
                        </a:rPr>
                        <m:t>−2</m:t>
                      </m:r>
                      <m:d>
                        <m:dPr>
                          <m:ctrlPr>
                            <a:rPr lang="en-IN" b="0" i="1" smtClean="0">
                              <a:latin typeface="Cambria Math" panose="02040503050406030204" pitchFamily="18" charset="0"/>
                            </a:rPr>
                          </m:ctrlPr>
                        </m:dPr>
                        <m:e>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e>
                      </m:d>
                      <m:r>
                        <a:rPr lang="en-IN" b="0" i="1" smtClean="0">
                          <a:latin typeface="Cambria Math" panose="02040503050406030204" pitchFamily="18" charset="0"/>
                        </a:rPr>
                        <m:t>≥2</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 −3</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dirty="0"/>
              </a:p>
            </p:txBody>
          </p:sp>
        </mc:Choice>
        <mc:Fallback xmlns="">
          <p:sp>
            <p:nvSpPr>
              <p:cNvPr id="4" name="TextBox 3">
                <a:extLst>
                  <a:ext uri="{FF2B5EF4-FFF2-40B4-BE49-F238E27FC236}">
                    <a16:creationId xmlns:a16="http://schemas.microsoft.com/office/drawing/2014/main" id="{323A7D49-6CBD-AFA1-795B-C7F40A576D6D}"/>
                  </a:ext>
                </a:extLst>
              </p:cNvPr>
              <p:cNvSpPr txBox="1">
                <a:spLocks noRot="1" noChangeAspect="1" noMove="1" noResize="1" noEditPoints="1" noAdjustHandles="1" noChangeArrowheads="1" noChangeShapeType="1" noTextEdit="1"/>
              </p:cNvSpPr>
              <p:nvPr/>
            </p:nvSpPr>
            <p:spPr>
              <a:xfrm>
                <a:off x="5683042" y="4109884"/>
                <a:ext cx="3293813" cy="923330"/>
              </a:xfrm>
              <a:prstGeom prst="rect">
                <a:avLst/>
              </a:prstGeom>
              <a:blipFill>
                <a:blip r:embed="rId3"/>
                <a:stretch>
                  <a:fillRect l="-1479" t="-3289" b="-3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0C8D42E-223F-4E60-8107-447783E4D81C}"/>
                  </a:ext>
                </a:extLst>
              </p:cNvPr>
              <p:cNvSpPr txBox="1"/>
              <p:nvPr/>
            </p:nvSpPr>
            <p:spPr>
              <a:xfrm>
                <a:off x="5648630" y="5107861"/>
                <a:ext cx="3215148" cy="923330"/>
              </a:xfrm>
              <a:prstGeom prst="rect">
                <a:avLst/>
              </a:prstGeom>
              <a:noFill/>
            </p:spPr>
            <p:txBody>
              <a:bodyPr wrap="square" rtlCol="0">
                <a:spAutoFit/>
              </a:bodyPr>
              <a:lstStyle/>
              <a:p>
                <a:r>
                  <a:rPr lang="en-IN" dirty="0"/>
                  <a:t>Using 1 and 3</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e>
                      </m:d>
                      <m:r>
                        <a:rPr lang="en-IN" b="0" i="1" smtClean="0">
                          <a:latin typeface="Cambria Math" panose="02040503050406030204" pitchFamily="18" charset="0"/>
                        </a:rPr>
                        <m:t>−2</m:t>
                      </m:r>
                      <m:d>
                        <m:dPr>
                          <m:ctrlPr>
                            <a:rPr lang="en-IN" b="0" i="1" smtClean="0">
                              <a:latin typeface="Cambria Math" panose="02040503050406030204" pitchFamily="18" charset="0"/>
                            </a:rPr>
                          </m:ctrlPr>
                        </m:dPr>
                        <m:e>
                          <m:r>
                            <a:rPr lang="en-IN" b="0" i="1" smtClean="0">
                              <a:latin typeface="Cambria Math" panose="02040503050406030204" pitchFamily="18" charset="0"/>
                            </a:rPr>
                            <m:t>1−</m:t>
                          </m:r>
                          <m:r>
                            <a:rPr lang="en-IN" b="0" i="1" smtClean="0">
                              <a:latin typeface="Cambria Math" panose="02040503050406030204" pitchFamily="18" charset="0"/>
                            </a:rPr>
                            <m:t>𝑦</m:t>
                          </m:r>
                        </m:e>
                      </m:d>
                      <m:r>
                        <a:rPr lang="en-IN" b="0" i="0" smtClean="0">
                          <a:latin typeface="Cambria Math" panose="02040503050406030204" pitchFamily="18" charset="0"/>
                        </a:rPr>
                        <m:t>≥2</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≥10</m:t>
                      </m:r>
                    </m:oMath>
                  </m:oMathPara>
                </a14:m>
                <a:endParaRPr lang="en-IN" dirty="0"/>
              </a:p>
            </p:txBody>
          </p:sp>
        </mc:Choice>
        <mc:Fallback xmlns="">
          <p:sp>
            <p:nvSpPr>
              <p:cNvPr id="5" name="TextBox 4">
                <a:extLst>
                  <a:ext uri="{FF2B5EF4-FFF2-40B4-BE49-F238E27FC236}">
                    <a16:creationId xmlns:a16="http://schemas.microsoft.com/office/drawing/2014/main" id="{20C8D42E-223F-4E60-8107-447783E4D81C}"/>
                  </a:ext>
                </a:extLst>
              </p:cNvPr>
              <p:cNvSpPr txBox="1">
                <a:spLocks noRot="1" noChangeAspect="1" noMove="1" noResize="1" noEditPoints="1" noAdjustHandles="1" noChangeArrowheads="1" noChangeShapeType="1" noTextEdit="1"/>
              </p:cNvSpPr>
              <p:nvPr/>
            </p:nvSpPr>
            <p:spPr>
              <a:xfrm>
                <a:off x="5648630" y="5107861"/>
                <a:ext cx="3215148" cy="923330"/>
              </a:xfrm>
              <a:prstGeom prst="rect">
                <a:avLst/>
              </a:prstGeom>
              <a:blipFill>
                <a:blip r:embed="rId4"/>
                <a:stretch>
                  <a:fillRect l="-1708" t="-3974" b="-46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95144D-535D-80ED-78B3-BA305C41FE32}"/>
                  </a:ext>
                </a:extLst>
              </p:cNvPr>
              <p:cNvSpPr txBox="1"/>
              <p:nvPr/>
            </p:nvSpPr>
            <p:spPr>
              <a:xfrm>
                <a:off x="9330818" y="3706760"/>
                <a:ext cx="2595712" cy="2585323"/>
              </a:xfrm>
              <a:prstGeom prst="rect">
                <a:avLst/>
              </a:prstGeom>
              <a:noFill/>
            </p:spPr>
            <p:txBody>
              <a:bodyPr wrap="square" rtlCol="0">
                <a:spAutoFit/>
              </a:bodyPr>
              <a:lstStyle/>
              <a:p>
                <a:r>
                  <a:rPr lang="en-IN" dirty="0"/>
                  <a:t>Because,</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≥8</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≥10</m:t>
                      </m:r>
                    </m:oMath>
                  </m:oMathPara>
                </a14:m>
                <a:endParaRPr lang="en-IN" dirty="0"/>
              </a:p>
              <a:p>
                <a:r>
                  <a:rPr lang="en-IN" dirty="0"/>
                  <a:t>has integer solutions; therefore, the original constraints have integer solutions.</a:t>
                </a:r>
              </a:p>
              <a:p>
                <a:r>
                  <a:rPr lang="en-IN" dirty="0"/>
                  <a:t>One solution is:</a:t>
                </a:r>
              </a:p>
              <a:p>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=19, </m:t>
                    </m:r>
                    <m:r>
                      <a:rPr lang="en-IN" b="0" i="1" smtClean="0">
                        <a:latin typeface="Cambria Math" panose="02040503050406030204" pitchFamily="18" charset="0"/>
                      </a:rPr>
                      <m:t>𝑦</m:t>
                    </m:r>
                    <m:r>
                      <a:rPr lang="en-IN" b="0" i="1" smtClean="0">
                        <a:latin typeface="Cambria Math" panose="02040503050406030204" pitchFamily="18" charset="0"/>
                      </a:rPr>
                      <m:t>=−9,</m:t>
                    </m:r>
                    <m:r>
                      <a:rPr lang="en-IN" b="0" i="1" smtClean="0">
                        <a:latin typeface="Cambria Math" panose="02040503050406030204" pitchFamily="18" charset="0"/>
                      </a:rPr>
                      <m:t>𝑧</m:t>
                    </m:r>
                    <m:r>
                      <a:rPr lang="en-IN" b="0" i="1" smtClean="0">
                        <a:latin typeface="Cambria Math" panose="02040503050406030204" pitchFamily="18" charset="0"/>
                      </a:rPr>
                      <m:t>=4</m:t>
                    </m:r>
                  </m:oMath>
                </a14:m>
                <a:r>
                  <a:rPr lang="en-IN" dirty="0"/>
                  <a:t> </a:t>
                </a:r>
              </a:p>
            </p:txBody>
          </p:sp>
        </mc:Choice>
        <mc:Fallback xmlns="">
          <p:sp>
            <p:nvSpPr>
              <p:cNvPr id="6" name="TextBox 5">
                <a:extLst>
                  <a:ext uri="{FF2B5EF4-FFF2-40B4-BE49-F238E27FC236}">
                    <a16:creationId xmlns:a16="http://schemas.microsoft.com/office/drawing/2014/main" id="{1D95144D-535D-80ED-78B3-BA305C41FE32}"/>
                  </a:ext>
                </a:extLst>
              </p:cNvPr>
              <p:cNvSpPr txBox="1">
                <a:spLocks noRot="1" noChangeAspect="1" noMove="1" noResize="1" noEditPoints="1" noAdjustHandles="1" noChangeArrowheads="1" noChangeShapeType="1" noTextEdit="1"/>
              </p:cNvSpPr>
              <p:nvPr/>
            </p:nvSpPr>
            <p:spPr>
              <a:xfrm>
                <a:off x="9330818" y="3706760"/>
                <a:ext cx="2595712" cy="2585323"/>
              </a:xfrm>
              <a:prstGeom prst="rect">
                <a:avLst/>
              </a:prstGeom>
              <a:blipFill>
                <a:blip r:embed="rId5"/>
                <a:stretch>
                  <a:fillRect l="-2118" t="-1179" b="-236"/>
                </a:stretch>
              </a:blipFill>
            </p:spPr>
            <p:txBody>
              <a:bodyPr/>
              <a:lstStyle/>
              <a:p>
                <a:r>
                  <a:rPr lang="en-IN">
                    <a:noFill/>
                  </a:rPr>
                  <a:t> </a:t>
                </a:r>
              </a:p>
            </p:txBody>
          </p:sp>
        </mc:Fallback>
      </mc:AlternateContent>
    </p:spTree>
    <p:extLst>
      <p:ext uri="{BB962C8B-B14F-4D97-AF65-F5344CB8AC3E}">
        <p14:creationId xmlns:p14="http://schemas.microsoft.com/office/powerpoint/2010/main" val="145790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E633-6AA7-2EBB-5878-FF0224D4224A}"/>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BF7CB6-8520-DA63-68D0-AA7E1BAEE4E8}"/>
                  </a:ext>
                </a:extLst>
              </p:cNvPr>
              <p:cNvSpPr>
                <a:spLocks noGrp="1"/>
              </p:cNvSpPr>
              <p:nvPr>
                <p:ph idx="1"/>
              </p:nvPr>
            </p:nvSpPr>
            <p:spPr/>
            <p:txBody>
              <a:bodyPr>
                <a:normAutofit/>
              </a:bodyPr>
              <a:lstStyle/>
              <a:p>
                <a:r>
                  <a:rPr lang="en-IN" dirty="0"/>
                  <a:t>In this example, we could find the integer solution in the dark shadow region</a:t>
                </a:r>
              </a:p>
              <a:p>
                <a:endParaRPr lang="en-IN" dirty="0"/>
              </a:p>
              <a:p>
                <a:r>
                  <a:rPr lang="en-IN" dirty="0"/>
                  <a:t>However, if there is no dark shadow solution, then we need to test all possible </a:t>
                </a:r>
                <a14:m>
                  <m:oMath xmlns:m="http://schemas.openxmlformats.org/officeDocument/2006/math">
                    <m:r>
                      <a:rPr lang="en-IN" b="0" i="1" smtClean="0">
                        <a:latin typeface="Cambria Math" panose="02040503050406030204" pitchFamily="18" charset="0"/>
                      </a:rPr>
                      <m:t>𝑏𝑧</m:t>
                    </m:r>
                  </m:oMath>
                </a14:m>
                <a:r>
                  <a:rPr lang="en-IN" dirty="0"/>
                  <a:t>’s in the range </a:t>
                </a:r>
                <a14:m>
                  <m:oMath xmlns:m="http://schemas.openxmlformats.org/officeDocument/2006/math">
                    <m:r>
                      <a:rPr lang="en-IN" b="0" i="1" smtClean="0">
                        <a:latin typeface="Cambria Math" panose="02040503050406030204" pitchFamily="18" charset="0"/>
                      </a:rPr>
                      <m:t>𝛽</m:t>
                    </m:r>
                    <m:r>
                      <a:rPr lang="en-IN" b="0" i="0" smtClean="0">
                        <a:latin typeface="Cambria Math" panose="02040503050406030204" pitchFamily="18" charset="0"/>
                      </a:rPr>
                      <m:t>≤</m:t>
                    </m:r>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𝑐𝑏</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num>
                      <m:den>
                        <m:r>
                          <a:rPr lang="en-IN" b="0" i="1" smtClean="0">
                            <a:latin typeface="Cambria Math" panose="02040503050406030204" pitchFamily="18" charset="0"/>
                          </a:rPr>
                          <m:t>𝑐</m:t>
                        </m:r>
                      </m:den>
                    </m:f>
                    <m:r>
                      <a:rPr lang="en-IN" b="0" i="1" smtClean="0">
                        <a:latin typeface="Cambria Math" panose="02040503050406030204" pitchFamily="18" charset="0"/>
                      </a:rPr>
                      <m:t> </m:t>
                    </m:r>
                  </m:oMath>
                </a14:m>
                <a:endParaRPr lang="en-IN" b="0" dirty="0"/>
              </a:p>
              <a:p>
                <a:endParaRPr lang="en-IN" dirty="0"/>
              </a:p>
              <a:p>
                <a:r>
                  <a:rPr lang="en-IN" b="0" dirty="0"/>
                  <a:t>We can remove the equality </a:t>
                </a:r>
                <a:r>
                  <a:rPr lang="en-IN" dirty="0"/>
                  <a:t>using the symmetric modulo operation, as discussed earlier </a:t>
                </a:r>
                <a:endParaRPr lang="en-IN" b="0" dirty="0"/>
              </a:p>
            </p:txBody>
          </p:sp>
        </mc:Choice>
        <mc:Fallback xmlns="">
          <p:sp>
            <p:nvSpPr>
              <p:cNvPr id="3" name="Content Placeholder 2">
                <a:extLst>
                  <a:ext uri="{FF2B5EF4-FFF2-40B4-BE49-F238E27FC236}">
                    <a16:creationId xmlns:a16="http://schemas.microsoft.com/office/drawing/2014/main" id="{67BF7CB6-8520-DA63-68D0-AA7E1BAEE4E8}"/>
                  </a:ext>
                </a:extLst>
              </p:cNvPr>
              <p:cNvSpPr>
                <a:spLocks noGrp="1" noRot="1" noChangeAspect="1" noMove="1" noResize="1" noEditPoints="1" noAdjustHandles="1" noChangeArrowheads="1" noChangeShapeType="1" noTextEdit="1"/>
              </p:cNvSpPr>
              <p:nvPr>
                <p:ph idx="1"/>
              </p:nvPr>
            </p:nvSpPr>
            <p:spPr>
              <a:blipFill>
                <a:blip r:embed="rId2"/>
                <a:stretch>
                  <a:fillRect l="-1043" t="-2241" r="-1449"/>
                </a:stretch>
              </a:blipFill>
            </p:spPr>
            <p:txBody>
              <a:bodyPr/>
              <a:lstStyle/>
              <a:p>
                <a:r>
                  <a:rPr lang="en-IN">
                    <a:noFill/>
                  </a:rPr>
                  <a:t> </a:t>
                </a:r>
              </a:p>
            </p:txBody>
          </p:sp>
        </mc:Fallback>
      </mc:AlternateContent>
    </p:spTree>
    <p:extLst>
      <p:ext uri="{BB962C8B-B14F-4D97-AF65-F5344CB8AC3E}">
        <p14:creationId xmlns:p14="http://schemas.microsoft.com/office/powerpoint/2010/main" val="168913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2126F-D444-EEA7-43A8-DBB289D7367D}"/>
              </a:ext>
            </a:extLst>
          </p:cNvPr>
          <p:cNvSpPr>
            <a:spLocks noGrp="1"/>
          </p:cNvSpPr>
          <p:nvPr>
            <p:ph type="title"/>
          </p:nvPr>
        </p:nvSpPr>
        <p:spPr/>
        <p:txBody>
          <a:bodyPr/>
          <a:lstStyle/>
          <a:p>
            <a:r>
              <a:rPr lang="en-IN" dirty="0"/>
              <a:t>Difference logic</a:t>
            </a:r>
          </a:p>
        </p:txBody>
      </p:sp>
      <p:sp>
        <p:nvSpPr>
          <p:cNvPr id="3" name="Text Placeholder 2">
            <a:extLst>
              <a:ext uri="{FF2B5EF4-FFF2-40B4-BE49-F238E27FC236}">
                <a16:creationId xmlns:a16="http://schemas.microsoft.com/office/drawing/2014/main" id="{68AE4292-E485-78F2-CD39-36BFB8F09FC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74937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52C95-FF03-98B5-7D4E-33E8384CBA4D}"/>
              </a:ext>
            </a:extLst>
          </p:cNvPr>
          <p:cNvSpPr>
            <a:spLocks noGrp="1"/>
          </p:cNvSpPr>
          <p:nvPr>
            <p:ph type="title"/>
          </p:nvPr>
        </p:nvSpPr>
        <p:spPr/>
        <p:txBody>
          <a:bodyPr/>
          <a:lstStyle/>
          <a:p>
            <a:r>
              <a:rPr lang="en-IN" dirty="0"/>
              <a:t>Syntax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2B5246-438B-884D-4703-070065864DD5}"/>
                  </a:ext>
                </a:extLst>
              </p:cNvPr>
              <p:cNvSpPr>
                <a:spLocks noGrp="1"/>
              </p:cNvSpPr>
              <p:nvPr>
                <p:ph idx="1"/>
              </p:nvPr>
            </p:nvSpPr>
            <p:spPr/>
            <p:txBody>
              <a:bodyPr/>
              <a:lstStyle/>
              <a:p>
                <a:pPr marL="0" indent="0" algn="r">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𝑓𝑜𝑟𝑚𝑢𝑙𝑎</m:t>
                      </m:r>
                      <m:r>
                        <a:rPr lang="en-IN" b="0" i="1" smtClean="0">
                          <a:latin typeface="Cambria Math" panose="02040503050406030204" pitchFamily="18" charset="0"/>
                        </a:rPr>
                        <m:t> :</m:t>
                      </m:r>
                      <m:r>
                        <a:rPr lang="en-IN" b="0" i="1" smtClean="0">
                          <a:latin typeface="Cambria Math" panose="02040503050406030204" pitchFamily="18" charset="0"/>
                        </a:rPr>
                        <m:t>𝑓𝑜𝑟𝑚𝑢𝑙𝑎</m:t>
                      </m:r>
                      <m:r>
                        <a:rPr lang="en-IN" b="0" i="1" smtClean="0">
                          <a:latin typeface="Cambria Math" panose="02040503050406030204" pitchFamily="18" charset="0"/>
                        </a:rPr>
                        <m:t>∧</m:t>
                      </m:r>
                      <m:r>
                        <a:rPr lang="en-IN" b="0" i="1" smtClean="0">
                          <a:latin typeface="Cambria Math" panose="02040503050406030204" pitchFamily="18" charset="0"/>
                        </a:rPr>
                        <m:t>𝑓𝑜𝑟𝑚𝑢𝑙𝑎</m:t>
                      </m:r>
                      <m:r>
                        <a:rPr lang="en-IN" b="0" i="1" smtClean="0">
                          <a:latin typeface="Cambria Math" panose="02040503050406030204" pitchFamily="18" charset="0"/>
                        </a:rPr>
                        <m:t> | </m:t>
                      </m:r>
                      <m:r>
                        <a:rPr lang="en-IN" b="0" i="1" smtClean="0">
                          <a:latin typeface="Cambria Math" panose="02040503050406030204" pitchFamily="18" charset="0"/>
                        </a:rPr>
                        <m:t>𝑎𝑡𝑜𝑚</m:t>
                      </m:r>
                    </m:oMath>
                  </m:oMathPara>
                </a14:m>
                <a:endParaRPr lang="en-IN" b="0" dirty="0"/>
              </a:p>
              <a:p>
                <a:pPr marL="0" indent="0" algn="r">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𝑎𝑡𝑜𝑚</m:t>
                      </m:r>
                      <m:r>
                        <a:rPr lang="en-IN" b="0" i="1" smtClean="0">
                          <a:latin typeface="Cambria Math" panose="02040503050406030204" pitchFamily="18" charset="0"/>
                        </a:rPr>
                        <m:t> :</m:t>
                      </m:r>
                      <m:r>
                        <a:rPr lang="en-IN" b="0" i="1" smtClean="0">
                          <a:latin typeface="Cambria Math" panose="02040503050406030204" pitchFamily="18" charset="0"/>
                        </a:rPr>
                        <m:t>𝑖𝑑𝑒𝑛𝑡𝑖𝑓𝑖𝑒𝑟</m:t>
                      </m:r>
                      <m:r>
                        <a:rPr lang="en-IN" b="0" i="1" smtClean="0">
                          <a:latin typeface="Cambria Math" panose="02040503050406030204" pitchFamily="18" charset="0"/>
                        </a:rPr>
                        <m:t> −</m:t>
                      </m:r>
                      <m:r>
                        <a:rPr lang="en-IN" b="0" i="1" smtClean="0">
                          <a:latin typeface="Cambria Math" panose="02040503050406030204" pitchFamily="18" charset="0"/>
                        </a:rPr>
                        <m:t>𝑖𝑑𝑒𝑛𝑡𝑖𝑓𝑖𝑒𝑟</m:t>
                      </m:r>
                      <m:r>
                        <a:rPr lang="en-IN" b="0" i="1" smtClean="0">
                          <a:latin typeface="Cambria Math" panose="02040503050406030204" pitchFamily="18" charset="0"/>
                        </a:rPr>
                        <m:t> </m:t>
                      </m:r>
                      <m:r>
                        <a:rPr lang="en-IN" b="0" i="1" smtClean="0">
                          <a:latin typeface="Cambria Math" panose="02040503050406030204" pitchFamily="18" charset="0"/>
                        </a:rPr>
                        <m:t>𝑜𝑝</m:t>
                      </m:r>
                      <m:r>
                        <a:rPr lang="en-IN" b="0" i="1" smtClean="0">
                          <a:latin typeface="Cambria Math" panose="02040503050406030204" pitchFamily="18" charset="0"/>
                        </a:rPr>
                        <m:t> </m:t>
                      </m:r>
                      <m:r>
                        <a:rPr lang="en-IN" b="0" i="1" smtClean="0">
                          <a:latin typeface="Cambria Math" panose="02040503050406030204" pitchFamily="18" charset="0"/>
                        </a:rPr>
                        <m:t>𝑐𝑜𝑛𝑠𝑡𝑎𝑛𝑡</m:t>
                      </m:r>
                    </m:oMath>
                  </m:oMathPara>
                </a14:m>
                <a:endParaRPr lang="en-IN" b="0" dirty="0"/>
              </a:p>
              <a:p>
                <a:pPr marL="0" indent="0" algn="r">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𝑜𝑝</m:t>
                      </m:r>
                      <m:r>
                        <a:rPr lang="en-IN" b="0" i="1" smtClean="0">
                          <a:latin typeface="Cambria Math" panose="02040503050406030204" pitchFamily="18" charset="0"/>
                        </a:rPr>
                        <m:t> : ≤|&lt;</m:t>
                      </m:r>
                    </m:oMath>
                  </m:oMathPara>
                </a14:m>
                <a:endParaRPr lang="en-IN" dirty="0"/>
              </a:p>
              <a:p>
                <a:pPr marL="0" indent="0" algn="r">
                  <a:buNone/>
                </a:pPr>
                <a:endParaRPr lang="en-IN" dirty="0"/>
              </a:p>
              <a:p>
                <a:pPr marL="0" indent="0">
                  <a:buNone/>
                </a:pPr>
                <a:r>
                  <a:rPr lang="en-IN" dirty="0"/>
                  <a:t>Valid formula: </a:t>
                </a:r>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 −</m:t>
                    </m:r>
                    <m:r>
                      <a:rPr lang="en-IN" b="0" i="1" smtClean="0">
                        <a:latin typeface="Cambria Math" panose="02040503050406030204" pitchFamily="18" charset="0"/>
                      </a:rPr>
                      <m:t>𝑦</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1</m:t>
                        </m:r>
                      </m:sub>
                    </m:sSub>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&lt;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2</m:t>
                        </m:r>
                      </m:sub>
                    </m:sSub>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&lt;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3</m:t>
                        </m:r>
                      </m:sub>
                    </m:sSub>
                  </m:oMath>
                </a14:m>
                <a:endParaRPr lang="en-IN" dirty="0"/>
              </a:p>
              <a:p>
                <a:pPr marL="0" indent="0">
                  <a:buNone/>
                </a:pPr>
                <a:r>
                  <a:rPr lang="en-IN" dirty="0"/>
                  <a:t>Invalid formula:</a:t>
                </a:r>
              </a:p>
              <a:p>
                <a:pPr lvl="1"/>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 −</m:t>
                    </m:r>
                    <m:r>
                      <a:rPr lang="en-IN" b="0" i="1" smtClean="0">
                        <a:latin typeface="Cambria Math" panose="02040503050406030204" pitchFamily="18" charset="0"/>
                      </a:rPr>
                      <m:t>𝑦</m:t>
                    </m:r>
                    <m:r>
                      <a:rPr lang="en-IN" b="0" i="1" smtClean="0">
                        <a:latin typeface="Cambria Math" panose="02040503050406030204" pitchFamily="18" charset="0"/>
                      </a:rPr>
                      <m:t>&lt;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1</m:t>
                        </m:r>
                      </m:sub>
                    </m:sSub>
                  </m:oMath>
                </a14:m>
                <a:endParaRPr lang="en-IN" dirty="0"/>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&gt;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2</m:t>
                        </m:r>
                      </m:sub>
                    </m:sSub>
                  </m:oMath>
                </a14:m>
                <a:endParaRPr lang="en-IN" b="0" dirty="0"/>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2</m:t>
                        </m:r>
                      </m:sub>
                    </m:sSub>
                  </m:oMath>
                </a14:m>
                <a:endParaRPr lang="en-IN" dirty="0"/>
              </a:p>
              <a:p>
                <a:pPr marL="0" indent="0" algn="r">
                  <a:buNone/>
                </a:pPr>
                <a:endParaRPr lang="en-IN" dirty="0"/>
              </a:p>
              <a:p>
                <a:pPr marL="0" indent="0" algn="r">
                  <a:buNone/>
                </a:pPr>
                <a:endParaRPr lang="en-IN" dirty="0"/>
              </a:p>
            </p:txBody>
          </p:sp>
        </mc:Choice>
        <mc:Fallback xmlns="">
          <p:sp>
            <p:nvSpPr>
              <p:cNvPr id="3" name="Content Placeholder 2">
                <a:extLst>
                  <a:ext uri="{FF2B5EF4-FFF2-40B4-BE49-F238E27FC236}">
                    <a16:creationId xmlns:a16="http://schemas.microsoft.com/office/drawing/2014/main" id="{6F2B5246-438B-884D-4703-070065864DD5}"/>
                  </a:ext>
                </a:extLst>
              </p:cNvPr>
              <p:cNvSpPr>
                <a:spLocks noGrp="1" noRot="1" noChangeAspect="1" noMove="1" noResize="1" noEditPoints="1" noAdjustHandles="1" noChangeArrowheads="1" noChangeShapeType="1" noTextEdit="1"/>
              </p:cNvSpPr>
              <p:nvPr>
                <p:ph idx="1"/>
              </p:nvPr>
            </p:nvSpPr>
            <p:spPr>
              <a:blipFill>
                <a:blip r:embed="rId2"/>
                <a:stretch>
                  <a:fillRect l="-1217" b="-2521"/>
                </a:stretch>
              </a:blipFill>
            </p:spPr>
            <p:txBody>
              <a:bodyPr/>
              <a:lstStyle/>
              <a:p>
                <a:r>
                  <a:rPr lang="en-IN">
                    <a:noFill/>
                  </a:rPr>
                  <a:t> </a:t>
                </a:r>
              </a:p>
            </p:txBody>
          </p:sp>
        </mc:Fallback>
      </mc:AlternateContent>
    </p:spTree>
    <p:extLst>
      <p:ext uri="{BB962C8B-B14F-4D97-AF65-F5344CB8AC3E}">
        <p14:creationId xmlns:p14="http://schemas.microsoft.com/office/powerpoint/2010/main" val="1472298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E6C7-18ED-4147-47F2-7599CFC27B2D}"/>
              </a:ext>
            </a:extLst>
          </p:cNvPr>
          <p:cNvSpPr>
            <a:spLocks noGrp="1"/>
          </p:cNvSpPr>
          <p:nvPr>
            <p:ph type="title"/>
          </p:nvPr>
        </p:nvSpPr>
        <p:spPr/>
        <p:txBody>
          <a:bodyPr/>
          <a:lstStyle/>
          <a:p>
            <a:r>
              <a:rPr lang="en-IN" dirty="0"/>
              <a:t>Difference Logic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E93E98-78B1-FD0D-634D-E254DCB5FB23}"/>
                  </a:ext>
                </a:extLst>
              </p:cNvPr>
              <p:cNvSpPr>
                <a:spLocks noGrp="1"/>
              </p:cNvSpPr>
              <p:nvPr>
                <p:ph idx="1"/>
              </p:nvPr>
            </p:nvSpPr>
            <p:spPr/>
            <p:txBody>
              <a:bodyPr/>
              <a:lstStyle/>
              <a:p>
                <a:r>
                  <a:rPr lang="en-IN" dirty="0"/>
                  <a:t>The following predicates can be transformed into difference logic</a:t>
                </a:r>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𝑐</m:t>
                    </m:r>
                  </m:oMath>
                </a14:m>
                <a:endParaRPr lang="en-IN" b="0" dirty="0"/>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𝑐</m:t>
                    </m:r>
                  </m:oMath>
                </a14:m>
                <a:endParaRPr lang="en-IN" b="0" dirty="0"/>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&gt;</m:t>
                    </m:r>
                    <m:r>
                      <a:rPr lang="en-IN" b="0" i="1" smtClean="0">
                        <a:latin typeface="Cambria Math" panose="02040503050406030204" pitchFamily="18" charset="0"/>
                      </a:rPr>
                      <m:t>𝑐</m:t>
                    </m:r>
                  </m:oMath>
                </a14:m>
                <a:endParaRPr lang="en-IN" b="0" dirty="0"/>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&lt;5</m:t>
                    </m:r>
                  </m:oMath>
                </a14:m>
                <a:endParaRPr lang="en-IN" b="0" dirty="0"/>
              </a:p>
              <a:p>
                <a:pPr lvl="1"/>
                <a:endParaRPr lang="en-IN" dirty="0"/>
              </a:p>
            </p:txBody>
          </p:sp>
        </mc:Choice>
        <mc:Fallback xmlns="">
          <p:sp>
            <p:nvSpPr>
              <p:cNvPr id="3" name="Content Placeholder 2">
                <a:extLst>
                  <a:ext uri="{FF2B5EF4-FFF2-40B4-BE49-F238E27FC236}">
                    <a16:creationId xmlns:a16="http://schemas.microsoft.com/office/drawing/2014/main" id="{6CE93E98-78B1-FD0D-634D-E254DCB5FB2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676193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E6C7-18ED-4147-47F2-7599CFC27B2D}"/>
              </a:ext>
            </a:extLst>
          </p:cNvPr>
          <p:cNvSpPr>
            <a:spLocks noGrp="1"/>
          </p:cNvSpPr>
          <p:nvPr>
            <p:ph type="title"/>
          </p:nvPr>
        </p:nvSpPr>
        <p:spPr/>
        <p:txBody>
          <a:bodyPr/>
          <a:lstStyle/>
          <a:p>
            <a:r>
              <a:rPr lang="en-IN" dirty="0"/>
              <a:t>Difference Logic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E93E98-78B1-FD0D-634D-E254DCB5FB23}"/>
                  </a:ext>
                </a:extLst>
              </p:cNvPr>
              <p:cNvSpPr>
                <a:spLocks noGrp="1"/>
              </p:cNvSpPr>
              <p:nvPr>
                <p:ph idx="1"/>
              </p:nvPr>
            </p:nvSpPr>
            <p:spPr/>
            <p:txBody>
              <a:bodyPr/>
              <a:lstStyle/>
              <a:p>
                <a:r>
                  <a:rPr lang="en-IN" dirty="0"/>
                  <a:t>The following predicates can be transformed into difference logic</a:t>
                </a:r>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𝑐</m:t>
                    </m:r>
                    <m:r>
                      <a:rPr lang="en-IN" b="0" i="0" smtClean="0">
                        <a:latin typeface="Cambria Math" panose="02040503050406030204" pitchFamily="18" charset="0"/>
                      </a:rPr>
                      <m:t>       </m:t>
                    </m:r>
                    <m:r>
                      <a:rPr lang="en-IN" b="0" i="1" smtClean="0">
                        <a:latin typeface="Cambria Math" panose="02040503050406030204" pitchFamily="18" charset="0"/>
                      </a:rPr>
                      <m:t>↔</m:t>
                    </m:r>
                    <m:r>
                      <a:rPr lang="en-IN" b="0" i="1" smtClean="0">
                        <a:latin typeface="Cambria Math" panose="02040503050406030204" pitchFamily="18" charset="0"/>
                      </a:rPr>
                      <m:t>    </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     </m:t>
                    </m:r>
                    <m:r>
                      <a:rPr lang="en-IN" b="0" i="1" smtClean="0">
                        <a:latin typeface="Cambria Math" panose="02040503050406030204" pitchFamily="18" charset="0"/>
                      </a:rPr>
                      <m:t>↔</m:t>
                    </m:r>
                    <m:r>
                      <a:rPr lang="en-IN" b="0" i="1" smtClean="0">
                        <a:latin typeface="Cambria Math" panose="02040503050406030204" pitchFamily="18" charset="0"/>
                      </a:rPr>
                      <m:t>  </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𝑐</m:t>
                    </m:r>
                  </m:oMath>
                </a14:m>
                <a:endParaRPr lang="en-IN" b="0" dirty="0"/>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       </m:t>
                    </m:r>
                    <m:r>
                      <a:rPr lang="en-IN" b="0" i="1" smtClean="0">
                        <a:latin typeface="Cambria Math" panose="02040503050406030204" pitchFamily="18" charset="0"/>
                      </a:rPr>
                      <m:t>↔</m:t>
                    </m:r>
                    <m:r>
                      <a:rPr lang="en-IN" b="0" i="1" smtClean="0">
                        <a:latin typeface="Cambria Math" panose="02040503050406030204" pitchFamily="18" charset="0"/>
                      </a:rPr>
                      <m:t>     </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𝑐</m:t>
                    </m:r>
                  </m:oMath>
                </a14:m>
                <a:endParaRPr lang="en-IN" b="0" dirty="0"/>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&gt;</m:t>
                    </m:r>
                    <m:r>
                      <a:rPr lang="en-IN" b="0" i="1" smtClean="0">
                        <a:latin typeface="Cambria Math" panose="02040503050406030204" pitchFamily="18" charset="0"/>
                      </a:rPr>
                      <m:t>𝑐</m:t>
                    </m:r>
                    <m:r>
                      <a:rPr lang="en-IN" b="0" i="1" smtClean="0">
                        <a:latin typeface="Cambria Math" panose="02040503050406030204" pitchFamily="18" charset="0"/>
                      </a:rPr>
                      <m:t>       </m:t>
                    </m:r>
                    <m:r>
                      <a:rPr lang="en-IN" b="0" i="1" smtClean="0">
                        <a:latin typeface="Cambria Math" panose="02040503050406030204" pitchFamily="18" charset="0"/>
                      </a:rPr>
                      <m:t>↔</m:t>
                    </m:r>
                    <m:r>
                      <a:rPr lang="en-IN" b="0" i="1" smtClean="0">
                        <a:latin typeface="Cambria Math" panose="02040503050406030204" pitchFamily="18" charset="0"/>
                      </a:rPr>
                      <m:t>     </m:t>
                    </m:r>
                    <m:r>
                      <a:rPr lang="en-IN" b="0" i="1" smtClean="0">
                        <a:latin typeface="Cambria Math" panose="02040503050406030204" pitchFamily="18" charset="0"/>
                      </a:rPr>
                      <m:t>𝑦</m:t>
                    </m:r>
                    <m:r>
                      <a:rPr lang="en-IN" b="0" i="1" smtClean="0">
                        <a:latin typeface="Cambria Math" panose="02040503050406030204" pitchFamily="18" charset="0"/>
                      </a:rPr>
                      <m:t> −</m:t>
                    </m:r>
                    <m:r>
                      <a:rPr lang="en-IN" b="0" i="1" smtClean="0">
                        <a:latin typeface="Cambria Math" panose="02040503050406030204" pitchFamily="18" charset="0"/>
                      </a:rPr>
                      <m:t>𝑥</m:t>
                    </m:r>
                    <m:r>
                      <a:rPr lang="en-IN" b="0" i="1" smtClean="0">
                        <a:latin typeface="Cambria Math" panose="02040503050406030204" pitchFamily="18" charset="0"/>
                      </a:rPr>
                      <m:t>&lt; −</m:t>
                    </m:r>
                    <m:r>
                      <a:rPr lang="en-IN" b="0" i="1" smtClean="0">
                        <a:latin typeface="Cambria Math" panose="02040503050406030204" pitchFamily="18" charset="0"/>
                      </a:rPr>
                      <m:t>𝑐</m:t>
                    </m:r>
                  </m:oMath>
                </a14:m>
                <a:endParaRPr lang="en-IN" b="0" dirty="0"/>
              </a:p>
              <a:p>
                <a:pPr lvl="1"/>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&lt;5               </m:t>
                    </m:r>
                    <m:r>
                      <a:rPr lang="en-IN" b="0" i="1" smtClean="0">
                        <a:latin typeface="Cambria Math" panose="02040503050406030204" pitchFamily="18" charset="0"/>
                      </a:rPr>
                      <m:t>↔</m:t>
                    </m:r>
                    <m:r>
                      <a:rPr lang="en-IN" b="0" i="1" smtClean="0">
                        <a:latin typeface="Cambria Math" panose="02040503050406030204" pitchFamily="18" charset="0"/>
                      </a:rPr>
                      <m:t>     </m:t>
                    </m:r>
                    <m:r>
                      <a:rPr lang="en-IN" b="0" i="1" smtClean="0">
                        <a:latin typeface="Cambria Math" panose="02040503050406030204" pitchFamily="18" charset="0"/>
                      </a:rPr>
                      <m:t>𝑥</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𝑜</m:t>
                        </m:r>
                      </m:sub>
                    </m:sSub>
                    <m:r>
                      <a:rPr lang="en-IN" b="0" i="1" smtClean="0">
                        <a:latin typeface="Cambria Math" panose="02040503050406030204" pitchFamily="18" charset="0"/>
                      </a:rPr>
                      <m:t>&lt;5</m:t>
                    </m:r>
                  </m:oMath>
                </a14:m>
                <a:r>
                  <a:rPr lang="en-IN" b="0" dirty="0"/>
                  <a:t>, for a fresh variable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𝑜</m:t>
                        </m:r>
                      </m:sub>
                    </m:sSub>
                    <m:r>
                      <a:rPr lang="en-IN" b="0" i="0" smtClean="0">
                        <a:latin typeface="Cambria Math" panose="02040503050406030204" pitchFamily="18" charset="0"/>
                      </a:rPr>
                      <m:t>.</m:t>
                    </m:r>
                  </m:oMath>
                </a14:m>
                <a:r>
                  <a:rPr lang="en-IN" b="0" dirty="0"/>
                  <a:t> </a:t>
                </a:r>
                <a:r>
                  <a:rPr lang="en-IN" dirty="0"/>
                  <a:t>The value of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𝑜</m:t>
                        </m:r>
                      </m:sub>
                    </m:sSub>
                  </m:oMath>
                </a14:m>
                <a:r>
                  <a:rPr lang="en-IN" dirty="0"/>
                  <a:t> must be zero in any satisfying assignment.</a:t>
                </a:r>
              </a:p>
            </p:txBody>
          </p:sp>
        </mc:Choice>
        <mc:Fallback xmlns="">
          <p:sp>
            <p:nvSpPr>
              <p:cNvPr id="3" name="Content Placeholder 2">
                <a:extLst>
                  <a:ext uri="{FF2B5EF4-FFF2-40B4-BE49-F238E27FC236}">
                    <a16:creationId xmlns:a16="http://schemas.microsoft.com/office/drawing/2014/main" id="{6CE93E98-78B1-FD0D-634D-E254DCB5FB2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5841116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74F85-AE89-FACA-E00F-B3CF37540A7E}"/>
              </a:ext>
            </a:extLst>
          </p:cNvPr>
          <p:cNvSpPr>
            <a:spLocks noGrp="1"/>
          </p:cNvSpPr>
          <p:nvPr>
            <p:ph type="title"/>
          </p:nvPr>
        </p:nvSpPr>
        <p:spPr/>
        <p:txBody>
          <a:bodyPr/>
          <a:lstStyle/>
          <a:p>
            <a:r>
              <a:rPr lang="en-IN" dirty="0"/>
              <a:t>Decision procedure for difference logic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773922-9350-B5C8-75FB-25AEE5119FD0}"/>
                  </a:ext>
                </a:extLst>
              </p:cNvPr>
              <p:cNvSpPr>
                <a:spLocks noGrp="1"/>
              </p:cNvSpPr>
              <p:nvPr>
                <p:ph idx="1"/>
              </p:nvPr>
            </p:nvSpPr>
            <p:spPr/>
            <p:txBody>
              <a:bodyPr/>
              <a:lstStyle/>
              <a:p>
                <a:r>
                  <a:rPr lang="en-IN" dirty="0"/>
                  <a:t>Inequality graph for </a:t>
                </a:r>
                <a:r>
                  <a:rPr lang="en-IN" dirty="0" err="1"/>
                  <a:t>nonstrict</a:t>
                </a:r>
                <a:r>
                  <a:rPr lang="en-IN" dirty="0"/>
                  <a:t> inequalities</a:t>
                </a:r>
              </a:p>
              <a:p>
                <a:endParaRPr lang="en-IN" dirty="0"/>
              </a:p>
              <a:p>
                <a:r>
                  <a:rPr lang="en-IN" dirty="0"/>
                  <a:t>An inequality graph is an undirected graph</a:t>
                </a:r>
              </a:p>
              <a:p>
                <a:pPr lvl="1"/>
                <a:r>
                  <a:rPr lang="en-IN" dirty="0"/>
                  <a:t>The vertices are variables</a:t>
                </a:r>
              </a:p>
              <a:p>
                <a:pPr lvl="1"/>
                <a:r>
                  <a:rPr lang="en-IN" dirty="0"/>
                  <a:t>For each constraint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 −</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𝑐</m:t>
                    </m:r>
                  </m:oMath>
                </a14:m>
                <a:r>
                  <a:rPr lang="en-IN" dirty="0"/>
                  <a:t>, there is a directed edge from </a:t>
                </a:r>
                <a14:m>
                  <m:oMath xmlns:m="http://schemas.openxmlformats.org/officeDocument/2006/math">
                    <m:r>
                      <a:rPr lang="en-IN" b="0" i="1" smtClean="0">
                        <a:latin typeface="Cambria Math" panose="02040503050406030204" pitchFamily="18" charset="0"/>
                      </a:rPr>
                      <m:t>𝑥</m:t>
                    </m:r>
                  </m:oMath>
                </a14:m>
                <a:r>
                  <a:rPr lang="en-IN" dirty="0"/>
                  <a:t> to </a:t>
                </a:r>
                <a14:m>
                  <m:oMath xmlns:m="http://schemas.openxmlformats.org/officeDocument/2006/math">
                    <m:r>
                      <a:rPr lang="en-IN" b="0" i="1" smtClean="0">
                        <a:latin typeface="Cambria Math" panose="02040503050406030204" pitchFamily="18" charset="0"/>
                      </a:rPr>
                      <m:t>𝑦</m:t>
                    </m:r>
                  </m:oMath>
                </a14:m>
                <a:r>
                  <a:rPr lang="en-IN" dirty="0"/>
                  <a:t> of weight </a:t>
                </a:r>
                <a14:m>
                  <m:oMath xmlns:m="http://schemas.openxmlformats.org/officeDocument/2006/math">
                    <m:r>
                      <a:rPr lang="en-IN" b="0" i="1" smtClean="0">
                        <a:latin typeface="Cambria Math" panose="02040503050406030204" pitchFamily="18" charset="0"/>
                      </a:rPr>
                      <m:t>𝑐</m:t>
                    </m:r>
                  </m:oMath>
                </a14:m>
                <a:r>
                  <a:rPr lang="en-IN" dirty="0"/>
                  <a:t> in the inequality graph</a:t>
                </a:r>
              </a:p>
              <a:p>
                <a:pPr lvl="1"/>
                <a:endParaRPr lang="en-IN" dirty="0"/>
              </a:p>
            </p:txBody>
          </p:sp>
        </mc:Choice>
        <mc:Fallback xmlns="">
          <p:sp>
            <p:nvSpPr>
              <p:cNvPr id="3" name="Content Placeholder 2">
                <a:extLst>
                  <a:ext uri="{FF2B5EF4-FFF2-40B4-BE49-F238E27FC236}">
                    <a16:creationId xmlns:a16="http://schemas.microsoft.com/office/drawing/2014/main" id="{9A773922-9350-B5C8-75FB-25AEE5119FD0}"/>
                  </a:ext>
                </a:extLst>
              </p:cNvPr>
              <p:cNvSpPr>
                <a:spLocks noGrp="1" noRot="1" noChangeAspect="1" noMove="1" noResize="1" noEditPoints="1" noAdjustHandles="1" noChangeArrowheads="1" noChangeShapeType="1" noTextEdit="1"/>
              </p:cNvSpPr>
              <p:nvPr>
                <p:ph idx="1"/>
              </p:nvPr>
            </p:nvSpPr>
            <p:spPr>
              <a:blipFill>
                <a:blip r:embed="rId2"/>
                <a:stretch>
                  <a:fillRect l="-1043" t="-2241" r="-290"/>
                </a:stretch>
              </a:blipFill>
            </p:spPr>
            <p:txBody>
              <a:bodyPr/>
              <a:lstStyle/>
              <a:p>
                <a:r>
                  <a:rPr lang="en-IN">
                    <a:noFill/>
                  </a:rPr>
                  <a:t> </a:t>
                </a:r>
              </a:p>
            </p:txBody>
          </p:sp>
        </mc:Fallback>
      </mc:AlternateContent>
    </p:spTree>
    <p:extLst>
      <p:ext uri="{BB962C8B-B14F-4D97-AF65-F5344CB8AC3E}">
        <p14:creationId xmlns:p14="http://schemas.microsoft.com/office/powerpoint/2010/main" val="1909359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48469-A6BA-E28E-AAF9-9A7288B6C7F1}"/>
              </a:ext>
            </a:extLst>
          </p:cNvPr>
          <p:cNvSpPr>
            <a:spLocks noGrp="1"/>
          </p:cNvSpPr>
          <p:nvPr>
            <p:ph type="title"/>
          </p:nvPr>
        </p:nvSpPr>
        <p:spPr/>
        <p:txBody>
          <a:bodyPr/>
          <a:lstStyle/>
          <a:p>
            <a:r>
              <a:rPr lang="en-IN" dirty="0"/>
              <a:t>Decision procedure for difference logic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3610FF-DB28-3EB7-CEFB-AE150F272F3E}"/>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 −</m:t>
                      </m:r>
                      <m:r>
                        <a:rPr lang="en-IN" b="0" i="1" smtClean="0">
                          <a:latin typeface="Cambria Math" panose="02040503050406030204" pitchFamily="18" charset="0"/>
                        </a:rPr>
                        <m:t>𝑦</m:t>
                      </m:r>
                      <m:r>
                        <a:rPr lang="en-IN" b="0" i="1" smtClean="0">
                          <a:latin typeface="Cambria Math" panose="02040503050406030204" pitchFamily="18" charset="0"/>
                        </a:rPr>
                        <m:t>≤20∧</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≤30∧</m:t>
                      </m:r>
                      <m:r>
                        <a:rPr lang="en-IN" b="0" i="1" smtClean="0">
                          <a:latin typeface="Cambria Math" panose="02040503050406030204" pitchFamily="18" charset="0"/>
                        </a:rPr>
                        <m:t>𝑧</m:t>
                      </m:r>
                      <m:r>
                        <a:rPr lang="en-IN" b="0" i="1" smtClean="0">
                          <a:latin typeface="Cambria Math" panose="02040503050406030204" pitchFamily="18" charset="0"/>
                        </a:rPr>
                        <m:t>−</m:t>
                      </m:r>
                      <m:r>
                        <a:rPr lang="en-IN" b="0" i="1" smtClean="0">
                          <a:latin typeface="Cambria Math" panose="02040503050406030204" pitchFamily="18" charset="0"/>
                        </a:rPr>
                        <m:t>𝑡</m:t>
                      </m:r>
                      <m:r>
                        <a:rPr lang="en-IN" b="0" i="1" smtClean="0">
                          <a:latin typeface="Cambria Math" panose="02040503050406030204" pitchFamily="18" charset="0"/>
                        </a:rPr>
                        <m:t>≤2∧</m:t>
                      </m:r>
                      <m:r>
                        <a:rPr lang="en-IN" b="0" i="1" smtClean="0">
                          <a:latin typeface="Cambria Math" panose="02040503050406030204" pitchFamily="18" charset="0"/>
                        </a:rPr>
                        <m:t>𝑡</m:t>
                      </m:r>
                      <m:r>
                        <a:rPr lang="en-IN" b="0" i="1" smtClean="0">
                          <a:latin typeface="Cambria Math" panose="02040503050406030204" pitchFamily="18" charset="0"/>
                        </a:rPr>
                        <m:t>−</m:t>
                      </m:r>
                      <m:r>
                        <a:rPr lang="en-IN" b="0" i="1" smtClean="0">
                          <a:latin typeface="Cambria Math" panose="02040503050406030204" pitchFamily="18" charset="0"/>
                        </a:rPr>
                        <m:t>𝑝</m:t>
                      </m:r>
                      <m:r>
                        <a:rPr lang="en-IN" b="0" i="1" smtClean="0">
                          <a:latin typeface="Cambria Math" panose="02040503050406030204" pitchFamily="18" charset="0"/>
                        </a:rPr>
                        <m:t>≤4∧</m:t>
                      </m:r>
                      <m:r>
                        <a:rPr lang="en-IN" b="0" i="1" smtClean="0">
                          <a:latin typeface="Cambria Math" panose="02040503050406030204" pitchFamily="18" charset="0"/>
                        </a:rPr>
                        <m:t>𝑝</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≤−50</m:t>
                      </m:r>
                    </m:oMath>
                  </m:oMathPara>
                </a14:m>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BF3610FF-DB28-3EB7-CEFB-AE150F272F3E}"/>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4DBF8122-00E5-6B9A-0150-C3BA26075E1A}"/>
              </a:ext>
            </a:extLst>
          </p:cNvPr>
          <p:cNvSpPr/>
          <p:nvPr/>
        </p:nvSpPr>
        <p:spPr>
          <a:xfrm>
            <a:off x="1465006" y="3185652"/>
            <a:ext cx="619433"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x</a:t>
            </a:r>
          </a:p>
        </p:txBody>
      </p:sp>
      <p:sp>
        <p:nvSpPr>
          <p:cNvPr id="5" name="Oval 4">
            <a:extLst>
              <a:ext uri="{FF2B5EF4-FFF2-40B4-BE49-F238E27FC236}">
                <a16:creationId xmlns:a16="http://schemas.microsoft.com/office/drawing/2014/main" id="{39F1E525-2446-A922-BF7D-F91B59E0B07A}"/>
              </a:ext>
            </a:extLst>
          </p:cNvPr>
          <p:cNvSpPr/>
          <p:nvPr/>
        </p:nvSpPr>
        <p:spPr>
          <a:xfrm>
            <a:off x="3249563" y="3180733"/>
            <a:ext cx="619433"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y</a:t>
            </a:r>
          </a:p>
        </p:txBody>
      </p:sp>
      <p:sp>
        <p:nvSpPr>
          <p:cNvPr id="6" name="Oval 5">
            <a:extLst>
              <a:ext uri="{FF2B5EF4-FFF2-40B4-BE49-F238E27FC236}">
                <a16:creationId xmlns:a16="http://schemas.microsoft.com/office/drawing/2014/main" id="{F5CDF5E9-DCE5-0251-689A-214A98FE87E1}"/>
              </a:ext>
            </a:extLst>
          </p:cNvPr>
          <p:cNvSpPr/>
          <p:nvPr/>
        </p:nvSpPr>
        <p:spPr>
          <a:xfrm>
            <a:off x="4945629" y="3175814"/>
            <a:ext cx="619433"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z</a:t>
            </a:r>
          </a:p>
        </p:txBody>
      </p:sp>
      <p:sp>
        <p:nvSpPr>
          <p:cNvPr id="7" name="Oval 6">
            <a:extLst>
              <a:ext uri="{FF2B5EF4-FFF2-40B4-BE49-F238E27FC236}">
                <a16:creationId xmlns:a16="http://schemas.microsoft.com/office/drawing/2014/main" id="{68C2CF3F-D74C-2F67-CD5E-75790F105325}"/>
              </a:ext>
            </a:extLst>
          </p:cNvPr>
          <p:cNvSpPr/>
          <p:nvPr/>
        </p:nvSpPr>
        <p:spPr>
          <a:xfrm>
            <a:off x="6700689" y="3151233"/>
            <a:ext cx="619433"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t</a:t>
            </a:r>
          </a:p>
        </p:txBody>
      </p:sp>
      <p:sp>
        <p:nvSpPr>
          <p:cNvPr id="8" name="Oval 7">
            <a:extLst>
              <a:ext uri="{FF2B5EF4-FFF2-40B4-BE49-F238E27FC236}">
                <a16:creationId xmlns:a16="http://schemas.microsoft.com/office/drawing/2014/main" id="{6F95820D-4F2A-38CA-5A99-82CE7592E03F}"/>
              </a:ext>
            </a:extLst>
          </p:cNvPr>
          <p:cNvSpPr/>
          <p:nvPr/>
        </p:nvSpPr>
        <p:spPr>
          <a:xfrm>
            <a:off x="4925963" y="4709648"/>
            <a:ext cx="619433"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p</a:t>
            </a:r>
          </a:p>
        </p:txBody>
      </p:sp>
      <p:cxnSp>
        <p:nvCxnSpPr>
          <p:cNvPr id="10" name="Straight Arrow Connector 9">
            <a:extLst>
              <a:ext uri="{FF2B5EF4-FFF2-40B4-BE49-F238E27FC236}">
                <a16:creationId xmlns:a16="http://schemas.microsoft.com/office/drawing/2014/main" id="{FC3FCFEA-4D1F-7030-AFD2-70CD70442EF2}"/>
              </a:ext>
            </a:extLst>
          </p:cNvPr>
          <p:cNvCxnSpPr>
            <a:stCxn id="4" idx="6"/>
            <a:endCxn id="5" idx="2"/>
          </p:cNvCxnSpPr>
          <p:nvPr/>
        </p:nvCxnSpPr>
        <p:spPr>
          <a:xfrm flipV="1">
            <a:off x="2084439" y="3485533"/>
            <a:ext cx="1165124" cy="49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01F3A8C-03E7-9569-C013-D9EFEEAA303F}"/>
              </a:ext>
            </a:extLst>
          </p:cNvPr>
          <p:cNvCxnSpPr>
            <a:stCxn id="5" idx="6"/>
            <a:endCxn id="6" idx="2"/>
          </p:cNvCxnSpPr>
          <p:nvPr/>
        </p:nvCxnSpPr>
        <p:spPr>
          <a:xfrm flipV="1">
            <a:off x="3868996" y="3480614"/>
            <a:ext cx="1076633" cy="49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B0A1E24-AF8E-50FC-7189-20BB7FBBD861}"/>
              </a:ext>
            </a:extLst>
          </p:cNvPr>
          <p:cNvCxnSpPr>
            <a:stCxn id="6" idx="6"/>
            <a:endCxn id="7" idx="2"/>
          </p:cNvCxnSpPr>
          <p:nvPr/>
        </p:nvCxnSpPr>
        <p:spPr>
          <a:xfrm flipV="1">
            <a:off x="5565062" y="3456033"/>
            <a:ext cx="1135627" cy="2458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AF2DC29-4B5D-086F-324B-DF6EA2BAD9DF}"/>
              </a:ext>
            </a:extLst>
          </p:cNvPr>
          <p:cNvCxnSpPr>
            <a:stCxn id="7" idx="3"/>
            <a:endCxn id="8" idx="7"/>
          </p:cNvCxnSpPr>
          <p:nvPr/>
        </p:nvCxnSpPr>
        <p:spPr>
          <a:xfrm flipH="1">
            <a:off x="5454682" y="3671559"/>
            <a:ext cx="1336721" cy="11273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40338F4-49A3-E534-89E8-0C57D4C988BF}"/>
              </a:ext>
            </a:extLst>
          </p:cNvPr>
          <p:cNvCxnSpPr>
            <a:stCxn id="8" idx="1"/>
          </p:cNvCxnSpPr>
          <p:nvPr/>
        </p:nvCxnSpPr>
        <p:spPr>
          <a:xfrm flipH="1" flipV="1">
            <a:off x="3868996" y="3760833"/>
            <a:ext cx="1147681" cy="10380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75C878A-8DA9-C6A4-4CEC-E4E047B76FFC}"/>
              </a:ext>
            </a:extLst>
          </p:cNvPr>
          <p:cNvSpPr txBox="1"/>
          <p:nvPr/>
        </p:nvSpPr>
        <p:spPr>
          <a:xfrm>
            <a:off x="2310581" y="3067663"/>
            <a:ext cx="943897" cy="369332"/>
          </a:xfrm>
          <a:prstGeom prst="rect">
            <a:avLst/>
          </a:prstGeom>
          <a:noFill/>
        </p:spPr>
        <p:txBody>
          <a:bodyPr wrap="square" rtlCol="0">
            <a:spAutoFit/>
          </a:bodyPr>
          <a:lstStyle/>
          <a:p>
            <a:r>
              <a:rPr lang="en-IN" dirty="0"/>
              <a:t>20</a:t>
            </a:r>
          </a:p>
        </p:txBody>
      </p:sp>
      <p:sp>
        <p:nvSpPr>
          <p:cNvPr id="20" name="TextBox 19">
            <a:extLst>
              <a:ext uri="{FF2B5EF4-FFF2-40B4-BE49-F238E27FC236}">
                <a16:creationId xmlns:a16="http://schemas.microsoft.com/office/drawing/2014/main" id="{150E686D-AE24-2FA7-3CA3-1E9A43ECAB20}"/>
              </a:ext>
            </a:extLst>
          </p:cNvPr>
          <p:cNvSpPr txBox="1"/>
          <p:nvPr/>
        </p:nvSpPr>
        <p:spPr>
          <a:xfrm>
            <a:off x="4193461" y="3092243"/>
            <a:ext cx="943897" cy="369332"/>
          </a:xfrm>
          <a:prstGeom prst="rect">
            <a:avLst/>
          </a:prstGeom>
          <a:noFill/>
        </p:spPr>
        <p:txBody>
          <a:bodyPr wrap="square" rtlCol="0">
            <a:spAutoFit/>
          </a:bodyPr>
          <a:lstStyle/>
          <a:p>
            <a:r>
              <a:rPr lang="en-IN" dirty="0"/>
              <a:t>30</a:t>
            </a:r>
          </a:p>
        </p:txBody>
      </p:sp>
      <p:sp>
        <p:nvSpPr>
          <p:cNvPr id="21" name="TextBox 20">
            <a:extLst>
              <a:ext uri="{FF2B5EF4-FFF2-40B4-BE49-F238E27FC236}">
                <a16:creationId xmlns:a16="http://schemas.microsoft.com/office/drawing/2014/main" id="{4D700E79-A165-E72B-C20F-EB929430E298}"/>
              </a:ext>
            </a:extLst>
          </p:cNvPr>
          <p:cNvSpPr txBox="1"/>
          <p:nvPr/>
        </p:nvSpPr>
        <p:spPr>
          <a:xfrm>
            <a:off x="5801038" y="3077494"/>
            <a:ext cx="943897" cy="369332"/>
          </a:xfrm>
          <a:prstGeom prst="rect">
            <a:avLst/>
          </a:prstGeom>
          <a:noFill/>
        </p:spPr>
        <p:txBody>
          <a:bodyPr wrap="square" rtlCol="0">
            <a:spAutoFit/>
          </a:bodyPr>
          <a:lstStyle/>
          <a:p>
            <a:r>
              <a:rPr lang="en-IN" dirty="0"/>
              <a:t>2</a:t>
            </a:r>
          </a:p>
        </p:txBody>
      </p:sp>
      <p:sp>
        <p:nvSpPr>
          <p:cNvPr id="22" name="TextBox 21">
            <a:extLst>
              <a:ext uri="{FF2B5EF4-FFF2-40B4-BE49-F238E27FC236}">
                <a16:creationId xmlns:a16="http://schemas.microsoft.com/office/drawing/2014/main" id="{C2D4E4D5-A733-05FA-F5C5-D59A2E2750BB}"/>
              </a:ext>
            </a:extLst>
          </p:cNvPr>
          <p:cNvSpPr txBox="1"/>
          <p:nvPr/>
        </p:nvSpPr>
        <p:spPr>
          <a:xfrm>
            <a:off x="6277902" y="4222954"/>
            <a:ext cx="943897" cy="369332"/>
          </a:xfrm>
          <a:prstGeom prst="rect">
            <a:avLst/>
          </a:prstGeom>
          <a:noFill/>
        </p:spPr>
        <p:txBody>
          <a:bodyPr wrap="square" rtlCol="0">
            <a:spAutoFit/>
          </a:bodyPr>
          <a:lstStyle/>
          <a:p>
            <a:r>
              <a:rPr lang="en-IN" dirty="0"/>
              <a:t>4</a:t>
            </a:r>
          </a:p>
        </p:txBody>
      </p:sp>
      <p:sp>
        <p:nvSpPr>
          <p:cNvPr id="23" name="TextBox 22">
            <a:extLst>
              <a:ext uri="{FF2B5EF4-FFF2-40B4-BE49-F238E27FC236}">
                <a16:creationId xmlns:a16="http://schemas.microsoft.com/office/drawing/2014/main" id="{9FED54E0-1E66-8165-F905-DA5B9CCE7B1E}"/>
              </a:ext>
            </a:extLst>
          </p:cNvPr>
          <p:cNvSpPr txBox="1"/>
          <p:nvPr/>
        </p:nvSpPr>
        <p:spPr>
          <a:xfrm>
            <a:off x="3942734" y="4296696"/>
            <a:ext cx="943897" cy="369332"/>
          </a:xfrm>
          <a:prstGeom prst="rect">
            <a:avLst/>
          </a:prstGeom>
          <a:noFill/>
        </p:spPr>
        <p:txBody>
          <a:bodyPr wrap="square" rtlCol="0">
            <a:spAutoFit/>
          </a:bodyPr>
          <a:lstStyle/>
          <a:p>
            <a:r>
              <a:rPr lang="en-IN" dirty="0"/>
              <a:t>-50</a:t>
            </a:r>
          </a:p>
        </p:txBody>
      </p:sp>
    </p:spTree>
    <p:extLst>
      <p:ext uri="{BB962C8B-B14F-4D97-AF65-F5344CB8AC3E}">
        <p14:creationId xmlns:p14="http://schemas.microsoft.com/office/powerpoint/2010/main" val="1365449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F2957-2BF7-4D81-8691-0EBFDEEB8648}"/>
              </a:ext>
            </a:extLst>
          </p:cNvPr>
          <p:cNvSpPr>
            <a:spLocks noGrp="1"/>
          </p:cNvSpPr>
          <p:nvPr>
            <p:ph type="title"/>
          </p:nvPr>
        </p:nvSpPr>
        <p:spPr/>
        <p:txBody>
          <a:bodyPr/>
          <a:lstStyle/>
          <a:p>
            <a:r>
              <a:rPr lang="en-IN" dirty="0"/>
              <a:t>Decision procedure for difference logic</a:t>
            </a:r>
          </a:p>
        </p:txBody>
      </p:sp>
      <p:sp>
        <p:nvSpPr>
          <p:cNvPr id="3" name="Content Placeholder 2">
            <a:extLst>
              <a:ext uri="{FF2B5EF4-FFF2-40B4-BE49-F238E27FC236}">
                <a16:creationId xmlns:a16="http://schemas.microsoft.com/office/drawing/2014/main" id="{8D3B8D23-ABC5-D683-72A3-27FA144C0254}"/>
              </a:ext>
            </a:extLst>
          </p:cNvPr>
          <p:cNvSpPr>
            <a:spLocks noGrp="1"/>
          </p:cNvSpPr>
          <p:nvPr>
            <p:ph idx="1"/>
          </p:nvPr>
        </p:nvSpPr>
        <p:spPr/>
        <p:txBody>
          <a:bodyPr/>
          <a:lstStyle/>
          <a:p>
            <a:pPr marL="0" indent="0">
              <a:buNone/>
            </a:pPr>
            <a:r>
              <a:rPr lang="en-US" dirty="0"/>
              <a:t>Let ϕ be a conjunction of the inequality predicates and G be the corresponding inequality graph; then ϕ is satisfiable if and only if there is no negative cycle in G.</a:t>
            </a:r>
            <a:endParaRPr lang="en-IN" dirty="0"/>
          </a:p>
        </p:txBody>
      </p:sp>
    </p:spTree>
    <p:extLst>
      <p:ext uri="{BB962C8B-B14F-4D97-AF65-F5344CB8AC3E}">
        <p14:creationId xmlns:p14="http://schemas.microsoft.com/office/powerpoint/2010/main" val="31167959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F2957-2BF7-4D81-8691-0EBFDEEB8648}"/>
              </a:ext>
            </a:extLst>
          </p:cNvPr>
          <p:cNvSpPr>
            <a:spLocks noGrp="1"/>
          </p:cNvSpPr>
          <p:nvPr>
            <p:ph type="title"/>
          </p:nvPr>
        </p:nvSpPr>
        <p:spPr/>
        <p:txBody>
          <a:bodyPr/>
          <a:lstStyle/>
          <a:p>
            <a:r>
              <a:rPr lang="en-IN" dirty="0"/>
              <a:t>Decision procedure for difference logic</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D3B8D23-ABC5-D683-72A3-27FA144C0254}"/>
                  </a:ext>
                </a:extLst>
              </p:cNvPr>
              <p:cNvSpPr>
                <a:spLocks noGrp="1"/>
              </p:cNvSpPr>
              <p:nvPr>
                <p:ph idx="1"/>
              </p:nvPr>
            </p:nvSpPr>
            <p:spPr/>
            <p:txBody>
              <a:bodyPr>
                <a:normAutofit/>
              </a:bodyPr>
              <a:lstStyle/>
              <a:p>
                <a:pPr marL="0" indent="0">
                  <a:buNone/>
                </a:pPr>
                <a:r>
                  <a:rPr lang="en-US" dirty="0"/>
                  <a:t>Let ϕ be a conjunction of the inequality predicates and G be the corresponding inequality graph; then ϕ is satisfiable if and only if there is no negative cycle in G.</a:t>
                </a:r>
              </a:p>
              <a:p>
                <a:pPr marL="0" indent="0">
                  <a:buNone/>
                </a:pPr>
                <a:endParaRPr lang="en-US" dirty="0"/>
              </a:p>
              <a:p>
                <a:pPr marL="0" indent="0">
                  <a:buNone/>
                </a:pPr>
                <a:r>
                  <a:rPr lang="en-US" dirty="0"/>
                  <a:t>If we add the weights of all edges in a cycle, it must be zero. The constraints are unsatisfiable if the actual sum of the weights is negative. For example, in the previous example, the sum of weights in the cycle yields the following constraint</a:t>
                </a:r>
                <a:endParaRPr lang="en-I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𝑧</m:t>
                      </m:r>
                      <m:r>
                        <a:rPr lang="en-US" i="1" dirty="0" smtClean="0">
                          <a:latin typeface="Cambria Math" panose="02040503050406030204" pitchFamily="18" charset="0"/>
                        </a:rPr>
                        <m:t>) + (</m:t>
                      </m:r>
                      <m:r>
                        <a:rPr lang="en-US" i="1" dirty="0" smtClean="0">
                          <a:latin typeface="Cambria Math" panose="02040503050406030204" pitchFamily="18" charset="0"/>
                        </a:rPr>
                        <m:t>𝑧</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 + (</m:t>
                      </m:r>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𝑝</m:t>
                      </m:r>
                      <m:r>
                        <a:rPr lang="en-US" i="1" dirty="0" smtClean="0">
                          <a:latin typeface="Cambria Math" panose="02040503050406030204" pitchFamily="18" charset="0"/>
                        </a:rPr>
                        <m:t>) + (</m:t>
                      </m:r>
                      <m:r>
                        <a:rPr lang="en-US" i="1" dirty="0" smtClean="0">
                          <a:latin typeface="Cambria Math" panose="02040503050406030204" pitchFamily="18" charset="0"/>
                        </a:rPr>
                        <m:t>𝑝</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 &lt;= 30 + 2 + 4 – 50</m:t>
                      </m:r>
                    </m:oMath>
                  </m:oMathPara>
                </a14:m>
                <a:endParaRPr lang="en-US" dirty="0"/>
              </a:p>
              <a:p>
                <a:pPr marL="0" indent="0">
                  <a:buNone/>
                </a:pPr>
                <a:r>
                  <a:rPr lang="en-US" dirty="0"/>
                  <a:t>which simplifies to an unsatisfiable constraint </a:t>
                </a:r>
                <a14:m>
                  <m:oMath xmlns:m="http://schemas.openxmlformats.org/officeDocument/2006/math">
                    <m:r>
                      <a:rPr lang="en-US" i="1" dirty="0" smtClean="0">
                        <a:latin typeface="Cambria Math" panose="02040503050406030204" pitchFamily="18" charset="0"/>
                      </a:rPr>
                      <m:t>0 &lt;= −14</m:t>
                    </m:r>
                  </m:oMath>
                </a14:m>
                <a:r>
                  <a:rPr lang="en-US" dirty="0"/>
                  <a:t>.</a:t>
                </a:r>
                <a:endParaRPr lang="en-IN" dirty="0"/>
              </a:p>
            </p:txBody>
          </p:sp>
        </mc:Choice>
        <mc:Fallback>
          <p:sp>
            <p:nvSpPr>
              <p:cNvPr id="3" name="Content Placeholder 2">
                <a:extLst>
                  <a:ext uri="{FF2B5EF4-FFF2-40B4-BE49-F238E27FC236}">
                    <a16:creationId xmlns:a16="http://schemas.microsoft.com/office/drawing/2014/main" id="{8D3B8D23-ABC5-D683-72A3-27FA144C0254}"/>
                  </a:ext>
                </a:extLst>
              </p:cNvPr>
              <p:cNvSpPr>
                <a:spLocks noGrp="1" noRot="1" noChangeAspect="1" noMove="1" noResize="1" noEditPoints="1" noAdjustHandles="1" noChangeArrowheads="1" noChangeShapeType="1" noTextEdit="1"/>
              </p:cNvSpPr>
              <p:nvPr>
                <p:ph idx="1"/>
              </p:nvPr>
            </p:nvSpPr>
            <p:spPr>
              <a:blipFill>
                <a:blip r:embed="rId2"/>
                <a:stretch>
                  <a:fillRect l="-1217" t="-2241" r="-754" b="-3081"/>
                </a:stretch>
              </a:blipFill>
            </p:spPr>
            <p:txBody>
              <a:bodyPr/>
              <a:lstStyle/>
              <a:p>
                <a:r>
                  <a:rPr lang="en-IN">
                    <a:noFill/>
                  </a:rPr>
                  <a:t> </a:t>
                </a:r>
              </a:p>
            </p:txBody>
          </p:sp>
        </mc:Fallback>
      </mc:AlternateContent>
    </p:spTree>
    <p:extLst>
      <p:ext uri="{BB962C8B-B14F-4D97-AF65-F5344CB8AC3E}">
        <p14:creationId xmlns:p14="http://schemas.microsoft.com/office/powerpoint/2010/main" val="18280127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48469-A6BA-E28E-AAF9-9A7288B6C7F1}"/>
              </a:ext>
            </a:extLst>
          </p:cNvPr>
          <p:cNvSpPr>
            <a:spLocks noGrp="1"/>
          </p:cNvSpPr>
          <p:nvPr>
            <p:ph type="title"/>
          </p:nvPr>
        </p:nvSpPr>
        <p:spPr/>
        <p:txBody>
          <a:bodyPr/>
          <a:lstStyle/>
          <a:p>
            <a:r>
              <a:rPr lang="en-IN" dirty="0"/>
              <a:t>Decision procedure for difference logic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3610FF-DB28-3EB7-CEFB-AE150F272F3E}"/>
                  </a:ext>
                </a:extLst>
              </p:cNvPr>
              <p:cNvSpPr>
                <a:spLocks noGrp="1"/>
              </p:cNvSpPr>
              <p:nvPr>
                <p:ph idx="1"/>
              </p:nvPr>
            </p:nvSpPr>
            <p:spPr/>
            <p:txBody>
              <a:bodyPr/>
              <a:lstStyle/>
              <a:p>
                <a:pPr marL="0" indent="0">
                  <a:buNone/>
                </a:pPr>
                <a:r>
                  <a:rPr lang="en-IN" dirty="0">
                    <a:latin typeface="Cambria Math" panose="02040503050406030204" pitchFamily="18" charset="0"/>
                  </a:rPr>
                  <a:t>Strict inequalities</a:t>
                </a:r>
                <a:endParaRPr lang="en-IN" b="0" i="1" dirty="0">
                  <a:latin typeface="Cambria Math" panose="02040503050406030204" pitchFamily="18" charset="0"/>
                </a:endParaRPr>
              </a:p>
              <a:p>
                <a:pPr marL="0" indent="0">
                  <a:buNone/>
                </a:pPr>
                <a:r>
                  <a:rPr lang="en-IN" b="0" dirty="0"/>
                  <a:t>Is </a:t>
                </a:r>
                <a14:m>
                  <m:oMath xmlns:m="http://schemas.openxmlformats.org/officeDocument/2006/math">
                    <m:r>
                      <a:rPr lang="en-IN" b="1" i="1" smtClean="0">
                        <a:solidFill>
                          <a:schemeClr val="accent1"/>
                        </a:solidFill>
                        <a:latin typeface="Cambria Math" panose="02040503050406030204" pitchFamily="18" charset="0"/>
                      </a:rPr>
                      <m:t>𝒙</m:t>
                    </m:r>
                    <m:r>
                      <a:rPr lang="en-IN" b="1" i="1" smtClean="0">
                        <a:solidFill>
                          <a:schemeClr val="accent1"/>
                        </a:solidFill>
                        <a:latin typeface="Cambria Math" panose="02040503050406030204" pitchFamily="18" charset="0"/>
                      </a:rPr>
                      <m:t> −</m:t>
                    </m:r>
                    <m:r>
                      <a:rPr lang="en-IN" b="1" i="1" smtClean="0">
                        <a:solidFill>
                          <a:schemeClr val="accent1"/>
                        </a:solidFill>
                        <a:latin typeface="Cambria Math" panose="02040503050406030204" pitchFamily="18" charset="0"/>
                      </a:rPr>
                      <m:t>𝒚</m:t>
                    </m:r>
                    <m:r>
                      <a:rPr lang="en-IN" b="1" i="1" smtClean="0">
                        <a:solidFill>
                          <a:schemeClr val="accent1"/>
                        </a:solidFill>
                        <a:latin typeface="Cambria Math" panose="02040503050406030204" pitchFamily="18" charset="0"/>
                      </a:rPr>
                      <m:t>&lt;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𝒚</m:t>
                    </m:r>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𝒛</m:t>
                    </m:r>
                    <m:r>
                      <a:rPr lang="en-IN" b="1" i="1" smtClean="0">
                        <a:solidFill>
                          <a:schemeClr val="accent1"/>
                        </a:solidFill>
                        <a:latin typeface="Cambria Math" panose="02040503050406030204" pitchFamily="18" charset="0"/>
                      </a:rPr>
                      <m:t>&lt;</m:t>
                    </m:r>
                    <m:r>
                      <a:rPr lang="en-IN" b="1" i="1" smtClean="0">
                        <a:solidFill>
                          <a:schemeClr val="accent1"/>
                        </a:solidFill>
                        <a:latin typeface="Cambria Math" panose="02040503050406030204" pitchFamily="18" charset="0"/>
                      </a:rPr>
                      <m:t>𝟏</m:t>
                    </m:r>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𝒛</m:t>
                    </m:r>
                    <m:r>
                      <a:rPr lang="en-IN" b="1" i="1" smtClean="0">
                        <a:solidFill>
                          <a:schemeClr val="accent1"/>
                        </a:solidFill>
                        <a:latin typeface="Cambria Math" panose="02040503050406030204" pitchFamily="18" charset="0"/>
                      </a:rPr>
                      <m:t>−</m:t>
                    </m:r>
                    <m:r>
                      <a:rPr lang="en-IN" b="1" i="1" smtClean="0">
                        <a:solidFill>
                          <a:schemeClr val="accent1"/>
                        </a:solidFill>
                        <a:latin typeface="Cambria Math" panose="02040503050406030204" pitchFamily="18" charset="0"/>
                      </a:rPr>
                      <m:t>𝒙</m:t>
                    </m:r>
                    <m:r>
                      <a:rPr lang="en-IN" b="1" i="1" smtClean="0">
                        <a:solidFill>
                          <a:schemeClr val="accent1"/>
                        </a:solidFill>
                        <a:latin typeface="Cambria Math" panose="02040503050406030204" pitchFamily="18" charset="0"/>
                      </a:rPr>
                      <m:t>&lt;</m:t>
                    </m:r>
                    <m:r>
                      <a:rPr lang="en-IN" b="1" i="1" smtClean="0">
                        <a:solidFill>
                          <a:schemeClr val="accent1"/>
                        </a:solidFill>
                        <a:latin typeface="Cambria Math" panose="02040503050406030204" pitchFamily="18" charset="0"/>
                      </a:rPr>
                      <m:t>𝟎</m:t>
                    </m:r>
                  </m:oMath>
                </a14:m>
                <a:r>
                  <a:rPr lang="en-IN" b="1" dirty="0">
                    <a:solidFill>
                      <a:schemeClr val="accent1"/>
                    </a:solidFill>
                  </a:rPr>
                  <a:t> </a:t>
                </a:r>
                <a:r>
                  <a:rPr lang="en-IN" dirty="0"/>
                  <a:t>satisfiable?</a:t>
                </a:r>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BF3610FF-DB28-3EB7-CEFB-AE150F272F3E}"/>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Tree>
    <p:extLst>
      <p:ext uri="{BB962C8B-B14F-4D97-AF65-F5344CB8AC3E}">
        <p14:creationId xmlns:p14="http://schemas.microsoft.com/office/powerpoint/2010/main" val="2743966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48469-A6BA-E28E-AAF9-9A7288B6C7F1}"/>
              </a:ext>
            </a:extLst>
          </p:cNvPr>
          <p:cNvSpPr>
            <a:spLocks noGrp="1"/>
          </p:cNvSpPr>
          <p:nvPr>
            <p:ph type="title"/>
          </p:nvPr>
        </p:nvSpPr>
        <p:spPr/>
        <p:txBody>
          <a:bodyPr/>
          <a:lstStyle/>
          <a:p>
            <a:r>
              <a:rPr lang="en-IN" dirty="0"/>
              <a:t>Decision procedure for difference logic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3610FF-DB28-3EB7-CEFB-AE150F272F3E}"/>
                  </a:ext>
                </a:extLst>
              </p:cNvPr>
              <p:cNvSpPr>
                <a:spLocks noGrp="1"/>
              </p:cNvSpPr>
              <p:nvPr>
                <p:ph idx="1"/>
              </p:nvPr>
            </p:nvSpPr>
            <p:spPr/>
            <p:txBody>
              <a:bodyPr/>
              <a:lstStyle/>
              <a:p>
                <a:pPr marL="0" indent="0">
                  <a:buNone/>
                </a:pPr>
                <a:r>
                  <a:rPr lang="en-IN" dirty="0">
                    <a:latin typeface="Cambria Math" panose="02040503050406030204" pitchFamily="18" charset="0"/>
                  </a:rPr>
                  <a:t>Strict inequalities</a:t>
                </a:r>
                <a:endParaRPr lang="en-IN" b="0" dirty="0">
                  <a:latin typeface="Cambria Math" panose="02040503050406030204" pitchFamily="18" charset="0"/>
                </a:endParaRPr>
              </a:p>
              <a:p>
                <a:pPr marL="0" indent="0">
                  <a:buNone/>
                </a:pPr>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 −</m:t>
                      </m:r>
                      <m:r>
                        <a:rPr lang="en-IN" b="0" i="1" smtClean="0">
                          <a:latin typeface="Cambria Math" panose="02040503050406030204" pitchFamily="18" charset="0"/>
                        </a:rPr>
                        <m:t>𝑦</m:t>
                      </m:r>
                      <m:r>
                        <a:rPr lang="en-IN" b="0" i="1" smtClean="0">
                          <a:latin typeface="Cambria Math" panose="02040503050406030204" pitchFamily="18" charset="0"/>
                        </a:rPr>
                        <m:t>&lt;1∧</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&lt;1∧</m:t>
                      </m:r>
                      <m:r>
                        <a:rPr lang="en-IN" b="0" i="1" smtClean="0">
                          <a:latin typeface="Cambria Math" panose="02040503050406030204" pitchFamily="18" charset="0"/>
                        </a:rPr>
                        <m:t>𝑧</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&lt;0</m:t>
                      </m:r>
                    </m:oMath>
                  </m:oMathPara>
                </a14:m>
                <a:endParaRPr lang="en-IN" b="0" dirty="0"/>
              </a:p>
              <a:p>
                <a:pPr marL="0" indent="0">
                  <a:buNone/>
                </a:pPr>
                <a:r>
                  <a:rPr lang="en-IN" dirty="0"/>
                  <a:t>------------------------------------------------</a:t>
                </a: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≤0∧</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≤0∧</m:t>
                      </m:r>
                      <m:r>
                        <a:rPr lang="en-IN" b="0" i="1" smtClean="0">
                          <a:latin typeface="Cambria Math" panose="02040503050406030204" pitchFamily="18" charset="0"/>
                        </a:rPr>
                        <m:t>𝑧</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≤−1</m:t>
                      </m:r>
                    </m:oMath>
                  </m:oMathPara>
                </a14:m>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BF3610FF-DB28-3EB7-CEFB-AE150F272F3E}"/>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F7F3C9AA-4CD6-E40F-39C1-DBBB8273E575}"/>
              </a:ext>
            </a:extLst>
          </p:cNvPr>
          <p:cNvSpPr/>
          <p:nvPr/>
        </p:nvSpPr>
        <p:spPr>
          <a:xfrm>
            <a:off x="4080393" y="4522840"/>
            <a:ext cx="619433"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x</a:t>
            </a:r>
          </a:p>
        </p:txBody>
      </p:sp>
      <p:sp>
        <p:nvSpPr>
          <p:cNvPr id="5" name="Oval 4">
            <a:extLst>
              <a:ext uri="{FF2B5EF4-FFF2-40B4-BE49-F238E27FC236}">
                <a16:creationId xmlns:a16="http://schemas.microsoft.com/office/drawing/2014/main" id="{6C3FD072-2C0C-6C92-E9B6-B5E0038E9245}"/>
              </a:ext>
            </a:extLst>
          </p:cNvPr>
          <p:cNvSpPr/>
          <p:nvPr/>
        </p:nvSpPr>
        <p:spPr>
          <a:xfrm>
            <a:off x="5864950" y="4517921"/>
            <a:ext cx="619433"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y</a:t>
            </a:r>
          </a:p>
        </p:txBody>
      </p:sp>
      <p:sp>
        <p:nvSpPr>
          <p:cNvPr id="6" name="Oval 5">
            <a:extLst>
              <a:ext uri="{FF2B5EF4-FFF2-40B4-BE49-F238E27FC236}">
                <a16:creationId xmlns:a16="http://schemas.microsoft.com/office/drawing/2014/main" id="{B0BB7A37-D9E1-C774-4AE1-5F86E1B57E20}"/>
              </a:ext>
            </a:extLst>
          </p:cNvPr>
          <p:cNvSpPr/>
          <p:nvPr/>
        </p:nvSpPr>
        <p:spPr>
          <a:xfrm>
            <a:off x="4925963" y="5486396"/>
            <a:ext cx="619433" cy="6096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z</a:t>
            </a:r>
          </a:p>
        </p:txBody>
      </p:sp>
      <p:cxnSp>
        <p:nvCxnSpPr>
          <p:cNvPr id="7" name="Straight Arrow Connector 6">
            <a:extLst>
              <a:ext uri="{FF2B5EF4-FFF2-40B4-BE49-F238E27FC236}">
                <a16:creationId xmlns:a16="http://schemas.microsoft.com/office/drawing/2014/main" id="{BF5635EF-31EB-9947-A402-27983B4D203E}"/>
              </a:ext>
            </a:extLst>
          </p:cNvPr>
          <p:cNvCxnSpPr>
            <a:stCxn id="4" idx="6"/>
            <a:endCxn id="5" idx="2"/>
          </p:cNvCxnSpPr>
          <p:nvPr/>
        </p:nvCxnSpPr>
        <p:spPr>
          <a:xfrm flipV="1">
            <a:off x="4699826" y="4822721"/>
            <a:ext cx="1165124" cy="49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C6D34EC-DA38-2E77-E86C-D9569C02E074}"/>
              </a:ext>
            </a:extLst>
          </p:cNvPr>
          <p:cNvSpPr txBox="1"/>
          <p:nvPr/>
        </p:nvSpPr>
        <p:spPr>
          <a:xfrm>
            <a:off x="4925968" y="4404851"/>
            <a:ext cx="943897" cy="369332"/>
          </a:xfrm>
          <a:prstGeom prst="rect">
            <a:avLst/>
          </a:prstGeom>
          <a:noFill/>
        </p:spPr>
        <p:txBody>
          <a:bodyPr wrap="square" rtlCol="0">
            <a:spAutoFit/>
          </a:bodyPr>
          <a:lstStyle/>
          <a:p>
            <a:r>
              <a:rPr lang="en-IN" dirty="0"/>
              <a:t>0</a:t>
            </a:r>
          </a:p>
        </p:txBody>
      </p:sp>
      <p:cxnSp>
        <p:nvCxnSpPr>
          <p:cNvPr id="11" name="Straight Arrow Connector 10">
            <a:extLst>
              <a:ext uri="{FF2B5EF4-FFF2-40B4-BE49-F238E27FC236}">
                <a16:creationId xmlns:a16="http://schemas.microsoft.com/office/drawing/2014/main" id="{D2EBB429-9F01-C17A-38BF-A13A3F97D048}"/>
              </a:ext>
            </a:extLst>
          </p:cNvPr>
          <p:cNvCxnSpPr>
            <a:stCxn id="5" idx="3"/>
            <a:endCxn id="6" idx="7"/>
          </p:cNvCxnSpPr>
          <p:nvPr/>
        </p:nvCxnSpPr>
        <p:spPr>
          <a:xfrm flipH="1">
            <a:off x="5454682" y="5038247"/>
            <a:ext cx="500982" cy="53742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DC391E8-E08F-0797-2E8C-E023ED68E2AE}"/>
              </a:ext>
            </a:extLst>
          </p:cNvPr>
          <p:cNvCxnSpPr>
            <a:stCxn id="6" idx="1"/>
            <a:endCxn id="4" idx="4"/>
          </p:cNvCxnSpPr>
          <p:nvPr/>
        </p:nvCxnSpPr>
        <p:spPr>
          <a:xfrm flipH="1" flipV="1">
            <a:off x="4390110" y="5132440"/>
            <a:ext cx="626567" cy="4432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E9D5D82-07DC-B323-10C7-848700B13734}"/>
              </a:ext>
            </a:extLst>
          </p:cNvPr>
          <p:cNvSpPr txBox="1"/>
          <p:nvPr/>
        </p:nvSpPr>
        <p:spPr>
          <a:xfrm>
            <a:off x="5776460" y="5176683"/>
            <a:ext cx="943897" cy="369332"/>
          </a:xfrm>
          <a:prstGeom prst="rect">
            <a:avLst/>
          </a:prstGeom>
          <a:noFill/>
        </p:spPr>
        <p:txBody>
          <a:bodyPr wrap="square" rtlCol="0">
            <a:spAutoFit/>
          </a:bodyPr>
          <a:lstStyle/>
          <a:p>
            <a:r>
              <a:rPr lang="en-IN" dirty="0"/>
              <a:t>0</a:t>
            </a:r>
          </a:p>
        </p:txBody>
      </p:sp>
      <p:sp>
        <p:nvSpPr>
          <p:cNvPr id="15" name="TextBox 14">
            <a:extLst>
              <a:ext uri="{FF2B5EF4-FFF2-40B4-BE49-F238E27FC236}">
                <a16:creationId xmlns:a16="http://schemas.microsoft.com/office/drawing/2014/main" id="{5027BC75-0EC4-C96B-EB9F-1ECF677B13C1}"/>
              </a:ext>
            </a:extLst>
          </p:cNvPr>
          <p:cNvSpPr txBox="1"/>
          <p:nvPr/>
        </p:nvSpPr>
        <p:spPr>
          <a:xfrm>
            <a:off x="4365531" y="5329083"/>
            <a:ext cx="943897" cy="369332"/>
          </a:xfrm>
          <a:prstGeom prst="rect">
            <a:avLst/>
          </a:prstGeom>
          <a:noFill/>
        </p:spPr>
        <p:txBody>
          <a:bodyPr wrap="square" rtlCol="0">
            <a:spAutoFit/>
          </a:bodyPr>
          <a:lstStyle/>
          <a:p>
            <a:r>
              <a:rPr lang="en-IN" dirty="0"/>
              <a:t>-1</a:t>
            </a:r>
          </a:p>
        </p:txBody>
      </p:sp>
      <p:sp>
        <p:nvSpPr>
          <p:cNvPr id="9" name="TextBox 8">
            <a:extLst>
              <a:ext uri="{FF2B5EF4-FFF2-40B4-BE49-F238E27FC236}">
                <a16:creationId xmlns:a16="http://schemas.microsoft.com/office/drawing/2014/main" id="{47CD634C-800D-B5A9-B90E-1AF5AFD3A43B}"/>
              </a:ext>
            </a:extLst>
          </p:cNvPr>
          <p:cNvSpPr txBox="1"/>
          <p:nvPr/>
        </p:nvSpPr>
        <p:spPr>
          <a:xfrm>
            <a:off x="6574969" y="5754678"/>
            <a:ext cx="4962835" cy="523220"/>
          </a:xfrm>
          <a:prstGeom prst="rect">
            <a:avLst/>
          </a:prstGeom>
          <a:noFill/>
        </p:spPr>
        <p:txBody>
          <a:bodyPr wrap="square" rtlCol="0">
            <a:spAutoFit/>
          </a:bodyPr>
          <a:lstStyle/>
          <a:p>
            <a:r>
              <a:rPr lang="en-IN" sz="2800" dirty="0"/>
              <a:t>The constraints are unsatisfiable.</a:t>
            </a:r>
          </a:p>
        </p:txBody>
      </p:sp>
    </p:spTree>
    <p:extLst>
      <p:ext uri="{BB962C8B-B14F-4D97-AF65-F5344CB8AC3E}">
        <p14:creationId xmlns:p14="http://schemas.microsoft.com/office/powerpoint/2010/main" val="2988887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B0DB-BF38-E89F-C51D-5753862864C9}"/>
              </a:ext>
            </a:extLst>
          </p:cNvPr>
          <p:cNvSpPr>
            <a:spLocks noGrp="1"/>
          </p:cNvSpPr>
          <p:nvPr>
            <p:ph type="title"/>
          </p:nvPr>
        </p:nvSpPr>
        <p:spPr/>
        <p:txBody>
          <a:bodyPr/>
          <a:lstStyle/>
          <a:p>
            <a:r>
              <a:rPr lang="en-IN" dirty="0"/>
              <a:t>Finding negative cycle</a:t>
            </a:r>
          </a:p>
        </p:txBody>
      </p:sp>
      <p:sp>
        <p:nvSpPr>
          <p:cNvPr id="3" name="Content Placeholder 2">
            <a:extLst>
              <a:ext uri="{FF2B5EF4-FFF2-40B4-BE49-F238E27FC236}">
                <a16:creationId xmlns:a16="http://schemas.microsoft.com/office/drawing/2014/main" id="{B6100F91-D142-9263-99EE-A86156D0B428}"/>
              </a:ext>
            </a:extLst>
          </p:cNvPr>
          <p:cNvSpPr>
            <a:spLocks noGrp="1"/>
          </p:cNvSpPr>
          <p:nvPr>
            <p:ph idx="1"/>
          </p:nvPr>
        </p:nvSpPr>
        <p:spPr/>
        <p:txBody>
          <a:bodyPr/>
          <a:lstStyle/>
          <a:p>
            <a:r>
              <a:rPr lang="en-IN" dirty="0"/>
              <a:t>Bellman-Ford algorithm</a:t>
            </a:r>
          </a:p>
          <a:p>
            <a:pPr lvl="1"/>
            <a:r>
              <a:rPr lang="en-IN" dirty="0"/>
              <a:t>Read from the CORMEN, LEISERSON, RIVEST, STEIN book</a:t>
            </a:r>
          </a:p>
        </p:txBody>
      </p:sp>
    </p:spTree>
    <p:extLst>
      <p:ext uri="{BB962C8B-B14F-4D97-AF65-F5344CB8AC3E}">
        <p14:creationId xmlns:p14="http://schemas.microsoft.com/office/powerpoint/2010/main" val="1492153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097C4-4517-B6A4-EECD-0918E498CC42}"/>
              </a:ext>
            </a:extLst>
          </p:cNvPr>
          <p:cNvSpPr>
            <a:spLocks noGrp="1"/>
          </p:cNvSpPr>
          <p:nvPr>
            <p:ph type="title"/>
          </p:nvPr>
        </p:nvSpPr>
        <p:spPr/>
        <p:txBody>
          <a:bodyPr/>
          <a:lstStyle/>
          <a:p>
            <a:r>
              <a:rPr lang="en-IN" dirty="0"/>
              <a:t>Bellman-Ford algorithm</a:t>
            </a:r>
          </a:p>
        </p:txBody>
      </p:sp>
      <p:sp>
        <p:nvSpPr>
          <p:cNvPr id="3" name="Content Placeholder 2">
            <a:extLst>
              <a:ext uri="{FF2B5EF4-FFF2-40B4-BE49-F238E27FC236}">
                <a16:creationId xmlns:a16="http://schemas.microsoft.com/office/drawing/2014/main" id="{B2E0C597-F41C-4B86-13B3-C8D2AB0B2FAB}"/>
              </a:ext>
            </a:extLst>
          </p:cNvPr>
          <p:cNvSpPr>
            <a:spLocks noGrp="1"/>
          </p:cNvSpPr>
          <p:nvPr>
            <p:ph idx="1"/>
          </p:nvPr>
        </p:nvSpPr>
        <p:spPr/>
        <p:txBody>
          <a:bodyPr/>
          <a:lstStyle/>
          <a:p>
            <a:r>
              <a:rPr lang="en-IN" dirty="0"/>
              <a:t>Bellman-Ford algorithm solves the single-source shortest-path problem with negative edge weight</a:t>
            </a:r>
          </a:p>
          <a:p>
            <a:endParaRPr lang="en-IN" dirty="0"/>
          </a:p>
          <a:p>
            <a:r>
              <a:rPr lang="en-IN" dirty="0"/>
              <a:t>The algorithm returns false if there is a negative-weight cycle in the graph</a:t>
            </a:r>
          </a:p>
        </p:txBody>
      </p:sp>
    </p:spTree>
    <p:extLst>
      <p:ext uri="{BB962C8B-B14F-4D97-AF65-F5344CB8AC3E}">
        <p14:creationId xmlns:p14="http://schemas.microsoft.com/office/powerpoint/2010/main" val="18948464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42211-FAFC-54C9-5565-0F06AACB2F04}"/>
              </a:ext>
            </a:extLst>
          </p:cNvPr>
          <p:cNvSpPr>
            <a:spLocks noGrp="1"/>
          </p:cNvSpPr>
          <p:nvPr>
            <p:ph type="title"/>
          </p:nvPr>
        </p:nvSpPr>
        <p:spPr/>
        <p:txBody>
          <a:bodyPr/>
          <a:lstStyle/>
          <a:p>
            <a:r>
              <a:rPr lang="en-IN" dirty="0"/>
              <a:t>Bellman-Ford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C9CB06B-82A4-C5FA-6529-3E8D7B8C519C}"/>
                  </a:ext>
                </a:extLst>
              </p:cNvPr>
              <p:cNvSpPr>
                <a:spLocks noGrp="1"/>
              </p:cNvSpPr>
              <p:nvPr>
                <p:ph idx="1"/>
              </p:nvPr>
            </p:nvSpPr>
            <p:spPr>
              <a:xfrm>
                <a:off x="838200" y="1825625"/>
                <a:ext cx="5070987" cy="4351338"/>
              </a:xfrm>
            </p:spPr>
            <p:txBody>
              <a:bodyPr>
                <a:normAutofit lnSpcReduction="10000"/>
              </a:bodyPr>
              <a:lstStyle/>
              <a:p>
                <a:pPr marL="0" indent="0">
                  <a:buNone/>
                </a:pPr>
                <a:r>
                  <a:rPr lang="en-IN" dirty="0"/>
                  <a:t>Bellman_Ford(G, w, s):</a:t>
                </a:r>
              </a:p>
              <a:p>
                <a:pPr marL="0" indent="0">
                  <a:buNone/>
                </a:pPr>
                <a:r>
                  <a:rPr lang="en-IN" dirty="0"/>
                  <a:t>    Initialize(G, s)</a:t>
                </a:r>
              </a:p>
              <a:p>
                <a:pPr marL="0" indent="0">
                  <a:buNone/>
                </a:pPr>
                <a:r>
                  <a:rPr lang="en-IN" dirty="0"/>
                  <a:t>    for </a:t>
                </a:r>
                <a:r>
                  <a:rPr lang="en-IN" dirty="0" err="1"/>
                  <a:t>i</a:t>
                </a:r>
                <a:r>
                  <a:rPr lang="en-IN" dirty="0"/>
                  <a:t> = 1 to |G.V|-1</a:t>
                </a:r>
              </a:p>
              <a:p>
                <a:pPr marL="0" indent="0">
                  <a:buNone/>
                </a:pPr>
                <a:r>
                  <a:rPr lang="en-IN" dirty="0"/>
                  <a:t>         for each edge (</a:t>
                </a:r>
                <a:r>
                  <a:rPr lang="en-IN" dirty="0" err="1"/>
                  <a:t>u,v</a:t>
                </a:r>
                <a:r>
                  <a:rPr lang="en-IN" dirty="0"/>
                  <a:t>) </a:t>
                </a:r>
                <a14:m>
                  <m:oMath xmlns:m="http://schemas.openxmlformats.org/officeDocument/2006/math">
                    <m:r>
                      <a:rPr lang="en-IN" b="0" i="1" smtClean="0">
                        <a:latin typeface="Cambria Math" panose="02040503050406030204" pitchFamily="18" charset="0"/>
                      </a:rPr>
                      <m:t>∈</m:t>
                    </m:r>
                  </m:oMath>
                </a14:m>
                <a:r>
                  <a:rPr lang="en-IN" dirty="0"/>
                  <a:t> G.E</a:t>
                </a:r>
              </a:p>
              <a:p>
                <a:pPr marL="0" indent="0">
                  <a:buNone/>
                </a:pPr>
                <a:r>
                  <a:rPr lang="en-IN" dirty="0"/>
                  <a:t>	    Relax(u, v, w)</a:t>
                </a:r>
              </a:p>
              <a:p>
                <a:pPr marL="0" indent="0">
                  <a:buNone/>
                </a:pPr>
                <a:r>
                  <a:rPr lang="en-IN" dirty="0"/>
                  <a:t>    for each edge (</a:t>
                </a:r>
                <a:r>
                  <a:rPr lang="en-IN" dirty="0" err="1"/>
                  <a:t>u,v</a:t>
                </a:r>
                <a:r>
                  <a:rPr lang="en-IN" dirty="0"/>
                  <a:t>) </a:t>
                </a:r>
                <a14:m>
                  <m:oMath xmlns:m="http://schemas.openxmlformats.org/officeDocument/2006/math">
                    <m:r>
                      <a:rPr lang="en-IN" b="0" i="1" smtClean="0">
                        <a:latin typeface="Cambria Math" panose="02040503050406030204" pitchFamily="18" charset="0"/>
                      </a:rPr>
                      <m:t>∈</m:t>
                    </m:r>
                  </m:oMath>
                </a14:m>
                <a:r>
                  <a:rPr lang="en-IN" dirty="0"/>
                  <a:t> G.E</a:t>
                </a:r>
              </a:p>
              <a:p>
                <a:pPr marL="0" indent="0">
                  <a:buNone/>
                </a:pPr>
                <a:r>
                  <a:rPr lang="en-IN" dirty="0"/>
                  <a:t>         if </a:t>
                </a:r>
                <a:r>
                  <a:rPr lang="en-IN" dirty="0" err="1"/>
                  <a:t>v.d</a:t>
                </a:r>
                <a:r>
                  <a:rPr lang="en-IN" dirty="0"/>
                  <a:t> &gt; </a:t>
                </a:r>
                <a:r>
                  <a:rPr lang="en-IN" dirty="0" err="1"/>
                  <a:t>u.d</a:t>
                </a:r>
                <a:r>
                  <a:rPr lang="en-IN" dirty="0"/>
                  <a:t> + w(</a:t>
                </a:r>
                <a:r>
                  <a:rPr lang="en-IN" dirty="0" err="1"/>
                  <a:t>u,v</a:t>
                </a:r>
                <a:r>
                  <a:rPr lang="en-IN" dirty="0"/>
                  <a:t>)</a:t>
                </a:r>
              </a:p>
              <a:p>
                <a:pPr marL="0" indent="0">
                  <a:buNone/>
                </a:pPr>
                <a:r>
                  <a:rPr lang="en-IN" dirty="0"/>
                  <a:t>                return false</a:t>
                </a:r>
              </a:p>
              <a:p>
                <a:pPr marL="0" indent="0">
                  <a:buNone/>
                </a:pPr>
                <a:r>
                  <a:rPr lang="en-IN" dirty="0"/>
                  <a:t>    return true	 </a:t>
                </a:r>
              </a:p>
            </p:txBody>
          </p:sp>
        </mc:Choice>
        <mc:Fallback xmlns="">
          <p:sp>
            <p:nvSpPr>
              <p:cNvPr id="3" name="Content Placeholder 2">
                <a:extLst>
                  <a:ext uri="{FF2B5EF4-FFF2-40B4-BE49-F238E27FC236}">
                    <a16:creationId xmlns:a16="http://schemas.microsoft.com/office/drawing/2014/main" id="{4C9CB06B-82A4-C5FA-6529-3E8D7B8C519C}"/>
                  </a:ext>
                </a:extLst>
              </p:cNvPr>
              <p:cNvSpPr>
                <a:spLocks noGrp="1" noRot="1" noChangeAspect="1" noMove="1" noResize="1" noEditPoints="1" noAdjustHandles="1" noChangeArrowheads="1" noChangeShapeType="1" noTextEdit="1"/>
              </p:cNvSpPr>
              <p:nvPr>
                <p:ph idx="1"/>
              </p:nvPr>
            </p:nvSpPr>
            <p:spPr>
              <a:xfrm>
                <a:off x="838200" y="1825625"/>
                <a:ext cx="5070987" cy="4351338"/>
              </a:xfrm>
              <a:blipFill>
                <a:blip r:embed="rId2"/>
                <a:stretch>
                  <a:fillRect l="-2527" t="-3081" b="-2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F972BBA-8B18-8562-3E11-340194B4BC13}"/>
                  </a:ext>
                </a:extLst>
              </p:cNvPr>
              <p:cNvSpPr txBox="1">
                <a:spLocks/>
              </p:cNvSpPr>
              <p:nvPr/>
            </p:nvSpPr>
            <p:spPr>
              <a:xfrm>
                <a:off x="6555677" y="1801043"/>
                <a:ext cx="507098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dirty="0"/>
                  <a:t>Relax(u, v, w)</a:t>
                </a:r>
              </a:p>
              <a:p>
                <a:pPr marL="0" indent="0">
                  <a:buFont typeface="Arial" panose="020B0604020202020204" pitchFamily="34" charset="0"/>
                  <a:buNone/>
                </a:pPr>
                <a:r>
                  <a:rPr lang="en-IN" dirty="0"/>
                  <a:t>    if </a:t>
                </a:r>
                <a:r>
                  <a:rPr lang="en-IN" dirty="0" err="1"/>
                  <a:t>v.d</a:t>
                </a:r>
                <a:r>
                  <a:rPr lang="en-IN" dirty="0"/>
                  <a:t> &gt; </a:t>
                </a:r>
                <a:r>
                  <a:rPr lang="en-IN" dirty="0" err="1"/>
                  <a:t>u.d</a:t>
                </a:r>
                <a:r>
                  <a:rPr lang="en-IN" dirty="0"/>
                  <a:t> + w(u, v)</a:t>
                </a:r>
              </a:p>
              <a:p>
                <a:pPr marL="0" indent="0">
                  <a:buFont typeface="Arial" panose="020B0604020202020204" pitchFamily="34" charset="0"/>
                  <a:buNone/>
                </a:pPr>
                <a:r>
                  <a:rPr lang="en-IN" dirty="0"/>
                  <a:t>        </a:t>
                </a:r>
                <a:r>
                  <a:rPr lang="en-IN" dirty="0" err="1"/>
                  <a:t>v.d</a:t>
                </a:r>
                <a:r>
                  <a:rPr lang="en-IN" dirty="0"/>
                  <a:t> = </a:t>
                </a:r>
                <a:r>
                  <a:rPr lang="en-IN" dirty="0" err="1"/>
                  <a:t>u.d</a:t>
                </a:r>
                <a:r>
                  <a:rPr lang="en-IN" dirty="0"/>
                  <a:t> + w(u, v)</a:t>
                </a:r>
              </a:p>
              <a:p>
                <a:pPr marL="0" indent="0">
                  <a:buFont typeface="Arial" panose="020B0604020202020204" pitchFamily="34" charset="0"/>
                  <a:buNone/>
                </a:pPr>
                <a:r>
                  <a:rPr lang="en-IN" dirty="0"/>
                  <a:t>        v.</a:t>
                </a:r>
                <a14:m>
                  <m:oMath xmlns:m="http://schemas.openxmlformats.org/officeDocument/2006/math">
                    <m:r>
                      <a:rPr lang="en-IN" b="0" i="1" smtClean="0">
                        <a:latin typeface="Cambria Math" panose="02040503050406030204" pitchFamily="18" charset="0"/>
                      </a:rPr>
                      <m:t>𝜋</m:t>
                    </m:r>
                  </m:oMath>
                </a14:m>
                <a:r>
                  <a:rPr lang="en-IN" dirty="0"/>
                  <a:t> = u</a:t>
                </a:r>
              </a:p>
              <a:p>
                <a:pPr marL="0" indent="0">
                  <a:buFont typeface="Arial" panose="020B0604020202020204" pitchFamily="34" charset="0"/>
                  <a:buNone/>
                </a:pPr>
                <a:r>
                  <a:rPr lang="en-IN" dirty="0"/>
                  <a:t>    </a:t>
                </a:r>
              </a:p>
            </p:txBody>
          </p:sp>
        </mc:Choice>
        <mc:Fallback xmlns="">
          <p:sp>
            <p:nvSpPr>
              <p:cNvPr id="4" name="Content Placeholder 2">
                <a:extLst>
                  <a:ext uri="{FF2B5EF4-FFF2-40B4-BE49-F238E27FC236}">
                    <a16:creationId xmlns:a16="http://schemas.microsoft.com/office/drawing/2014/main" id="{DF972BBA-8B18-8562-3E11-340194B4BC13}"/>
                  </a:ext>
                </a:extLst>
              </p:cNvPr>
              <p:cNvSpPr txBox="1">
                <a:spLocks noRot="1" noChangeAspect="1" noMove="1" noResize="1" noEditPoints="1" noAdjustHandles="1" noChangeArrowheads="1" noChangeShapeType="1" noTextEdit="1"/>
              </p:cNvSpPr>
              <p:nvPr/>
            </p:nvSpPr>
            <p:spPr>
              <a:xfrm>
                <a:off x="6555677" y="1801043"/>
                <a:ext cx="5070987" cy="4351338"/>
              </a:xfrm>
              <a:prstGeom prst="rect">
                <a:avLst/>
              </a:prstGeom>
              <a:blipFill>
                <a:blip r:embed="rId3"/>
                <a:stretch>
                  <a:fillRect l="-2404" t="-2241"/>
                </a:stretch>
              </a:blipFill>
            </p:spPr>
            <p:txBody>
              <a:bodyPr/>
              <a:lstStyle/>
              <a:p>
                <a:r>
                  <a:rPr lang="en-IN">
                    <a:noFill/>
                  </a:rPr>
                  <a:t> </a:t>
                </a:r>
              </a:p>
            </p:txBody>
          </p:sp>
        </mc:Fallback>
      </mc:AlternateContent>
    </p:spTree>
    <p:extLst>
      <p:ext uri="{BB962C8B-B14F-4D97-AF65-F5344CB8AC3E}">
        <p14:creationId xmlns:p14="http://schemas.microsoft.com/office/powerpoint/2010/main" val="13138550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646331"/>
          </a:xfrm>
          <a:prstGeom prst="rect">
            <a:avLst/>
          </a:prstGeom>
          <a:noFill/>
        </p:spPr>
        <p:txBody>
          <a:bodyPr wrap="square" rtlCol="0">
            <a:spAutoFit/>
          </a:bodyPr>
          <a:lstStyle/>
          <a:p>
            <a:r>
              <a:rPr lang="en-IN" dirty="0"/>
              <a:t>Let’s say that the edges are visited in the order E1 to E10.</a:t>
            </a:r>
          </a:p>
        </p:txBody>
      </p:sp>
    </p:spTree>
    <p:extLst>
      <p:ext uri="{BB962C8B-B14F-4D97-AF65-F5344CB8AC3E}">
        <p14:creationId xmlns:p14="http://schemas.microsoft.com/office/powerpoint/2010/main" val="33771974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𝟔</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𝟕</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𝟗</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646331"/>
          </a:xfrm>
          <a:prstGeom prst="rect">
            <a:avLst/>
          </a:prstGeom>
          <a:noFill/>
        </p:spPr>
        <p:txBody>
          <a:bodyPr wrap="square" rtlCol="0">
            <a:spAutoFit/>
          </a:bodyPr>
          <a:lstStyle/>
          <a:p>
            <a:r>
              <a:rPr lang="en-IN" dirty="0"/>
              <a:t>After visiting all edges in the first iteration.</a:t>
            </a:r>
          </a:p>
        </p:txBody>
      </p:sp>
    </p:spTree>
    <p:extLst>
      <p:ext uri="{BB962C8B-B14F-4D97-AF65-F5344CB8AC3E}">
        <p14:creationId xmlns:p14="http://schemas.microsoft.com/office/powerpoint/2010/main" val="23210440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𝟔</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𝟕</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𝟒</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646331"/>
          </a:xfrm>
          <a:prstGeom prst="rect">
            <a:avLst/>
          </a:prstGeom>
          <a:noFill/>
        </p:spPr>
        <p:txBody>
          <a:bodyPr wrap="square" rtlCol="0">
            <a:spAutoFit/>
          </a:bodyPr>
          <a:lstStyle/>
          <a:p>
            <a:r>
              <a:rPr lang="en-IN" dirty="0"/>
              <a:t>After visiting all edges in the second iteration.</a:t>
            </a:r>
          </a:p>
        </p:txBody>
      </p:sp>
    </p:spTree>
    <p:extLst>
      <p:ext uri="{BB962C8B-B14F-4D97-AF65-F5344CB8AC3E}">
        <p14:creationId xmlns:p14="http://schemas.microsoft.com/office/powerpoint/2010/main" val="2440186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𝟕</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𝟒</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646331"/>
          </a:xfrm>
          <a:prstGeom prst="rect">
            <a:avLst/>
          </a:prstGeom>
          <a:noFill/>
        </p:spPr>
        <p:txBody>
          <a:bodyPr wrap="square" rtlCol="0">
            <a:spAutoFit/>
          </a:bodyPr>
          <a:lstStyle/>
          <a:p>
            <a:r>
              <a:rPr lang="en-IN" dirty="0"/>
              <a:t>After visiting all edges in the third iteration.</a:t>
            </a:r>
          </a:p>
        </p:txBody>
      </p:sp>
    </p:spTree>
    <p:extLst>
      <p:ext uri="{BB962C8B-B14F-4D97-AF65-F5344CB8AC3E}">
        <p14:creationId xmlns:p14="http://schemas.microsoft.com/office/powerpoint/2010/main" val="39705730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66251C-F530-958F-9601-E4FE4F3B47EC}"/>
              </a:ext>
            </a:extLst>
          </p:cNvPr>
          <p:cNvSpPr>
            <a:spLocks noGrp="1"/>
          </p:cNvSpPr>
          <p:nvPr>
            <p:ph type="title"/>
          </p:nvPr>
        </p:nvSpPr>
        <p:spPr/>
        <p:txBody>
          <a:bodyPr/>
          <a:lstStyle/>
          <a:p>
            <a:r>
              <a:rPr lang="en-IN" dirty="0"/>
              <a:t>Example</a:t>
            </a:r>
          </a:p>
        </p:txBody>
      </p:sp>
      <p:sp>
        <p:nvSpPr>
          <p:cNvPr id="6" name="Oval 5">
            <a:extLst>
              <a:ext uri="{FF2B5EF4-FFF2-40B4-BE49-F238E27FC236}">
                <a16:creationId xmlns:a16="http://schemas.microsoft.com/office/drawing/2014/main" id="{1405F1FC-01F0-BFD0-4597-28FE22496DC1}"/>
              </a:ext>
            </a:extLst>
          </p:cNvPr>
          <p:cNvSpPr/>
          <p:nvPr/>
        </p:nvSpPr>
        <p:spPr>
          <a:xfrm>
            <a:off x="1661652" y="321515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10F962E-6123-3C56-AE8C-2BBC88A0DFEB}"/>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D10F962E-6123-3C56-AE8C-2BBC88A0DFEB}"/>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B6DC3288-4242-6755-0E58-663DECD655B4}"/>
                  </a:ext>
                </a:extLst>
              </p:cNvPr>
              <p:cNvSpPr/>
              <p:nvPr/>
            </p:nvSpPr>
            <p:spPr>
              <a:xfrm>
                <a:off x="3057832" y="4395023"/>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𝟕</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B6DC3288-4242-6755-0E58-663DECD655B4}"/>
                  </a:ext>
                </a:extLst>
              </p:cNvPr>
              <p:cNvSpPr>
                <a:spLocks noRot="1" noChangeAspect="1" noMove="1" noResize="1" noEditPoints="1" noAdjustHandles="1" noChangeArrowheads="1" noChangeShapeType="1" noTextEdit="1"/>
              </p:cNvSpPr>
              <p:nvPr/>
            </p:nvSpPr>
            <p:spPr>
              <a:xfrm>
                <a:off x="3057832" y="4395023"/>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97E5D58-D411-8223-149E-DB72E0B119D9}"/>
                  </a:ext>
                </a:extLst>
              </p:cNvPr>
              <p:cNvSpPr/>
              <p:nvPr/>
            </p:nvSpPr>
            <p:spPr>
              <a:xfrm>
                <a:off x="5442159" y="4409771"/>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r>
                        <a:rPr lang="en-IN" sz="2400" b="1" i="1" smtClean="0">
                          <a:solidFill>
                            <a:schemeClr val="tx1"/>
                          </a:solidFill>
                          <a:latin typeface="Cambria Math" panose="02040503050406030204" pitchFamily="18" charset="0"/>
                        </a:rPr>
                        <m:t>𝟐</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497E5D58-D411-8223-149E-DB72E0B119D9}"/>
                  </a:ext>
                </a:extLst>
              </p:cNvPr>
              <p:cNvSpPr>
                <a:spLocks noRot="1" noChangeAspect="1" noMove="1" noResize="1" noEditPoints="1" noAdjustHandles="1" noChangeArrowheads="1" noChangeShapeType="1" noTextEdit="1"/>
              </p:cNvSpPr>
              <p:nvPr/>
            </p:nvSpPr>
            <p:spPr>
              <a:xfrm>
                <a:off x="5442159" y="4409771"/>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24FE49-E847-9CC1-DC8E-861DFAD8FB8A}"/>
                  </a:ext>
                </a:extLst>
              </p:cNvPr>
              <p:cNvSpPr/>
              <p:nvPr/>
            </p:nvSpPr>
            <p:spPr>
              <a:xfrm>
                <a:off x="5456907" y="1887790"/>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𝟒</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2A24FE49-E847-9CC1-DC8E-861DFAD8FB8A}"/>
                  </a:ext>
                </a:extLst>
              </p:cNvPr>
              <p:cNvSpPr>
                <a:spLocks noRot="1" noChangeAspect="1" noMove="1" noResize="1" noEditPoints="1" noAdjustHandles="1" noChangeArrowheads="1" noChangeShapeType="1" noTextEdit="1"/>
              </p:cNvSpPr>
              <p:nvPr/>
            </p:nvSpPr>
            <p:spPr>
              <a:xfrm>
                <a:off x="5456907" y="1887790"/>
                <a:ext cx="658761" cy="580103"/>
              </a:xfrm>
              <a:prstGeom prst="ellipse">
                <a:avLst/>
              </a:prstGeom>
              <a:blipFill>
                <a:blip r:embed="rId5"/>
                <a:stretch>
                  <a:fillRect/>
                </a:stretch>
              </a:blipFill>
            </p:spPr>
            <p:txBody>
              <a:bodyPr/>
              <a:lstStyle/>
              <a:p>
                <a:r>
                  <a:rPr lang="en-IN">
                    <a:noFill/>
                  </a:rPr>
                  <a:t> </a:t>
                </a:r>
              </a:p>
            </p:txBody>
          </p:sp>
        </mc:Fallback>
      </mc:AlternateContent>
      <p:cxnSp>
        <p:nvCxnSpPr>
          <p:cNvPr id="12" name="Straight Arrow Connector 11">
            <a:extLst>
              <a:ext uri="{FF2B5EF4-FFF2-40B4-BE49-F238E27FC236}">
                <a16:creationId xmlns:a16="http://schemas.microsoft.com/office/drawing/2014/main" id="{ECF57DAE-92D3-E7EB-7866-EC09243D3546}"/>
              </a:ext>
            </a:extLst>
          </p:cNvPr>
          <p:cNvCxnSpPr>
            <a:stCxn id="6" idx="7"/>
            <a:endCxn id="7" idx="3"/>
          </p:cNvCxnSpPr>
          <p:nvPr/>
        </p:nvCxnSpPr>
        <p:spPr>
          <a:xfrm flipV="1">
            <a:off x="2223940" y="2456685"/>
            <a:ext cx="1013941" cy="8434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9B8B17A-57AC-05BD-262A-E2A2AFCFA947}"/>
              </a:ext>
            </a:extLst>
          </p:cNvPr>
          <p:cNvCxnSpPr>
            <a:stCxn id="6" idx="5"/>
            <a:endCxn id="8" idx="1"/>
          </p:cNvCxnSpPr>
          <p:nvPr/>
        </p:nvCxnSpPr>
        <p:spPr>
          <a:xfrm>
            <a:off x="2223940" y="3710299"/>
            <a:ext cx="930365" cy="7696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20E590-D3D0-93EC-61BE-433DA8275B04}"/>
              </a:ext>
            </a:extLst>
          </p:cNvPr>
          <p:cNvCxnSpPr>
            <a:stCxn id="8" idx="6"/>
            <a:endCxn id="9" idx="2"/>
          </p:cNvCxnSpPr>
          <p:nvPr/>
        </p:nvCxnSpPr>
        <p:spPr>
          <a:xfrm>
            <a:off x="3716593" y="4685075"/>
            <a:ext cx="1725566" cy="147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7DAB395-52DF-EF6B-4FDF-DDFE67FF2C05}"/>
              </a:ext>
            </a:extLst>
          </p:cNvPr>
          <p:cNvCxnSpPr>
            <a:stCxn id="9" idx="0"/>
            <a:endCxn id="10" idx="4"/>
          </p:cNvCxnSpPr>
          <p:nvPr/>
        </p:nvCxnSpPr>
        <p:spPr>
          <a:xfrm flipV="1">
            <a:off x="5771540" y="2467893"/>
            <a:ext cx="14748" cy="19418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49F47D7-C321-E306-64AD-51503625EC29}"/>
              </a:ext>
            </a:extLst>
          </p:cNvPr>
          <p:cNvCxnSpPr>
            <a:stCxn id="9" idx="1"/>
            <a:endCxn id="6" idx="6"/>
          </p:cNvCxnSpPr>
          <p:nvPr/>
        </p:nvCxnSpPr>
        <p:spPr>
          <a:xfrm flipH="1" flipV="1">
            <a:off x="2320413" y="3505202"/>
            <a:ext cx="3218219" cy="9895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843406C-4536-3DE6-896F-7D9D583DE1F2}"/>
              </a:ext>
            </a:extLst>
          </p:cNvPr>
          <p:cNvCxnSpPr>
            <a:stCxn id="7" idx="4"/>
            <a:endCxn id="8" idx="0"/>
          </p:cNvCxnSpPr>
          <p:nvPr/>
        </p:nvCxnSpPr>
        <p:spPr>
          <a:xfrm flipH="1">
            <a:off x="3387213" y="2541639"/>
            <a:ext cx="83576" cy="18533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E95589B-9E96-B6C0-A0E7-D77BF6024184}"/>
              </a:ext>
            </a:extLst>
          </p:cNvPr>
          <p:cNvCxnSpPr>
            <a:stCxn id="8" idx="7"/>
            <a:endCxn id="10" idx="3"/>
          </p:cNvCxnSpPr>
          <p:nvPr/>
        </p:nvCxnSpPr>
        <p:spPr>
          <a:xfrm flipV="1">
            <a:off x="3620120" y="2382939"/>
            <a:ext cx="1933260" cy="20970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32019BC-A893-0AEB-38B5-95BFE8D5100D}"/>
              </a:ext>
            </a:extLst>
          </p:cNvPr>
          <p:cNvCxnSpPr>
            <a:stCxn id="7" idx="5"/>
            <a:endCxn id="9" idx="0"/>
          </p:cNvCxnSpPr>
          <p:nvPr/>
        </p:nvCxnSpPr>
        <p:spPr>
          <a:xfrm>
            <a:off x="3703696" y="2456685"/>
            <a:ext cx="2067844" cy="19530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4FB48DB9-6E9C-52D9-99D5-B9DA44317A69}"/>
              </a:ext>
            </a:extLst>
          </p:cNvPr>
          <p:cNvCxnSpPr>
            <a:stCxn id="7" idx="7"/>
            <a:endCxn id="10" idx="1"/>
          </p:cNvCxnSpPr>
          <p:nvPr/>
        </p:nvCxnSpPr>
        <p:spPr>
          <a:xfrm rot="5400000" flipH="1" flipV="1">
            <a:off x="4591665" y="1084775"/>
            <a:ext cx="73746" cy="1849684"/>
          </a:xfrm>
          <a:prstGeom prst="curvedConnector3">
            <a:avLst>
              <a:gd name="adj1" fmla="val 52518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A935BAA4-BAD7-4444-EBFF-4D733BE42829}"/>
              </a:ext>
            </a:extLst>
          </p:cNvPr>
          <p:cNvCxnSpPr>
            <a:stCxn id="10" idx="2"/>
            <a:endCxn id="7" idx="6"/>
          </p:cNvCxnSpPr>
          <p:nvPr/>
        </p:nvCxnSpPr>
        <p:spPr>
          <a:xfrm rot="10800000" flipV="1">
            <a:off x="3800169" y="2177842"/>
            <a:ext cx="1656738" cy="73746"/>
          </a:xfrm>
          <a:prstGeom prst="curvedConnector3">
            <a:avLst>
              <a:gd name="adj1" fmla="val 5059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3EC66F8-0736-4766-721E-8BDD7B643A3B}"/>
              </a:ext>
            </a:extLst>
          </p:cNvPr>
          <p:cNvSpPr txBox="1"/>
          <p:nvPr/>
        </p:nvSpPr>
        <p:spPr>
          <a:xfrm>
            <a:off x="2074609" y="4050894"/>
            <a:ext cx="1032362" cy="369332"/>
          </a:xfrm>
          <a:prstGeom prst="rect">
            <a:avLst/>
          </a:prstGeom>
          <a:noFill/>
        </p:spPr>
        <p:txBody>
          <a:bodyPr wrap="square" rtlCol="0">
            <a:spAutoFit/>
          </a:bodyPr>
          <a:lstStyle/>
          <a:p>
            <a:r>
              <a:rPr lang="en-IN" b="1" dirty="0"/>
              <a:t>E8 = 7</a:t>
            </a:r>
          </a:p>
        </p:txBody>
      </p:sp>
      <p:sp>
        <p:nvSpPr>
          <p:cNvPr id="36" name="TextBox 35">
            <a:extLst>
              <a:ext uri="{FF2B5EF4-FFF2-40B4-BE49-F238E27FC236}">
                <a16:creationId xmlns:a16="http://schemas.microsoft.com/office/drawing/2014/main" id="{86468A06-AD8F-C1DA-E967-1226B8D1BE03}"/>
              </a:ext>
            </a:extLst>
          </p:cNvPr>
          <p:cNvSpPr txBox="1"/>
          <p:nvPr/>
        </p:nvSpPr>
        <p:spPr>
          <a:xfrm>
            <a:off x="2167993" y="2531806"/>
            <a:ext cx="816099" cy="369332"/>
          </a:xfrm>
          <a:prstGeom prst="rect">
            <a:avLst/>
          </a:prstGeom>
          <a:noFill/>
        </p:spPr>
        <p:txBody>
          <a:bodyPr wrap="square" rtlCol="0">
            <a:spAutoFit/>
          </a:bodyPr>
          <a:lstStyle/>
          <a:p>
            <a:r>
              <a:rPr lang="en-IN" b="1" dirty="0"/>
              <a:t>E1 = 6</a:t>
            </a:r>
          </a:p>
        </p:txBody>
      </p:sp>
      <p:sp>
        <p:nvSpPr>
          <p:cNvPr id="37" name="TextBox 36">
            <a:extLst>
              <a:ext uri="{FF2B5EF4-FFF2-40B4-BE49-F238E27FC236}">
                <a16:creationId xmlns:a16="http://schemas.microsoft.com/office/drawing/2014/main" id="{93B91B53-AEAC-C30A-E63D-69F6421E7F7D}"/>
              </a:ext>
            </a:extLst>
          </p:cNvPr>
          <p:cNvSpPr txBox="1"/>
          <p:nvPr/>
        </p:nvSpPr>
        <p:spPr>
          <a:xfrm>
            <a:off x="4399916" y="4744071"/>
            <a:ext cx="937152" cy="369332"/>
          </a:xfrm>
          <a:prstGeom prst="rect">
            <a:avLst/>
          </a:prstGeom>
          <a:noFill/>
        </p:spPr>
        <p:txBody>
          <a:bodyPr wrap="square" rtlCol="0">
            <a:spAutoFit/>
          </a:bodyPr>
          <a:lstStyle/>
          <a:p>
            <a:r>
              <a:rPr lang="en-IN" b="1" dirty="0"/>
              <a:t>E7 = 9</a:t>
            </a:r>
          </a:p>
        </p:txBody>
      </p:sp>
      <p:sp>
        <p:nvSpPr>
          <p:cNvPr id="38" name="TextBox 37">
            <a:extLst>
              <a:ext uri="{FF2B5EF4-FFF2-40B4-BE49-F238E27FC236}">
                <a16:creationId xmlns:a16="http://schemas.microsoft.com/office/drawing/2014/main" id="{2447094A-A90B-6C37-6BC8-C98C60AFD600}"/>
              </a:ext>
            </a:extLst>
          </p:cNvPr>
          <p:cNvSpPr txBox="1"/>
          <p:nvPr/>
        </p:nvSpPr>
        <p:spPr>
          <a:xfrm>
            <a:off x="4198353" y="4247539"/>
            <a:ext cx="804421" cy="369332"/>
          </a:xfrm>
          <a:prstGeom prst="rect">
            <a:avLst/>
          </a:prstGeom>
          <a:noFill/>
        </p:spPr>
        <p:txBody>
          <a:bodyPr wrap="square" rtlCol="0">
            <a:spAutoFit/>
          </a:bodyPr>
          <a:lstStyle/>
          <a:p>
            <a:r>
              <a:rPr lang="en-IN" b="1" dirty="0"/>
              <a:t>E6 = 2</a:t>
            </a:r>
          </a:p>
        </p:txBody>
      </p:sp>
      <p:sp>
        <p:nvSpPr>
          <p:cNvPr id="39" name="TextBox 38">
            <a:extLst>
              <a:ext uri="{FF2B5EF4-FFF2-40B4-BE49-F238E27FC236}">
                <a16:creationId xmlns:a16="http://schemas.microsoft.com/office/drawing/2014/main" id="{EC4A68EE-35A0-B4F0-183A-E6552484D3CC}"/>
              </a:ext>
            </a:extLst>
          </p:cNvPr>
          <p:cNvSpPr txBox="1"/>
          <p:nvPr/>
        </p:nvSpPr>
        <p:spPr>
          <a:xfrm>
            <a:off x="4921027" y="3416715"/>
            <a:ext cx="950683" cy="369332"/>
          </a:xfrm>
          <a:prstGeom prst="rect">
            <a:avLst/>
          </a:prstGeom>
          <a:noFill/>
        </p:spPr>
        <p:txBody>
          <a:bodyPr wrap="square" rtlCol="0">
            <a:spAutoFit/>
          </a:bodyPr>
          <a:lstStyle/>
          <a:p>
            <a:r>
              <a:rPr lang="en-IN" b="1" dirty="0"/>
              <a:t>E5 = -4</a:t>
            </a:r>
          </a:p>
        </p:txBody>
      </p:sp>
      <p:sp>
        <p:nvSpPr>
          <p:cNvPr id="40" name="TextBox 39">
            <a:extLst>
              <a:ext uri="{FF2B5EF4-FFF2-40B4-BE49-F238E27FC236}">
                <a16:creationId xmlns:a16="http://schemas.microsoft.com/office/drawing/2014/main" id="{38E879C6-22BC-9AB5-913A-C340858D4BAD}"/>
              </a:ext>
            </a:extLst>
          </p:cNvPr>
          <p:cNvSpPr txBox="1"/>
          <p:nvPr/>
        </p:nvSpPr>
        <p:spPr>
          <a:xfrm>
            <a:off x="4385167" y="2595720"/>
            <a:ext cx="951901" cy="369332"/>
          </a:xfrm>
          <a:prstGeom prst="rect">
            <a:avLst/>
          </a:prstGeom>
          <a:noFill/>
        </p:spPr>
        <p:txBody>
          <a:bodyPr wrap="square" rtlCol="0">
            <a:spAutoFit/>
          </a:bodyPr>
          <a:lstStyle/>
          <a:p>
            <a:r>
              <a:rPr lang="en-IN" b="1" dirty="0"/>
              <a:t>E4 = -3</a:t>
            </a:r>
          </a:p>
        </p:txBody>
      </p:sp>
      <p:sp>
        <p:nvSpPr>
          <p:cNvPr id="41" name="TextBox 40">
            <a:extLst>
              <a:ext uri="{FF2B5EF4-FFF2-40B4-BE49-F238E27FC236}">
                <a16:creationId xmlns:a16="http://schemas.microsoft.com/office/drawing/2014/main" id="{3FCF2FE0-6CE1-0D50-F680-8F7601277A53}"/>
              </a:ext>
            </a:extLst>
          </p:cNvPr>
          <p:cNvSpPr txBox="1"/>
          <p:nvPr/>
        </p:nvSpPr>
        <p:spPr>
          <a:xfrm>
            <a:off x="5776435" y="3141410"/>
            <a:ext cx="979527" cy="369332"/>
          </a:xfrm>
          <a:prstGeom prst="rect">
            <a:avLst/>
          </a:prstGeom>
          <a:noFill/>
        </p:spPr>
        <p:txBody>
          <a:bodyPr wrap="square" rtlCol="0">
            <a:spAutoFit/>
          </a:bodyPr>
          <a:lstStyle/>
          <a:p>
            <a:r>
              <a:rPr lang="en-IN" b="1" dirty="0"/>
              <a:t>E9 = 7</a:t>
            </a:r>
          </a:p>
        </p:txBody>
      </p:sp>
      <p:sp>
        <p:nvSpPr>
          <p:cNvPr id="42" name="TextBox 41">
            <a:extLst>
              <a:ext uri="{FF2B5EF4-FFF2-40B4-BE49-F238E27FC236}">
                <a16:creationId xmlns:a16="http://schemas.microsoft.com/office/drawing/2014/main" id="{87840098-D36A-A094-99B9-18AC7CE8EB48}"/>
              </a:ext>
            </a:extLst>
          </p:cNvPr>
          <p:cNvSpPr txBox="1"/>
          <p:nvPr/>
        </p:nvSpPr>
        <p:spPr>
          <a:xfrm>
            <a:off x="4100033" y="2182764"/>
            <a:ext cx="988122" cy="369332"/>
          </a:xfrm>
          <a:prstGeom prst="rect">
            <a:avLst/>
          </a:prstGeom>
          <a:noFill/>
        </p:spPr>
        <p:txBody>
          <a:bodyPr wrap="square" rtlCol="0">
            <a:spAutoFit/>
          </a:bodyPr>
          <a:lstStyle/>
          <a:p>
            <a:r>
              <a:rPr lang="en-IN" b="1" dirty="0"/>
              <a:t>E3 = -2</a:t>
            </a:r>
          </a:p>
        </p:txBody>
      </p:sp>
      <p:sp>
        <p:nvSpPr>
          <p:cNvPr id="43" name="TextBox 42">
            <a:extLst>
              <a:ext uri="{FF2B5EF4-FFF2-40B4-BE49-F238E27FC236}">
                <a16:creationId xmlns:a16="http://schemas.microsoft.com/office/drawing/2014/main" id="{1402968F-4DB7-698E-07A1-BFD39D20AF77}"/>
              </a:ext>
            </a:extLst>
          </p:cNvPr>
          <p:cNvSpPr txBox="1"/>
          <p:nvPr/>
        </p:nvSpPr>
        <p:spPr>
          <a:xfrm>
            <a:off x="4252433" y="1332271"/>
            <a:ext cx="835722" cy="369332"/>
          </a:xfrm>
          <a:prstGeom prst="rect">
            <a:avLst/>
          </a:prstGeom>
          <a:noFill/>
        </p:spPr>
        <p:txBody>
          <a:bodyPr wrap="square" rtlCol="0">
            <a:spAutoFit/>
          </a:bodyPr>
          <a:lstStyle/>
          <a:p>
            <a:r>
              <a:rPr lang="en-IN" b="1" dirty="0"/>
              <a:t>E2 = 5</a:t>
            </a:r>
          </a:p>
        </p:txBody>
      </p:sp>
      <p:sp>
        <p:nvSpPr>
          <p:cNvPr id="44" name="TextBox 43">
            <a:extLst>
              <a:ext uri="{FF2B5EF4-FFF2-40B4-BE49-F238E27FC236}">
                <a16:creationId xmlns:a16="http://schemas.microsoft.com/office/drawing/2014/main" id="{08A67762-AEE7-65C8-FDAB-4EC54FEB2F5A}"/>
              </a:ext>
            </a:extLst>
          </p:cNvPr>
          <p:cNvSpPr txBox="1"/>
          <p:nvPr/>
        </p:nvSpPr>
        <p:spPr>
          <a:xfrm>
            <a:off x="1455154" y="3559279"/>
            <a:ext cx="688258" cy="369332"/>
          </a:xfrm>
          <a:prstGeom prst="rect">
            <a:avLst/>
          </a:prstGeom>
          <a:noFill/>
        </p:spPr>
        <p:txBody>
          <a:bodyPr wrap="square" rtlCol="0">
            <a:spAutoFit/>
          </a:bodyPr>
          <a:lstStyle/>
          <a:p>
            <a:r>
              <a:rPr lang="en-IN" b="1" dirty="0"/>
              <a:t>s</a:t>
            </a:r>
          </a:p>
        </p:txBody>
      </p:sp>
      <p:sp>
        <p:nvSpPr>
          <p:cNvPr id="45" name="TextBox 44">
            <a:extLst>
              <a:ext uri="{FF2B5EF4-FFF2-40B4-BE49-F238E27FC236}">
                <a16:creationId xmlns:a16="http://schemas.microsoft.com/office/drawing/2014/main" id="{E1011384-7497-F7FF-31F6-C52A7322A9EF}"/>
              </a:ext>
            </a:extLst>
          </p:cNvPr>
          <p:cNvSpPr txBox="1"/>
          <p:nvPr/>
        </p:nvSpPr>
        <p:spPr>
          <a:xfrm>
            <a:off x="3239711" y="4930880"/>
            <a:ext cx="688258" cy="369332"/>
          </a:xfrm>
          <a:prstGeom prst="rect">
            <a:avLst/>
          </a:prstGeom>
          <a:noFill/>
        </p:spPr>
        <p:txBody>
          <a:bodyPr wrap="square" rtlCol="0">
            <a:spAutoFit/>
          </a:bodyPr>
          <a:lstStyle/>
          <a:p>
            <a:r>
              <a:rPr lang="en-IN" b="1" dirty="0"/>
              <a:t>y</a:t>
            </a:r>
          </a:p>
        </p:txBody>
      </p:sp>
      <p:sp>
        <p:nvSpPr>
          <p:cNvPr id="46" name="TextBox 45">
            <a:extLst>
              <a:ext uri="{FF2B5EF4-FFF2-40B4-BE49-F238E27FC236}">
                <a16:creationId xmlns:a16="http://schemas.microsoft.com/office/drawing/2014/main" id="{488F449E-FC0B-9D72-D446-AF8262A9898B}"/>
              </a:ext>
            </a:extLst>
          </p:cNvPr>
          <p:cNvSpPr txBox="1"/>
          <p:nvPr/>
        </p:nvSpPr>
        <p:spPr>
          <a:xfrm>
            <a:off x="5624038" y="4925963"/>
            <a:ext cx="688258" cy="369332"/>
          </a:xfrm>
          <a:prstGeom prst="rect">
            <a:avLst/>
          </a:prstGeom>
          <a:noFill/>
        </p:spPr>
        <p:txBody>
          <a:bodyPr wrap="square" rtlCol="0">
            <a:spAutoFit/>
          </a:bodyPr>
          <a:lstStyle/>
          <a:p>
            <a:r>
              <a:rPr lang="en-IN" b="1" dirty="0"/>
              <a:t>z</a:t>
            </a:r>
          </a:p>
        </p:txBody>
      </p:sp>
      <p:sp>
        <p:nvSpPr>
          <p:cNvPr id="47" name="TextBox 46">
            <a:extLst>
              <a:ext uri="{FF2B5EF4-FFF2-40B4-BE49-F238E27FC236}">
                <a16:creationId xmlns:a16="http://schemas.microsoft.com/office/drawing/2014/main" id="{2F5995E3-A8E2-5888-7B78-563F528F9295}"/>
              </a:ext>
            </a:extLst>
          </p:cNvPr>
          <p:cNvSpPr txBox="1"/>
          <p:nvPr/>
        </p:nvSpPr>
        <p:spPr>
          <a:xfrm>
            <a:off x="3234794" y="1632149"/>
            <a:ext cx="688258" cy="369332"/>
          </a:xfrm>
          <a:prstGeom prst="rect">
            <a:avLst/>
          </a:prstGeom>
          <a:noFill/>
        </p:spPr>
        <p:txBody>
          <a:bodyPr wrap="square" rtlCol="0">
            <a:spAutoFit/>
          </a:bodyPr>
          <a:lstStyle/>
          <a:p>
            <a:r>
              <a:rPr lang="en-IN" b="1" dirty="0"/>
              <a:t>t</a:t>
            </a:r>
          </a:p>
        </p:txBody>
      </p:sp>
      <p:sp>
        <p:nvSpPr>
          <p:cNvPr id="48" name="TextBox 47">
            <a:extLst>
              <a:ext uri="{FF2B5EF4-FFF2-40B4-BE49-F238E27FC236}">
                <a16:creationId xmlns:a16="http://schemas.microsoft.com/office/drawing/2014/main" id="{1C1E4816-59FA-9923-0A96-E7096F575AA6}"/>
              </a:ext>
            </a:extLst>
          </p:cNvPr>
          <p:cNvSpPr txBox="1"/>
          <p:nvPr/>
        </p:nvSpPr>
        <p:spPr>
          <a:xfrm>
            <a:off x="5717444" y="1558406"/>
            <a:ext cx="688258" cy="369332"/>
          </a:xfrm>
          <a:prstGeom prst="rect">
            <a:avLst/>
          </a:prstGeom>
          <a:noFill/>
        </p:spPr>
        <p:txBody>
          <a:bodyPr wrap="square" rtlCol="0">
            <a:spAutoFit/>
          </a:bodyPr>
          <a:lstStyle/>
          <a:p>
            <a:r>
              <a:rPr lang="en-IN" b="1" dirty="0"/>
              <a:t>x</a:t>
            </a:r>
          </a:p>
        </p:txBody>
      </p:sp>
      <p:sp>
        <p:nvSpPr>
          <p:cNvPr id="51" name="TextBox 50">
            <a:extLst>
              <a:ext uri="{FF2B5EF4-FFF2-40B4-BE49-F238E27FC236}">
                <a16:creationId xmlns:a16="http://schemas.microsoft.com/office/drawing/2014/main" id="{E7C5A1B4-C53F-5CE2-4CBB-AC074B5DF9E2}"/>
              </a:ext>
            </a:extLst>
          </p:cNvPr>
          <p:cNvSpPr txBox="1"/>
          <p:nvPr/>
        </p:nvSpPr>
        <p:spPr>
          <a:xfrm>
            <a:off x="3377359" y="3180737"/>
            <a:ext cx="875074" cy="369332"/>
          </a:xfrm>
          <a:prstGeom prst="rect">
            <a:avLst/>
          </a:prstGeom>
          <a:noFill/>
        </p:spPr>
        <p:txBody>
          <a:bodyPr wrap="square" rtlCol="0">
            <a:spAutoFit/>
          </a:bodyPr>
          <a:lstStyle/>
          <a:p>
            <a:r>
              <a:rPr lang="en-IN" b="1" dirty="0"/>
              <a:t>E10 = 8</a:t>
            </a:r>
          </a:p>
        </p:txBody>
      </p:sp>
      <p:sp>
        <p:nvSpPr>
          <p:cNvPr id="52" name="TextBox 51">
            <a:extLst>
              <a:ext uri="{FF2B5EF4-FFF2-40B4-BE49-F238E27FC236}">
                <a16:creationId xmlns:a16="http://schemas.microsoft.com/office/drawing/2014/main" id="{C370975B-F655-4C2B-BDA1-B4DC1CFD9626}"/>
              </a:ext>
            </a:extLst>
          </p:cNvPr>
          <p:cNvSpPr txBox="1"/>
          <p:nvPr/>
        </p:nvSpPr>
        <p:spPr>
          <a:xfrm>
            <a:off x="7826477" y="1961536"/>
            <a:ext cx="3512575" cy="1754326"/>
          </a:xfrm>
          <a:prstGeom prst="rect">
            <a:avLst/>
          </a:prstGeom>
          <a:noFill/>
        </p:spPr>
        <p:txBody>
          <a:bodyPr wrap="square" rtlCol="0">
            <a:spAutoFit/>
          </a:bodyPr>
          <a:lstStyle/>
          <a:p>
            <a:r>
              <a:rPr lang="en-IN" dirty="0"/>
              <a:t>After visiting all edges in the fourth iteration.</a:t>
            </a:r>
          </a:p>
          <a:p>
            <a:endParaRPr lang="en-IN" dirty="0"/>
          </a:p>
          <a:p>
            <a:r>
              <a:rPr lang="en-IN" dirty="0"/>
              <a:t>No change during this iteration; therefore, the algorithm terminates.</a:t>
            </a:r>
          </a:p>
        </p:txBody>
      </p:sp>
    </p:spTree>
    <p:extLst>
      <p:ext uri="{BB962C8B-B14F-4D97-AF65-F5344CB8AC3E}">
        <p14:creationId xmlns:p14="http://schemas.microsoft.com/office/powerpoint/2010/main" val="34486151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B7F9-1D76-9459-AF60-0ADAB4E39B46}"/>
              </a:ext>
            </a:extLst>
          </p:cNvPr>
          <p:cNvSpPr>
            <a:spLocks noGrp="1"/>
          </p:cNvSpPr>
          <p:nvPr>
            <p:ph type="title"/>
          </p:nvPr>
        </p:nvSpPr>
        <p:spPr/>
        <p:txBody>
          <a:bodyPr/>
          <a:lstStyle/>
          <a:p>
            <a:r>
              <a:rPr lang="en-IN" dirty="0"/>
              <a:t>Bellman-Ford</a:t>
            </a:r>
          </a:p>
        </p:txBody>
      </p:sp>
      <p:sp>
        <p:nvSpPr>
          <p:cNvPr id="3" name="Content Placeholder 2">
            <a:extLst>
              <a:ext uri="{FF2B5EF4-FFF2-40B4-BE49-F238E27FC236}">
                <a16:creationId xmlns:a16="http://schemas.microsoft.com/office/drawing/2014/main" id="{C6A4FBB9-95F3-9286-22D0-7A4BCF8D7032}"/>
              </a:ext>
            </a:extLst>
          </p:cNvPr>
          <p:cNvSpPr>
            <a:spLocks noGrp="1"/>
          </p:cNvSpPr>
          <p:nvPr>
            <p:ph idx="1"/>
          </p:nvPr>
        </p:nvSpPr>
        <p:spPr/>
        <p:txBody>
          <a:bodyPr>
            <a:normAutofit/>
          </a:bodyPr>
          <a:lstStyle/>
          <a:p>
            <a:pPr marL="0" indent="0">
              <a:buNone/>
            </a:pPr>
            <a:endParaRPr lang="en-IN" dirty="0"/>
          </a:p>
          <a:p>
            <a:pPr marL="0" indent="0">
              <a:buNone/>
            </a:pPr>
            <a:endParaRPr lang="en-IN" dirty="0"/>
          </a:p>
          <a:p>
            <a:pPr marL="0" indent="0">
              <a:buNone/>
            </a:pPr>
            <a:endParaRPr lang="en-IN" dirty="0"/>
          </a:p>
        </p:txBody>
      </p:sp>
      <p:sp>
        <p:nvSpPr>
          <p:cNvPr id="6" name="Oval 5">
            <a:extLst>
              <a:ext uri="{FF2B5EF4-FFF2-40B4-BE49-F238E27FC236}">
                <a16:creationId xmlns:a16="http://schemas.microsoft.com/office/drawing/2014/main" id="{244F73D3-C49C-AD10-A6CD-8A997F7D32BD}"/>
              </a:ext>
            </a:extLst>
          </p:cNvPr>
          <p:cNvSpPr/>
          <p:nvPr/>
        </p:nvSpPr>
        <p:spPr>
          <a:xfrm>
            <a:off x="1661652" y="1986115"/>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EDE8F80D-231F-5F18-7305-51D52D89C93C}"/>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EDE8F80D-231F-5F18-7305-51D52D89C93C}"/>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7745A442-87D5-2EF4-B38A-39E2052D6788}"/>
                  </a:ext>
                </a:extLst>
              </p:cNvPr>
              <p:cNvSpPr/>
              <p:nvPr/>
            </p:nvSpPr>
            <p:spPr>
              <a:xfrm>
                <a:off x="4630996" y="1956619"/>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7745A442-87D5-2EF4-B38A-39E2052D6788}"/>
                  </a:ext>
                </a:extLst>
              </p:cNvPr>
              <p:cNvSpPr>
                <a:spLocks noRot="1" noChangeAspect="1" noMove="1" noResize="1" noEditPoints="1" noAdjustHandles="1" noChangeArrowheads="1" noChangeShapeType="1" noTextEdit="1"/>
              </p:cNvSpPr>
              <p:nvPr/>
            </p:nvSpPr>
            <p:spPr>
              <a:xfrm>
                <a:off x="4630996" y="1956619"/>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FF42400A-B7B0-C2E6-9287-4CFB5CEAFB6C}"/>
                  </a:ext>
                </a:extLst>
              </p:cNvPr>
              <p:cNvSpPr/>
              <p:nvPr/>
            </p:nvSpPr>
            <p:spPr>
              <a:xfrm>
                <a:off x="6218907" y="1951702"/>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FF42400A-B7B0-C2E6-9287-4CFB5CEAFB6C}"/>
                  </a:ext>
                </a:extLst>
              </p:cNvPr>
              <p:cNvSpPr>
                <a:spLocks noRot="1" noChangeAspect="1" noMove="1" noResize="1" noEditPoints="1" noAdjustHandles="1" noChangeArrowheads="1" noChangeShapeType="1" noTextEdit="1"/>
              </p:cNvSpPr>
              <p:nvPr/>
            </p:nvSpPr>
            <p:spPr>
              <a:xfrm>
                <a:off x="6218907" y="1951702"/>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6B370C96-EBA4-2699-43CE-31F7094F3084}"/>
                  </a:ext>
                </a:extLst>
              </p:cNvPr>
              <p:cNvSpPr/>
              <p:nvPr/>
            </p:nvSpPr>
            <p:spPr>
              <a:xfrm>
                <a:off x="7806818" y="1946785"/>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6B370C96-EBA4-2699-43CE-31F7094F3084}"/>
                  </a:ext>
                </a:extLst>
              </p:cNvPr>
              <p:cNvSpPr>
                <a:spLocks noRot="1" noChangeAspect="1" noMove="1" noResize="1" noEditPoints="1" noAdjustHandles="1" noChangeArrowheads="1" noChangeShapeType="1" noTextEdit="1"/>
              </p:cNvSpPr>
              <p:nvPr/>
            </p:nvSpPr>
            <p:spPr>
              <a:xfrm>
                <a:off x="7806818" y="1946785"/>
                <a:ext cx="658761" cy="580103"/>
              </a:xfrm>
              <a:prstGeom prst="ellipse">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82615951-7854-966C-7A12-A8069CEB9EEC}"/>
                  </a:ext>
                </a:extLst>
              </p:cNvPr>
              <p:cNvSpPr/>
              <p:nvPr/>
            </p:nvSpPr>
            <p:spPr>
              <a:xfrm>
                <a:off x="9493052" y="1941868"/>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11" name="Oval 10">
                <a:extLst>
                  <a:ext uri="{FF2B5EF4-FFF2-40B4-BE49-F238E27FC236}">
                    <a16:creationId xmlns:a16="http://schemas.microsoft.com/office/drawing/2014/main" id="{82615951-7854-966C-7A12-A8069CEB9EEC}"/>
                  </a:ext>
                </a:extLst>
              </p:cNvPr>
              <p:cNvSpPr>
                <a:spLocks noRot="1" noChangeAspect="1" noMove="1" noResize="1" noEditPoints="1" noAdjustHandles="1" noChangeArrowheads="1" noChangeShapeType="1" noTextEdit="1"/>
              </p:cNvSpPr>
              <p:nvPr/>
            </p:nvSpPr>
            <p:spPr>
              <a:xfrm>
                <a:off x="9493052" y="1941868"/>
                <a:ext cx="658761" cy="580103"/>
              </a:xfrm>
              <a:prstGeom prst="ellipse">
                <a:avLst/>
              </a:prstGeom>
              <a:blipFill>
                <a:blip r:embed="rId6"/>
                <a:stretch>
                  <a:fillRect/>
                </a:stretch>
              </a:blipFill>
            </p:spPr>
            <p:txBody>
              <a:bodyPr/>
              <a:lstStyle/>
              <a:p>
                <a:r>
                  <a:rPr lang="en-IN">
                    <a:noFill/>
                  </a:rPr>
                  <a:t> </a:t>
                </a:r>
              </a:p>
            </p:txBody>
          </p:sp>
        </mc:Fallback>
      </mc:AlternateContent>
      <p:cxnSp>
        <p:nvCxnSpPr>
          <p:cNvPr id="13" name="Connector: Curved 12">
            <a:extLst>
              <a:ext uri="{FF2B5EF4-FFF2-40B4-BE49-F238E27FC236}">
                <a16:creationId xmlns:a16="http://schemas.microsoft.com/office/drawing/2014/main" id="{52A2F647-AFA4-10E8-7D36-A2795739CFAE}"/>
              </a:ext>
            </a:extLst>
          </p:cNvPr>
          <p:cNvCxnSpPr>
            <a:stCxn id="6" idx="6"/>
            <a:endCxn id="7" idx="2"/>
          </p:cNvCxnSpPr>
          <p:nvPr/>
        </p:nvCxnSpPr>
        <p:spPr>
          <a:xfrm flipV="1">
            <a:off x="2320413" y="2251588"/>
            <a:ext cx="820995" cy="2457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C4AC0BC5-17B0-BC39-ED51-8C34CB0FE239}"/>
              </a:ext>
            </a:extLst>
          </p:cNvPr>
          <p:cNvCxnSpPr>
            <a:stCxn id="7" idx="6"/>
            <a:endCxn id="8" idx="2"/>
          </p:cNvCxnSpPr>
          <p:nvPr/>
        </p:nvCxnSpPr>
        <p:spPr>
          <a:xfrm flipV="1">
            <a:off x="3800169" y="2246671"/>
            <a:ext cx="830827" cy="491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9C041523-B4BB-E812-195C-2924791C382B}"/>
              </a:ext>
            </a:extLst>
          </p:cNvPr>
          <p:cNvCxnSpPr>
            <a:stCxn id="8" idx="6"/>
            <a:endCxn id="9" idx="2"/>
          </p:cNvCxnSpPr>
          <p:nvPr/>
        </p:nvCxnSpPr>
        <p:spPr>
          <a:xfrm flipV="1">
            <a:off x="5289757" y="2241754"/>
            <a:ext cx="929150" cy="491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EEABA8F1-C27C-06B7-60D5-1260737F9B3A}"/>
              </a:ext>
            </a:extLst>
          </p:cNvPr>
          <p:cNvCxnSpPr>
            <a:stCxn id="9" idx="6"/>
            <a:endCxn id="10" idx="2"/>
          </p:cNvCxnSpPr>
          <p:nvPr/>
        </p:nvCxnSpPr>
        <p:spPr>
          <a:xfrm flipV="1">
            <a:off x="6877668" y="2236837"/>
            <a:ext cx="929150" cy="491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F0490BF8-9844-A476-BEF1-524AABCA526C}"/>
              </a:ext>
            </a:extLst>
          </p:cNvPr>
          <p:cNvCxnSpPr>
            <a:stCxn id="10" idx="6"/>
            <a:endCxn id="11" idx="2"/>
          </p:cNvCxnSpPr>
          <p:nvPr/>
        </p:nvCxnSpPr>
        <p:spPr>
          <a:xfrm flipV="1">
            <a:off x="8465579" y="2231920"/>
            <a:ext cx="1027473" cy="491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BC40052-5A91-61AC-5ED4-9D5BAB40CD53}"/>
              </a:ext>
            </a:extLst>
          </p:cNvPr>
          <p:cNvSpPr txBox="1"/>
          <p:nvPr/>
        </p:nvSpPr>
        <p:spPr>
          <a:xfrm>
            <a:off x="1779640" y="2595715"/>
            <a:ext cx="658761" cy="369332"/>
          </a:xfrm>
          <a:prstGeom prst="rect">
            <a:avLst/>
          </a:prstGeom>
          <a:noFill/>
        </p:spPr>
        <p:txBody>
          <a:bodyPr wrap="square" rtlCol="0">
            <a:spAutoFit/>
          </a:bodyPr>
          <a:lstStyle/>
          <a:p>
            <a:r>
              <a:rPr lang="en-IN" dirty="0"/>
              <a:t>u</a:t>
            </a:r>
          </a:p>
        </p:txBody>
      </p:sp>
      <p:sp>
        <p:nvSpPr>
          <p:cNvPr id="23" name="TextBox 22">
            <a:extLst>
              <a:ext uri="{FF2B5EF4-FFF2-40B4-BE49-F238E27FC236}">
                <a16:creationId xmlns:a16="http://schemas.microsoft.com/office/drawing/2014/main" id="{31EE0B06-96E5-6D1D-7938-5541345D14CF}"/>
              </a:ext>
            </a:extLst>
          </p:cNvPr>
          <p:cNvSpPr txBox="1"/>
          <p:nvPr/>
        </p:nvSpPr>
        <p:spPr>
          <a:xfrm>
            <a:off x="9670055" y="2521972"/>
            <a:ext cx="658761" cy="369332"/>
          </a:xfrm>
          <a:prstGeom prst="rect">
            <a:avLst/>
          </a:prstGeom>
          <a:noFill/>
        </p:spPr>
        <p:txBody>
          <a:bodyPr wrap="square" rtlCol="0">
            <a:spAutoFit/>
          </a:bodyPr>
          <a:lstStyle/>
          <a:p>
            <a:r>
              <a:rPr lang="en-IN" dirty="0"/>
              <a:t>v</a:t>
            </a:r>
          </a:p>
        </p:txBody>
      </p:sp>
      <p:sp>
        <p:nvSpPr>
          <p:cNvPr id="24" name="TextBox 23">
            <a:extLst>
              <a:ext uri="{FF2B5EF4-FFF2-40B4-BE49-F238E27FC236}">
                <a16:creationId xmlns:a16="http://schemas.microsoft.com/office/drawing/2014/main" id="{FA31C25B-30FC-E981-5A7A-EF2472F80162}"/>
              </a:ext>
            </a:extLst>
          </p:cNvPr>
          <p:cNvSpPr txBox="1"/>
          <p:nvPr/>
        </p:nvSpPr>
        <p:spPr>
          <a:xfrm>
            <a:off x="3283979" y="2526889"/>
            <a:ext cx="658761" cy="369332"/>
          </a:xfrm>
          <a:prstGeom prst="rect">
            <a:avLst/>
          </a:prstGeom>
          <a:noFill/>
        </p:spPr>
        <p:txBody>
          <a:bodyPr wrap="square" rtlCol="0">
            <a:spAutoFit/>
          </a:bodyPr>
          <a:lstStyle/>
          <a:p>
            <a:r>
              <a:rPr lang="en-IN" dirty="0"/>
              <a:t>i</a:t>
            </a:r>
            <a:r>
              <a:rPr lang="en-IN" baseline="-25000" dirty="0"/>
              <a:t>1</a:t>
            </a:r>
            <a:endParaRPr lang="en-IN" dirty="0"/>
          </a:p>
        </p:txBody>
      </p:sp>
      <p:sp>
        <p:nvSpPr>
          <p:cNvPr id="25" name="TextBox 24">
            <a:extLst>
              <a:ext uri="{FF2B5EF4-FFF2-40B4-BE49-F238E27FC236}">
                <a16:creationId xmlns:a16="http://schemas.microsoft.com/office/drawing/2014/main" id="{73A7E53B-40C0-4B50-56EF-2CD7AB18D1DF}"/>
              </a:ext>
            </a:extLst>
          </p:cNvPr>
          <p:cNvSpPr txBox="1"/>
          <p:nvPr/>
        </p:nvSpPr>
        <p:spPr>
          <a:xfrm>
            <a:off x="4812897" y="2521972"/>
            <a:ext cx="658761" cy="369332"/>
          </a:xfrm>
          <a:prstGeom prst="rect">
            <a:avLst/>
          </a:prstGeom>
          <a:noFill/>
        </p:spPr>
        <p:txBody>
          <a:bodyPr wrap="square" rtlCol="0">
            <a:spAutoFit/>
          </a:bodyPr>
          <a:lstStyle/>
          <a:p>
            <a:r>
              <a:rPr lang="en-IN" dirty="0"/>
              <a:t>i</a:t>
            </a:r>
            <a:r>
              <a:rPr lang="en-IN" baseline="-25000" dirty="0"/>
              <a:t>2</a:t>
            </a:r>
            <a:endParaRPr lang="en-IN" dirty="0"/>
          </a:p>
        </p:txBody>
      </p:sp>
      <p:sp>
        <p:nvSpPr>
          <p:cNvPr id="26" name="TextBox 25">
            <a:extLst>
              <a:ext uri="{FF2B5EF4-FFF2-40B4-BE49-F238E27FC236}">
                <a16:creationId xmlns:a16="http://schemas.microsoft.com/office/drawing/2014/main" id="{5479223A-2635-E389-E342-D6ACB8065FFE}"/>
              </a:ext>
            </a:extLst>
          </p:cNvPr>
          <p:cNvSpPr txBox="1"/>
          <p:nvPr/>
        </p:nvSpPr>
        <p:spPr>
          <a:xfrm>
            <a:off x="6381143" y="2546552"/>
            <a:ext cx="658761" cy="369332"/>
          </a:xfrm>
          <a:prstGeom prst="rect">
            <a:avLst/>
          </a:prstGeom>
          <a:noFill/>
        </p:spPr>
        <p:txBody>
          <a:bodyPr wrap="square" rtlCol="0">
            <a:spAutoFit/>
          </a:bodyPr>
          <a:lstStyle/>
          <a:p>
            <a:r>
              <a:rPr lang="en-IN" dirty="0"/>
              <a:t>…</a:t>
            </a:r>
          </a:p>
        </p:txBody>
      </p:sp>
      <p:sp>
        <p:nvSpPr>
          <p:cNvPr id="27" name="TextBox 26">
            <a:extLst>
              <a:ext uri="{FF2B5EF4-FFF2-40B4-BE49-F238E27FC236}">
                <a16:creationId xmlns:a16="http://schemas.microsoft.com/office/drawing/2014/main" id="{0DFEB90E-273F-EB87-216C-26E041C3EB17}"/>
              </a:ext>
            </a:extLst>
          </p:cNvPr>
          <p:cNvSpPr txBox="1"/>
          <p:nvPr/>
        </p:nvSpPr>
        <p:spPr>
          <a:xfrm>
            <a:off x="7969054" y="2512138"/>
            <a:ext cx="658761" cy="369332"/>
          </a:xfrm>
          <a:prstGeom prst="rect">
            <a:avLst/>
          </a:prstGeom>
          <a:noFill/>
        </p:spPr>
        <p:txBody>
          <a:bodyPr wrap="square" rtlCol="0">
            <a:spAutoFit/>
          </a:bodyPr>
          <a:lstStyle/>
          <a:p>
            <a:r>
              <a:rPr lang="en-IN" dirty="0" err="1"/>
              <a:t>i</a:t>
            </a:r>
            <a:r>
              <a:rPr lang="en-IN" baseline="-25000" dirty="0" err="1"/>
              <a:t>k</a:t>
            </a:r>
            <a:endParaRPr lang="en-IN" dirty="0"/>
          </a:p>
        </p:txBody>
      </p:sp>
    </p:spTree>
    <p:extLst>
      <p:ext uri="{BB962C8B-B14F-4D97-AF65-F5344CB8AC3E}">
        <p14:creationId xmlns:p14="http://schemas.microsoft.com/office/powerpoint/2010/main" val="23479289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B7F9-1D76-9459-AF60-0ADAB4E39B46}"/>
              </a:ext>
            </a:extLst>
          </p:cNvPr>
          <p:cNvSpPr>
            <a:spLocks noGrp="1"/>
          </p:cNvSpPr>
          <p:nvPr>
            <p:ph type="title"/>
          </p:nvPr>
        </p:nvSpPr>
        <p:spPr/>
        <p:txBody>
          <a:bodyPr/>
          <a:lstStyle/>
          <a:p>
            <a:r>
              <a:rPr lang="en-IN" dirty="0"/>
              <a:t>Bellman-Ford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A4FBB9-95F3-9286-22D0-7A4BCF8D7032}"/>
                  </a:ext>
                </a:extLst>
              </p:cNvPr>
              <p:cNvSpPr>
                <a:spLocks noGrp="1"/>
              </p:cNvSpPr>
              <p:nvPr>
                <p:ph idx="1"/>
              </p:nvPr>
            </p:nvSpPr>
            <p:spPr/>
            <p:txBody>
              <a:bodyPr>
                <a:normAutofit lnSpcReduction="10000"/>
              </a:bodyPr>
              <a:lstStyle/>
              <a:p>
                <a:pPr marL="0" indent="0">
                  <a:buNone/>
                </a:pPr>
                <a:endParaRPr lang="en-IN" dirty="0"/>
              </a:p>
              <a:p>
                <a:pPr marL="0" indent="0">
                  <a:buNone/>
                </a:pPr>
                <a:endParaRPr lang="en-IN" dirty="0"/>
              </a:p>
              <a:p>
                <a:pPr marL="0" indent="0">
                  <a:buNone/>
                </a:pPr>
                <a:endParaRPr lang="en-IN" dirty="0"/>
              </a:p>
              <a:p>
                <a:pPr marL="0" indent="0">
                  <a:buNone/>
                </a:pPr>
                <a:r>
                  <a:rPr lang="en-IN" dirty="0">
                    <a:latin typeface="Calibri Light" panose="020F0302020204030204" pitchFamily="34" charset="0"/>
                    <a:ea typeface="Calibri Light" panose="020F0302020204030204" pitchFamily="34" charset="0"/>
                    <a:cs typeface="Calibri Light" panose="020F0302020204030204" pitchFamily="34" charset="0"/>
                  </a:rPr>
                  <a:t>Let’s say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𝑘</m:t>
                        </m:r>
                      </m:sub>
                    </m:sSub>
                  </m:oMath>
                </a14:m>
                <a:r>
                  <a:rPr lang="en-IN" dirty="0">
                    <a:latin typeface="Calibri Light" panose="020F0302020204030204" pitchFamily="34" charset="0"/>
                    <a:ea typeface="Calibri Light" panose="020F0302020204030204" pitchFamily="34" charset="0"/>
                    <a:cs typeface="Calibri Light" panose="020F0302020204030204" pitchFamily="34" charset="0"/>
                  </a:rPr>
                  <a:t> are intermediate vertices in a shortest path with minimum edges from </a:t>
                </a:r>
                <a14:m>
                  <m:oMath xmlns:m="http://schemas.openxmlformats.org/officeDocument/2006/math">
                    <m:r>
                      <a:rPr lang="en-IN" b="0" i="1" smtClean="0">
                        <a:latin typeface="Cambria Math" panose="02040503050406030204" pitchFamily="18" charset="0"/>
                      </a:rPr>
                      <m:t>𝑢</m:t>
                    </m:r>
                  </m:oMath>
                </a14:m>
                <a:r>
                  <a:rPr lang="en-IN" dirty="0">
                    <a:latin typeface="Calibri Light" panose="020F0302020204030204" pitchFamily="34" charset="0"/>
                    <a:ea typeface="Calibri Light" panose="020F0302020204030204" pitchFamily="34" charset="0"/>
                    <a:cs typeface="Calibri Light" panose="020F0302020204030204" pitchFamily="34" charset="0"/>
                  </a:rPr>
                  <a:t> to </a:t>
                </a:r>
                <a14:m>
                  <m:oMath xmlns:m="http://schemas.openxmlformats.org/officeDocument/2006/math">
                    <m:r>
                      <a:rPr lang="en-IN" b="0" i="1" smtClean="0">
                        <a:latin typeface="Cambria Math" panose="02040503050406030204" pitchFamily="18" charset="0"/>
                      </a:rPr>
                      <m:t>𝑣</m:t>
                    </m:r>
                  </m:oMath>
                </a14:m>
                <a:r>
                  <a:rPr lang="en-IN" dirty="0">
                    <a:latin typeface="Calibri Light" panose="020F0302020204030204" pitchFamily="34" charset="0"/>
                    <a:ea typeface="Calibri Light" panose="020F0302020204030204" pitchFamily="34" charset="0"/>
                    <a:cs typeface="Calibri Light" panose="020F0302020204030204" pitchFamily="34" charset="0"/>
                  </a:rPr>
                  <a:t>. Because there are no negative cycles, the maximum length of the path is </a:t>
                </a:r>
                <a14:m>
                  <m:oMath xmlns:m="http://schemas.openxmlformats.org/officeDocument/2006/math">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𝑉</m:t>
                        </m:r>
                      </m:e>
                    </m:d>
                    <m:r>
                      <a:rPr lang="en-IN" b="0" i="1" smtClean="0">
                        <a:latin typeface="Cambria Math" panose="02040503050406030204" pitchFamily="18" charset="0"/>
                      </a:rPr>
                      <m:t>−1.</m:t>
                    </m:r>
                  </m:oMath>
                </a14:m>
                <a:r>
                  <a:rPr lang="en-IN" dirty="0">
                    <a:latin typeface="Calibri Light" panose="020F0302020204030204" pitchFamily="34" charset="0"/>
                    <a:ea typeface="Calibri Light" panose="020F0302020204030204" pitchFamily="34" charset="0"/>
                    <a:cs typeface="Calibri Light" panose="020F0302020204030204" pitchFamily="34" charset="0"/>
                  </a:rPr>
                  <a:t> The shortest distance to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𝑖</m:t>
                        </m:r>
                      </m:sub>
                    </m:sSub>
                  </m:oMath>
                </a14:m>
                <a:r>
                  <a:rPr lang="en-IN" dirty="0">
                    <a:latin typeface="Calibri Light" panose="020F0302020204030204" pitchFamily="34" charset="0"/>
                    <a:ea typeface="Calibri Light" panose="020F0302020204030204" pitchFamily="34" charset="0"/>
                    <a:cs typeface="Calibri Light" panose="020F0302020204030204" pitchFamily="34" charset="0"/>
                  </a:rPr>
                  <a:t> is known after the first iteration, The shortest distance to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b="0" i="1" smtClean="0">
                            <a:latin typeface="Cambria Math" panose="02040503050406030204" pitchFamily="18" charset="0"/>
                          </a:rPr>
                          <m:t>2</m:t>
                        </m:r>
                      </m:sub>
                    </m:sSub>
                  </m:oMath>
                </a14:m>
                <a:r>
                  <a:rPr lang="en-IN" dirty="0">
                    <a:latin typeface="Calibri Light" panose="020F0302020204030204" pitchFamily="34" charset="0"/>
                    <a:ea typeface="Calibri Light" panose="020F0302020204030204" pitchFamily="34" charset="0"/>
                    <a:cs typeface="Calibri Light" panose="020F0302020204030204" pitchFamily="34" charset="0"/>
                  </a:rPr>
                  <a:t> is known after the second iteration, …, the shortest distance to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𝑘</m:t>
                        </m:r>
                      </m:sub>
                    </m:sSub>
                  </m:oMath>
                </a14:m>
                <a:r>
                  <a:rPr lang="en-IN" dirty="0">
                    <a:latin typeface="Calibri Light" panose="020F0302020204030204" pitchFamily="34" charset="0"/>
                    <a:ea typeface="Calibri Light" panose="020F0302020204030204" pitchFamily="34" charset="0"/>
                    <a:cs typeface="Calibri Light" panose="020F0302020204030204" pitchFamily="34" charset="0"/>
                  </a:rPr>
                  <a:t> is known after the kth iteration, and finally, the shortest distance to v is known after </a:t>
                </a:r>
                <a14:m>
                  <m:oMath xmlns:m="http://schemas.openxmlformats.org/officeDocument/2006/math">
                    <m:r>
                      <a:rPr lang="en-IN" b="0" i="1" smtClean="0">
                        <a:latin typeface="Cambria Math" panose="02040503050406030204" pitchFamily="18" charset="0"/>
                      </a:rPr>
                      <m:t>𝑘</m:t>
                    </m:r>
                    <m:r>
                      <a:rPr lang="en-IN" b="0" i="1" smtClean="0">
                        <a:latin typeface="Cambria Math" panose="02040503050406030204" pitchFamily="18" charset="0"/>
                      </a:rPr>
                      <m:t>+1</m:t>
                    </m:r>
                  </m:oMath>
                </a14:m>
                <a:r>
                  <a:rPr lang="en-IN" dirty="0">
                    <a:latin typeface="Calibri Light" panose="020F0302020204030204" pitchFamily="34" charset="0"/>
                    <a:ea typeface="Calibri Light" panose="020F0302020204030204" pitchFamily="34" charset="0"/>
                    <a:cs typeface="Calibri Light" panose="020F0302020204030204" pitchFamily="34" charset="0"/>
                  </a:rPr>
                  <a:t> iterations. Because </a:t>
                </a:r>
                <a14:m>
                  <m:oMath xmlns:m="http://schemas.openxmlformats.org/officeDocument/2006/math">
                    <m:r>
                      <a:rPr lang="en-IN" b="0" i="1" smtClean="0">
                        <a:latin typeface="Cambria Math" panose="02040503050406030204" pitchFamily="18" charset="0"/>
                      </a:rPr>
                      <m:t>𝑘</m:t>
                    </m:r>
                    <m:r>
                      <a:rPr lang="en-IN" b="0" i="1" smtClean="0">
                        <a:latin typeface="Cambria Math" panose="02040503050406030204" pitchFamily="18" charset="0"/>
                      </a:rPr>
                      <m:t>+1</m:t>
                    </m:r>
                    <m:r>
                      <a:rPr lang="en-IN" b="0" i="0" smtClean="0">
                        <a:latin typeface="Cambria Math" panose="02040503050406030204" pitchFamily="18" charset="0"/>
                      </a:rPr>
                      <m:t>≤</m:t>
                    </m:r>
                    <m:d>
                      <m:dPr>
                        <m:begChr m:val="|"/>
                        <m:endChr m:val="|"/>
                        <m:ctrlPr>
                          <a:rPr lang="en-IN" b="0" i="1" smtClean="0">
                            <a:latin typeface="Cambria Math" panose="02040503050406030204" pitchFamily="18" charset="0"/>
                          </a:rPr>
                        </m:ctrlPr>
                      </m:dPr>
                      <m:e>
                        <m:r>
                          <m:rPr>
                            <m:sty m:val="p"/>
                          </m:rPr>
                          <a:rPr lang="en-IN" b="0" i="0" smtClean="0">
                            <a:latin typeface="Cambria Math" panose="02040503050406030204" pitchFamily="18" charset="0"/>
                          </a:rPr>
                          <m:t>V</m:t>
                        </m:r>
                      </m:e>
                    </m:d>
                    <m:r>
                      <a:rPr lang="en-IN" b="0" i="0" smtClean="0">
                        <a:latin typeface="Cambria Math" panose="02040503050406030204" pitchFamily="18" charset="0"/>
                      </a:rPr>
                      <m:t>−1</m:t>
                    </m:r>
                  </m:oMath>
                </a14:m>
                <a:r>
                  <a:rPr lang="en-IN" dirty="0">
                    <a:latin typeface="Calibri Light" panose="020F0302020204030204" pitchFamily="34" charset="0"/>
                    <a:ea typeface="Calibri Light" panose="020F0302020204030204" pitchFamily="34" charset="0"/>
                    <a:cs typeface="Calibri Light" panose="020F0302020204030204" pitchFamily="34" charset="0"/>
                  </a:rPr>
                  <a:t>, we will get the shortest path after at most </a:t>
                </a:r>
                <a14:m>
                  <m:oMath xmlns:m="http://schemas.openxmlformats.org/officeDocument/2006/math">
                    <m:d>
                      <m:dPr>
                        <m:begChr m:val="|"/>
                        <m:endChr m:val="|"/>
                        <m:ctrlPr>
                          <a:rPr lang="en-IN" b="0" i="1" smtClean="0">
                            <a:latin typeface="Cambria Math" panose="02040503050406030204" pitchFamily="18" charset="0"/>
                          </a:rPr>
                        </m:ctrlPr>
                      </m:dPr>
                      <m:e>
                        <m:r>
                          <a:rPr lang="en-IN" b="0" i="1" smtClean="0">
                            <a:latin typeface="Cambria Math" panose="02040503050406030204" pitchFamily="18" charset="0"/>
                          </a:rPr>
                          <m:t>𝑉</m:t>
                        </m:r>
                      </m:e>
                    </m:d>
                    <m:r>
                      <a:rPr lang="en-IN" b="0" i="1" smtClean="0">
                        <a:latin typeface="Cambria Math" panose="02040503050406030204" pitchFamily="18" charset="0"/>
                      </a:rPr>
                      <m:t>−1</m:t>
                    </m:r>
                  </m:oMath>
                </a14:m>
                <a:r>
                  <a:rPr lang="en-IN" dirty="0">
                    <a:latin typeface="Calibri Light" panose="020F0302020204030204" pitchFamily="34" charset="0"/>
                    <a:ea typeface="Calibri Light" panose="020F0302020204030204" pitchFamily="34" charset="0"/>
                    <a:cs typeface="Calibri Light" panose="020F0302020204030204" pitchFamily="34" charset="0"/>
                  </a:rPr>
                  <a:t> iterations of all edges.</a:t>
                </a:r>
              </a:p>
            </p:txBody>
          </p:sp>
        </mc:Choice>
        <mc:Fallback xmlns="">
          <p:sp>
            <p:nvSpPr>
              <p:cNvPr id="3" name="Content Placeholder 2">
                <a:extLst>
                  <a:ext uri="{FF2B5EF4-FFF2-40B4-BE49-F238E27FC236}">
                    <a16:creationId xmlns:a16="http://schemas.microsoft.com/office/drawing/2014/main" id="{C6A4FBB9-95F3-9286-22D0-7A4BCF8D7032}"/>
                  </a:ext>
                </a:extLst>
              </p:cNvPr>
              <p:cNvSpPr>
                <a:spLocks noGrp="1" noRot="1" noChangeAspect="1" noMove="1" noResize="1" noEditPoints="1" noAdjustHandles="1" noChangeArrowheads="1" noChangeShapeType="1" noTextEdit="1"/>
              </p:cNvSpPr>
              <p:nvPr>
                <p:ph idx="1"/>
              </p:nvPr>
            </p:nvSpPr>
            <p:spPr>
              <a:blipFill>
                <a:blip r:embed="rId2"/>
                <a:stretch>
                  <a:fillRect l="-1217" r="-1333" b="-1401"/>
                </a:stretch>
              </a:blipFill>
            </p:spPr>
            <p:txBody>
              <a:bodyPr/>
              <a:lstStyle/>
              <a:p>
                <a:r>
                  <a:rPr lang="en-IN">
                    <a:noFill/>
                  </a:rPr>
                  <a:t> </a:t>
                </a:r>
              </a:p>
            </p:txBody>
          </p:sp>
        </mc:Fallback>
      </mc:AlternateContent>
      <p:sp>
        <p:nvSpPr>
          <p:cNvPr id="6" name="Oval 5">
            <a:extLst>
              <a:ext uri="{FF2B5EF4-FFF2-40B4-BE49-F238E27FC236}">
                <a16:creationId xmlns:a16="http://schemas.microsoft.com/office/drawing/2014/main" id="{244F73D3-C49C-AD10-A6CD-8A997F7D32BD}"/>
              </a:ext>
            </a:extLst>
          </p:cNvPr>
          <p:cNvSpPr/>
          <p:nvPr/>
        </p:nvSpPr>
        <p:spPr>
          <a:xfrm>
            <a:off x="1661652" y="1986115"/>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0</a:t>
            </a:r>
          </a:p>
        </p:txBody>
      </p:sp>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EDE8F80D-231F-5F18-7305-51D52D89C93C}"/>
                  </a:ext>
                </a:extLst>
              </p:cNvPr>
              <p:cNvSpPr/>
              <p:nvPr/>
            </p:nvSpPr>
            <p:spPr>
              <a:xfrm>
                <a:off x="3141408" y="1961536"/>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7" name="Oval 6">
                <a:extLst>
                  <a:ext uri="{FF2B5EF4-FFF2-40B4-BE49-F238E27FC236}">
                    <a16:creationId xmlns:a16="http://schemas.microsoft.com/office/drawing/2014/main" id="{EDE8F80D-231F-5F18-7305-51D52D89C93C}"/>
                  </a:ext>
                </a:extLst>
              </p:cNvPr>
              <p:cNvSpPr>
                <a:spLocks noRot="1" noChangeAspect="1" noMove="1" noResize="1" noEditPoints="1" noAdjustHandles="1" noChangeArrowheads="1" noChangeShapeType="1" noTextEdit="1"/>
              </p:cNvSpPr>
              <p:nvPr/>
            </p:nvSpPr>
            <p:spPr>
              <a:xfrm>
                <a:off x="3141408" y="1961536"/>
                <a:ext cx="658761" cy="580103"/>
              </a:xfrm>
              <a:prstGeom prst="ellipse">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7745A442-87D5-2EF4-B38A-39E2052D6788}"/>
                  </a:ext>
                </a:extLst>
              </p:cNvPr>
              <p:cNvSpPr/>
              <p:nvPr/>
            </p:nvSpPr>
            <p:spPr>
              <a:xfrm>
                <a:off x="4630996" y="1956619"/>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8" name="Oval 7">
                <a:extLst>
                  <a:ext uri="{FF2B5EF4-FFF2-40B4-BE49-F238E27FC236}">
                    <a16:creationId xmlns:a16="http://schemas.microsoft.com/office/drawing/2014/main" id="{7745A442-87D5-2EF4-B38A-39E2052D6788}"/>
                  </a:ext>
                </a:extLst>
              </p:cNvPr>
              <p:cNvSpPr>
                <a:spLocks noRot="1" noChangeAspect="1" noMove="1" noResize="1" noEditPoints="1" noAdjustHandles="1" noChangeArrowheads="1" noChangeShapeType="1" noTextEdit="1"/>
              </p:cNvSpPr>
              <p:nvPr/>
            </p:nvSpPr>
            <p:spPr>
              <a:xfrm>
                <a:off x="4630996" y="1956619"/>
                <a:ext cx="658761" cy="580103"/>
              </a:xfrm>
              <a:prstGeom prst="ellipse">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FF42400A-B7B0-C2E6-9287-4CFB5CEAFB6C}"/>
                  </a:ext>
                </a:extLst>
              </p:cNvPr>
              <p:cNvSpPr/>
              <p:nvPr/>
            </p:nvSpPr>
            <p:spPr>
              <a:xfrm>
                <a:off x="6218907" y="1951702"/>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9" name="Oval 8">
                <a:extLst>
                  <a:ext uri="{FF2B5EF4-FFF2-40B4-BE49-F238E27FC236}">
                    <a16:creationId xmlns:a16="http://schemas.microsoft.com/office/drawing/2014/main" id="{FF42400A-B7B0-C2E6-9287-4CFB5CEAFB6C}"/>
                  </a:ext>
                </a:extLst>
              </p:cNvPr>
              <p:cNvSpPr>
                <a:spLocks noRot="1" noChangeAspect="1" noMove="1" noResize="1" noEditPoints="1" noAdjustHandles="1" noChangeArrowheads="1" noChangeShapeType="1" noTextEdit="1"/>
              </p:cNvSpPr>
              <p:nvPr/>
            </p:nvSpPr>
            <p:spPr>
              <a:xfrm>
                <a:off x="6218907" y="1951702"/>
                <a:ext cx="658761" cy="580103"/>
              </a:xfrm>
              <a:prstGeom prst="ellipse">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6B370C96-EBA4-2699-43CE-31F7094F3084}"/>
                  </a:ext>
                </a:extLst>
              </p:cNvPr>
              <p:cNvSpPr/>
              <p:nvPr/>
            </p:nvSpPr>
            <p:spPr>
              <a:xfrm>
                <a:off x="7806818" y="1946785"/>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10" name="Oval 9">
                <a:extLst>
                  <a:ext uri="{FF2B5EF4-FFF2-40B4-BE49-F238E27FC236}">
                    <a16:creationId xmlns:a16="http://schemas.microsoft.com/office/drawing/2014/main" id="{6B370C96-EBA4-2699-43CE-31F7094F3084}"/>
                  </a:ext>
                </a:extLst>
              </p:cNvPr>
              <p:cNvSpPr>
                <a:spLocks noRot="1" noChangeAspect="1" noMove="1" noResize="1" noEditPoints="1" noAdjustHandles="1" noChangeArrowheads="1" noChangeShapeType="1" noTextEdit="1"/>
              </p:cNvSpPr>
              <p:nvPr/>
            </p:nvSpPr>
            <p:spPr>
              <a:xfrm>
                <a:off x="7806818" y="1946785"/>
                <a:ext cx="658761" cy="580103"/>
              </a:xfrm>
              <a:prstGeom prst="ellipse">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82615951-7854-966C-7A12-A8069CEB9EEC}"/>
                  </a:ext>
                </a:extLst>
              </p:cNvPr>
              <p:cNvSpPr/>
              <p:nvPr/>
            </p:nvSpPr>
            <p:spPr>
              <a:xfrm>
                <a:off x="9493052" y="1941868"/>
                <a:ext cx="658761" cy="5801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2400" b="1" i="1" smtClean="0">
                          <a:solidFill>
                            <a:schemeClr val="tx1"/>
                          </a:solidFill>
                          <a:latin typeface="Cambria Math" panose="02040503050406030204" pitchFamily="18" charset="0"/>
                        </a:rPr>
                        <m:t>∞</m:t>
                      </m:r>
                    </m:oMath>
                  </m:oMathPara>
                </a14:m>
                <a:endParaRPr lang="en-IN" sz="2400" b="1" dirty="0">
                  <a:solidFill>
                    <a:schemeClr val="tx1"/>
                  </a:solidFill>
                </a:endParaRPr>
              </a:p>
            </p:txBody>
          </p:sp>
        </mc:Choice>
        <mc:Fallback xmlns="">
          <p:sp>
            <p:nvSpPr>
              <p:cNvPr id="11" name="Oval 10">
                <a:extLst>
                  <a:ext uri="{FF2B5EF4-FFF2-40B4-BE49-F238E27FC236}">
                    <a16:creationId xmlns:a16="http://schemas.microsoft.com/office/drawing/2014/main" id="{82615951-7854-966C-7A12-A8069CEB9EEC}"/>
                  </a:ext>
                </a:extLst>
              </p:cNvPr>
              <p:cNvSpPr>
                <a:spLocks noRot="1" noChangeAspect="1" noMove="1" noResize="1" noEditPoints="1" noAdjustHandles="1" noChangeArrowheads="1" noChangeShapeType="1" noTextEdit="1"/>
              </p:cNvSpPr>
              <p:nvPr/>
            </p:nvSpPr>
            <p:spPr>
              <a:xfrm>
                <a:off x="9493052" y="1941868"/>
                <a:ext cx="658761" cy="580103"/>
              </a:xfrm>
              <a:prstGeom prst="ellipse">
                <a:avLst/>
              </a:prstGeom>
              <a:blipFill>
                <a:blip r:embed="rId7"/>
                <a:stretch>
                  <a:fillRect/>
                </a:stretch>
              </a:blipFill>
            </p:spPr>
            <p:txBody>
              <a:bodyPr/>
              <a:lstStyle/>
              <a:p>
                <a:r>
                  <a:rPr lang="en-IN">
                    <a:noFill/>
                  </a:rPr>
                  <a:t> </a:t>
                </a:r>
              </a:p>
            </p:txBody>
          </p:sp>
        </mc:Fallback>
      </mc:AlternateContent>
      <p:cxnSp>
        <p:nvCxnSpPr>
          <p:cNvPr id="13" name="Connector: Curved 12">
            <a:extLst>
              <a:ext uri="{FF2B5EF4-FFF2-40B4-BE49-F238E27FC236}">
                <a16:creationId xmlns:a16="http://schemas.microsoft.com/office/drawing/2014/main" id="{52A2F647-AFA4-10E8-7D36-A2795739CFAE}"/>
              </a:ext>
            </a:extLst>
          </p:cNvPr>
          <p:cNvCxnSpPr>
            <a:stCxn id="6" idx="6"/>
            <a:endCxn id="7" idx="2"/>
          </p:cNvCxnSpPr>
          <p:nvPr/>
        </p:nvCxnSpPr>
        <p:spPr>
          <a:xfrm flipV="1">
            <a:off x="2320413" y="2251588"/>
            <a:ext cx="820995" cy="2457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Curved 14">
            <a:extLst>
              <a:ext uri="{FF2B5EF4-FFF2-40B4-BE49-F238E27FC236}">
                <a16:creationId xmlns:a16="http://schemas.microsoft.com/office/drawing/2014/main" id="{C4AC0BC5-17B0-BC39-ED51-8C34CB0FE239}"/>
              </a:ext>
            </a:extLst>
          </p:cNvPr>
          <p:cNvCxnSpPr>
            <a:stCxn id="7" idx="6"/>
            <a:endCxn id="8" idx="2"/>
          </p:cNvCxnSpPr>
          <p:nvPr/>
        </p:nvCxnSpPr>
        <p:spPr>
          <a:xfrm flipV="1">
            <a:off x="3800169" y="2246671"/>
            <a:ext cx="830827" cy="491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9C041523-B4BB-E812-195C-2924791C382B}"/>
              </a:ext>
            </a:extLst>
          </p:cNvPr>
          <p:cNvCxnSpPr>
            <a:stCxn id="8" idx="6"/>
            <a:endCxn id="9" idx="2"/>
          </p:cNvCxnSpPr>
          <p:nvPr/>
        </p:nvCxnSpPr>
        <p:spPr>
          <a:xfrm flipV="1">
            <a:off x="5289757" y="2241754"/>
            <a:ext cx="929150" cy="491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EEABA8F1-C27C-06B7-60D5-1260737F9B3A}"/>
              </a:ext>
            </a:extLst>
          </p:cNvPr>
          <p:cNvCxnSpPr>
            <a:stCxn id="9" idx="6"/>
            <a:endCxn id="10" idx="2"/>
          </p:cNvCxnSpPr>
          <p:nvPr/>
        </p:nvCxnSpPr>
        <p:spPr>
          <a:xfrm flipV="1">
            <a:off x="6877668" y="2236837"/>
            <a:ext cx="929150" cy="491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F0490BF8-9844-A476-BEF1-524AABCA526C}"/>
              </a:ext>
            </a:extLst>
          </p:cNvPr>
          <p:cNvCxnSpPr>
            <a:stCxn id="10" idx="6"/>
            <a:endCxn id="11" idx="2"/>
          </p:cNvCxnSpPr>
          <p:nvPr/>
        </p:nvCxnSpPr>
        <p:spPr>
          <a:xfrm flipV="1">
            <a:off x="8465579" y="2231920"/>
            <a:ext cx="1027473" cy="491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BC40052-5A91-61AC-5ED4-9D5BAB40CD53}"/>
              </a:ext>
            </a:extLst>
          </p:cNvPr>
          <p:cNvSpPr txBox="1"/>
          <p:nvPr/>
        </p:nvSpPr>
        <p:spPr>
          <a:xfrm>
            <a:off x="1779640" y="2595715"/>
            <a:ext cx="658761" cy="369332"/>
          </a:xfrm>
          <a:prstGeom prst="rect">
            <a:avLst/>
          </a:prstGeom>
          <a:noFill/>
        </p:spPr>
        <p:txBody>
          <a:bodyPr wrap="square" rtlCol="0">
            <a:spAutoFit/>
          </a:bodyPr>
          <a:lstStyle/>
          <a:p>
            <a:r>
              <a:rPr lang="en-IN" dirty="0"/>
              <a:t>u</a:t>
            </a:r>
          </a:p>
        </p:txBody>
      </p:sp>
      <p:sp>
        <p:nvSpPr>
          <p:cNvPr id="23" name="TextBox 22">
            <a:extLst>
              <a:ext uri="{FF2B5EF4-FFF2-40B4-BE49-F238E27FC236}">
                <a16:creationId xmlns:a16="http://schemas.microsoft.com/office/drawing/2014/main" id="{31EE0B06-96E5-6D1D-7938-5541345D14CF}"/>
              </a:ext>
            </a:extLst>
          </p:cNvPr>
          <p:cNvSpPr txBox="1"/>
          <p:nvPr/>
        </p:nvSpPr>
        <p:spPr>
          <a:xfrm>
            <a:off x="9670055" y="2521972"/>
            <a:ext cx="658761" cy="369332"/>
          </a:xfrm>
          <a:prstGeom prst="rect">
            <a:avLst/>
          </a:prstGeom>
          <a:noFill/>
        </p:spPr>
        <p:txBody>
          <a:bodyPr wrap="square" rtlCol="0">
            <a:spAutoFit/>
          </a:bodyPr>
          <a:lstStyle/>
          <a:p>
            <a:r>
              <a:rPr lang="en-IN" dirty="0"/>
              <a:t>v</a:t>
            </a:r>
          </a:p>
        </p:txBody>
      </p:sp>
      <p:sp>
        <p:nvSpPr>
          <p:cNvPr id="24" name="TextBox 23">
            <a:extLst>
              <a:ext uri="{FF2B5EF4-FFF2-40B4-BE49-F238E27FC236}">
                <a16:creationId xmlns:a16="http://schemas.microsoft.com/office/drawing/2014/main" id="{FA31C25B-30FC-E981-5A7A-EF2472F80162}"/>
              </a:ext>
            </a:extLst>
          </p:cNvPr>
          <p:cNvSpPr txBox="1"/>
          <p:nvPr/>
        </p:nvSpPr>
        <p:spPr>
          <a:xfrm>
            <a:off x="3283979" y="2526889"/>
            <a:ext cx="658761" cy="369332"/>
          </a:xfrm>
          <a:prstGeom prst="rect">
            <a:avLst/>
          </a:prstGeom>
          <a:noFill/>
        </p:spPr>
        <p:txBody>
          <a:bodyPr wrap="square" rtlCol="0">
            <a:spAutoFit/>
          </a:bodyPr>
          <a:lstStyle/>
          <a:p>
            <a:r>
              <a:rPr lang="en-IN" dirty="0"/>
              <a:t>i</a:t>
            </a:r>
            <a:r>
              <a:rPr lang="en-IN" baseline="-25000" dirty="0"/>
              <a:t>1</a:t>
            </a:r>
            <a:endParaRPr lang="en-IN" dirty="0"/>
          </a:p>
        </p:txBody>
      </p:sp>
      <p:sp>
        <p:nvSpPr>
          <p:cNvPr id="25" name="TextBox 24">
            <a:extLst>
              <a:ext uri="{FF2B5EF4-FFF2-40B4-BE49-F238E27FC236}">
                <a16:creationId xmlns:a16="http://schemas.microsoft.com/office/drawing/2014/main" id="{73A7E53B-40C0-4B50-56EF-2CD7AB18D1DF}"/>
              </a:ext>
            </a:extLst>
          </p:cNvPr>
          <p:cNvSpPr txBox="1"/>
          <p:nvPr/>
        </p:nvSpPr>
        <p:spPr>
          <a:xfrm>
            <a:off x="4812897" y="2521972"/>
            <a:ext cx="658761" cy="369332"/>
          </a:xfrm>
          <a:prstGeom prst="rect">
            <a:avLst/>
          </a:prstGeom>
          <a:noFill/>
        </p:spPr>
        <p:txBody>
          <a:bodyPr wrap="square" rtlCol="0">
            <a:spAutoFit/>
          </a:bodyPr>
          <a:lstStyle/>
          <a:p>
            <a:r>
              <a:rPr lang="en-IN" dirty="0"/>
              <a:t>i</a:t>
            </a:r>
            <a:r>
              <a:rPr lang="en-IN" baseline="-25000" dirty="0"/>
              <a:t>2</a:t>
            </a:r>
            <a:endParaRPr lang="en-IN" dirty="0"/>
          </a:p>
        </p:txBody>
      </p:sp>
      <p:sp>
        <p:nvSpPr>
          <p:cNvPr id="26" name="TextBox 25">
            <a:extLst>
              <a:ext uri="{FF2B5EF4-FFF2-40B4-BE49-F238E27FC236}">
                <a16:creationId xmlns:a16="http://schemas.microsoft.com/office/drawing/2014/main" id="{5479223A-2635-E389-E342-D6ACB8065FFE}"/>
              </a:ext>
            </a:extLst>
          </p:cNvPr>
          <p:cNvSpPr txBox="1"/>
          <p:nvPr/>
        </p:nvSpPr>
        <p:spPr>
          <a:xfrm>
            <a:off x="6381143" y="2546552"/>
            <a:ext cx="658761" cy="369332"/>
          </a:xfrm>
          <a:prstGeom prst="rect">
            <a:avLst/>
          </a:prstGeom>
          <a:noFill/>
        </p:spPr>
        <p:txBody>
          <a:bodyPr wrap="square" rtlCol="0">
            <a:spAutoFit/>
          </a:bodyPr>
          <a:lstStyle/>
          <a:p>
            <a:r>
              <a:rPr lang="en-IN" dirty="0"/>
              <a:t>…</a:t>
            </a:r>
          </a:p>
        </p:txBody>
      </p:sp>
      <p:sp>
        <p:nvSpPr>
          <p:cNvPr id="27" name="TextBox 26">
            <a:extLst>
              <a:ext uri="{FF2B5EF4-FFF2-40B4-BE49-F238E27FC236}">
                <a16:creationId xmlns:a16="http://schemas.microsoft.com/office/drawing/2014/main" id="{0DFEB90E-273F-EB87-216C-26E041C3EB17}"/>
              </a:ext>
            </a:extLst>
          </p:cNvPr>
          <p:cNvSpPr txBox="1"/>
          <p:nvPr/>
        </p:nvSpPr>
        <p:spPr>
          <a:xfrm>
            <a:off x="7969054" y="2512138"/>
            <a:ext cx="658761" cy="369332"/>
          </a:xfrm>
          <a:prstGeom prst="rect">
            <a:avLst/>
          </a:prstGeom>
          <a:noFill/>
        </p:spPr>
        <p:txBody>
          <a:bodyPr wrap="square" rtlCol="0">
            <a:spAutoFit/>
          </a:bodyPr>
          <a:lstStyle/>
          <a:p>
            <a:r>
              <a:rPr lang="en-IN" dirty="0" err="1"/>
              <a:t>i</a:t>
            </a:r>
            <a:r>
              <a:rPr lang="en-IN" baseline="-25000" dirty="0" err="1"/>
              <a:t>k</a:t>
            </a:r>
            <a:endParaRPr lang="en-IN" dirty="0"/>
          </a:p>
        </p:txBody>
      </p:sp>
    </p:spTree>
    <p:extLst>
      <p:ext uri="{BB962C8B-B14F-4D97-AF65-F5344CB8AC3E}">
        <p14:creationId xmlns:p14="http://schemas.microsoft.com/office/powerpoint/2010/main" val="1131655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4295</TotalTime>
  <Words>3053</Words>
  <Application>Microsoft Office PowerPoint</Application>
  <PresentationFormat>Widescreen</PresentationFormat>
  <Paragraphs>504</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Light</vt:lpstr>
      <vt:lpstr>Cambria Math</vt:lpstr>
      <vt:lpstr>Office Theme</vt:lpstr>
      <vt:lpstr>PowerPoint Presentation</vt:lpstr>
      <vt:lpstr>References</vt:lpstr>
      <vt:lpstr>Omega Test</vt:lpstr>
      <vt:lpstr>Dark Shadow</vt:lpstr>
      <vt:lpstr>Gray Shadow</vt:lpstr>
      <vt:lpstr>Example</vt:lpstr>
      <vt:lpstr>Omega test</vt:lpstr>
      <vt:lpstr>Omega test</vt:lpstr>
      <vt:lpstr>Omega test</vt:lpstr>
      <vt:lpstr>Omega test</vt:lpstr>
      <vt:lpstr>Omega test</vt:lpstr>
      <vt:lpstr>Omega test</vt:lpstr>
      <vt:lpstr>Omega test</vt:lpstr>
      <vt:lpstr>Omega test</vt:lpstr>
      <vt:lpstr>Omega test</vt:lpstr>
      <vt:lpstr>Omega test</vt:lpstr>
      <vt:lpstr>Omega test</vt:lpstr>
      <vt:lpstr>Omega test</vt:lpstr>
      <vt:lpstr>Example</vt:lpstr>
      <vt:lpstr>Omega test</vt:lpstr>
      <vt:lpstr>Omega test</vt:lpstr>
      <vt:lpstr>Omega test</vt:lpstr>
      <vt:lpstr>Omega test</vt:lpstr>
      <vt:lpstr>Omega test</vt:lpstr>
      <vt:lpstr>Omega test</vt:lpstr>
      <vt:lpstr>Difference logic</vt:lpstr>
      <vt:lpstr>Syntax</vt:lpstr>
      <vt:lpstr>Difference Logic</vt:lpstr>
      <vt:lpstr>Difference Logic</vt:lpstr>
      <vt:lpstr>Decision procedure for difference logic</vt:lpstr>
      <vt:lpstr>Decision procedure for difference logic</vt:lpstr>
      <vt:lpstr>Decision procedure for difference logic</vt:lpstr>
      <vt:lpstr>Decision procedure for difference logic</vt:lpstr>
      <vt:lpstr>Decision procedure for difference logic</vt:lpstr>
      <vt:lpstr>Decision procedure for difference logic</vt:lpstr>
      <vt:lpstr>Finding negative cycle</vt:lpstr>
      <vt:lpstr>Bellman-Ford algorithm</vt:lpstr>
      <vt:lpstr>Bellman-Ford algorithm</vt:lpstr>
      <vt:lpstr>Example</vt:lpstr>
      <vt:lpstr>Example</vt:lpstr>
      <vt:lpstr>Example</vt:lpstr>
      <vt:lpstr>Example</vt:lpstr>
      <vt:lpstr>Example</vt:lpstr>
      <vt:lpstr>Bellman-Ford</vt:lpstr>
      <vt:lpstr>Bellman-Ford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Keshav Bhalotia</dc:creator>
  <cp:lastModifiedBy>Piyus Kedia</cp:lastModifiedBy>
  <cp:revision>73</cp:revision>
  <dcterms:created xsi:type="dcterms:W3CDTF">2023-08-23T06:42:54Z</dcterms:created>
  <dcterms:modified xsi:type="dcterms:W3CDTF">2024-10-15T16:13:17Z</dcterms:modified>
</cp:coreProperties>
</file>