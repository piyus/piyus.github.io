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ink/ink1.xml" ContentType="application/inkml+xml"/>
  <Override PartName="/ppt/ink/ink2.xml" ContentType="application/inkml+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5.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6.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7.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8.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drawings/drawing9.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1030" r:id="rId2"/>
    <p:sldId id="1031" r:id="rId3"/>
    <p:sldId id="917" r:id="rId4"/>
    <p:sldId id="918" r:id="rId5"/>
    <p:sldId id="919" r:id="rId6"/>
    <p:sldId id="920" r:id="rId7"/>
    <p:sldId id="976" r:id="rId8"/>
    <p:sldId id="921" r:id="rId9"/>
    <p:sldId id="977" r:id="rId10"/>
    <p:sldId id="980" r:id="rId11"/>
    <p:sldId id="981" r:id="rId12"/>
    <p:sldId id="982" r:id="rId13"/>
    <p:sldId id="983" r:id="rId14"/>
    <p:sldId id="984" r:id="rId15"/>
    <p:sldId id="985" r:id="rId16"/>
    <p:sldId id="986" r:id="rId17"/>
    <p:sldId id="994" r:id="rId18"/>
    <p:sldId id="996" r:id="rId19"/>
    <p:sldId id="997" r:id="rId20"/>
    <p:sldId id="998" r:id="rId21"/>
    <p:sldId id="987" r:id="rId22"/>
    <p:sldId id="1000" r:id="rId23"/>
    <p:sldId id="1001" r:id="rId24"/>
    <p:sldId id="988" r:id="rId25"/>
    <p:sldId id="1002" r:id="rId26"/>
    <p:sldId id="999" r:id="rId27"/>
    <p:sldId id="1032" r:id="rId28"/>
    <p:sldId id="1033" r:id="rId29"/>
    <p:sldId id="1034" r:id="rId30"/>
    <p:sldId id="923" r:id="rId31"/>
    <p:sldId id="990" r:id="rId32"/>
    <p:sldId id="991" r:id="rId33"/>
    <p:sldId id="992" r:id="rId34"/>
    <p:sldId id="993" r:id="rId35"/>
    <p:sldId id="924" r:id="rId36"/>
    <p:sldId id="925" r:id="rId37"/>
    <p:sldId id="926" r:id="rId38"/>
    <p:sldId id="927" r:id="rId39"/>
    <p:sldId id="928" r:id="rId40"/>
    <p:sldId id="929" r:id="rId41"/>
    <p:sldId id="930" r:id="rId42"/>
    <p:sldId id="932" r:id="rId43"/>
    <p:sldId id="1011" r:id="rId44"/>
    <p:sldId id="1012" r:id="rId45"/>
    <p:sldId id="931" r:id="rId46"/>
    <p:sldId id="257" r:id="rId47"/>
    <p:sldId id="978" r:id="rId48"/>
    <p:sldId id="979" r:id="rId49"/>
    <p:sldId id="937" r:id="rId50"/>
    <p:sldId id="938" r:id="rId51"/>
    <p:sldId id="939" r:id="rId52"/>
    <p:sldId id="258" r:id="rId53"/>
    <p:sldId id="940" r:id="rId54"/>
    <p:sldId id="941" r:id="rId55"/>
    <p:sldId id="942" r:id="rId56"/>
    <p:sldId id="943" r:id="rId57"/>
    <p:sldId id="944" r:id="rId58"/>
    <p:sldId id="945" r:id="rId59"/>
    <p:sldId id="946" r:id="rId60"/>
    <p:sldId id="947" r:id="rId61"/>
    <p:sldId id="948" r:id="rId62"/>
    <p:sldId id="1003" r:id="rId63"/>
    <p:sldId id="1004" r:id="rId64"/>
    <p:sldId id="1005" r:id="rId65"/>
    <p:sldId id="1006" r:id="rId66"/>
    <p:sldId id="953" r:id="rId67"/>
    <p:sldId id="1014" r:id="rId68"/>
    <p:sldId id="1015" r:id="rId69"/>
    <p:sldId id="1016" r:id="rId70"/>
    <p:sldId id="1017" r:id="rId71"/>
    <p:sldId id="1018" r:id="rId72"/>
    <p:sldId id="1019" r:id="rId73"/>
    <p:sldId id="1020" r:id="rId74"/>
    <p:sldId id="1021" r:id="rId75"/>
    <p:sldId id="1022" r:id="rId76"/>
    <p:sldId id="1023" r:id="rId77"/>
    <p:sldId id="1028" r:id="rId78"/>
    <p:sldId id="1029"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chartUserShapes" Target="../drawings/drawing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0.25</c:v>
                </c:pt>
                <c:pt idx="1">
                  <c:v>2.5</c:v>
                </c:pt>
                <c:pt idx="2">
                  <c:v>0.5</c:v>
                </c:pt>
                <c:pt idx="3">
                  <c:v>0.25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0.25</c:v>
                </c:pt>
                <c:pt idx="1">
                  <c:v>2.5</c:v>
                </c:pt>
                <c:pt idx="2">
                  <c:v>0.5</c:v>
                </c:pt>
                <c:pt idx="3">
                  <c:v>0.25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0.25</c:v>
                </c:pt>
                <c:pt idx="1">
                  <c:v>2.5</c:v>
                </c:pt>
                <c:pt idx="2">
                  <c:v>0.5</c:v>
                </c:pt>
                <c:pt idx="3">
                  <c:v>0.25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1.5</c:v>
                </c:pt>
                <c:pt idx="1">
                  <c:v>2.25</c:v>
                </c:pt>
                <c:pt idx="2">
                  <c:v>1.75</c:v>
                </c:pt>
                <c:pt idx="3">
                  <c:v>1.5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0.25</c:v>
                </c:pt>
                <c:pt idx="1">
                  <c:v>2.5</c:v>
                </c:pt>
                <c:pt idx="2">
                  <c:v>0.5</c:v>
                </c:pt>
                <c:pt idx="3">
                  <c:v>0.25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1.5</c:v>
                </c:pt>
                <c:pt idx="1">
                  <c:v>2.25</c:v>
                </c:pt>
                <c:pt idx="2">
                  <c:v>1.75</c:v>
                </c:pt>
                <c:pt idx="3">
                  <c:v>1.5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c:v>
                </c:pt>
                <c:pt idx="1">
                  <c:v>3</c:v>
                </c:pt>
                <c:pt idx="2">
                  <c:v>4</c:v>
                </c:pt>
                <c:pt idx="3">
                  <c:v>1</c:v>
                </c:pt>
              </c:numCache>
            </c:numRef>
          </c:xVal>
          <c:yVal>
            <c:numRef>
              <c:f>Sheet1!$B$2:$B$5</c:f>
              <c:numCache>
                <c:formatCode>General</c:formatCode>
                <c:ptCount val="4"/>
                <c:pt idx="0">
                  <c:v>1.5</c:v>
                </c:pt>
                <c:pt idx="1">
                  <c:v>2.25</c:v>
                </c:pt>
                <c:pt idx="2">
                  <c:v>1.75</c:v>
                </c:pt>
                <c:pt idx="3">
                  <c:v>1.5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1.4</c:v>
                </c:pt>
                <c:pt idx="1">
                  <c:v>3</c:v>
                </c:pt>
                <c:pt idx="2">
                  <c:v>3.5</c:v>
                </c:pt>
                <c:pt idx="3">
                  <c:v>1.4</c:v>
                </c:pt>
              </c:numCache>
            </c:numRef>
          </c:xVal>
          <c:yVal>
            <c:numRef>
              <c:f>Sheet1!$B$2:$B$5</c:f>
              <c:numCache>
                <c:formatCode>General</c:formatCode>
                <c:ptCount val="4"/>
                <c:pt idx="0">
                  <c:v>1.65</c:v>
                </c:pt>
                <c:pt idx="1">
                  <c:v>2.25</c:v>
                </c:pt>
                <c:pt idx="2">
                  <c:v>2</c:v>
                </c:pt>
                <c:pt idx="3">
                  <c:v>1.65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Y-Values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Sheet1!$A$2:$A$5</c:f>
              <c:numCache>
                <c:formatCode>General</c:formatCode>
                <c:ptCount val="4"/>
                <c:pt idx="0">
                  <c:v>1.4</c:v>
                </c:pt>
                <c:pt idx="1">
                  <c:v>3</c:v>
                </c:pt>
                <c:pt idx="2">
                  <c:v>3.5</c:v>
                </c:pt>
                <c:pt idx="3">
                  <c:v>1.4</c:v>
                </c:pt>
              </c:numCache>
            </c:numRef>
          </c:xVal>
          <c:yVal>
            <c:numRef>
              <c:f>Sheet1!$B$2:$B$5</c:f>
              <c:numCache>
                <c:formatCode>General</c:formatCode>
                <c:ptCount val="4"/>
                <c:pt idx="0">
                  <c:v>1.65</c:v>
                </c:pt>
                <c:pt idx="1">
                  <c:v>2.25</c:v>
                </c:pt>
                <c:pt idx="2">
                  <c:v>2</c:v>
                </c:pt>
                <c:pt idx="3">
                  <c:v>1.65</c:v>
                </c:pt>
              </c:numCache>
            </c:numRef>
          </c:yVal>
          <c:smooth val="0"/>
          <c:extLst>
            <c:ext xmlns:c16="http://schemas.microsoft.com/office/drawing/2014/chart" uri="{C3380CC4-5D6E-409C-BE32-E72D297353CC}">
              <c16:uniqueId val="{00000000-BDAF-4911-B238-C64C5FA3A923}"/>
            </c:ext>
          </c:extLst>
        </c:ser>
        <c:dLbls>
          <c:showLegendKey val="0"/>
          <c:showVal val="0"/>
          <c:showCatName val="0"/>
          <c:showSerName val="0"/>
          <c:showPercent val="0"/>
          <c:showBubbleSize val="0"/>
        </c:dLbls>
        <c:axId val="773064304"/>
        <c:axId val="772500080"/>
      </c:scatterChart>
      <c:valAx>
        <c:axId val="77306430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2500080"/>
        <c:crosses val="autoZero"/>
        <c:crossBetween val="midCat"/>
      </c:valAx>
      <c:valAx>
        <c:axId val="772500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730643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0.28377</cdr:x>
      <cdr:y>0.19196</cdr:y>
    </cdr:from>
    <cdr:to>
      <cdr:x>0.46348</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1889760"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IN" sz="2800" dirty="0"/>
        </a:p>
        <a:p xmlns:a="http://schemas.openxmlformats.org/drawingml/2006/main">
          <a:endParaRPr lang="en-IN" sz="2800" dirty="0"/>
        </a:p>
        <a:p xmlns:a="http://schemas.openxmlformats.org/drawingml/2006/main">
          <a:endParaRPr lang="en-IN" sz="2800" dirty="0"/>
        </a:p>
        <a:p xmlns:a="http://schemas.openxmlformats.org/drawingml/2006/main">
          <a:r>
            <a:rPr lang="en-IN" sz="2800" dirty="0"/>
            <a:t>8y &lt;= 9x - 7</a:t>
          </a:r>
        </a:p>
      </cdr:txBody>
    </cdr:sp>
  </cdr:relSizeAnchor>
  <cdr:relSizeAnchor xmlns:cdr="http://schemas.openxmlformats.org/drawingml/2006/chartDrawing">
    <cdr:from>
      <cdr:x>0.47729</cdr:x>
      <cdr:y>0.71638</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3117214"/>
          <a:ext cx="2427224" cy="12341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endParaRPr lang="en-IN" sz="2800" dirty="0"/>
        </a:p>
        <a:p xmlns:a="http://schemas.openxmlformats.org/drawingml/2006/main">
          <a:r>
            <a:rPr lang="en-IN" sz="2800" dirty="0"/>
            <a:t>12y &gt;= x + 2</a:t>
          </a:r>
        </a:p>
      </cdr:txBody>
    </cdr:sp>
  </cdr:relSizeAnchor>
  <cdr:relSizeAnchor xmlns:cdr="http://schemas.openxmlformats.org/drawingml/2006/chartDrawing">
    <cdr:from>
      <cdr:x>0.76918</cdr:x>
      <cdr:y>0.45254</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1969135"/>
          <a:ext cx="2427224" cy="190296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2y &lt;= 17 – 4x</a:t>
          </a:r>
        </a:p>
      </cdr:txBody>
    </cdr:sp>
  </cdr:relSizeAnchor>
</c:userShapes>
</file>

<file path=ppt/drawings/drawing2.xml><?xml version="1.0" encoding="utf-8"?>
<c:userShapes xmlns:c="http://schemas.openxmlformats.org/drawingml/2006/chart">
  <cdr:relSizeAnchor xmlns:cdr="http://schemas.openxmlformats.org/drawingml/2006/chartDrawing">
    <cdr:from>
      <cdr:x>0.28377</cdr:x>
      <cdr:y>0.19196</cdr:y>
    </cdr:from>
    <cdr:to>
      <cdr:x>0.46348</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1889760"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IN" sz="2800" dirty="0"/>
        </a:p>
        <a:p xmlns:a="http://schemas.openxmlformats.org/drawingml/2006/main">
          <a:endParaRPr lang="en-IN" sz="2800" dirty="0"/>
        </a:p>
        <a:p xmlns:a="http://schemas.openxmlformats.org/drawingml/2006/main">
          <a:endParaRPr lang="en-IN" sz="2800" dirty="0"/>
        </a:p>
        <a:p xmlns:a="http://schemas.openxmlformats.org/drawingml/2006/main">
          <a:r>
            <a:rPr lang="en-IN" sz="2800" dirty="0"/>
            <a:t>8y &lt;= 9x - 7</a:t>
          </a:r>
        </a:p>
      </cdr:txBody>
    </cdr:sp>
  </cdr:relSizeAnchor>
  <cdr:relSizeAnchor xmlns:cdr="http://schemas.openxmlformats.org/drawingml/2006/chartDrawing">
    <cdr:from>
      <cdr:x>0.47729</cdr:x>
      <cdr:y>0.71638</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3117214"/>
          <a:ext cx="2427224" cy="12341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endParaRPr lang="en-IN" sz="2800" dirty="0"/>
        </a:p>
        <a:p xmlns:a="http://schemas.openxmlformats.org/drawingml/2006/main">
          <a:r>
            <a:rPr lang="en-IN" sz="2800" dirty="0"/>
            <a:t>12y &gt;= x + 2</a:t>
          </a:r>
        </a:p>
      </cdr:txBody>
    </cdr:sp>
  </cdr:relSizeAnchor>
  <cdr:relSizeAnchor xmlns:cdr="http://schemas.openxmlformats.org/drawingml/2006/chartDrawing">
    <cdr:from>
      <cdr:x>0.76918</cdr:x>
      <cdr:y>0.45254</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1969135"/>
          <a:ext cx="2427224" cy="190296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2y &lt;= 17 – 4x</a:t>
          </a:r>
        </a:p>
      </cdr:txBody>
    </cdr:sp>
  </cdr:relSizeAnchor>
</c:userShapes>
</file>

<file path=ppt/drawings/drawing3.xml><?xml version="1.0" encoding="utf-8"?>
<c:userShapes xmlns:c="http://schemas.openxmlformats.org/drawingml/2006/chart">
  <cdr:relSizeAnchor xmlns:cdr="http://schemas.openxmlformats.org/drawingml/2006/chartDrawing">
    <cdr:from>
      <cdr:x>0.28377</cdr:x>
      <cdr:y>0.19196</cdr:y>
    </cdr:from>
    <cdr:to>
      <cdr:x>0.46348</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1889760"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IN" sz="2800" dirty="0"/>
        </a:p>
        <a:p xmlns:a="http://schemas.openxmlformats.org/drawingml/2006/main">
          <a:endParaRPr lang="en-IN" sz="2800" dirty="0"/>
        </a:p>
        <a:p xmlns:a="http://schemas.openxmlformats.org/drawingml/2006/main">
          <a:endParaRPr lang="en-IN" sz="2800" dirty="0"/>
        </a:p>
        <a:p xmlns:a="http://schemas.openxmlformats.org/drawingml/2006/main">
          <a:r>
            <a:rPr lang="en-IN" sz="2800" dirty="0"/>
            <a:t>8y &lt;= 9x - 7</a:t>
          </a:r>
        </a:p>
      </cdr:txBody>
    </cdr:sp>
  </cdr:relSizeAnchor>
  <cdr:relSizeAnchor xmlns:cdr="http://schemas.openxmlformats.org/drawingml/2006/chartDrawing">
    <cdr:from>
      <cdr:x>0.47729</cdr:x>
      <cdr:y>0.71638</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3117214"/>
          <a:ext cx="2427224" cy="12341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endParaRPr lang="en-IN" sz="2800" dirty="0"/>
        </a:p>
        <a:p xmlns:a="http://schemas.openxmlformats.org/drawingml/2006/main">
          <a:r>
            <a:rPr lang="en-IN" sz="2800" dirty="0"/>
            <a:t>12y &gt;= x + 2</a:t>
          </a:r>
        </a:p>
      </cdr:txBody>
    </cdr:sp>
  </cdr:relSizeAnchor>
  <cdr:relSizeAnchor xmlns:cdr="http://schemas.openxmlformats.org/drawingml/2006/chartDrawing">
    <cdr:from>
      <cdr:x>0.76918</cdr:x>
      <cdr:y>0.45254</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1969135"/>
          <a:ext cx="2427224" cy="190296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2y &lt;= 17 – 4x</a:t>
          </a:r>
        </a:p>
      </cdr:txBody>
    </cdr:sp>
  </cdr:relSizeAnchor>
</c:userShapes>
</file>

<file path=ppt/drawings/drawing4.xml><?xml version="1.0" encoding="utf-8"?>
<c:userShapes xmlns:c="http://schemas.openxmlformats.org/drawingml/2006/chart">
  <cdr:relSizeAnchor xmlns:cdr="http://schemas.openxmlformats.org/drawingml/2006/chartDrawing">
    <cdr:from>
      <cdr:x>0.28377</cdr:x>
      <cdr:y>0.19196</cdr:y>
    </cdr:from>
    <cdr:to>
      <cdr:x>0.5</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2273808"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IN" sz="2800" dirty="0"/>
            <a:t>8y &lt;= 3x + 9</a:t>
          </a:r>
        </a:p>
      </cdr:txBody>
    </cdr:sp>
  </cdr:relSizeAnchor>
  <cdr:relSizeAnchor xmlns:cdr="http://schemas.openxmlformats.org/drawingml/2006/chartDrawing">
    <cdr:from>
      <cdr:x>0.47729</cdr:x>
      <cdr:y>0.44203</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1923415"/>
          <a:ext cx="2427224" cy="242792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12y &gt;= x + 17</a:t>
          </a:r>
        </a:p>
      </cdr:txBody>
    </cdr:sp>
  </cdr:relSizeAnchor>
  <cdr:relSizeAnchor xmlns:cdr="http://schemas.openxmlformats.org/drawingml/2006/chartDrawing">
    <cdr:from>
      <cdr:x>0.76918</cdr:x>
      <cdr:y>0.19196</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835279"/>
          <a:ext cx="2427224" cy="30368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4y &lt;= 15 – 2x</a:t>
          </a:r>
        </a:p>
      </cdr:txBody>
    </cdr:sp>
  </cdr:relSizeAnchor>
</c:userShapes>
</file>

<file path=ppt/drawings/drawing5.xml><?xml version="1.0" encoding="utf-8"?>
<c:userShapes xmlns:c="http://schemas.openxmlformats.org/drawingml/2006/chart">
  <cdr:relSizeAnchor xmlns:cdr="http://schemas.openxmlformats.org/drawingml/2006/chartDrawing">
    <cdr:from>
      <cdr:x>0.28377</cdr:x>
      <cdr:y>0.19196</cdr:y>
    </cdr:from>
    <cdr:to>
      <cdr:x>0.46348</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1889760"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IN" sz="2800" dirty="0"/>
        </a:p>
        <a:p xmlns:a="http://schemas.openxmlformats.org/drawingml/2006/main">
          <a:endParaRPr lang="en-IN" sz="2800" dirty="0"/>
        </a:p>
        <a:p xmlns:a="http://schemas.openxmlformats.org/drawingml/2006/main">
          <a:endParaRPr lang="en-IN" sz="2800" dirty="0"/>
        </a:p>
        <a:p xmlns:a="http://schemas.openxmlformats.org/drawingml/2006/main">
          <a:r>
            <a:rPr lang="en-IN" sz="2800" dirty="0"/>
            <a:t>8y &lt;= 9x - 7</a:t>
          </a:r>
        </a:p>
      </cdr:txBody>
    </cdr:sp>
  </cdr:relSizeAnchor>
  <cdr:relSizeAnchor xmlns:cdr="http://schemas.openxmlformats.org/drawingml/2006/chartDrawing">
    <cdr:from>
      <cdr:x>0.47729</cdr:x>
      <cdr:y>0.71638</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3117214"/>
          <a:ext cx="2427224" cy="12341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endParaRPr lang="en-IN" sz="2800" dirty="0"/>
        </a:p>
        <a:p xmlns:a="http://schemas.openxmlformats.org/drawingml/2006/main">
          <a:r>
            <a:rPr lang="en-IN" sz="2800" dirty="0"/>
            <a:t>12y &gt;= x + 2</a:t>
          </a:r>
        </a:p>
      </cdr:txBody>
    </cdr:sp>
  </cdr:relSizeAnchor>
  <cdr:relSizeAnchor xmlns:cdr="http://schemas.openxmlformats.org/drawingml/2006/chartDrawing">
    <cdr:from>
      <cdr:x>0.76918</cdr:x>
      <cdr:y>0.45254</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1969135"/>
          <a:ext cx="2427224" cy="1902968"/>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2y &lt;= 17 – 4x</a:t>
          </a:r>
        </a:p>
      </cdr:txBody>
    </cdr:sp>
  </cdr:relSizeAnchor>
</c:userShapes>
</file>

<file path=ppt/drawings/drawing6.xml><?xml version="1.0" encoding="utf-8"?>
<c:userShapes xmlns:c="http://schemas.openxmlformats.org/drawingml/2006/chart">
  <cdr:relSizeAnchor xmlns:cdr="http://schemas.openxmlformats.org/drawingml/2006/chartDrawing">
    <cdr:from>
      <cdr:x>0.28377</cdr:x>
      <cdr:y>0.19196</cdr:y>
    </cdr:from>
    <cdr:to>
      <cdr:x>0.5</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2273808"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IN" sz="2800" dirty="0"/>
            <a:t>8y &lt;= 3x + 9</a:t>
          </a:r>
        </a:p>
      </cdr:txBody>
    </cdr:sp>
  </cdr:relSizeAnchor>
  <cdr:relSizeAnchor xmlns:cdr="http://schemas.openxmlformats.org/drawingml/2006/chartDrawing">
    <cdr:from>
      <cdr:x>0.47729</cdr:x>
      <cdr:y>0.44203</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1923415"/>
          <a:ext cx="2427224" cy="242792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12y &gt;= x + 17</a:t>
          </a:r>
        </a:p>
      </cdr:txBody>
    </cdr:sp>
  </cdr:relSizeAnchor>
  <cdr:relSizeAnchor xmlns:cdr="http://schemas.openxmlformats.org/drawingml/2006/chartDrawing">
    <cdr:from>
      <cdr:x>0.76918</cdr:x>
      <cdr:y>0.19196</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835279"/>
          <a:ext cx="2427224" cy="30368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4y &lt;= 15 – 2x</a:t>
          </a:r>
        </a:p>
      </cdr:txBody>
    </cdr:sp>
  </cdr:relSizeAnchor>
</c:userShapes>
</file>

<file path=ppt/drawings/drawing7.xml><?xml version="1.0" encoding="utf-8"?>
<c:userShapes xmlns:c="http://schemas.openxmlformats.org/drawingml/2006/chart">
  <cdr:relSizeAnchor xmlns:cdr="http://schemas.openxmlformats.org/drawingml/2006/chartDrawing">
    <cdr:from>
      <cdr:x>0.28377</cdr:x>
      <cdr:y>0.19196</cdr:y>
    </cdr:from>
    <cdr:to>
      <cdr:x>0.5</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2273808"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IN" sz="2800" dirty="0"/>
            <a:t>8y &lt;= 3x + 9</a:t>
          </a:r>
        </a:p>
      </cdr:txBody>
    </cdr:sp>
  </cdr:relSizeAnchor>
  <cdr:relSizeAnchor xmlns:cdr="http://schemas.openxmlformats.org/drawingml/2006/chartDrawing">
    <cdr:from>
      <cdr:x>0.47729</cdr:x>
      <cdr:y>0.44203</cdr:y>
    </cdr:from>
    <cdr:to>
      <cdr:x>0.70812</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9040" y="1923415"/>
          <a:ext cx="2427224" cy="242792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12y &gt;= x + 17</a:t>
          </a:r>
        </a:p>
      </cdr:txBody>
    </cdr:sp>
  </cdr:relSizeAnchor>
  <cdr:relSizeAnchor xmlns:cdr="http://schemas.openxmlformats.org/drawingml/2006/chartDrawing">
    <cdr:from>
      <cdr:x>0.76918</cdr:x>
      <cdr:y>0.19196</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76" y="835279"/>
          <a:ext cx="2427224" cy="3036824"/>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4y &lt;= 15 – 2x</a:t>
          </a:r>
        </a:p>
      </cdr:txBody>
    </cdr:sp>
  </cdr:relSizeAnchor>
</c:userShapes>
</file>

<file path=ppt/drawings/drawing8.xml><?xml version="1.0" encoding="utf-8"?>
<c:userShapes xmlns:c="http://schemas.openxmlformats.org/drawingml/2006/chart">
  <cdr:relSizeAnchor xmlns:cdr="http://schemas.openxmlformats.org/drawingml/2006/chartDrawing">
    <cdr:from>
      <cdr:x>0.28377</cdr:x>
      <cdr:y>0.19196</cdr:y>
    </cdr:from>
    <cdr:to>
      <cdr:x>0.5</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2273808"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IN" sz="2800" dirty="0"/>
            <a:t>8y &lt;= 3x + 9</a:t>
          </a:r>
        </a:p>
      </cdr:txBody>
    </cdr:sp>
  </cdr:relSizeAnchor>
  <cdr:relSizeAnchor xmlns:cdr="http://schemas.openxmlformats.org/drawingml/2006/chartDrawing">
    <cdr:from>
      <cdr:x>0.47729</cdr:x>
      <cdr:y>0.36848</cdr:y>
    </cdr:from>
    <cdr:to>
      <cdr:x>0.70497</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8991" y="1603375"/>
          <a:ext cx="2394180" cy="274796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12y &gt;= 2x + 17</a:t>
          </a:r>
        </a:p>
      </cdr:txBody>
    </cdr:sp>
  </cdr:relSizeAnchor>
  <cdr:relSizeAnchor xmlns:cdr="http://schemas.openxmlformats.org/drawingml/2006/chartDrawing">
    <cdr:from>
      <cdr:x>0.76918</cdr:x>
      <cdr:y>0.13082</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89" y="569233"/>
          <a:ext cx="2427211" cy="330285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4y &lt;= 15 – 2x</a:t>
          </a:r>
        </a:p>
      </cdr:txBody>
    </cdr:sp>
  </cdr:relSizeAnchor>
</c:userShapes>
</file>

<file path=ppt/drawings/drawing9.xml><?xml version="1.0" encoding="utf-8"?>
<c:userShapes xmlns:c="http://schemas.openxmlformats.org/drawingml/2006/chart">
  <cdr:relSizeAnchor xmlns:cdr="http://schemas.openxmlformats.org/drawingml/2006/chartDrawing">
    <cdr:from>
      <cdr:x>0.28377</cdr:x>
      <cdr:y>0.19196</cdr:y>
    </cdr:from>
    <cdr:to>
      <cdr:x>0.5</cdr:x>
      <cdr:y>0.70891</cdr:y>
    </cdr:to>
    <cdr:sp macro="" textlink="">
      <cdr:nvSpPr>
        <cdr:cNvPr id="2" name="TextBox 1">
          <a:extLst xmlns:a="http://schemas.openxmlformats.org/drawingml/2006/main">
            <a:ext uri="{FF2B5EF4-FFF2-40B4-BE49-F238E27FC236}">
              <a16:creationId xmlns:a16="http://schemas.microsoft.com/office/drawing/2014/main" id="{50B9B747-9573-7313-CF57-37548E8C99DF}"/>
            </a:ext>
          </a:extLst>
        </cdr:cNvPr>
        <cdr:cNvSpPr txBox="1"/>
      </cdr:nvSpPr>
      <cdr:spPr>
        <a:xfrm xmlns:a="http://schemas.openxmlformats.org/drawingml/2006/main">
          <a:off x="2983992" y="835279"/>
          <a:ext cx="2273808" cy="22494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IN" sz="2800" dirty="0"/>
            <a:t>8y &lt;= 3x + 9</a:t>
          </a:r>
        </a:p>
      </cdr:txBody>
    </cdr:sp>
  </cdr:relSizeAnchor>
  <cdr:relSizeAnchor xmlns:cdr="http://schemas.openxmlformats.org/drawingml/2006/chartDrawing">
    <cdr:from>
      <cdr:x>0.47729</cdr:x>
      <cdr:y>0.36848</cdr:y>
    </cdr:from>
    <cdr:to>
      <cdr:x>0.70497</cdr:x>
      <cdr:y>1</cdr:y>
    </cdr:to>
    <cdr:sp macro="" textlink="">
      <cdr:nvSpPr>
        <cdr:cNvPr id="5" name="TextBox 1">
          <a:extLst xmlns:a="http://schemas.openxmlformats.org/drawingml/2006/main">
            <a:ext uri="{FF2B5EF4-FFF2-40B4-BE49-F238E27FC236}">
              <a16:creationId xmlns:a16="http://schemas.microsoft.com/office/drawing/2014/main" id="{AA92D6B9-A23C-4CF9-191D-E4A47B370CCA}"/>
            </a:ext>
          </a:extLst>
        </cdr:cNvPr>
        <cdr:cNvSpPr txBox="1"/>
      </cdr:nvSpPr>
      <cdr:spPr>
        <a:xfrm xmlns:a="http://schemas.openxmlformats.org/drawingml/2006/main">
          <a:off x="5018991" y="1603375"/>
          <a:ext cx="2394180" cy="2747963"/>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12y &gt;= 2x + 17</a:t>
          </a:r>
        </a:p>
      </cdr:txBody>
    </cdr:sp>
  </cdr:relSizeAnchor>
  <cdr:relSizeAnchor xmlns:cdr="http://schemas.openxmlformats.org/drawingml/2006/chartDrawing">
    <cdr:from>
      <cdr:x>0.76918</cdr:x>
      <cdr:y>0.13082</cdr:y>
    </cdr:from>
    <cdr:to>
      <cdr:x>1</cdr:x>
      <cdr:y>0.88986</cdr:y>
    </cdr:to>
    <cdr:sp macro="" textlink="">
      <cdr:nvSpPr>
        <cdr:cNvPr id="6" name="TextBox 1">
          <a:extLst xmlns:a="http://schemas.openxmlformats.org/drawingml/2006/main">
            <a:ext uri="{FF2B5EF4-FFF2-40B4-BE49-F238E27FC236}">
              <a16:creationId xmlns:a16="http://schemas.microsoft.com/office/drawing/2014/main" id="{EECE32C0-9E76-CB01-30E6-4095FD22D73D}"/>
            </a:ext>
          </a:extLst>
        </cdr:cNvPr>
        <cdr:cNvSpPr txBox="1"/>
      </cdr:nvSpPr>
      <cdr:spPr>
        <a:xfrm xmlns:a="http://schemas.openxmlformats.org/drawingml/2006/main">
          <a:off x="8088389" y="569233"/>
          <a:ext cx="2427211" cy="330285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IN" sz="2800" dirty="0"/>
            <a:t>4y &lt;= 15 – 2x</a:t>
          </a:r>
        </a:p>
      </cdr:txBody>
    </cdr:sp>
  </cdr:relSizeAnchor>
</c:userShape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10:08:10.207"/>
    </inkml:context>
    <inkml:brush xml:id="br0">
      <inkml:brushProperty name="width" value="0.1" units="cm"/>
      <inkml:brushProperty name="height" value="0.1" units="cm"/>
      <inkml:brushProperty name="color" value="#E71224"/>
    </inkml:brush>
  </inkml:definitions>
  <inkml:trace contextRef="#ctx0" brushRef="#br0">1 0 24575,'0'8'0,"0"0"0,1-1 0,0 1 0,0 0 0,1 0 0,0-1 0,1 1 0,-1-1 0,1 0 0,1 0 0,-1 0 0,1 0 0,0-1 0,1 1 0,0-1 0,0 0 0,0 0 0,10 8 0,26 29 0,36 50 0,1 2 0,-67-84 0,1 1 0,1-2 0,0 0 0,0 0 0,1-1 0,0-1 0,28 13 0,-10-4 0,-1 2 0,-2 1 0,0 2 0,49 46 0,28 22 0,88 51 0,-157-115 0,0 1 0,44 44 0,-64-54 0,-1 0 0,-1 1 0,-1 1 0,-1 0 0,0 1 0,13 31 0,-14-29 0,20 32 0,-19-35 0,-1 1 0,11 26 0,-13-23 0,1 0 0,1-1 0,27 35 0,55 53 0,-48-50 0,-39-50 0,0 1 0,1-1 0,-1-1 0,2 1 0,0-1 0,0-1 0,0 0 0,1 0 0,0-1 0,15 8 0,1-2 0,0 0 0,46 33 0,-43-26 0,42 21 0,7 5 0,139 104 0,-201-140 0,1 1 0,-1 1 0,-1 1 0,0 0 0,-1 1 0,-1 0 0,0 1 0,17 25 0,-8-1 0,-2 2 0,19 55 0,-26-59 0,2-1 0,2-1 0,32 53 0,-33-67 0,-1 1 0,-2 1 0,0 0 0,16 44 0,-25-56 0,0 0 0,1 1 0,0-1 0,0-1 0,1 1 0,1-1 0,-1 0 0,2-1 0,12 14 0,12 10 0,47 64 0,-67-83 13,1 0-1,0-1 1,1-1-1,1 0 1,0-1-1,22 13 0,12 10-1464,-24-15-5374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10:08:13.074"/>
    </inkml:context>
    <inkml:brush xml:id="br0">
      <inkml:brushProperty name="width" value="0.1" units="cm"/>
      <inkml:brushProperty name="height" value="0.1" units="cm"/>
      <inkml:brushProperty name="color" value="#E71224"/>
    </inkml:brush>
  </inkml:definitions>
  <inkml:trace contextRef="#ctx0" brushRef="#br0">0 95 24575,'29'-2'0,"0"-1"0,42-10 0,-42 7 0,32-7 0,-29 5 0,56-5 0,118-9 0,-123 13 0,0 4 0,106 6 0,-64 1 0,1848-2-1365,-1939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9CD5D6-C95F-4685-A441-7AA2FADA3643}" type="datetimeFigureOut">
              <a:rPr lang="en-IN" smtClean="0"/>
              <a:t>15-10-2024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5A1DF-3A0B-449C-9B15-B63154BD93CA}" type="slidenum">
              <a:rPr lang="en-IN" smtClean="0"/>
              <a:t>‹#›</a:t>
            </a:fld>
            <a:endParaRPr lang="en-IN"/>
          </a:p>
        </p:txBody>
      </p:sp>
    </p:spTree>
    <p:extLst>
      <p:ext uri="{BB962C8B-B14F-4D97-AF65-F5344CB8AC3E}">
        <p14:creationId xmlns:p14="http://schemas.microsoft.com/office/powerpoint/2010/main" val="3380159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52ED-8DCB-9B8E-9EB8-CCA90F445B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8E61A4-3C55-FB45-693E-74B382B9E0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4266CF-BFFB-0550-C9E1-953C1F268BF2}"/>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375D9EFE-5CB5-0293-1E28-FD105358B5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4EC31D-B73C-46A9-732A-8921911F80DB}"/>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423293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A11E-BA6D-0D3C-3ABD-92693489A3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7D950C-2EEA-42BB-C86F-003F7A3973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000FB6-C4A7-4559-0B94-58582A101E45}"/>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EEE1A71A-980C-F086-64BF-4A2FD85A9C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B83A09-D3FD-00B5-C332-C7331C026BC7}"/>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3072571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5EB8-3102-00FE-6993-762DC30420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11CE0-204E-E3FF-8626-40EA3F50AD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AEDF76-FD1E-07B8-2F34-49EAE709C823}"/>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B2CE6666-A5B2-D148-27CD-1EFE7AEE20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2474E0-5701-3BB2-57A9-4C9DBBACD819}"/>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749319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45104-5DC8-280C-28ED-80C587DB82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495131-6240-7E7F-2AF3-E7BD16C059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DEED0E-0362-E115-6E06-614793D7F3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477EF5-5800-6907-8A50-FECB0A30470A}"/>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6" name="Footer Placeholder 5">
            <a:extLst>
              <a:ext uri="{FF2B5EF4-FFF2-40B4-BE49-F238E27FC236}">
                <a16:creationId xmlns:a16="http://schemas.microsoft.com/office/drawing/2014/main" id="{9DC2BED4-CA9B-9B3A-4D94-B5F48143AB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2E5197-B377-B3F7-9DBE-31E971B0D158}"/>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411755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985A8-B8FF-103A-D0FF-CF027A82C6B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69E227-CC46-5FF3-C36D-06CF897722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13FE86-995E-899E-5590-66DBC907C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D2DC347-F980-1B7E-A2E8-DDA5E4370D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CFB2F7-198D-8381-B289-3017B8FFDB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CBF816-1A73-345E-30EE-DC85A32F8135}"/>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8" name="Footer Placeholder 7">
            <a:extLst>
              <a:ext uri="{FF2B5EF4-FFF2-40B4-BE49-F238E27FC236}">
                <a16:creationId xmlns:a16="http://schemas.microsoft.com/office/drawing/2014/main" id="{5B10D210-AA3B-E3FD-DA4B-5590203EA2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490248-847A-58FD-210A-A2985C51181B}"/>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2701267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C71C0-09B5-D128-C5B7-D57AAFCBD0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32341F9-F222-F3A4-5459-DF6FD415FD79}"/>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4" name="Footer Placeholder 3">
            <a:extLst>
              <a:ext uri="{FF2B5EF4-FFF2-40B4-BE49-F238E27FC236}">
                <a16:creationId xmlns:a16="http://schemas.microsoft.com/office/drawing/2014/main" id="{AE8E7A37-14A9-A75A-AA01-B46334DFE4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E24222-DEA4-9EA0-D13B-D3FA608DBBCF}"/>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646788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9A88F4-E8A7-681D-67FA-3C07AB09FB9E}"/>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3" name="Footer Placeholder 2">
            <a:extLst>
              <a:ext uri="{FF2B5EF4-FFF2-40B4-BE49-F238E27FC236}">
                <a16:creationId xmlns:a16="http://schemas.microsoft.com/office/drawing/2014/main" id="{DB9DF46F-4ACF-52F7-3F58-A9BD9AEB169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1F1404-1458-D942-57AD-8A1A322AB0A9}"/>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3144023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81364-7C2A-F57A-01A5-A389705A88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EEBE61-D070-BB97-3E81-3D3D3FE7B8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FDE945-DDC8-6C89-315F-04521D26D3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B3909A-8840-93A5-B42C-94B8B79C196C}"/>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6" name="Footer Placeholder 5">
            <a:extLst>
              <a:ext uri="{FF2B5EF4-FFF2-40B4-BE49-F238E27FC236}">
                <a16:creationId xmlns:a16="http://schemas.microsoft.com/office/drawing/2014/main" id="{82EA2988-A922-4C27-D94A-6C546C647E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13EBC9-2219-5CD1-1357-987C5A622DE8}"/>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2506706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9B142-6BE4-0FDE-A312-60583A2AD2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9C4A39-7B82-B871-543D-1034BA603D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CFE559-33F6-5BDB-3C43-21DD4E445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93139E-50C3-6755-47D1-60B31C8C7903}"/>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6" name="Footer Placeholder 5">
            <a:extLst>
              <a:ext uri="{FF2B5EF4-FFF2-40B4-BE49-F238E27FC236}">
                <a16:creationId xmlns:a16="http://schemas.microsoft.com/office/drawing/2014/main" id="{2AB286BB-1F0A-FFA0-054E-C54F1AEACA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555324-E0A4-D839-0AB5-25353DB08625}"/>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53208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E52E-BC98-2A78-660A-6B70887780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F53ED6-6C8D-0200-F659-22A72FD1F7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466D5-BED2-43A1-1EEE-AEE348C88CF6}"/>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3BB61DCA-2DB4-FC7B-13E3-E9F38E614C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A3463B-C890-E933-A69D-C3B6C908011F}"/>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1766885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45B063-583E-D02F-8C36-22CCFA8CF0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C256E1-A1A1-EA8C-DCEA-56105E0FB7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654D90-7C41-B7CD-C290-94AA19A63B90}"/>
              </a:ext>
            </a:extLst>
          </p:cNvPr>
          <p:cNvSpPr>
            <a:spLocks noGrp="1"/>
          </p:cNvSpPr>
          <p:nvPr>
            <p:ph type="dt" sz="half" idx="10"/>
          </p:nvPr>
        </p:nvSpPr>
        <p:spPr/>
        <p:txBody>
          <a:body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DAC8D8DA-0ACB-932B-70FA-F10803F590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3302F8-A926-58D8-58FB-79A174119E33}"/>
              </a:ext>
            </a:extLst>
          </p:cNvPr>
          <p:cNvSpPr>
            <a:spLocks noGrp="1"/>
          </p:cNvSpPr>
          <p:nvPr>
            <p:ph type="sldNum" sz="quarter" idx="12"/>
          </p:nvPr>
        </p:nvSpPr>
        <p:spPr/>
        <p:txBody>
          <a:bodyPr/>
          <a:lstStyle/>
          <a:p>
            <a:fld id="{490CEB20-7C06-49A5-AC2E-2B051F179D26}" type="slidenum">
              <a:rPr lang="en-IN" smtClean="0"/>
              <a:t>‹#›</a:t>
            </a:fld>
            <a:endParaRPr lang="en-IN"/>
          </a:p>
        </p:txBody>
      </p:sp>
    </p:spTree>
    <p:extLst>
      <p:ext uri="{BB962C8B-B14F-4D97-AF65-F5344CB8AC3E}">
        <p14:creationId xmlns:p14="http://schemas.microsoft.com/office/powerpoint/2010/main" val="556779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AF2790-EB6F-8E67-E303-3D84BC52F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6C69A7-7831-B7C4-B793-B6EC58CE2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18DB7-871D-BD78-E09D-EF420CF8C3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5E4D70-61F4-4EB1-8B28-8396E66CE155}" type="datetimeFigureOut">
              <a:rPr lang="en-IN" smtClean="0"/>
              <a:t>15-10-2024</a:t>
            </a:fld>
            <a:endParaRPr lang="en-IN"/>
          </a:p>
        </p:txBody>
      </p:sp>
      <p:sp>
        <p:nvSpPr>
          <p:cNvPr id="5" name="Footer Placeholder 4">
            <a:extLst>
              <a:ext uri="{FF2B5EF4-FFF2-40B4-BE49-F238E27FC236}">
                <a16:creationId xmlns:a16="http://schemas.microsoft.com/office/drawing/2014/main" id="{E012F5FB-B33A-AF7B-00D5-7867ACB880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9FC4AA1-EC0C-4E12-5906-A4C2BF297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0CEB20-7C06-49A5-AC2E-2B051F179D26}" type="slidenum">
              <a:rPr lang="en-IN" smtClean="0"/>
              <a:t>‹#›</a:t>
            </a:fld>
            <a:endParaRPr lang="en-IN"/>
          </a:p>
        </p:txBody>
      </p:sp>
    </p:spTree>
    <p:extLst>
      <p:ext uri="{BB962C8B-B14F-4D97-AF65-F5344CB8AC3E}">
        <p14:creationId xmlns:p14="http://schemas.microsoft.com/office/powerpoint/2010/main" val="3779580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image" Target="../media/image520.png"/><Relationship Id="rId5" Type="http://schemas.openxmlformats.org/officeDocument/2006/relationships/customXml" Target="../ink/ink2.xml"/><Relationship Id="rId4" Type="http://schemas.openxmlformats.org/officeDocument/2006/relationships/image" Target="../media/image511.png"/></Relationships>
</file>

<file path=ppt/slides/_rels/slide3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500.png"/><Relationship Id="rId4" Type="http://schemas.openxmlformats.org/officeDocument/2006/relationships/image" Target="../media/image490.png"/></Relationships>
</file>

<file path=ppt/slides/_rels/slide38.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500.png"/><Relationship Id="rId4" Type="http://schemas.openxmlformats.org/officeDocument/2006/relationships/image" Target="../media/image67.png"/></Relationships>
</file>

<file path=ppt/slides/_rels/slide39.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500.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500.png"/><Relationship Id="rId4" Type="http://schemas.openxmlformats.org/officeDocument/2006/relationships/image" Target="../media/image490.png"/></Relationships>
</file>

<file path=ppt/slides/_rels/slide43.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5" Type="http://schemas.openxmlformats.org/officeDocument/2006/relationships/image" Target="../media/image500.png"/><Relationship Id="rId4" Type="http://schemas.openxmlformats.org/officeDocument/2006/relationships/image" Target="../media/image490.png"/></Relationships>
</file>

<file path=ppt/slides/_rels/slide44.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00.png"/><Relationship Id="rId4" Type="http://schemas.openxmlformats.org/officeDocument/2006/relationships/image" Target="../media/image490.png"/></Relationships>
</file>

<file path=ppt/slides/_rels/slide4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999ED-6968-6990-2E49-8421409C436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3A18A03-7EC3-730B-D934-4292599735E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448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165B-3508-7AE3-F7F7-5CA20D1B48A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11DBA975-A3BA-3C64-C03B-480467CC4458}"/>
              </a:ext>
            </a:extLst>
          </p:cNvPr>
          <p:cNvSpPr>
            <a:spLocks noGrp="1"/>
          </p:cNvSpPr>
          <p:nvPr>
            <p:ph idx="1"/>
          </p:nvPr>
        </p:nvSpPr>
        <p:spPr/>
        <p:txBody>
          <a:bodyPr/>
          <a:lstStyle/>
          <a:p>
            <a:r>
              <a:rPr lang="en-IN" dirty="0"/>
              <a:t>Chapter-5 from the DP book</a:t>
            </a:r>
          </a:p>
        </p:txBody>
      </p:sp>
    </p:spTree>
    <p:extLst>
      <p:ext uri="{BB962C8B-B14F-4D97-AF65-F5344CB8AC3E}">
        <p14:creationId xmlns:p14="http://schemas.microsoft.com/office/powerpoint/2010/main" val="4255633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91FC-185D-582C-051C-8A5F05E9A87E}"/>
              </a:ext>
            </a:extLst>
          </p:cNvPr>
          <p:cNvSpPr>
            <a:spLocks noGrp="1"/>
          </p:cNvSpPr>
          <p:nvPr>
            <p:ph type="title"/>
          </p:nvPr>
        </p:nvSpPr>
        <p:spPr/>
        <p:txBody>
          <a:bodyPr/>
          <a:lstStyle/>
          <a:p>
            <a:r>
              <a:rPr lang="en-IN" dirty="0"/>
              <a:t>The Omega Test</a:t>
            </a:r>
          </a:p>
        </p:txBody>
      </p:sp>
      <p:sp>
        <p:nvSpPr>
          <p:cNvPr id="3" name="Text Placeholder 2">
            <a:extLst>
              <a:ext uri="{FF2B5EF4-FFF2-40B4-BE49-F238E27FC236}">
                <a16:creationId xmlns:a16="http://schemas.microsoft.com/office/drawing/2014/main" id="{84DBA03B-5002-F754-50F1-C2E346A27BE5}"/>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537125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DBD51-994A-7B9B-0DED-008F1821F9CE}"/>
              </a:ext>
            </a:extLst>
          </p:cNvPr>
          <p:cNvSpPr>
            <a:spLocks noGrp="1"/>
          </p:cNvSpPr>
          <p:nvPr>
            <p:ph type="title"/>
          </p:nvPr>
        </p:nvSpPr>
        <p:spPr/>
        <p:txBody>
          <a:bodyPr/>
          <a:lstStyle/>
          <a:p>
            <a:r>
              <a:rPr lang="en-IN" dirty="0"/>
              <a:t>The Omega Test</a:t>
            </a:r>
          </a:p>
        </p:txBody>
      </p:sp>
      <p:sp>
        <p:nvSpPr>
          <p:cNvPr id="3" name="Content Placeholder 2">
            <a:extLst>
              <a:ext uri="{FF2B5EF4-FFF2-40B4-BE49-F238E27FC236}">
                <a16:creationId xmlns:a16="http://schemas.microsoft.com/office/drawing/2014/main" id="{7484F7EB-8B99-D940-D1CF-34242C1EBBED}"/>
              </a:ext>
            </a:extLst>
          </p:cNvPr>
          <p:cNvSpPr>
            <a:spLocks noGrp="1"/>
          </p:cNvSpPr>
          <p:nvPr>
            <p:ph idx="1"/>
          </p:nvPr>
        </p:nvSpPr>
        <p:spPr/>
        <p:txBody>
          <a:bodyPr/>
          <a:lstStyle/>
          <a:p>
            <a:r>
              <a:rPr lang="en-IN" dirty="0"/>
              <a:t>The Omega test is used to check the satisfiability of conjunction of linear constraints over integer variables</a:t>
            </a:r>
          </a:p>
        </p:txBody>
      </p:sp>
    </p:spTree>
    <p:extLst>
      <p:ext uri="{BB962C8B-B14F-4D97-AF65-F5344CB8AC3E}">
        <p14:creationId xmlns:p14="http://schemas.microsoft.com/office/powerpoint/2010/main" val="3667289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A06E6-E770-9343-9EFF-5D8D709942DF}"/>
              </a:ext>
            </a:extLst>
          </p:cNvPr>
          <p:cNvSpPr>
            <a:spLocks noGrp="1"/>
          </p:cNvSpPr>
          <p:nvPr>
            <p:ph type="title"/>
          </p:nvPr>
        </p:nvSpPr>
        <p:spPr/>
        <p:txBody>
          <a:bodyPr/>
          <a:lstStyle/>
          <a:p>
            <a:r>
              <a:rPr lang="en-IN" dirty="0"/>
              <a:t>The 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DE49AF-3D39-88B7-E9D8-4A381C1C8CF5}"/>
                  </a:ext>
                </a:extLst>
              </p:cNvPr>
              <p:cNvSpPr>
                <a:spLocks noGrp="1"/>
              </p:cNvSpPr>
              <p:nvPr>
                <p:ph idx="1"/>
              </p:nvPr>
            </p:nvSpPr>
            <p:spPr/>
            <p:txBody>
              <a:bodyPr>
                <a:normAutofit fontScale="92500"/>
              </a:bodyPr>
              <a:lstStyle/>
              <a:p>
                <a:r>
                  <a:rPr lang="en-IN" dirty="0"/>
                  <a:t>The constraints are in the form</a:t>
                </a:r>
              </a:p>
              <a:p>
                <a:pPr marL="0" indent="0">
                  <a:buNone/>
                </a:pPr>
                <a14:m>
                  <m:oMathPara xmlns:m="http://schemas.openxmlformats.org/officeDocument/2006/math">
                    <m:oMathParaPr>
                      <m:jc m:val="centerGroup"/>
                    </m:oMathParaPr>
                    <m:oMath xmlns:m="http://schemas.openxmlformats.org/officeDocument/2006/math">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𝑛</m:t>
                          </m:r>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e>
                      </m:nary>
                      <m:r>
                        <a:rPr lang="en-IN" b="0" i="1" smtClean="0">
                          <a:latin typeface="Cambria Math" panose="02040503050406030204" pitchFamily="18" charset="0"/>
                        </a:rPr>
                        <m:t> =</m:t>
                      </m:r>
                      <m:r>
                        <a:rPr lang="en-IN" b="0" i="1" smtClean="0">
                          <a:latin typeface="Cambria Math" panose="02040503050406030204" pitchFamily="18" charset="0"/>
                        </a:rPr>
                        <m:t>𝑏</m:t>
                      </m:r>
                    </m:oMath>
                  </m:oMathPara>
                </a14:m>
                <a:endParaRPr lang="en-IN" b="0" dirty="0"/>
              </a:p>
              <a:p>
                <a:pPr marL="0" indent="0">
                  <a:buNone/>
                </a:pPr>
                <a:endParaRPr lang="en-IN" dirty="0"/>
              </a:p>
              <a:p>
                <a:pPr marL="0" indent="0">
                  <a:buNone/>
                </a:pPr>
                <a:r>
                  <a:rPr lang="en-IN" dirty="0"/>
                  <a:t>and</a:t>
                </a:r>
              </a:p>
              <a:p>
                <a:pPr marL="0" indent="0">
                  <a:buNone/>
                </a:pPr>
                <a14:m>
                  <m:oMathPara xmlns:m="http://schemas.openxmlformats.org/officeDocument/2006/math">
                    <m:oMathParaPr>
                      <m:jc m:val="centerGroup"/>
                    </m:oMathParaPr>
                    <m:oMath xmlns:m="http://schemas.openxmlformats.org/officeDocument/2006/math">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𝑛</m:t>
                          </m:r>
                        </m:sub>
                        <m:sup>
                          <m:r>
                            <a:rPr lang="en-IN" b="0" i="1" smtClean="0">
                              <a:latin typeface="Cambria Math" panose="02040503050406030204" pitchFamily="18" charset="0"/>
                            </a:rPr>
                            <m:t>𝑛</m:t>
                          </m:r>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e>
                      </m:nary>
                      <m:r>
                        <a:rPr lang="en-IN" b="0" i="1" smtClean="0">
                          <a:latin typeface="Cambria Math" panose="02040503050406030204" pitchFamily="18" charset="0"/>
                        </a:rPr>
                        <m:t>≤</m:t>
                      </m:r>
                      <m:r>
                        <a:rPr lang="en-IN" b="0" i="1" smtClean="0">
                          <a:latin typeface="Cambria Math" panose="02040503050406030204" pitchFamily="18" charset="0"/>
                        </a:rPr>
                        <m:t>𝑏</m:t>
                      </m:r>
                    </m:oMath>
                  </m:oMathPara>
                </a14:m>
                <a:endParaRPr lang="en-IN" dirty="0"/>
              </a:p>
              <a:p>
                <a:pPr marL="0" indent="0">
                  <a:buNone/>
                </a:pPr>
                <a:endParaRPr lang="en-IN" dirty="0"/>
              </a:p>
              <a:p>
                <a:pPr marL="0" indent="0">
                  <a:buNone/>
                </a:pPr>
                <a:r>
                  <a:rPr lang="en-IN" dirty="0"/>
                  <a:t>where,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r>
                      <a:rPr lang="en-IN" b="0" i="0"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 </m:t>
                    </m:r>
                    <m:r>
                      <a:rPr lang="en-IN" b="0" i="1" smtClean="0">
                        <a:latin typeface="Cambria Math" panose="02040503050406030204" pitchFamily="18" charset="0"/>
                      </a:rPr>
                      <m:t>𝑎𝑛𝑑</m:t>
                    </m:r>
                    <m:r>
                      <a:rPr lang="en-IN" b="0" i="1" smtClean="0">
                        <a:latin typeface="Cambria Math" panose="02040503050406030204" pitchFamily="18" charset="0"/>
                      </a:rPr>
                      <m:t> </m:t>
                    </m:r>
                    <m:r>
                      <a:rPr lang="en-IN" b="0" i="1" smtClean="0">
                        <a:latin typeface="Cambria Math" panose="02040503050406030204" pitchFamily="18" charset="0"/>
                      </a:rPr>
                      <m:t>𝑏</m:t>
                    </m:r>
                  </m:oMath>
                </a14:m>
                <a:r>
                  <a:rPr lang="en-IN" dirty="0"/>
                  <a:t> are integers.</a:t>
                </a:r>
              </a:p>
            </p:txBody>
          </p:sp>
        </mc:Choice>
        <mc:Fallback xmlns="">
          <p:sp>
            <p:nvSpPr>
              <p:cNvPr id="3" name="Content Placeholder 2">
                <a:extLst>
                  <a:ext uri="{FF2B5EF4-FFF2-40B4-BE49-F238E27FC236}">
                    <a16:creationId xmlns:a16="http://schemas.microsoft.com/office/drawing/2014/main" id="{94DE49AF-3D39-88B7-E9D8-4A381C1C8CF5}"/>
                  </a:ext>
                </a:extLst>
              </p:cNvPr>
              <p:cNvSpPr>
                <a:spLocks noGrp="1" noRot="1" noChangeAspect="1" noMove="1" noResize="1" noEditPoints="1" noAdjustHandles="1" noChangeArrowheads="1" noChangeShapeType="1" noTextEdit="1"/>
              </p:cNvSpPr>
              <p:nvPr>
                <p:ph idx="1"/>
              </p:nvPr>
            </p:nvSpPr>
            <p:spPr>
              <a:blipFill>
                <a:blip r:embed="rId2"/>
                <a:stretch>
                  <a:fillRect l="-1043" t="-2101" b="-3221"/>
                </a:stretch>
              </a:blipFill>
            </p:spPr>
            <p:txBody>
              <a:bodyPr/>
              <a:lstStyle/>
              <a:p>
                <a:r>
                  <a:rPr lang="en-IN">
                    <a:noFill/>
                  </a:rPr>
                  <a:t> </a:t>
                </a:r>
              </a:p>
            </p:txBody>
          </p:sp>
        </mc:Fallback>
      </mc:AlternateContent>
    </p:spTree>
    <p:extLst>
      <p:ext uri="{BB962C8B-B14F-4D97-AF65-F5344CB8AC3E}">
        <p14:creationId xmlns:p14="http://schemas.microsoft.com/office/powerpoint/2010/main" val="3121392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4D3A-9348-1CC9-A386-A088ED5EB8C7}"/>
              </a:ext>
            </a:extLst>
          </p:cNvPr>
          <p:cNvSpPr>
            <a:spLocks noGrp="1"/>
          </p:cNvSpPr>
          <p:nvPr>
            <p:ph type="title"/>
          </p:nvPr>
        </p:nvSpPr>
        <p:spPr/>
        <p:txBody>
          <a:bodyPr/>
          <a:lstStyle/>
          <a:p>
            <a:r>
              <a:rPr lang="en-IN" dirty="0"/>
              <a:t>Simplification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CC1B6F-EEF7-9106-ECDB-80369944B3BE}"/>
                  </a:ext>
                </a:extLst>
              </p:cNvPr>
              <p:cNvSpPr>
                <a:spLocks noGrp="1"/>
              </p:cNvSpPr>
              <p:nvPr>
                <p:ph idx="1"/>
              </p:nvPr>
            </p:nvSpPr>
            <p:spPr/>
            <p:txBody>
              <a:bodyPr/>
              <a:lstStyle/>
              <a:p>
                <a:r>
                  <a:rPr lang="en-IN" dirty="0"/>
                  <a:t>For each </a:t>
                </a:r>
                <a:r>
                  <a:rPr lang="en-IN" dirty="0">
                    <a:solidFill>
                      <a:schemeClr val="accent1"/>
                    </a:solidFill>
                  </a:rPr>
                  <a:t>equality</a:t>
                </a:r>
                <a:r>
                  <a:rPr lang="en-IN" dirty="0"/>
                  <a:t> constraint in the form</a:t>
                </a:r>
              </a:p>
              <a:p>
                <a:endParaRPr lang="en-IN" dirty="0"/>
              </a:p>
              <a:p>
                <a:pPr marL="0" indent="0">
                  <a:buNone/>
                </a:pPr>
                <a14:m>
                  <m:oMathPara xmlns:m="http://schemas.openxmlformats.org/officeDocument/2006/math">
                    <m:oMathParaPr>
                      <m:jc m:val="centerGroup"/>
                    </m:oMathParaPr>
                    <m:oMath xmlns:m="http://schemas.openxmlformats.org/officeDocument/2006/math">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𝑛</m:t>
                          </m:r>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m:t>
                          </m:r>
                          <m:r>
                            <a:rPr lang="en-IN" b="0" i="1" smtClean="0">
                              <a:latin typeface="Cambria Math" panose="02040503050406030204" pitchFamily="18" charset="0"/>
                            </a:rPr>
                            <m:t>𝑏</m:t>
                          </m:r>
                        </m:e>
                      </m:nary>
                    </m:oMath>
                  </m:oMathPara>
                </a14:m>
                <a:endParaRPr lang="en-IN" dirty="0"/>
              </a:p>
              <a:p>
                <a:pPr marL="0" indent="0">
                  <a:buNone/>
                </a:pPr>
                <a:r>
                  <a:rPr lang="en-IN" dirty="0"/>
                  <a:t>and </a:t>
                </a:r>
                <a14:m>
                  <m:oMath xmlns:m="http://schemas.openxmlformats.org/officeDocument/2006/math">
                    <m:r>
                      <a:rPr lang="en-IN" b="0" i="1" smtClean="0">
                        <a:latin typeface="Cambria Math" panose="02040503050406030204" pitchFamily="18" charset="0"/>
                      </a:rPr>
                      <m:t>𝑔</m:t>
                    </m:r>
                    <m:r>
                      <a:rPr lang="en-IN" b="0" i="1" smtClean="0">
                        <a:latin typeface="Cambria Math" panose="02040503050406030204" pitchFamily="18" charset="0"/>
                      </a:rPr>
                      <m:t>=</m:t>
                    </m:r>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gcd</m:t>
                        </m:r>
                      </m:fName>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e>
                        </m:d>
                      </m:e>
                    </m:func>
                  </m:oMath>
                </a14:m>
                <a:endParaRPr lang="en-IN" dirty="0"/>
              </a:p>
              <a:p>
                <a:pPr marL="0" indent="0">
                  <a:buNone/>
                </a:pPr>
                <a:r>
                  <a:rPr lang="en-IN" dirty="0">
                    <a:latin typeface="Cambria Math" panose="02040503050406030204" pitchFamily="18" charset="0"/>
                  </a:rPr>
                  <a:t>Rewrite the constraint as: </a:t>
                </a:r>
                <a14:m>
                  <m:oMath xmlns:m="http://schemas.openxmlformats.org/officeDocument/2006/math">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𝑛</m:t>
                        </m:r>
                      </m:sup>
                      <m:e>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num>
                          <m:den>
                            <m:r>
                              <a:rPr lang="en-IN" b="0" i="1" smtClean="0">
                                <a:latin typeface="Cambria Math" panose="02040503050406030204" pitchFamily="18" charset="0"/>
                              </a:rPr>
                              <m:t>𝑔</m:t>
                            </m:r>
                          </m:den>
                        </m:f>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m:t>
                        </m:r>
                      </m:e>
                    </m:nary>
                  </m:oMath>
                </a14:m>
                <a:r>
                  <a:rPr lang="en-IN" b="0" dirty="0">
                    <a:latin typeface="Cambria Math" panose="02040503050406030204" pitchFamily="18" charset="0"/>
                  </a:rPr>
                  <a:t> </a:t>
                </a:r>
                <a14:m>
                  <m:oMath xmlns:m="http://schemas.openxmlformats.org/officeDocument/2006/math">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𝑏</m:t>
                        </m:r>
                      </m:num>
                      <m:den>
                        <m:r>
                          <a:rPr lang="en-IN" b="0" i="1" dirty="0" smtClean="0">
                            <a:latin typeface="Cambria Math" panose="02040503050406030204" pitchFamily="18" charset="0"/>
                          </a:rPr>
                          <m:t>𝑔</m:t>
                        </m:r>
                      </m:den>
                    </m:f>
                  </m:oMath>
                </a14:m>
                <a:endParaRPr lang="en-IN" b="0" dirty="0">
                  <a:latin typeface="Cambria Math" panose="02040503050406030204" pitchFamily="18" charset="0"/>
                </a:endParaRPr>
              </a:p>
              <a:p>
                <a:pPr marL="0" indent="0">
                  <a:buNone/>
                </a:pPr>
                <a:r>
                  <a:rPr lang="en-IN" dirty="0">
                    <a:latin typeface="Cambria Math" panose="02040503050406030204" pitchFamily="18" charset="0"/>
                  </a:rPr>
                  <a:t>If b is not </a:t>
                </a:r>
                <a:r>
                  <a:rPr lang="en-IN" b="0" dirty="0">
                    <a:latin typeface="Cambria Math" panose="02040503050406030204" pitchFamily="18" charset="0"/>
                  </a:rPr>
                  <a:t>divisible by g, the constraints are unsatisfiable.</a:t>
                </a:r>
              </a:p>
              <a:p>
                <a:pPr marL="0"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 </m:t>
                      </m:r>
                    </m:oMath>
                  </m:oMathPara>
                </a14:m>
                <a:endParaRPr lang="en-IN" dirty="0"/>
              </a:p>
            </p:txBody>
          </p:sp>
        </mc:Choice>
        <mc:Fallback xmlns="">
          <p:sp>
            <p:nvSpPr>
              <p:cNvPr id="3" name="Content Placeholder 2">
                <a:extLst>
                  <a:ext uri="{FF2B5EF4-FFF2-40B4-BE49-F238E27FC236}">
                    <a16:creationId xmlns:a16="http://schemas.microsoft.com/office/drawing/2014/main" id="{7BCC1B6F-EEF7-9106-ECDB-80369944B3B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195777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624E9-8B20-2073-6D1E-1FF5603A736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155696-001F-716E-38CE-693A6912241A}"/>
                  </a:ext>
                </a:extLst>
              </p:cNvPr>
              <p:cNvSpPr>
                <a:spLocks noGrp="1"/>
              </p:cNvSpPr>
              <p:nvPr>
                <p:ph idx="1"/>
              </p:nvPr>
            </p:nvSpPr>
            <p:spPr/>
            <p:txBody>
              <a:bodyPr/>
              <a:lstStyle/>
              <a:p>
                <a:r>
                  <a:rPr lang="en-IN" dirty="0"/>
                  <a:t>Is </a:t>
                </a: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dirty="0"/>
                  <a:t> satisfiable?</a:t>
                </a:r>
              </a:p>
            </p:txBody>
          </p:sp>
        </mc:Choice>
        <mc:Fallback xmlns="">
          <p:sp>
            <p:nvSpPr>
              <p:cNvPr id="3" name="Content Placeholder 2">
                <a:extLst>
                  <a:ext uri="{FF2B5EF4-FFF2-40B4-BE49-F238E27FC236}">
                    <a16:creationId xmlns:a16="http://schemas.microsoft.com/office/drawing/2014/main" id="{94155696-001F-716E-38CE-693A6912241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313951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4D3A-9348-1CC9-A386-A088ED5EB8C7}"/>
              </a:ext>
            </a:extLst>
          </p:cNvPr>
          <p:cNvSpPr>
            <a:spLocks noGrp="1"/>
          </p:cNvSpPr>
          <p:nvPr>
            <p:ph type="title"/>
          </p:nvPr>
        </p:nvSpPr>
        <p:spPr/>
        <p:txBody>
          <a:bodyPr/>
          <a:lstStyle/>
          <a:p>
            <a:r>
              <a:rPr lang="en-IN" dirty="0"/>
              <a:t>Simplification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CC1B6F-EEF7-9106-ECDB-80369944B3BE}"/>
                  </a:ext>
                </a:extLst>
              </p:cNvPr>
              <p:cNvSpPr>
                <a:spLocks noGrp="1"/>
              </p:cNvSpPr>
              <p:nvPr>
                <p:ph idx="1"/>
              </p:nvPr>
            </p:nvSpPr>
            <p:spPr/>
            <p:txBody>
              <a:bodyPr/>
              <a:lstStyle/>
              <a:p>
                <a:r>
                  <a:rPr lang="en-IN" dirty="0"/>
                  <a:t>For each </a:t>
                </a:r>
                <a:r>
                  <a:rPr lang="en-IN" dirty="0">
                    <a:solidFill>
                      <a:schemeClr val="accent1"/>
                    </a:solidFill>
                  </a:rPr>
                  <a:t>inequality</a:t>
                </a:r>
                <a:r>
                  <a:rPr lang="en-IN" dirty="0"/>
                  <a:t> constraint in the form</a:t>
                </a:r>
              </a:p>
              <a:p>
                <a:endParaRPr lang="en-IN" dirty="0"/>
              </a:p>
              <a:p>
                <a:pPr marL="0" indent="0">
                  <a:buNone/>
                </a:pPr>
                <a14:m>
                  <m:oMathPara xmlns:m="http://schemas.openxmlformats.org/officeDocument/2006/math">
                    <m:oMathParaPr>
                      <m:jc m:val="centerGroup"/>
                    </m:oMathParaPr>
                    <m:oMath xmlns:m="http://schemas.openxmlformats.org/officeDocument/2006/math">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𝑛</m:t>
                          </m:r>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m:t>
                          </m:r>
                          <m:r>
                            <a:rPr lang="en-IN" b="0" i="1" smtClean="0">
                              <a:latin typeface="Cambria Math" panose="02040503050406030204" pitchFamily="18" charset="0"/>
                            </a:rPr>
                            <m:t>𝑏</m:t>
                          </m:r>
                        </m:e>
                      </m:nary>
                    </m:oMath>
                  </m:oMathPara>
                </a14:m>
                <a:endParaRPr lang="en-IN" dirty="0"/>
              </a:p>
              <a:p>
                <a:pPr marL="0" indent="0">
                  <a:buNone/>
                </a:pPr>
                <a:r>
                  <a:rPr lang="en-IN" dirty="0"/>
                  <a:t>and </a:t>
                </a:r>
                <a14:m>
                  <m:oMath xmlns:m="http://schemas.openxmlformats.org/officeDocument/2006/math">
                    <m:r>
                      <a:rPr lang="en-IN" b="0" i="1" smtClean="0">
                        <a:latin typeface="Cambria Math" panose="02040503050406030204" pitchFamily="18" charset="0"/>
                      </a:rPr>
                      <m:t>𝑔</m:t>
                    </m:r>
                    <m:r>
                      <a:rPr lang="en-IN" b="0" i="1" smtClean="0">
                        <a:latin typeface="Cambria Math" panose="02040503050406030204" pitchFamily="18" charset="0"/>
                      </a:rPr>
                      <m:t>=</m:t>
                    </m:r>
                    <m:func>
                      <m:funcPr>
                        <m:ctrlPr>
                          <a:rPr lang="en-IN" b="0" i="1" smtClean="0">
                            <a:latin typeface="Cambria Math" panose="02040503050406030204" pitchFamily="18" charset="0"/>
                          </a:rPr>
                        </m:ctrlPr>
                      </m:funcPr>
                      <m:fName>
                        <m:r>
                          <m:rPr>
                            <m:sty m:val="p"/>
                          </m:rPr>
                          <a:rPr lang="en-IN" b="0" i="0" smtClean="0">
                            <a:latin typeface="Cambria Math" panose="02040503050406030204" pitchFamily="18" charset="0"/>
                          </a:rPr>
                          <m:t>gcd</m:t>
                        </m:r>
                      </m:fName>
                      <m:e>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e>
                        </m:d>
                      </m:e>
                    </m:func>
                  </m:oMath>
                </a14:m>
                <a:endParaRPr lang="en-IN" dirty="0"/>
              </a:p>
              <a:p>
                <a:pPr marL="0" indent="0">
                  <a:buNone/>
                </a:pPr>
                <a:r>
                  <a:rPr lang="en-IN" dirty="0">
                    <a:latin typeface="Cambria Math" panose="02040503050406030204" pitchFamily="18" charset="0"/>
                  </a:rPr>
                  <a:t>Rewrite the constraint as: </a:t>
                </a:r>
                <a14:m>
                  <m:oMath xmlns:m="http://schemas.openxmlformats.org/officeDocument/2006/math">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𝑛</m:t>
                        </m:r>
                      </m:sup>
                      <m:e>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𝑖</m:t>
                                </m:r>
                              </m:sub>
                            </m:sSub>
                          </m:num>
                          <m:den>
                            <m:r>
                              <a:rPr lang="en-IN" b="0" i="1" smtClean="0">
                                <a:latin typeface="Cambria Math" panose="02040503050406030204" pitchFamily="18" charset="0"/>
                              </a:rPr>
                              <m:t>𝑔</m:t>
                            </m:r>
                          </m:den>
                        </m:f>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r>
                          <a:rPr lang="en-IN" b="0" i="1" smtClean="0">
                            <a:latin typeface="Cambria Math" panose="02040503050406030204" pitchFamily="18" charset="0"/>
                          </a:rPr>
                          <m:t>≤</m:t>
                        </m:r>
                      </m:e>
                    </m:nary>
                  </m:oMath>
                </a14:m>
                <a:r>
                  <a:rPr lang="en-IN" b="0" dirty="0">
                    <a:latin typeface="Cambria Math" panose="02040503050406030204" pitchFamily="18" charset="0"/>
                  </a:rPr>
                  <a:t> </a:t>
                </a:r>
                <a14:m>
                  <m:oMath xmlns:m="http://schemas.openxmlformats.org/officeDocument/2006/math">
                    <m:d>
                      <m:dPr>
                        <m:begChr m:val="⌊"/>
                        <m:endChr m:val="⌋"/>
                        <m:ctrlPr>
                          <a:rPr lang="en-IN" b="0" i="1" dirty="0" smtClean="0">
                            <a:latin typeface="Cambria Math" panose="02040503050406030204" pitchFamily="18" charset="0"/>
                          </a:rPr>
                        </m:ctrlPr>
                      </m:dPr>
                      <m:e>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𝑏</m:t>
                            </m:r>
                          </m:num>
                          <m:den>
                            <m:r>
                              <a:rPr lang="en-IN" b="0" i="1" dirty="0" smtClean="0">
                                <a:latin typeface="Cambria Math" panose="02040503050406030204" pitchFamily="18" charset="0"/>
                              </a:rPr>
                              <m:t>𝑔</m:t>
                            </m:r>
                          </m:den>
                        </m:f>
                      </m:e>
                    </m:d>
                  </m:oMath>
                </a14:m>
                <a:endParaRPr lang="en-IN" dirty="0"/>
              </a:p>
            </p:txBody>
          </p:sp>
        </mc:Choice>
        <mc:Fallback xmlns="">
          <p:sp>
            <p:nvSpPr>
              <p:cNvPr id="3" name="Content Placeholder 2">
                <a:extLst>
                  <a:ext uri="{FF2B5EF4-FFF2-40B4-BE49-F238E27FC236}">
                    <a16:creationId xmlns:a16="http://schemas.microsoft.com/office/drawing/2014/main" id="{7BCC1B6F-EEF7-9106-ECDB-80369944B3BE}"/>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550741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624E9-8B20-2073-6D1E-1FF5603A736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4155696-001F-716E-38CE-693A6912241A}"/>
                  </a:ext>
                </a:extLst>
              </p:cNvPr>
              <p:cNvSpPr>
                <a:spLocks noGrp="1"/>
              </p:cNvSpPr>
              <p:nvPr>
                <p:ph idx="1"/>
              </p:nvPr>
            </p:nvSpPr>
            <p:spPr/>
            <p:txBody>
              <a:bodyPr/>
              <a:lstStyle/>
              <a:p>
                <a:r>
                  <a:rPr lang="en-IN" dirty="0"/>
                  <a:t>Can we simplify </a:t>
                </a:r>
                <a14:m>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dirty="0"/>
                  <a:t>?</a:t>
                </a:r>
              </a:p>
            </p:txBody>
          </p:sp>
        </mc:Choice>
        <mc:Fallback xmlns="">
          <p:sp>
            <p:nvSpPr>
              <p:cNvPr id="3" name="Content Placeholder 2">
                <a:extLst>
                  <a:ext uri="{FF2B5EF4-FFF2-40B4-BE49-F238E27FC236}">
                    <a16:creationId xmlns:a16="http://schemas.microsoft.com/office/drawing/2014/main" id="{94155696-001F-716E-38CE-693A6912241A}"/>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27311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62A8-A3B7-367F-EC05-BB546843B8A8}"/>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DEAED-8F9A-68D6-AAAE-C08F9EEFCE11}"/>
                  </a:ext>
                </a:extLst>
              </p:cNvPr>
              <p:cNvSpPr>
                <a:spLocks noGrp="1"/>
              </p:cNvSpPr>
              <p:nvPr>
                <p:ph idx="1"/>
              </p:nvPr>
            </p:nvSpPr>
            <p:spPr/>
            <p:txBody>
              <a:bodyPr/>
              <a:lstStyle/>
              <a:p>
                <a:r>
                  <a:rPr lang="en-IN" dirty="0"/>
                  <a:t>Does </a:t>
                </a:r>
                <a14:m>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=97</m:t>
                    </m:r>
                  </m:oMath>
                </a14:m>
                <a:r>
                  <a:rPr lang="en-IN" dirty="0"/>
                  <a:t> have a solution?</a:t>
                </a:r>
              </a:p>
              <a:p>
                <a:endParaRPr lang="en-IN" dirty="0"/>
              </a:p>
              <a:p>
                <a:r>
                  <a:rPr lang="en-IN" dirty="0"/>
                  <a:t>It doesn’t violates the </a:t>
                </a:r>
                <a:r>
                  <a:rPr lang="en-IN" dirty="0" err="1"/>
                  <a:t>gcd</a:t>
                </a:r>
                <a:r>
                  <a:rPr lang="en-IN" dirty="0"/>
                  <a:t> test</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AB5DEAED-8F9A-68D6-AAAE-C08F9EEFCE1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9155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62A8-A3B7-367F-EC05-BB546843B8A8}"/>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DEAED-8F9A-68D6-AAAE-C08F9EEFCE11}"/>
                  </a:ext>
                </a:extLst>
              </p:cNvPr>
              <p:cNvSpPr>
                <a:spLocks noGrp="1"/>
              </p:cNvSpPr>
              <p:nvPr>
                <p:ph idx="1"/>
              </p:nvPr>
            </p:nvSpPr>
            <p:spPr/>
            <p:txBody>
              <a:bodyPr/>
              <a:lstStyle/>
              <a:p>
                <a:r>
                  <a:rPr lang="en-IN" dirty="0"/>
                  <a:t>Does </a:t>
                </a:r>
                <a14:m>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=97</m:t>
                    </m:r>
                  </m:oMath>
                </a14:m>
                <a:r>
                  <a:rPr lang="en-IN" dirty="0"/>
                  <a:t> have an integer solution?</a:t>
                </a:r>
              </a:p>
              <a:p>
                <a:endParaRPr lang="en-IN" dirty="0"/>
              </a:p>
              <a:p>
                <a:r>
                  <a:rPr lang="en-IN" dirty="0"/>
                  <a:t>It doesn’t violates the </a:t>
                </a:r>
                <a:r>
                  <a:rPr lang="en-IN" dirty="0" err="1"/>
                  <a:t>gcd</a:t>
                </a:r>
                <a:r>
                  <a:rPr lang="en-IN" dirty="0"/>
                  <a:t> test</a:t>
                </a:r>
              </a:p>
              <a:p>
                <a:endParaRPr lang="en-IN" dirty="0"/>
              </a:p>
              <a:p>
                <a:r>
                  <a:rPr lang="en-IN" dirty="0"/>
                  <a:t>Can’t say</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AB5DEAED-8F9A-68D6-AAAE-C08F9EEFCE1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25023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62A8-A3B7-367F-EC05-BB546843B8A8}"/>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DEAED-8F9A-68D6-AAAE-C08F9EEFCE11}"/>
                  </a:ext>
                </a:extLst>
              </p:cNvPr>
              <p:cNvSpPr>
                <a:spLocks noGrp="1"/>
              </p:cNvSpPr>
              <p:nvPr>
                <p:ph idx="1"/>
              </p:nvPr>
            </p:nvSpPr>
            <p:spPr/>
            <p:txBody>
              <a:bodyPr/>
              <a:lstStyle/>
              <a:p>
                <a:r>
                  <a:rPr lang="en-IN" dirty="0"/>
                  <a:t>Does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+13</m:t>
                    </m:r>
                    <m:r>
                      <a:rPr lang="en-IN" b="0" i="1" smtClean="0">
                        <a:latin typeface="Cambria Math" panose="02040503050406030204" pitchFamily="18" charset="0"/>
                      </a:rPr>
                      <m:t>𝑦</m:t>
                    </m:r>
                    <m:r>
                      <a:rPr lang="en-IN" b="0" i="1" smtClean="0">
                        <a:latin typeface="Cambria Math" panose="02040503050406030204" pitchFamily="18" charset="0"/>
                      </a:rPr>
                      <m:t>+93</m:t>
                    </m:r>
                    <m:r>
                      <a:rPr lang="en-IN" b="0" i="1" smtClean="0">
                        <a:latin typeface="Cambria Math" panose="02040503050406030204" pitchFamily="18" charset="0"/>
                      </a:rPr>
                      <m:t>𝑧</m:t>
                    </m:r>
                    <m:r>
                      <a:rPr lang="en-IN" b="0" i="1" smtClean="0">
                        <a:latin typeface="Cambria Math" panose="02040503050406030204" pitchFamily="18" charset="0"/>
                      </a:rPr>
                      <m:t>−103</m:t>
                    </m:r>
                    <m:r>
                      <a:rPr lang="en-IN" b="0" i="1" smtClean="0">
                        <a:latin typeface="Cambria Math" panose="02040503050406030204" pitchFamily="18" charset="0"/>
                      </a:rPr>
                      <m:t>𝑤</m:t>
                    </m:r>
                    <m:r>
                      <a:rPr lang="en-IN" b="0" i="1" smtClean="0">
                        <a:latin typeface="Cambria Math" panose="02040503050406030204" pitchFamily="18" charset="0"/>
                      </a:rPr>
                      <m:t>=945</m:t>
                    </m:r>
                  </m:oMath>
                </a14:m>
                <a:r>
                  <a:rPr lang="en-IN" dirty="0"/>
                  <a:t> have an integer solution?</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AB5DEAED-8F9A-68D6-AAAE-C08F9EEFCE1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772835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62A8-A3B7-367F-EC05-BB546843B8A8}"/>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DEAED-8F9A-68D6-AAAE-C08F9EEFCE11}"/>
                  </a:ext>
                </a:extLst>
              </p:cNvPr>
              <p:cNvSpPr>
                <a:spLocks noGrp="1"/>
              </p:cNvSpPr>
              <p:nvPr>
                <p:ph idx="1"/>
              </p:nvPr>
            </p:nvSpPr>
            <p:spPr/>
            <p:txBody>
              <a:bodyPr/>
              <a:lstStyle/>
              <a:p>
                <a:r>
                  <a:rPr lang="en-IN" dirty="0"/>
                  <a:t>Does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+13</m:t>
                    </m:r>
                    <m:r>
                      <a:rPr lang="en-IN" b="0" i="1" smtClean="0">
                        <a:latin typeface="Cambria Math" panose="02040503050406030204" pitchFamily="18" charset="0"/>
                      </a:rPr>
                      <m:t>𝑦</m:t>
                    </m:r>
                    <m:r>
                      <a:rPr lang="en-IN" b="0" i="1" smtClean="0">
                        <a:latin typeface="Cambria Math" panose="02040503050406030204" pitchFamily="18" charset="0"/>
                      </a:rPr>
                      <m:t>+93</m:t>
                    </m:r>
                    <m:r>
                      <a:rPr lang="en-IN" b="0" i="1" smtClean="0">
                        <a:latin typeface="Cambria Math" panose="02040503050406030204" pitchFamily="18" charset="0"/>
                      </a:rPr>
                      <m:t>𝑧</m:t>
                    </m:r>
                    <m:r>
                      <a:rPr lang="en-IN" b="0" i="1" smtClean="0">
                        <a:latin typeface="Cambria Math" panose="02040503050406030204" pitchFamily="18" charset="0"/>
                      </a:rPr>
                      <m:t>−103</m:t>
                    </m:r>
                    <m:r>
                      <a:rPr lang="en-IN" b="0" i="1" smtClean="0">
                        <a:latin typeface="Cambria Math" panose="02040503050406030204" pitchFamily="18" charset="0"/>
                      </a:rPr>
                      <m:t>𝑤</m:t>
                    </m:r>
                    <m:r>
                      <a:rPr lang="en-IN" b="0" i="1" smtClean="0">
                        <a:latin typeface="Cambria Math" panose="02040503050406030204" pitchFamily="18" charset="0"/>
                      </a:rPr>
                      <m:t>=945</m:t>
                    </m:r>
                  </m:oMath>
                </a14:m>
                <a:r>
                  <a:rPr lang="en-IN" dirty="0"/>
                  <a:t> have an integer solution?</a:t>
                </a:r>
              </a:p>
              <a:p>
                <a:endParaRPr lang="en-IN" dirty="0"/>
              </a:p>
              <a:p>
                <a:r>
                  <a:rPr lang="en-IN" dirty="0"/>
                  <a:t>Yes, because we can pick integer values for </a:t>
                </a:r>
                <a14:m>
                  <m:oMath xmlns:m="http://schemas.openxmlformats.org/officeDocument/2006/math">
                    <m:r>
                      <a:rPr lang="en-IN" i="1" dirty="0" smtClean="0">
                        <a:latin typeface="Cambria Math" panose="02040503050406030204" pitchFamily="18" charset="0"/>
                      </a:rPr>
                      <m:t>𝑦</m:t>
                    </m:r>
                    <m:r>
                      <a:rPr lang="en-IN" i="1" dirty="0" smtClean="0">
                        <a:latin typeface="Cambria Math" panose="02040503050406030204" pitchFamily="18" charset="0"/>
                      </a:rPr>
                      <m:t>, </m:t>
                    </m:r>
                    <m:r>
                      <a:rPr lang="en-IN" i="1" dirty="0" smtClean="0">
                        <a:latin typeface="Cambria Math" panose="02040503050406030204" pitchFamily="18" charset="0"/>
                      </a:rPr>
                      <m:t>𝑧</m:t>
                    </m:r>
                    <m:r>
                      <a:rPr lang="en-IN" i="1" dirty="0" smtClean="0">
                        <a:latin typeface="Cambria Math" panose="02040503050406030204" pitchFamily="18" charset="0"/>
                      </a:rPr>
                      <m:t>, </m:t>
                    </m:r>
                  </m:oMath>
                </a14:m>
                <a:r>
                  <a:rPr lang="en-IN" dirty="0"/>
                  <a:t>and </a:t>
                </a:r>
                <a14:m>
                  <m:oMath xmlns:m="http://schemas.openxmlformats.org/officeDocument/2006/math">
                    <m:r>
                      <a:rPr lang="en-IN" i="1" dirty="0" smtClean="0">
                        <a:latin typeface="Cambria Math" panose="02040503050406030204" pitchFamily="18" charset="0"/>
                      </a:rPr>
                      <m:t>𝑤</m:t>
                    </m:r>
                  </m:oMath>
                </a14:m>
                <a:r>
                  <a:rPr lang="en-IN" dirty="0"/>
                  <a:t>; and substitute </a:t>
                </a:r>
                <a14:m>
                  <m:oMath xmlns:m="http://schemas.openxmlformats.org/officeDocument/2006/math">
                    <m:r>
                      <a:rPr lang="en-IN" b="0" i="1" smtClean="0">
                        <a:latin typeface="Cambria Math" panose="02040503050406030204" pitchFamily="18" charset="0"/>
                      </a:rPr>
                      <m:t>𝑥</m:t>
                    </m:r>
                  </m:oMath>
                </a14:m>
                <a:r>
                  <a:rPr lang="en-IN" dirty="0"/>
                  <a:t> with </a:t>
                </a:r>
                <a14:m>
                  <m:oMath xmlns:m="http://schemas.openxmlformats.org/officeDocument/2006/math">
                    <m:r>
                      <a:rPr lang="en-IN" b="0" i="1" smtClean="0">
                        <a:latin typeface="Cambria Math" panose="02040503050406030204" pitchFamily="18" charset="0"/>
                      </a:rPr>
                      <m:t>945−13</m:t>
                    </m:r>
                    <m:r>
                      <a:rPr lang="en-IN" b="0" i="1" smtClean="0">
                        <a:latin typeface="Cambria Math" panose="02040503050406030204" pitchFamily="18" charset="0"/>
                      </a:rPr>
                      <m:t>𝑦</m:t>
                    </m:r>
                    <m:r>
                      <a:rPr lang="en-IN" b="0" i="1" smtClean="0">
                        <a:latin typeface="Cambria Math" panose="02040503050406030204" pitchFamily="18" charset="0"/>
                      </a:rPr>
                      <m:t>−93</m:t>
                    </m:r>
                    <m:r>
                      <a:rPr lang="en-IN" b="0" i="1" smtClean="0">
                        <a:latin typeface="Cambria Math" panose="02040503050406030204" pitchFamily="18" charset="0"/>
                      </a:rPr>
                      <m:t>𝑤</m:t>
                    </m:r>
                    <m:r>
                      <a:rPr lang="en-IN" b="0" i="1" smtClean="0">
                        <a:latin typeface="Cambria Math" panose="02040503050406030204" pitchFamily="18" charset="0"/>
                      </a:rPr>
                      <m:t>+103</m:t>
                    </m:r>
                    <m:r>
                      <a:rPr lang="en-IN" b="0" i="1" smtClean="0">
                        <a:latin typeface="Cambria Math" panose="02040503050406030204" pitchFamily="18" charset="0"/>
                      </a:rPr>
                      <m:t>𝑤</m:t>
                    </m:r>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AB5DEAED-8F9A-68D6-AAAE-C08F9EEFCE11}"/>
                  </a:ext>
                </a:extLst>
              </p:cNvPr>
              <p:cNvSpPr>
                <a:spLocks noGrp="1" noRot="1" noChangeAspect="1" noMove="1" noResize="1" noEditPoints="1" noAdjustHandles="1" noChangeArrowheads="1" noChangeShapeType="1" noTextEdit="1"/>
              </p:cNvSpPr>
              <p:nvPr>
                <p:ph idx="1"/>
              </p:nvPr>
            </p:nvSpPr>
            <p:spPr>
              <a:blipFill>
                <a:blip r:embed="rId2"/>
                <a:stretch>
                  <a:fillRect l="-1043" t="-2241" r="-1449"/>
                </a:stretch>
              </a:blipFill>
            </p:spPr>
            <p:txBody>
              <a:bodyPr/>
              <a:lstStyle/>
              <a:p>
                <a:r>
                  <a:rPr lang="en-IN">
                    <a:noFill/>
                  </a:rPr>
                  <a:t> </a:t>
                </a:r>
              </a:p>
            </p:txBody>
          </p:sp>
        </mc:Fallback>
      </mc:AlternateContent>
    </p:spTree>
    <p:extLst>
      <p:ext uri="{BB962C8B-B14F-4D97-AF65-F5344CB8AC3E}">
        <p14:creationId xmlns:p14="http://schemas.microsoft.com/office/powerpoint/2010/main" val="45429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62A8-A3B7-367F-EC05-BB546843B8A8}"/>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DEAED-8F9A-68D6-AAAE-C08F9EEFCE11}"/>
                  </a:ext>
                </a:extLst>
              </p:cNvPr>
              <p:cNvSpPr>
                <a:spLocks noGrp="1"/>
              </p:cNvSpPr>
              <p:nvPr>
                <p:ph idx="1"/>
              </p:nvPr>
            </p:nvSpPr>
            <p:spPr/>
            <p:txBody>
              <a:bodyPr numCol="3">
                <a:normAutofit fontScale="92500" lnSpcReduction="20000"/>
              </a:bodyPr>
              <a:lstStyle/>
              <a:p>
                <a:r>
                  <a:rPr lang="en-IN" dirty="0"/>
                  <a:t>Consider a system of equation</a:t>
                </a:r>
              </a:p>
              <a:p>
                <a:endParaRPr lang="en-IN" dirty="0"/>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11</m:t>
                              </m:r>
                            </m:sub>
                          </m:sSub>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1</m:t>
                          </m:r>
                          <m:r>
                            <a:rPr lang="en-IN" b="0" i="1" smtClean="0">
                              <a:latin typeface="Cambria Math" panose="02040503050406030204" pitchFamily="18" charset="0"/>
                            </a:rPr>
                            <m:t>𝑛</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𝑏</m:t>
                          </m:r>
                        </m:e>
                        <m:sub>
                          <m:r>
                            <a:rPr lang="en-IN" b="0" i="1" smtClean="0">
                              <a:latin typeface="Cambria Math" panose="02040503050406030204" pitchFamily="18" charset="0"/>
                            </a:rPr>
                            <m:t>1</m:t>
                          </m:r>
                        </m:sub>
                      </m:sSub>
                    </m:oMath>
                  </m:oMathPara>
                </a14:m>
                <a:endParaRPr lang="en-IN" b="0" i="1" dirty="0">
                  <a:latin typeface="Cambria Math" panose="020405030504060302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                 …</m:t>
                      </m:r>
                    </m:oMath>
                  </m:oMathPara>
                </a14:m>
                <a:endParaRPr lang="en-IN" b="0" dirty="0"/>
              </a:p>
              <a:p>
                <a:pPr marL="0" indent="0">
                  <a:lnSpc>
                    <a:spcPct val="150000"/>
                  </a:lnSpc>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𝑚</m:t>
                          </m:r>
                          <m:r>
                            <a:rPr lang="en-IN" b="0" i="1" smtClean="0">
                              <a:latin typeface="Cambria Math" panose="02040503050406030204" pitchFamily="18" charset="0"/>
                            </a:rPr>
                            <m:t>1</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𝑚𝑛</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𝑏</m:t>
                          </m:r>
                        </m:e>
                        <m:sub>
                          <m:r>
                            <a:rPr lang="en-IN" b="0" i="1" smtClean="0">
                              <a:latin typeface="Cambria Math" panose="02040503050406030204" pitchFamily="18" charset="0"/>
                            </a:rPr>
                            <m:t>𝑚</m:t>
                          </m:r>
                        </m:sub>
                      </m:sSub>
                    </m:oMath>
                  </m:oMathPara>
                </a14:m>
                <a:endParaRPr lang="en-IN" dirty="0"/>
              </a:p>
              <a:p>
                <a:pPr marL="0" indent="0">
                  <a:lnSpc>
                    <a:spcPct val="150000"/>
                  </a:lnSpc>
                  <a:buNone/>
                </a:pPr>
                <a:r>
                  <a:rPr lang="en-IN" dirty="0"/>
                  <a:t>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𝑖𝑗</m:t>
                        </m:r>
                      </m:sub>
                    </m:sSub>
                  </m:oMath>
                </a14:m>
                <a:r>
                  <a:rPr lang="en-IN" dirty="0"/>
                  <a:t> = 1 or -1, without the loss of generality let’s assume </a:t>
                </a:r>
                <a14:m>
                  <m:oMath xmlns:m="http://schemas.openxmlformats.org/officeDocument/2006/math">
                    <m:r>
                      <a:rPr lang="en-IN" b="0" i="1" smtClean="0">
                        <a:latin typeface="Cambria Math" panose="02040503050406030204" pitchFamily="18" charset="0"/>
                      </a:rPr>
                      <m:t>𝑗</m:t>
                    </m:r>
                    <m:r>
                      <a:rPr lang="en-IN" b="0" i="1" smtClean="0">
                        <a:latin typeface="Cambria Math" panose="02040503050406030204" pitchFamily="18" charset="0"/>
                      </a:rPr>
                      <m:t>=</m:t>
                    </m:r>
                    <m:r>
                      <a:rPr lang="en-IN" b="0" i="1" smtClean="0">
                        <a:latin typeface="Cambria Math" panose="02040503050406030204" pitchFamily="18" charset="0"/>
                      </a:rPr>
                      <m:t>𝑛</m:t>
                    </m:r>
                  </m:oMath>
                </a14:m>
                <a:r>
                  <a:rPr lang="en-IN" dirty="0"/>
                  <a:t>, replace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𝑖𝑛</m:t>
                        </m:r>
                      </m:sub>
                    </m:sSub>
                  </m:oMath>
                </a14:m>
                <a:r>
                  <a:rPr lang="en-IN" dirty="0"/>
                  <a:t> with </a:t>
                </a:r>
                <a14:m>
                  <m:oMath xmlns:m="http://schemas.openxmlformats.org/officeDocument/2006/math">
                    <m:f>
                      <m:fPr>
                        <m:ctrlPr>
                          <a:rPr lang="en-IN" b="0" i="1" smtClean="0">
                            <a:latin typeface="Cambria Math" panose="02040503050406030204" pitchFamily="18" charset="0"/>
                          </a:rPr>
                        </m:ctrlPr>
                      </m:fPr>
                      <m:num>
                        <m:sSub>
                          <m:sSubPr>
                            <m:ctrlPr>
                              <a:rPr lang="en-IN" b="0" i="1" smtClean="0">
                                <a:latin typeface="Cambria Math" panose="02040503050406030204" pitchFamily="18" charset="0"/>
                              </a:rPr>
                            </m:ctrlPr>
                          </m:sSubPr>
                          <m:e>
                            <m:r>
                              <a:rPr lang="en-IN" b="0" i="1" smtClean="0">
                                <a:latin typeface="Cambria Math" panose="02040503050406030204" pitchFamily="18" charset="0"/>
                              </a:rPr>
                              <m:t>𝑏</m:t>
                            </m:r>
                          </m:e>
                          <m:sub>
                            <m:r>
                              <a:rPr lang="en-IN" b="0" i="1" smtClean="0">
                                <a:latin typeface="Cambria Math" panose="02040503050406030204" pitchFamily="18" charset="0"/>
                              </a:rPr>
                              <m:t>𝑖</m:t>
                            </m:r>
                          </m:sub>
                        </m:sSub>
                        <m:r>
                          <a:rPr lang="en-IN" b="0" i="1" smtClean="0">
                            <a:latin typeface="Cambria Math" panose="02040503050406030204" pitchFamily="18" charset="0"/>
                          </a:rPr>
                          <m:t>   −   </m:t>
                        </m:r>
                        <m:nary>
                          <m:naryPr>
                            <m:chr m:val="∑"/>
                            <m:ctrlPr>
                              <a:rPr lang="en-IN" b="0" i="1" smtClean="0">
                                <a:latin typeface="Cambria Math" panose="02040503050406030204" pitchFamily="18" charset="0"/>
                              </a:rPr>
                            </m:ctrlPr>
                          </m:naryPr>
                          <m:sub>
                            <m:r>
                              <m:rPr>
                                <m:brk m:alnAt="23"/>
                              </m:rPr>
                              <a:rPr lang="en-IN" b="0" i="1" smtClean="0">
                                <a:latin typeface="Cambria Math" panose="02040503050406030204" pitchFamily="18" charset="0"/>
                              </a:rPr>
                              <m:t>𝑘</m:t>
                            </m:r>
                            <m:r>
                              <a:rPr lang="en-IN" b="0" i="1" smtClean="0">
                                <a:latin typeface="Cambria Math" panose="02040503050406030204" pitchFamily="18" charset="0"/>
                              </a:rPr>
                              <m:t>=1</m:t>
                            </m:r>
                          </m:sub>
                          <m:sup>
                            <m:r>
                              <a:rPr lang="en-IN" b="0" i="1" smtClean="0">
                                <a:latin typeface="Cambria Math" panose="02040503050406030204" pitchFamily="18" charset="0"/>
                              </a:rPr>
                              <m:t>𝑛</m:t>
                            </m:r>
                            <m:r>
                              <a:rPr lang="en-IN" b="0" i="1" smtClean="0">
                                <a:latin typeface="Cambria Math" panose="02040503050406030204" pitchFamily="18" charset="0"/>
                              </a:rPr>
                              <m:t>−1</m:t>
                            </m:r>
                          </m:sup>
                          <m:e>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𝑖</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𝑘</m:t>
                                </m:r>
                              </m:sub>
                            </m:sSub>
                          </m:e>
                        </m:nary>
                      </m:num>
                      <m:den>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𝑖𝑗</m:t>
                            </m:r>
                          </m:sub>
                        </m:sSub>
                      </m:den>
                    </m:f>
                  </m:oMath>
                </a14:m>
                <a:r>
                  <a:rPr lang="en-IN" dirty="0"/>
                  <a:t>  in all equations; and solve the rest of the equations.</a:t>
                </a:r>
              </a:p>
            </p:txBody>
          </p:sp>
        </mc:Choice>
        <mc:Fallback xmlns="">
          <p:sp>
            <p:nvSpPr>
              <p:cNvPr id="3" name="Content Placeholder 2">
                <a:extLst>
                  <a:ext uri="{FF2B5EF4-FFF2-40B4-BE49-F238E27FC236}">
                    <a16:creationId xmlns:a16="http://schemas.microsoft.com/office/drawing/2014/main" id="{AB5DEAED-8F9A-68D6-AAAE-C08F9EEFCE11}"/>
                  </a:ext>
                </a:extLst>
              </p:cNvPr>
              <p:cNvSpPr>
                <a:spLocks noGrp="1" noRot="1" noChangeAspect="1" noMove="1" noResize="1" noEditPoints="1" noAdjustHandles="1" noChangeArrowheads="1" noChangeShapeType="1" noTextEdit="1"/>
              </p:cNvSpPr>
              <p:nvPr>
                <p:ph idx="1"/>
              </p:nvPr>
            </p:nvSpPr>
            <p:spPr>
              <a:blipFill>
                <a:blip r:embed="rId2"/>
                <a:stretch>
                  <a:fillRect l="-1043" t="-3501"/>
                </a:stretch>
              </a:blipFill>
            </p:spPr>
            <p:txBody>
              <a:bodyPr/>
              <a:lstStyle/>
              <a:p>
                <a:r>
                  <a:rPr lang="en-IN">
                    <a:noFill/>
                  </a:rPr>
                  <a:t> </a:t>
                </a:r>
              </a:p>
            </p:txBody>
          </p:sp>
        </mc:Fallback>
      </mc:AlternateContent>
    </p:spTree>
    <p:extLst>
      <p:ext uri="{BB962C8B-B14F-4D97-AF65-F5344CB8AC3E}">
        <p14:creationId xmlns:p14="http://schemas.microsoft.com/office/powerpoint/2010/main" val="974776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24CB4-5167-7F69-7D9C-D1B64AE189E5}"/>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755CC3-88FF-B2DB-9FB7-3B6F02FC3E22}"/>
                  </a:ext>
                </a:extLst>
              </p:cNvPr>
              <p:cNvSpPr>
                <a:spLocks noGrp="1"/>
              </p:cNvSpPr>
              <p:nvPr>
                <p:ph idx="1"/>
              </p:nvPr>
            </p:nvSpPr>
            <p:spPr/>
            <p:txBody>
              <a:bodyPr>
                <a:normAutofit/>
              </a:bodyPr>
              <a:lstStyle/>
              <a:p>
                <a:r>
                  <a:rPr lang="en-IN" dirty="0"/>
                  <a:t>If there are no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𝑖𝑗</m:t>
                        </m:r>
                      </m:sub>
                    </m:sSub>
                  </m:oMath>
                </a14:m>
                <a:r>
                  <a:rPr lang="en-IN" dirty="0"/>
                  <a:t> such that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𝑐</m:t>
                        </m:r>
                      </m:e>
                      <m:sub>
                        <m:r>
                          <a:rPr lang="en-IN" b="0" i="1" smtClean="0">
                            <a:latin typeface="Cambria Math" panose="02040503050406030204" pitchFamily="18" charset="0"/>
                          </a:rPr>
                          <m:t>𝑖𝑗</m:t>
                        </m:r>
                      </m:sub>
                    </m:sSub>
                    <m:r>
                      <a:rPr lang="en-IN" b="0" i="1" smtClean="0">
                        <a:latin typeface="Cambria Math" panose="02040503050406030204" pitchFamily="18" charset="0"/>
                      </a:rPr>
                      <m:t>=−1</m:t>
                    </m:r>
                    <m:r>
                      <a:rPr lang="en-IN" b="0" i="0" smtClean="0">
                        <a:latin typeface="Cambria Math" panose="02040503050406030204" pitchFamily="18" charset="0"/>
                      </a:rPr>
                      <m:t>,</m:t>
                    </m:r>
                  </m:oMath>
                </a14:m>
                <a:r>
                  <a:rPr lang="en-IN" dirty="0"/>
                  <a:t> then reduce the coefficient using the method discussed next.</a:t>
                </a:r>
              </a:p>
            </p:txBody>
          </p:sp>
        </mc:Choice>
        <mc:Fallback xmlns="">
          <p:sp>
            <p:nvSpPr>
              <p:cNvPr id="3" name="Content Placeholder 2">
                <a:extLst>
                  <a:ext uri="{FF2B5EF4-FFF2-40B4-BE49-F238E27FC236}">
                    <a16:creationId xmlns:a16="http://schemas.microsoft.com/office/drawing/2014/main" id="{98755CC3-88FF-B2DB-9FB7-3B6F02FC3E22}"/>
                  </a:ext>
                </a:extLst>
              </p:cNvPr>
              <p:cNvSpPr>
                <a:spLocks noGrp="1" noRot="1" noChangeAspect="1" noMove="1" noResize="1" noEditPoints="1" noAdjustHandles="1" noChangeArrowheads="1" noChangeShapeType="1" noTextEdit="1"/>
              </p:cNvSpPr>
              <p:nvPr>
                <p:ph idx="1"/>
              </p:nvPr>
            </p:nvSpPr>
            <p:spPr>
              <a:blipFill>
                <a:blip r:embed="rId2"/>
                <a:stretch>
                  <a:fillRect l="-1043" t="-1961"/>
                </a:stretch>
              </a:blipFill>
            </p:spPr>
            <p:txBody>
              <a:bodyPr/>
              <a:lstStyle/>
              <a:p>
                <a:r>
                  <a:rPr lang="en-IN">
                    <a:noFill/>
                  </a:rPr>
                  <a:t> </a:t>
                </a:r>
              </a:p>
            </p:txBody>
          </p:sp>
        </mc:Fallback>
      </mc:AlternateContent>
    </p:spTree>
    <p:extLst>
      <p:ext uri="{BB962C8B-B14F-4D97-AF65-F5344CB8AC3E}">
        <p14:creationId xmlns:p14="http://schemas.microsoft.com/office/powerpoint/2010/main" val="2629176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lstStyle/>
              <a:p>
                <a:r>
                  <a:rPr lang="en-IN" dirty="0"/>
                  <a:t>Does </a:t>
                </a:r>
                <a14:m>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=97</m:t>
                    </m:r>
                  </m:oMath>
                </a14:m>
                <a:r>
                  <a:rPr lang="en-IN" dirty="0"/>
                  <a:t> have an integer solution?</a:t>
                </a:r>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459118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lstStyle/>
              <a:p>
                <a:pPr marL="0" indent="0">
                  <a:buNone/>
                </a:pPr>
                <a:r>
                  <a:rPr lang="en-IN" dirty="0"/>
                  <a:t>Let’s consider an equation:</a:t>
                </a:r>
              </a:p>
              <a:p>
                <a:pPr marL="0" indent="0">
                  <a:buNone/>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2</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𝑏</m:t>
                      </m:r>
                    </m:oMath>
                  </m:oMathPara>
                </a14:m>
                <a:endParaRPr lang="en-IN" dirty="0"/>
              </a:p>
              <a:p>
                <a:pPr marL="0" indent="0">
                  <a:buNone/>
                </a:pPr>
                <a:r>
                  <a:rPr lang="en-IN" dirty="0"/>
                  <a:t>Let’s say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m:t>
                    </m:r>
                  </m:oMath>
                </a14:m>
                <a:r>
                  <a:rPr lang="en-IN" dirty="0"/>
                  <a:t> is the lowest coefficient and </a:t>
                </a:r>
                <a14:m>
                  <m:oMath xmlns:m="http://schemas.openxmlformats.org/officeDocument/2006/math">
                    <m:d>
                      <m:dPr>
                        <m:begChr m:val="|"/>
                        <m:endChr m:val="|"/>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e>
                    </m:d>
                    <m:r>
                      <a:rPr lang="en-IN" b="0" i="1" smtClean="0">
                        <a:latin typeface="Cambria Math" panose="02040503050406030204" pitchFamily="18" charset="0"/>
                      </a:rPr>
                      <m:t>&gt;1</m:t>
                    </m:r>
                  </m:oMath>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+1</m:t>
                      </m:r>
                    </m:oMath>
                  </m:oMathPara>
                </a14:m>
                <a:endParaRPr lang="en-IN" dirty="0"/>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r>
                            <a:rPr lang="en-IN" b="0" i="1" smtClean="0">
                              <a:latin typeface="Cambria Math" panose="02040503050406030204" pitchFamily="18" charset="0"/>
                            </a:rPr>
                            <m:t>.</m:t>
                          </m:r>
                          <m:r>
                            <a:rPr lang="en-IN" b="0" i="1" smtClean="0">
                              <a:latin typeface="Cambria Math" panose="02040503050406030204" pitchFamily="18" charset="0"/>
                            </a:rPr>
                            <m:t>𝑚</m:t>
                          </m:r>
                        </m:e>
                      </m:d>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d>
                        <m:dPr>
                          <m:ctrlPr>
                            <a:rPr lang="en-IN" b="0" i="1" smtClean="0">
                              <a:latin typeface="Cambria Math" panose="02040503050406030204" pitchFamily="18" charset="0"/>
                            </a:rPr>
                          </m:ctrlPr>
                        </m:d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𝑛</m:t>
                              </m:r>
                            </m:sub>
                            <m:sup>
                              <m:r>
                                <a:rPr lang="en-IN" b="0" i="1" smtClean="0">
                                  <a:latin typeface="Cambria Math" panose="02040503050406030204" pitchFamily="18" charset="0"/>
                                </a:rPr>
                                <m:t>′</m:t>
                              </m:r>
                            </m:sup>
                          </m:sSubSup>
                          <m:r>
                            <a:rPr lang="en-IN" b="0" i="1" smtClean="0">
                              <a:latin typeface="Cambria Math" panose="02040503050406030204" pitchFamily="18" charset="0"/>
                            </a:rPr>
                            <m:t>.</m:t>
                          </m:r>
                          <m:r>
                            <a:rPr lang="en-IN" b="0" i="1" smtClean="0">
                              <a:latin typeface="Cambria Math" panose="02040503050406030204" pitchFamily="18" charset="0"/>
                            </a:rPr>
                            <m:t>𝑚</m:t>
                          </m:r>
                        </m:e>
                      </m:d>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𝑛</m:t>
                          </m:r>
                        </m:sub>
                        <m:sup>
                          <m:r>
                            <a:rPr lang="en-IN" b="0" i="1" smtClean="0">
                              <a:latin typeface="Cambria Math" panose="02040503050406030204" pitchFamily="18" charset="0"/>
                            </a:rPr>
                            <m:t>′</m:t>
                          </m:r>
                        </m:sup>
                      </m:sSubSup>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𝑏</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𝑏</m:t>
                          </m:r>
                        </m:e>
                        <m:sup>
                          <m:r>
                            <a:rPr lang="en-IN" b="0" i="1" smtClean="0">
                              <a:latin typeface="Cambria Math" panose="02040503050406030204" pitchFamily="18" charset="0"/>
                            </a:rPr>
                            <m:t>′</m:t>
                          </m:r>
                        </m:sup>
                      </m:sSup>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oMath>
                  </m:oMathPara>
                </a14:m>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𝑚</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𝑏</m:t>
                          </m:r>
                        </m:e>
                        <m:sup>
                          <m:r>
                            <a:rPr lang="en-IN" b="0" i="1" smtClean="0">
                              <a:latin typeface="Cambria Math" panose="02040503050406030204" pitchFamily="18" charset="0"/>
                            </a:rPr>
                            <m:t>′</m:t>
                          </m:r>
                        </m:sup>
                      </m:sSup>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𝑛</m:t>
                          </m:r>
                        </m:sub>
                        <m:sup>
                          <m:r>
                            <a:rPr lang="en-IN" b="0" i="1" smtClean="0">
                              <a:latin typeface="Cambria Math" panose="02040503050406030204" pitchFamily="18" charset="0"/>
                            </a:rPr>
                            <m:t>′</m:t>
                          </m:r>
                        </m:sup>
                      </m:sSubSup>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217" t="-2241" b="-1401"/>
                </a:stretch>
              </a:blipFill>
            </p:spPr>
            <p:txBody>
              <a:bodyPr/>
              <a:lstStyle/>
              <a:p>
                <a:r>
                  <a:rPr lang="en-IN">
                    <a:noFill/>
                  </a:rPr>
                  <a:t> </a:t>
                </a:r>
              </a:p>
            </p:txBody>
          </p:sp>
        </mc:Fallback>
      </mc:AlternateContent>
    </p:spTree>
    <p:extLst>
      <p:ext uri="{BB962C8B-B14F-4D97-AF65-F5344CB8AC3E}">
        <p14:creationId xmlns:p14="http://schemas.microsoft.com/office/powerpoint/2010/main" val="2200571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normAutofit fontScale="92500" lnSpcReduction="10000"/>
              </a:bodyPr>
              <a:lstStyle/>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oMath>
                  </m:oMathPara>
                </a14:m>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𝑚</m:t>
                      </m:r>
                      <m:r>
                        <a:rPr lang="en-IN" b="0" i="1" smtClean="0">
                          <a:latin typeface="Cambria Math" panose="02040503050406030204" pitchFamily="18" charset="0"/>
                        </a:rPr>
                        <m:t>(</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𝑏</m:t>
                          </m:r>
                        </m:e>
                        <m:sup>
                          <m:r>
                            <a:rPr lang="en-IN" b="0" i="1" smtClean="0">
                              <a:latin typeface="Cambria Math" panose="02040503050406030204" pitchFamily="18" charset="0"/>
                            </a:rPr>
                            <m:t>′</m:t>
                          </m:r>
                        </m:sup>
                      </m:sSup>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𝑛</m:t>
                          </m:r>
                        </m:sub>
                        <m:sup>
                          <m:r>
                            <a:rPr lang="en-IN" b="0" i="1" smtClean="0">
                              <a:latin typeface="Cambria Math" panose="02040503050406030204" pitchFamily="18" charset="0"/>
                            </a:rPr>
                            <m:t>′</m:t>
                          </m:r>
                        </m:sup>
                      </m:sSubSup>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r>
                  <a:rPr lang="en-IN" dirty="0"/>
                  <a:t>for some integer </a:t>
                </a:r>
                <a14:m>
                  <m:oMath xmlns:m="http://schemas.openxmlformats.org/officeDocument/2006/math">
                    <m:r>
                      <a:rPr lang="en-IN" b="0" i="1" smtClean="0">
                        <a:latin typeface="Cambria Math" panose="02040503050406030204" pitchFamily="18" charset="0"/>
                      </a:rPr>
                      <m:t>𝛽</m:t>
                    </m:r>
                  </m:oMath>
                </a14:m>
                <a:r>
                  <a:rPr lang="en-IN" dirty="0"/>
                  <a:t> because </a:t>
                </a:r>
                <a14:m>
                  <m:oMath xmlns:m="http://schemas.openxmlformats.org/officeDocument/2006/math">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𝑛</m:t>
                        </m:r>
                      </m:sub>
                      <m:sup>
                        <m:r>
                          <a:rPr lang="en-IN" b="0" i="1" smtClean="0">
                            <a:latin typeface="Cambria Math" panose="02040503050406030204" pitchFamily="18" charset="0"/>
                          </a:rPr>
                          <m:t>′</m:t>
                        </m:r>
                      </m:sup>
                    </m:sSubSup>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 </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𝑏</m:t>
                        </m:r>
                      </m:e>
                      <m:sup>
                        <m:r>
                          <a:rPr lang="en-IN" b="0" i="1" smtClean="0">
                            <a:latin typeface="Cambria Math" panose="02040503050406030204" pitchFamily="18" charset="0"/>
                          </a:rPr>
                          <m:t>′</m:t>
                        </m:r>
                      </m:sup>
                    </m:sSup>
                  </m:oMath>
                </a14:m>
                <a:r>
                  <a:rPr lang="en-IN" dirty="0"/>
                  <a:t> are integers</a:t>
                </a:r>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1</m:t>
                              </m:r>
                            </m:sub>
                          </m:sSub>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 </m:t>
                          </m:r>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1</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𝑛</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 −</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𝑚</m:t>
                      </m:r>
                    </m:oMath>
                  </m:oMathPara>
                </a14:m>
                <a:endParaRPr lang="en-IN" dirty="0"/>
              </a:p>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1</m:t>
                              </m:r>
                            </m:sub>
                          </m:sSub>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 </m:t>
                          </m:r>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𝛼</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b="-2101"/>
                </a:stretch>
              </a:blipFill>
            </p:spPr>
            <p:txBody>
              <a:bodyPr/>
              <a:lstStyle/>
              <a:p>
                <a:r>
                  <a:rPr lang="en-IN">
                    <a:noFill/>
                  </a:rPr>
                  <a:t> </a:t>
                </a:r>
              </a:p>
            </p:txBody>
          </p:sp>
        </mc:Fallback>
      </mc:AlternateContent>
    </p:spTree>
    <p:extLst>
      <p:ext uri="{BB962C8B-B14F-4D97-AF65-F5344CB8AC3E}">
        <p14:creationId xmlns:p14="http://schemas.microsoft.com/office/powerpoint/2010/main" val="3863622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left"/>
                    </m:oMathParaPr>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m:t>
                          </m:r>
                          <m:r>
                            <a:rPr lang="en-IN" sz="2400" b="0" i="1" smtClean="0">
                              <a:latin typeface="Cambria Math" panose="02040503050406030204" pitchFamily="18" charset="0"/>
                            </a:rPr>
                            <m:t>𝑎</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𝑚𝑜𝑑</m:t>
                      </m:r>
                      <m:r>
                        <a:rPr lang="en-IN" sz="2400" b="0" i="1" smtClean="0">
                          <a:latin typeface="Cambria Math" panose="02040503050406030204" pitchFamily="18" charset="0"/>
                        </a:rPr>
                        <m:t> </m:t>
                      </m:r>
                      <m:r>
                        <a:rPr lang="en-IN" sz="2400" b="0" i="1" smtClean="0">
                          <a:latin typeface="Cambria Math" panose="02040503050406030204" pitchFamily="18" charset="0"/>
                        </a:rPr>
                        <m:t>𝑚</m:t>
                      </m:r>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𝑥</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m:t>
                          </m:r>
                          <m:r>
                            <a:rPr lang="en-IN" sz="2400" b="0" i="1" smtClean="0">
                              <a:latin typeface="Cambria Math" panose="02040503050406030204" pitchFamily="18" charset="0"/>
                            </a:rPr>
                            <m:t>𝑎</m:t>
                          </m:r>
                        </m:e>
                        <m:sub>
                          <m:r>
                            <a:rPr lang="en-IN" sz="2400" b="0" i="1" smtClean="0">
                              <a:latin typeface="Cambria Math" panose="02040503050406030204" pitchFamily="18" charset="0"/>
                            </a:rPr>
                            <m:t>𝑛</m:t>
                          </m:r>
                        </m:sub>
                      </m:sSub>
                      <m:r>
                        <a:rPr lang="en-IN" sz="2400" b="0" i="1" smtClean="0">
                          <a:latin typeface="Cambria Math" panose="02040503050406030204" pitchFamily="18" charset="0"/>
                        </a:rPr>
                        <m:t>𝑚𝑜𝑑</m:t>
                      </m:r>
                      <m:r>
                        <a:rPr lang="en-IN" sz="2400" b="0" i="1" smtClean="0">
                          <a:latin typeface="Cambria Math" panose="02040503050406030204" pitchFamily="18" charset="0"/>
                        </a:rPr>
                        <m:t> </m:t>
                      </m:r>
                      <m:r>
                        <a:rPr lang="en-IN" sz="2400" b="0" i="1" smtClean="0">
                          <a:latin typeface="Cambria Math" panose="02040503050406030204" pitchFamily="18" charset="0"/>
                        </a:rPr>
                        <m:t>𝑚</m:t>
                      </m:r>
                      <m:r>
                        <a:rPr lang="en-IN" sz="2400" b="0" i="1" smtClean="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𝑥</m:t>
                          </m:r>
                        </m:e>
                        <m:sub>
                          <m:r>
                            <a:rPr lang="en-IN" sz="2400" i="1">
                              <a:latin typeface="Cambria Math" panose="02040503050406030204" pitchFamily="18" charset="0"/>
                            </a:rPr>
                            <m:t>𝑛</m:t>
                          </m:r>
                        </m:sub>
                      </m:sSub>
                      <m:r>
                        <a:rPr lang="en-IN" sz="2400" b="0" i="1" smtClean="0">
                          <a:latin typeface="Cambria Math" panose="02040503050406030204" pitchFamily="18" charset="0"/>
                        </a:rPr>
                        <m:t>=</m:t>
                      </m:r>
                      <m:r>
                        <a:rPr lang="en-IN" sz="2400" b="0" i="1" smtClean="0">
                          <a:latin typeface="Cambria Math" panose="02040503050406030204" pitchFamily="18" charset="0"/>
                        </a:rPr>
                        <m:t>𝑚</m:t>
                      </m:r>
                      <m:r>
                        <a:rPr lang="en-IN" sz="2400" b="0" i="1" smtClean="0">
                          <a:latin typeface="Cambria Math" panose="02040503050406030204" pitchFamily="18" charset="0"/>
                        </a:rPr>
                        <m:t>(</m:t>
                      </m:r>
                      <m:sSup>
                        <m:sSupPr>
                          <m:ctrlPr>
                            <a:rPr lang="en-IN" sz="2400" b="0" i="1" smtClean="0">
                              <a:latin typeface="Cambria Math" panose="02040503050406030204" pitchFamily="18" charset="0"/>
                            </a:rPr>
                          </m:ctrlPr>
                        </m:sSupPr>
                        <m:e>
                          <m:r>
                            <a:rPr lang="en-IN" sz="2400" b="0" i="1" smtClean="0">
                              <a:latin typeface="Cambria Math" panose="02040503050406030204" pitchFamily="18" charset="0"/>
                            </a:rPr>
                            <m:t>𝑏</m:t>
                          </m:r>
                        </m:e>
                        <m:sup>
                          <m:r>
                            <a:rPr lang="en-IN" sz="2400" b="0" i="1" smtClean="0">
                              <a:latin typeface="Cambria Math" panose="02040503050406030204" pitchFamily="18" charset="0"/>
                            </a:rPr>
                            <m:t>′</m:t>
                          </m:r>
                        </m:sup>
                      </m:sSup>
                      <m:r>
                        <a:rPr lang="en-IN" sz="2400" b="0" i="1" smtClean="0">
                          <a:latin typeface="Cambria Math" panose="02040503050406030204" pitchFamily="18" charset="0"/>
                        </a:rPr>
                        <m:t>−</m:t>
                      </m:r>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m:t>
                          </m:r>
                          <m:r>
                            <a:rPr lang="en-IN" sz="2400" b="0" i="1" smtClean="0">
                              <a:latin typeface="Cambria Math" panose="02040503050406030204" pitchFamily="18" charset="0"/>
                            </a:rPr>
                            <m:t>𝑎</m:t>
                          </m:r>
                        </m:e>
                        <m:sub>
                          <m:r>
                            <a:rPr lang="en-IN" sz="2400" b="0" i="1" smtClean="0">
                              <a:latin typeface="Cambria Math" panose="02040503050406030204" pitchFamily="18" charset="0"/>
                            </a:rPr>
                            <m:t>1</m:t>
                          </m:r>
                        </m:sub>
                        <m:sup>
                          <m:r>
                            <a:rPr lang="en-IN" sz="2400" b="0" i="1" smtClean="0">
                              <a:latin typeface="Cambria Math" panose="02040503050406030204" pitchFamily="18" charset="0"/>
                            </a:rPr>
                            <m:t>′</m:t>
                          </m:r>
                        </m:sup>
                      </m:sSubSup>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𝑥</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Sup>
                        <m:sSubSupPr>
                          <m:ctrlPr>
                            <a:rPr lang="en-IN" sz="2400" b="0" i="1" smtClean="0">
                              <a:latin typeface="Cambria Math" panose="02040503050406030204" pitchFamily="18" charset="0"/>
                            </a:rPr>
                          </m:ctrlPr>
                        </m:sSubSupPr>
                        <m:e>
                          <m:r>
                            <a:rPr lang="en-IN" sz="2400" b="0" i="1" smtClean="0">
                              <a:latin typeface="Cambria Math" panose="02040503050406030204" pitchFamily="18" charset="0"/>
                            </a:rPr>
                            <m:t>𝑎</m:t>
                          </m:r>
                        </m:e>
                        <m:sub>
                          <m:r>
                            <a:rPr lang="en-IN" sz="2400" b="0" i="1" smtClean="0">
                              <a:latin typeface="Cambria Math" panose="02040503050406030204" pitchFamily="18" charset="0"/>
                            </a:rPr>
                            <m:t>𝑛</m:t>
                          </m:r>
                        </m:sub>
                        <m:sup>
                          <m:r>
                            <a:rPr lang="en-IN" sz="2400" b="0" i="1" smtClean="0">
                              <a:latin typeface="Cambria Math" panose="02040503050406030204" pitchFamily="18" charset="0"/>
                            </a:rPr>
                            <m:t>′</m:t>
                          </m:r>
                        </m:sup>
                      </m:sSubSup>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𝑥</m:t>
                          </m:r>
                        </m:e>
                        <m:sub>
                          <m:r>
                            <a:rPr lang="en-IN" sz="2400" b="0" i="1" smtClean="0">
                              <a:latin typeface="Cambria Math" panose="02040503050406030204" pitchFamily="18" charset="0"/>
                            </a:rPr>
                            <m:t>𝑛</m:t>
                          </m:r>
                        </m:sub>
                      </m:sSub>
                      <m:r>
                        <a:rPr lang="en-IN" sz="2400" b="0" i="1" smtClean="0">
                          <a:latin typeface="Cambria Math" panose="02040503050406030204" pitchFamily="18" charset="0"/>
                        </a:rPr>
                        <m:t>))+(</m:t>
                      </m:r>
                      <m:r>
                        <a:rPr lang="en-IN" sz="2400" b="0" i="1" smtClean="0">
                          <a:latin typeface="Cambria Math" panose="02040503050406030204" pitchFamily="18" charset="0"/>
                        </a:rPr>
                        <m:t>𝑏</m:t>
                      </m:r>
                      <m:r>
                        <a:rPr lang="en-IN" sz="2400" b="0" i="1" smtClean="0">
                          <a:latin typeface="Cambria Math" panose="02040503050406030204" pitchFamily="18" charset="0"/>
                        </a:rPr>
                        <m:t> </m:t>
                      </m:r>
                      <m:r>
                        <a:rPr lang="en-IN" sz="2400" b="0" i="1" smtClean="0">
                          <a:latin typeface="Cambria Math" panose="02040503050406030204" pitchFamily="18" charset="0"/>
                        </a:rPr>
                        <m:t>𝑚𝑜𝑑</m:t>
                      </m:r>
                      <m:r>
                        <a:rPr lang="en-IN" sz="2400" b="0" i="1" smtClean="0">
                          <a:latin typeface="Cambria Math" panose="02040503050406030204" pitchFamily="18" charset="0"/>
                        </a:rPr>
                        <m:t> </m:t>
                      </m:r>
                      <m:r>
                        <a:rPr lang="en-IN" sz="2400" b="0" i="1" smtClean="0">
                          <a:latin typeface="Cambria Math" panose="02040503050406030204" pitchFamily="18" charset="0"/>
                        </a:rPr>
                        <m:t>𝑚</m:t>
                      </m:r>
                      <m:r>
                        <a:rPr lang="en-IN" sz="2400" b="0" i="1" smtClean="0">
                          <a:latin typeface="Cambria Math" panose="02040503050406030204" pitchFamily="18" charset="0"/>
                        </a:rPr>
                        <m:t>)</m:t>
                      </m:r>
                    </m:oMath>
                  </m:oMathPara>
                </a14:m>
                <a:endParaRPr lang="en-IN" sz="2400" dirty="0"/>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r>
                  <a:rPr lang="en-IN" dirty="0"/>
                  <a:t>for some integer </a:t>
                </a:r>
                <a14:m>
                  <m:oMath xmlns:m="http://schemas.openxmlformats.org/officeDocument/2006/math">
                    <m:r>
                      <a:rPr lang="en-IN" b="0" i="1" smtClean="0">
                        <a:latin typeface="Cambria Math" panose="02040503050406030204" pitchFamily="18" charset="0"/>
                      </a:rPr>
                      <m:t>𝛽</m:t>
                    </m:r>
                  </m:oMath>
                </a14:m>
                <a:r>
                  <a:rPr lang="en-IN" dirty="0"/>
                  <a:t> because </a:t>
                </a:r>
                <a14:m>
                  <m:oMath xmlns:m="http://schemas.openxmlformats.org/officeDocument/2006/math">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1</m:t>
                        </m:r>
                      </m:sub>
                      <m:sup>
                        <m:r>
                          <a:rPr lang="en-IN" b="0" i="1" smtClean="0">
                            <a:latin typeface="Cambria Math" panose="02040503050406030204" pitchFamily="18" charset="0"/>
                          </a:rPr>
                          <m:t>′</m:t>
                        </m:r>
                      </m:sup>
                    </m:sSubSup>
                    <m:r>
                      <a:rPr lang="en-IN" b="0" i="1" smtClean="0">
                        <a:latin typeface="Cambria Math" panose="02040503050406030204" pitchFamily="18" charset="0"/>
                      </a:rPr>
                      <m:t>,..,</m:t>
                    </m:r>
                    <m:sSubSup>
                      <m:sSubSupPr>
                        <m:ctrlPr>
                          <a:rPr lang="en-IN" b="0" i="1" smtClean="0">
                            <a:latin typeface="Cambria Math" panose="02040503050406030204" pitchFamily="18" charset="0"/>
                          </a:rPr>
                        </m:ctrlPr>
                      </m:sSubSupPr>
                      <m:e>
                        <m:r>
                          <a:rPr lang="en-IN" b="0" i="1" smtClean="0">
                            <a:latin typeface="Cambria Math" panose="02040503050406030204" pitchFamily="18" charset="0"/>
                          </a:rPr>
                          <m:t>𝑎</m:t>
                        </m:r>
                      </m:e>
                      <m:sub>
                        <m:r>
                          <a:rPr lang="en-IN" b="0" i="1" smtClean="0">
                            <a:latin typeface="Cambria Math" panose="02040503050406030204" pitchFamily="18" charset="0"/>
                          </a:rPr>
                          <m:t>𝑛</m:t>
                        </m:r>
                      </m:sub>
                      <m:sup>
                        <m:r>
                          <a:rPr lang="en-IN" b="0" i="1" smtClean="0">
                            <a:latin typeface="Cambria Math" panose="02040503050406030204" pitchFamily="18" charset="0"/>
                          </a:rPr>
                          <m:t>′</m:t>
                        </m:r>
                      </m:sup>
                    </m:sSubSup>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 </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𝑏</m:t>
                        </m:r>
                      </m:e>
                      <m:sup>
                        <m:r>
                          <a:rPr lang="en-IN" b="0" i="1" smtClean="0">
                            <a:latin typeface="Cambria Math" panose="02040503050406030204" pitchFamily="18" charset="0"/>
                          </a:rPr>
                          <m:t>′</m:t>
                        </m:r>
                      </m:sup>
                    </m:sSup>
                  </m:oMath>
                </a14:m>
                <a:r>
                  <a:rPr lang="en-IN" dirty="0"/>
                  <a:t> are integers</a:t>
                </a:r>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1</m:t>
                              </m:r>
                            </m:sub>
                          </m:sSub>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 </m:t>
                          </m:r>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𝑖</m:t>
                          </m:r>
                        </m:e>
                        <m:sub>
                          <m:r>
                            <a:rPr lang="en-IN" b="0" i="1" smtClean="0">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1</m:t>
                          </m:r>
                        </m:sub>
                      </m:sSub>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 −</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𝑚</m:t>
                      </m:r>
                    </m:oMath>
                  </m:oMathPara>
                </a14:m>
                <a:endParaRPr lang="en-IN" dirty="0"/>
              </a:p>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𝛼</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𝛼</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IN">
                    <a:noFill/>
                  </a:rPr>
                  <a:t> </a:t>
                </a:r>
              </a:p>
            </p:txBody>
          </p:sp>
        </mc:Fallback>
      </mc:AlternateContent>
    </p:spTree>
    <p:extLst>
      <p:ext uri="{BB962C8B-B14F-4D97-AF65-F5344CB8AC3E}">
        <p14:creationId xmlns:p14="http://schemas.microsoft.com/office/powerpoint/2010/main" val="916635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normAutofit fontScale="92500"/>
              </a:bodyPr>
              <a:lstStyle/>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1</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m:t>
                          </m:r>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0" i="1" smtClean="0">
                          <a:latin typeface="Cambria Math" panose="02040503050406030204" pitchFamily="18" charset="0"/>
                        </a:rPr>
                        <m:t>=</m:t>
                      </m:r>
                      <m:r>
                        <a:rPr lang="en-IN" b="0" i="1" smtClean="0">
                          <a:latin typeface="Cambria Math" panose="02040503050406030204" pitchFamily="18" charset="0"/>
                        </a:rPr>
                        <m:t>𝑚</m:t>
                      </m:r>
                      <m:r>
                        <a:rPr lang="en-IN" b="0" i="1" smtClean="0">
                          <a:latin typeface="Cambria Math" panose="02040503050406030204" pitchFamily="18" charset="0"/>
                        </a:rPr>
                        <m:t>𝛼</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r>
                        <a:rPr lang="en-IN" b="0" i="1" smtClean="0">
                          <a:latin typeface="Cambria Math" panose="02040503050406030204" pitchFamily="18" charset="0"/>
                        </a:rPr>
                        <m:t>𝑚𝑜𝑑</m:t>
                      </m:r>
                      <m:r>
                        <a:rPr lang="en-IN" b="0" i="1" smtClean="0">
                          <a:latin typeface="Cambria Math" panose="02040503050406030204" pitchFamily="18" charset="0"/>
                        </a:rPr>
                        <m:t>′ </m:t>
                      </m:r>
                      <m:r>
                        <a:rPr lang="en-IN" b="0" i="1" smtClean="0">
                          <a:latin typeface="Cambria Math" panose="02040503050406030204" pitchFamily="18" charset="0"/>
                        </a:rPr>
                        <m:t>𝑚</m:t>
                      </m:r>
                      <m:r>
                        <a:rPr lang="en-IN" b="0" i="1" smtClean="0">
                          <a:latin typeface="Cambria Math" panose="02040503050406030204" pitchFamily="18" charset="0"/>
                        </a:rPr>
                        <m:t>)</m:t>
                      </m:r>
                    </m:oMath>
                  </m:oMathPara>
                </a14:m>
                <a:endParaRPr lang="en-IN" dirty="0"/>
              </a:p>
              <a:p>
                <a:pPr marL="0" indent="0">
                  <a:buNone/>
                </a:pPr>
                <a:endParaRPr lang="en-IN" dirty="0"/>
              </a:p>
              <a:p>
                <a:pPr marL="0" indent="0">
                  <a:buNone/>
                </a:pPr>
                <a14:m>
                  <m:oMath xmlns:m="http://schemas.openxmlformats.org/officeDocument/2006/math">
                    <m:r>
                      <a:rPr lang="en-IN" b="0" i="1" smtClean="0">
                        <a:solidFill>
                          <a:schemeClr val="accent1"/>
                        </a:solidFill>
                        <a:latin typeface="Cambria Math" panose="02040503050406030204" pitchFamily="18" charset="0"/>
                      </a:rPr>
                      <m:t>𝑎</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𝑚𝑜</m:t>
                    </m:r>
                    <m:sSup>
                      <m:sSupPr>
                        <m:ctrlPr>
                          <a:rPr lang="en-IN" b="0" i="1" smtClean="0">
                            <a:solidFill>
                              <a:schemeClr val="accent1"/>
                            </a:solidFill>
                            <a:latin typeface="Cambria Math" panose="02040503050406030204" pitchFamily="18" charset="0"/>
                          </a:rPr>
                        </m:ctrlPr>
                      </m:sSupPr>
                      <m:e>
                        <m:r>
                          <a:rPr lang="en-IN" b="0" i="1" smtClean="0">
                            <a:solidFill>
                              <a:schemeClr val="accent1"/>
                            </a:solidFill>
                            <a:latin typeface="Cambria Math" panose="02040503050406030204" pitchFamily="18" charset="0"/>
                          </a:rPr>
                          <m:t>𝑑</m:t>
                        </m:r>
                      </m:e>
                      <m:sup>
                        <m:r>
                          <a:rPr lang="en-IN" b="0" i="1" smtClean="0">
                            <a:solidFill>
                              <a:schemeClr val="accent1"/>
                            </a:solidFill>
                            <a:latin typeface="Cambria Math" panose="02040503050406030204" pitchFamily="18" charset="0"/>
                          </a:rPr>
                          <m:t>′</m:t>
                        </m:r>
                      </m:sup>
                    </m:sSup>
                    <m:r>
                      <a:rPr lang="en-IN" b="0" i="1" smtClean="0">
                        <a:solidFill>
                          <a:schemeClr val="accent1"/>
                        </a:solidFill>
                        <a:latin typeface="Cambria Math" panose="02040503050406030204" pitchFamily="18" charset="0"/>
                      </a:rPr>
                      <m:t>𝑏</m:t>
                    </m:r>
                  </m:oMath>
                </a14:m>
                <a:r>
                  <a:rPr lang="en-IN" dirty="0">
                    <a:solidFill>
                      <a:schemeClr val="accent1"/>
                    </a:solidFill>
                  </a:rPr>
                  <a:t> </a:t>
                </a:r>
                <a:r>
                  <a:rPr lang="en-IN" dirty="0"/>
                  <a:t>is defined as:</a:t>
                </a:r>
              </a:p>
              <a:p>
                <a:pPr marL="0" indent="0">
                  <a:buNone/>
                </a:pPr>
                <a14:m>
                  <m:oMath xmlns:m="http://schemas.openxmlformats.org/officeDocument/2006/math">
                    <m:r>
                      <a:rPr lang="en-IN" b="0" i="1" smtClean="0">
                        <a:solidFill>
                          <a:schemeClr val="accent1"/>
                        </a:solidFill>
                        <a:latin typeface="Cambria Math" panose="02040503050406030204" pitchFamily="18" charset="0"/>
                      </a:rPr>
                      <m:t>𝑎</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𝑚𝑜𝑑</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𝑏</m:t>
                    </m:r>
                  </m:oMath>
                </a14:m>
                <a:r>
                  <a:rPr lang="en-IN" dirty="0">
                    <a:solidFill>
                      <a:schemeClr val="accent1"/>
                    </a:solidFill>
                  </a:rPr>
                  <a:t>                      if </a:t>
                </a:r>
                <a14:m>
                  <m:oMath xmlns:m="http://schemas.openxmlformats.org/officeDocument/2006/math">
                    <m:r>
                      <a:rPr lang="en-IN" b="0" i="1" smtClean="0">
                        <a:solidFill>
                          <a:schemeClr val="accent1"/>
                        </a:solidFill>
                        <a:latin typeface="Cambria Math" panose="02040503050406030204" pitchFamily="18" charset="0"/>
                      </a:rPr>
                      <m:t>𝑎</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𝑚𝑜𝑑</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𝑏</m:t>
                    </m:r>
                    <m:r>
                      <a:rPr lang="en-IN" b="0" i="1" smtClean="0">
                        <a:solidFill>
                          <a:schemeClr val="accent1"/>
                        </a:solidFill>
                        <a:latin typeface="Cambria Math" panose="02040503050406030204" pitchFamily="18" charset="0"/>
                      </a:rPr>
                      <m:t>&lt;</m:t>
                    </m:r>
                    <m:f>
                      <m:fPr>
                        <m:ctrlPr>
                          <a:rPr lang="en-IN" b="0" i="1" smtClean="0">
                            <a:solidFill>
                              <a:schemeClr val="accent1"/>
                            </a:solidFill>
                            <a:latin typeface="Cambria Math" panose="02040503050406030204" pitchFamily="18" charset="0"/>
                          </a:rPr>
                        </m:ctrlPr>
                      </m:fPr>
                      <m:num>
                        <m:r>
                          <a:rPr lang="en-IN" b="0" i="1" smtClean="0">
                            <a:solidFill>
                              <a:schemeClr val="accent1"/>
                            </a:solidFill>
                            <a:latin typeface="Cambria Math" panose="02040503050406030204" pitchFamily="18" charset="0"/>
                          </a:rPr>
                          <m:t>𝑏</m:t>
                        </m:r>
                      </m:num>
                      <m:den>
                        <m:r>
                          <a:rPr lang="en-IN" b="0" i="1" smtClean="0">
                            <a:solidFill>
                              <a:schemeClr val="accent1"/>
                            </a:solidFill>
                            <a:latin typeface="Cambria Math" panose="02040503050406030204" pitchFamily="18" charset="0"/>
                          </a:rPr>
                          <m:t>2</m:t>
                        </m:r>
                      </m:den>
                    </m:f>
                  </m:oMath>
                </a14:m>
                <a:endParaRPr lang="en-IN" dirty="0">
                  <a:solidFill>
                    <a:schemeClr val="accent1"/>
                  </a:solidFill>
                </a:endParaRPr>
              </a:p>
              <a:p>
                <a:pPr marL="0" indent="0">
                  <a:buNone/>
                </a:pPr>
                <a14:m>
                  <m:oMath xmlns:m="http://schemas.openxmlformats.org/officeDocument/2006/math">
                    <m:d>
                      <m:dPr>
                        <m:ctrlPr>
                          <a:rPr lang="en-IN" b="0" i="1" smtClean="0">
                            <a:solidFill>
                              <a:schemeClr val="accent1"/>
                            </a:solidFill>
                            <a:latin typeface="Cambria Math" panose="02040503050406030204" pitchFamily="18" charset="0"/>
                          </a:rPr>
                        </m:ctrlPr>
                      </m:dPr>
                      <m:e>
                        <m:r>
                          <a:rPr lang="en-IN" b="0" i="1" smtClean="0">
                            <a:solidFill>
                              <a:schemeClr val="accent1"/>
                            </a:solidFill>
                            <a:latin typeface="Cambria Math" panose="02040503050406030204" pitchFamily="18" charset="0"/>
                          </a:rPr>
                          <m:t>𝑎</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𝑚𝑜𝑑</m:t>
                        </m:r>
                        <m:r>
                          <a:rPr lang="en-IN" b="0" i="1" smtClean="0">
                            <a:solidFill>
                              <a:schemeClr val="accent1"/>
                            </a:solidFill>
                            <a:latin typeface="Cambria Math" panose="02040503050406030204" pitchFamily="18" charset="0"/>
                          </a:rPr>
                          <m:t> </m:t>
                        </m:r>
                        <m:r>
                          <a:rPr lang="en-IN" b="0" i="1" smtClean="0">
                            <a:solidFill>
                              <a:schemeClr val="accent1"/>
                            </a:solidFill>
                            <a:latin typeface="Cambria Math" panose="02040503050406030204" pitchFamily="18" charset="0"/>
                          </a:rPr>
                          <m:t>𝑏</m:t>
                        </m:r>
                      </m:e>
                    </m:d>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𝑏</m:t>
                    </m:r>
                  </m:oMath>
                </a14:m>
                <a:r>
                  <a:rPr lang="en-IN" dirty="0">
                    <a:solidFill>
                      <a:schemeClr val="accent1"/>
                    </a:solidFill>
                  </a:rPr>
                  <a:t>          Otherwise </a:t>
                </a:r>
              </a:p>
              <a:p>
                <a:pPr marL="0" indent="0">
                  <a:buNone/>
                </a:pPr>
                <a:endParaRPr lang="en-IN" dirty="0">
                  <a:solidFill>
                    <a:schemeClr val="accent1"/>
                  </a:solidFill>
                </a:endParaRPr>
              </a:p>
              <a:p>
                <a:r>
                  <a:rPr lang="en-IN" dirty="0"/>
                  <a:t>Transform the equation using </a:t>
                </a:r>
                <a:r>
                  <a:rPr lang="en-IN" dirty="0">
                    <a:solidFill>
                      <a:schemeClr val="accent1"/>
                    </a:solidFill>
                  </a:rPr>
                  <a:t>mod’ </a:t>
                </a:r>
                <a:r>
                  <a:rPr lang="en-IN" dirty="0"/>
                  <a:t>operator. In the resulting equation, the coefficient of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oMath>
                </a14:m>
                <a:r>
                  <a:rPr lang="en-IN" dirty="0"/>
                  <a:t> will be -1, because m =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𝑎</m:t>
                        </m:r>
                      </m:e>
                      <m:sub>
                        <m:r>
                          <a:rPr lang="en-IN" b="0" i="1" smtClean="0">
                            <a:latin typeface="Cambria Math" panose="02040503050406030204" pitchFamily="18" charset="0"/>
                          </a:rPr>
                          <m:t>𝑛</m:t>
                        </m:r>
                      </m:sub>
                    </m:sSub>
                    <m:r>
                      <a:rPr lang="en-IN" b="0" i="1" smtClean="0">
                        <a:latin typeface="Cambria Math" panose="02040503050406030204" pitchFamily="18" charset="0"/>
                      </a:rPr>
                      <m:t>+1</m:t>
                    </m:r>
                  </m:oMath>
                </a14:m>
                <a:r>
                  <a:rPr lang="en-IN" dirty="0"/>
                  <a:t>. Eliminate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oMath>
                </a14:m>
                <a:r>
                  <a:rPr lang="en-IN" dirty="0"/>
                  <a:t> from all equations. The resulting equations will have smaller coefficients.</a:t>
                </a:r>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928" r="-522" b="-700"/>
                </a:stretch>
              </a:blipFill>
            </p:spPr>
            <p:txBody>
              <a:bodyPr/>
              <a:lstStyle/>
              <a:p>
                <a:r>
                  <a:rPr lang="en-IN">
                    <a:noFill/>
                  </a:rPr>
                  <a:t> </a:t>
                </a:r>
              </a:p>
            </p:txBody>
          </p:sp>
        </mc:Fallback>
      </mc:AlternateContent>
    </p:spTree>
    <p:extLst>
      <p:ext uri="{BB962C8B-B14F-4D97-AF65-F5344CB8AC3E}">
        <p14:creationId xmlns:p14="http://schemas.microsoft.com/office/powerpoint/2010/main" val="3892104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lstStyle/>
              <a:p>
                <a:r>
                  <a:rPr lang="en-IN" dirty="0"/>
                  <a:t>Does </a:t>
                </a:r>
                <a14:m>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=97</m:t>
                    </m:r>
                  </m:oMath>
                </a14:m>
                <a:r>
                  <a:rPr lang="en-IN" dirty="0"/>
                  <a:t> have an integer solution?</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205901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normAutofit fontScale="92500" lnSpcReduction="10000"/>
              </a:bodyPr>
              <a:lstStyle/>
              <a:p>
                <a:r>
                  <a:rPr lang="en-IN" dirty="0"/>
                  <a:t>Does </a:t>
                </a:r>
                <a14:m>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=97</m:t>
                    </m:r>
                  </m:oMath>
                </a14:m>
                <a:r>
                  <a:rPr lang="en-IN" dirty="0"/>
                  <a:t> have an integer solution?</a:t>
                </a:r>
              </a:p>
              <a:p>
                <a:pPr marL="0" indent="0">
                  <a:buNone/>
                </a:pPr>
                <a14:m>
                  <m:oMath xmlns:m="http://schemas.openxmlformats.org/officeDocument/2006/math">
                    <m:r>
                      <a:rPr lang="en-IN" b="0" i="1" smtClean="0">
                        <a:latin typeface="Cambria Math" panose="02040503050406030204" pitchFamily="18" charset="0"/>
                      </a:rPr>
                      <m:t>𝑚</m:t>
                    </m:r>
                  </m:oMath>
                </a14:m>
                <a:r>
                  <a:rPr lang="en-IN" dirty="0"/>
                  <a:t> = 9</a:t>
                </a:r>
              </a:p>
              <a:p>
                <a:pPr marL="0" indent="0">
                  <a:buNone/>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15 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9</m:t>
                          </m:r>
                        </m:e>
                      </m:d>
                      <m:r>
                        <a:rPr lang="en-IN" b="0" i="1" smtClean="0">
                          <a:latin typeface="Cambria Math" panose="02040503050406030204" pitchFamily="18" charset="0"/>
                        </a:rPr>
                        <m:t>𝑥</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8 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9</m:t>
                          </m:r>
                        </m:e>
                      </m:d>
                      <m:r>
                        <a:rPr lang="en-IN" b="0" i="1" smtClean="0">
                          <a:latin typeface="Cambria Math" panose="02040503050406030204" pitchFamily="18" charset="0"/>
                        </a:rPr>
                        <m:t>𝑦</m:t>
                      </m:r>
                      <m:r>
                        <a:rPr lang="en-IN" b="0" i="1" smtClean="0">
                          <a:latin typeface="Cambria Math" panose="02040503050406030204" pitchFamily="18" charset="0"/>
                        </a:rPr>
                        <m:t>=9</m:t>
                      </m:r>
                      <m:r>
                        <a:rPr lang="en-IN" b="0" i="1" smtClean="0">
                          <a:latin typeface="Cambria Math" panose="02040503050406030204" pitchFamily="18" charset="0"/>
                        </a:rPr>
                        <m:t>𝛼</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97 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9</m:t>
                          </m:r>
                        </m:e>
                      </m:d>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=9</m:t>
                      </m:r>
                      <m:r>
                        <a:rPr lang="en-IN" b="0" i="1" smtClean="0">
                          <a:latin typeface="Cambria Math" panose="02040503050406030204" pitchFamily="18" charset="0"/>
                        </a:rPr>
                        <m:t>𝛼</m:t>
                      </m:r>
                      <m:r>
                        <a:rPr lang="en-IN" b="0" i="1" smtClean="0">
                          <a:latin typeface="Cambria Math" panose="02040503050406030204" pitchFamily="18" charset="0"/>
                        </a:rPr>
                        <m:t>−2</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=2 −3</m:t>
                      </m:r>
                      <m:r>
                        <a:rPr lang="en-IN" b="0" i="1" smtClean="0">
                          <a:latin typeface="Cambria Math" panose="02040503050406030204" pitchFamily="18" charset="0"/>
                        </a:rPr>
                        <m:t>𝑥</m:t>
                      </m:r>
                      <m:r>
                        <a:rPr lang="en-IN" b="0" i="1" smtClean="0">
                          <a:latin typeface="Cambria Math" panose="02040503050406030204" pitchFamily="18" charset="0"/>
                        </a:rPr>
                        <m:t> −9</m:t>
                      </m:r>
                      <m:r>
                        <a:rPr lang="en-IN" b="0" i="1" smtClean="0">
                          <a:latin typeface="Cambria Math" panose="02040503050406030204" pitchFamily="18" charset="0"/>
                        </a:rPr>
                        <m:t>𝛼</m:t>
                      </m:r>
                    </m:oMath>
                  </m:oMathPara>
                </a14:m>
                <a:endParaRPr lang="en-IN" dirty="0"/>
              </a:p>
              <a:p>
                <a:pPr marL="0" indent="0">
                  <a:buNone/>
                </a:pPr>
                <a:r>
                  <a:rPr lang="en-IN" dirty="0"/>
                  <a:t>substituting </a:t>
                </a:r>
                <a14:m>
                  <m:oMath xmlns:m="http://schemas.openxmlformats.org/officeDocument/2006/math">
                    <m:r>
                      <a:rPr lang="en-IN" b="0" i="1" smtClean="0">
                        <a:latin typeface="Cambria Math" panose="02040503050406030204" pitchFamily="18" charset="0"/>
                      </a:rPr>
                      <m:t>𝑦</m:t>
                    </m:r>
                  </m:oMath>
                </a14:m>
                <a:r>
                  <a:rPr lang="en-IN" dirty="0"/>
                  <a:t> in all equations</a:t>
                </a: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d>
                        <m:dPr>
                          <m:ctrlPr>
                            <a:rPr lang="en-IN" b="0" i="1" smtClean="0">
                              <a:latin typeface="Cambria Math" panose="02040503050406030204" pitchFamily="18" charset="0"/>
                            </a:rPr>
                          </m:ctrlPr>
                        </m:dPr>
                        <m:e>
                          <m:r>
                            <a:rPr lang="en-IN" b="0" i="1" smtClean="0">
                              <a:latin typeface="Cambria Math" panose="02040503050406030204" pitchFamily="18" charset="0"/>
                            </a:rPr>
                            <m:t>2−3</m:t>
                          </m:r>
                          <m:r>
                            <a:rPr lang="en-IN" b="0" i="1" smtClean="0">
                              <a:latin typeface="Cambria Math" panose="02040503050406030204" pitchFamily="18" charset="0"/>
                            </a:rPr>
                            <m:t>𝑥</m:t>
                          </m:r>
                          <m:r>
                            <a:rPr lang="en-IN" b="0" i="1" smtClean="0">
                              <a:latin typeface="Cambria Math" panose="02040503050406030204" pitchFamily="18" charset="0"/>
                            </a:rPr>
                            <m:t>−9</m:t>
                          </m:r>
                          <m:r>
                            <a:rPr lang="en-IN" b="0" i="1" smtClean="0">
                              <a:latin typeface="Cambria Math" panose="02040503050406030204" pitchFamily="18" charset="0"/>
                            </a:rPr>
                            <m:t>𝛼</m:t>
                          </m:r>
                        </m:e>
                      </m:d>
                      <m:r>
                        <a:rPr lang="en-IN" b="0" i="1" smtClean="0">
                          <a:latin typeface="Cambria Math" panose="02040503050406030204" pitchFamily="18" charset="0"/>
                        </a:rPr>
                        <m:t>=97</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+16 −24</m:t>
                      </m:r>
                      <m:r>
                        <a:rPr lang="en-IN" b="0" i="1" smtClean="0">
                          <a:latin typeface="Cambria Math" panose="02040503050406030204" pitchFamily="18" charset="0"/>
                        </a:rPr>
                        <m:t>𝑥</m:t>
                      </m:r>
                      <m:r>
                        <a:rPr lang="en-IN" b="0" i="1" smtClean="0">
                          <a:latin typeface="Cambria Math" panose="02040503050406030204" pitchFamily="18" charset="0"/>
                        </a:rPr>
                        <m:t> −72</m:t>
                      </m:r>
                      <m:r>
                        <a:rPr lang="en-IN" b="0" i="1" smtClean="0">
                          <a:latin typeface="Cambria Math" panose="02040503050406030204" pitchFamily="18" charset="0"/>
                        </a:rPr>
                        <m:t>𝛼</m:t>
                      </m:r>
                      <m:r>
                        <a:rPr lang="en-IN" b="0" i="1" smtClean="0">
                          <a:latin typeface="Cambria Math" panose="02040503050406030204" pitchFamily="18" charset="0"/>
                        </a:rPr>
                        <m:t>=97</m:t>
                      </m:r>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−9</m:t>
                      </m:r>
                      <m:r>
                        <a:rPr lang="en-IN" b="0" i="1" smtClean="0">
                          <a:latin typeface="Cambria Math" panose="02040503050406030204" pitchFamily="18" charset="0"/>
                        </a:rPr>
                        <m:t>𝑥</m:t>
                      </m:r>
                      <m:r>
                        <a:rPr lang="en-IN" b="0" i="1" smtClean="0">
                          <a:latin typeface="Cambria Math" panose="02040503050406030204" pitchFamily="18" charset="0"/>
                        </a:rPr>
                        <m:t> −72</m:t>
                      </m:r>
                      <m:r>
                        <a:rPr lang="en-IN" b="0" i="1" smtClean="0">
                          <a:latin typeface="Cambria Math" panose="02040503050406030204" pitchFamily="18" charset="0"/>
                        </a:rPr>
                        <m:t>𝛼</m:t>
                      </m:r>
                      <m:r>
                        <a:rPr lang="en-IN" b="0" i="1" smtClean="0">
                          <a:latin typeface="Cambria Math" panose="02040503050406030204" pitchFamily="18" charset="0"/>
                        </a:rPr>
                        <m:t>=81</m:t>
                      </m:r>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−8</m:t>
                      </m:r>
                      <m:r>
                        <a:rPr lang="en-IN" b="0" i="1" smtClean="0">
                          <a:latin typeface="Cambria Math" panose="02040503050406030204" pitchFamily="18" charset="0"/>
                        </a:rPr>
                        <m:t>𝛼</m:t>
                      </m:r>
                      <m:r>
                        <a:rPr lang="en-IN" b="0" i="1" smtClean="0">
                          <a:latin typeface="Cambria Math" panose="02040503050406030204" pitchFamily="18" charset="0"/>
                        </a:rPr>
                        <m:t>=9</m:t>
                      </m:r>
                    </m:oMath>
                  </m:oMathPara>
                </a14:m>
                <a:endParaRPr lang="en-IN" dirty="0"/>
              </a:p>
              <a:p>
                <a:pPr marL="0" indent="0">
                  <a:buNone/>
                </a:pPr>
                <a:r>
                  <a:rPr lang="en-IN" dirty="0"/>
                  <a:t>Therefore, it has an integer solution.</a:t>
                </a:r>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t="-2801" b="-1261"/>
                </a:stretch>
              </a:blipFill>
            </p:spPr>
            <p:txBody>
              <a:bodyPr/>
              <a:lstStyle/>
              <a:p>
                <a:r>
                  <a:rPr lang="en-IN">
                    <a:noFill/>
                  </a:rPr>
                  <a:t> </a:t>
                </a:r>
              </a:p>
            </p:txBody>
          </p:sp>
        </mc:Fallback>
      </mc:AlternateContent>
    </p:spTree>
    <p:extLst>
      <p:ext uri="{BB962C8B-B14F-4D97-AF65-F5344CB8AC3E}">
        <p14:creationId xmlns:p14="http://schemas.microsoft.com/office/powerpoint/2010/main" val="3044249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normAutofit fontScale="92500" lnSpcReduction="10000"/>
              </a:bodyPr>
              <a:lstStyle/>
              <a:p>
                <a:r>
                  <a:rPr lang="en-IN" dirty="0"/>
                  <a:t>Does </a:t>
                </a:r>
                <a14:m>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=97</m:t>
                    </m:r>
                  </m:oMath>
                </a14:m>
                <a:r>
                  <a:rPr lang="en-IN" dirty="0"/>
                  <a:t> have an integer solution?</a:t>
                </a:r>
              </a:p>
              <a:p>
                <a:pPr marL="0" indent="0">
                  <a:buNone/>
                </a:pPr>
                <a14:m>
                  <m:oMath xmlns:m="http://schemas.openxmlformats.org/officeDocument/2006/math">
                    <m:r>
                      <a:rPr lang="en-IN" b="0" i="1" smtClean="0">
                        <a:latin typeface="Cambria Math" panose="02040503050406030204" pitchFamily="18" charset="0"/>
                      </a:rPr>
                      <m:t>𝑚</m:t>
                    </m:r>
                  </m:oMath>
                </a14:m>
                <a:r>
                  <a:rPr lang="en-IN" dirty="0"/>
                  <a:t> = 9</a:t>
                </a:r>
              </a:p>
              <a:p>
                <a:pPr marL="0" indent="0">
                  <a:buNone/>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15 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9</m:t>
                          </m:r>
                        </m:e>
                      </m:d>
                      <m:r>
                        <a:rPr lang="en-IN" b="0" i="1" smtClean="0">
                          <a:latin typeface="Cambria Math" panose="02040503050406030204" pitchFamily="18" charset="0"/>
                        </a:rPr>
                        <m:t>𝑥</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8 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9</m:t>
                          </m:r>
                        </m:e>
                      </m:d>
                      <m:r>
                        <a:rPr lang="en-IN" b="0" i="1" smtClean="0">
                          <a:latin typeface="Cambria Math" panose="02040503050406030204" pitchFamily="18" charset="0"/>
                        </a:rPr>
                        <m:t>𝑦</m:t>
                      </m:r>
                      <m:r>
                        <a:rPr lang="en-IN" b="0" i="1" smtClean="0">
                          <a:latin typeface="Cambria Math" panose="02040503050406030204" pitchFamily="18" charset="0"/>
                        </a:rPr>
                        <m:t>=9</m:t>
                      </m:r>
                      <m:r>
                        <a:rPr lang="en-IN" b="0" i="1" smtClean="0">
                          <a:latin typeface="Cambria Math" panose="02040503050406030204" pitchFamily="18" charset="0"/>
                        </a:rPr>
                        <m:t>𝛼</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97 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9</m:t>
                          </m:r>
                        </m:e>
                      </m:d>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=9</m:t>
                      </m:r>
                      <m:r>
                        <a:rPr lang="en-IN" b="0" i="1" smtClean="0">
                          <a:latin typeface="Cambria Math" panose="02040503050406030204" pitchFamily="18" charset="0"/>
                        </a:rPr>
                        <m:t>𝛼</m:t>
                      </m:r>
                      <m:r>
                        <a:rPr lang="en-IN" b="0" i="1" smtClean="0">
                          <a:latin typeface="Cambria Math" panose="02040503050406030204" pitchFamily="18" charset="0"/>
                        </a:rPr>
                        <m:t>−2</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=2 −3</m:t>
                      </m:r>
                      <m:r>
                        <a:rPr lang="en-IN" b="0" i="1" smtClean="0">
                          <a:latin typeface="Cambria Math" panose="02040503050406030204" pitchFamily="18" charset="0"/>
                        </a:rPr>
                        <m:t>𝑥</m:t>
                      </m:r>
                      <m:r>
                        <a:rPr lang="en-IN" b="0" i="1" smtClean="0">
                          <a:latin typeface="Cambria Math" panose="02040503050406030204" pitchFamily="18" charset="0"/>
                        </a:rPr>
                        <m:t> −9</m:t>
                      </m:r>
                      <m:r>
                        <a:rPr lang="en-IN" b="0" i="1" smtClean="0">
                          <a:latin typeface="Cambria Math" panose="02040503050406030204" pitchFamily="18" charset="0"/>
                        </a:rPr>
                        <m:t>𝛼</m:t>
                      </m:r>
                    </m:oMath>
                  </m:oMathPara>
                </a14:m>
                <a:endParaRPr lang="en-IN" dirty="0"/>
              </a:p>
              <a:p>
                <a:pPr marL="0" indent="0">
                  <a:buNone/>
                </a:pPr>
                <a:r>
                  <a:rPr lang="en-IN" dirty="0"/>
                  <a:t>substituting </a:t>
                </a:r>
                <a14:m>
                  <m:oMath xmlns:m="http://schemas.openxmlformats.org/officeDocument/2006/math">
                    <m:r>
                      <a:rPr lang="en-IN" b="0" i="1" smtClean="0">
                        <a:latin typeface="Cambria Math" panose="02040503050406030204" pitchFamily="18" charset="0"/>
                      </a:rPr>
                      <m:t>𝑦</m:t>
                    </m:r>
                  </m:oMath>
                </a14:m>
                <a:r>
                  <a:rPr lang="en-IN" dirty="0"/>
                  <a:t> in all equations</a:t>
                </a: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+8</m:t>
                      </m:r>
                      <m:d>
                        <m:dPr>
                          <m:ctrlPr>
                            <a:rPr lang="en-IN" b="0" i="1" smtClean="0">
                              <a:latin typeface="Cambria Math" panose="02040503050406030204" pitchFamily="18" charset="0"/>
                            </a:rPr>
                          </m:ctrlPr>
                        </m:dPr>
                        <m:e>
                          <m:r>
                            <a:rPr lang="en-IN" b="0" i="1" smtClean="0">
                              <a:latin typeface="Cambria Math" panose="02040503050406030204" pitchFamily="18" charset="0"/>
                            </a:rPr>
                            <m:t>2−3</m:t>
                          </m:r>
                          <m:r>
                            <a:rPr lang="en-IN" b="0" i="1" smtClean="0">
                              <a:latin typeface="Cambria Math" panose="02040503050406030204" pitchFamily="18" charset="0"/>
                            </a:rPr>
                            <m:t>𝑥</m:t>
                          </m:r>
                          <m:r>
                            <a:rPr lang="en-IN" b="0" i="1" smtClean="0">
                              <a:latin typeface="Cambria Math" panose="02040503050406030204" pitchFamily="18" charset="0"/>
                            </a:rPr>
                            <m:t>−9</m:t>
                          </m:r>
                          <m:r>
                            <a:rPr lang="en-IN" b="0" i="1" smtClean="0">
                              <a:latin typeface="Cambria Math" panose="02040503050406030204" pitchFamily="18" charset="0"/>
                            </a:rPr>
                            <m:t>𝛼</m:t>
                          </m:r>
                        </m:e>
                      </m:d>
                      <m:r>
                        <a:rPr lang="en-IN" b="0" i="1" smtClean="0">
                          <a:latin typeface="Cambria Math" panose="02040503050406030204" pitchFamily="18" charset="0"/>
                        </a:rPr>
                        <m:t>=97</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15</m:t>
                      </m:r>
                      <m:r>
                        <a:rPr lang="en-IN" b="0" i="1" smtClean="0">
                          <a:latin typeface="Cambria Math" panose="02040503050406030204" pitchFamily="18" charset="0"/>
                        </a:rPr>
                        <m:t>𝑥</m:t>
                      </m:r>
                      <m:r>
                        <a:rPr lang="en-IN" b="0" i="1" smtClean="0">
                          <a:latin typeface="Cambria Math" panose="02040503050406030204" pitchFamily="18" charset="0"/>
                        </a:rPr>
                        <m:t>+16 −24</m:t>
                      </m:r>
                      <m:r>
                        <a:rPr lang="en-IN" b="0" i="1" smtClean="0">
                          <a:latin typeface="Cambria Math" panose="02040503050406030204" pitchFamily="18" charset="0"/>
                        </a:rPr>
                        <m:t>𝑥</m:t>
                      </m:r>
                      <m:r>
                        <a:rPr lang="en-IN" b="0" i="1" smtClean="0">
                          <a:latin typeface="Cambria Math" panose="02040503050406030204" pitchFamily="18" charset="0"/>
                        </a:rPr>
                        <m:t> −72</m:t>
                      </m:r>
                      <m:r>
                        <a:rPr lang="en-IN" b="0" i="1" smtClean="0">
                          <a:latin typeface="Cambria Math" panose="02040503050406030204" pitchFamily="18" charset="0"/>
                        </a:rPr>
                        <m:t>𝛼</m:t>
                      </m:r>
                      <m:r>
                        <a:rPr lang="en-IN" b="0" i="1" smtClean="0">
                          <a:latin typeface="Cambria Math" panose="02040503050406030204" pitchFamily="18" charset="0"/>
                        </a:rPr>
                        <m:t>=97</m:t>
                      </m:r>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−9</m:t>
                      </m:r>
                      <m:r>
                        <a:rPr lang="en-IN" b="0" i="1" smtClean="0">
                          <a:latin typeface="Cambria Math" panose="02040503050406030204" pitchFamily="18" charset="0"/>
                        </a:rPr>
                        <m:t>𝑥</m:t>
                      </m:r>
                      <m:r>
                        <a:rPr lang="en-IN" b="0" i="1" smtClean="0">
                          <a:latin typeface="Cambria Math" panose="02040503050406030204" pitchFamily="18" charset="0"/>
                        </a:rPr>
                        <m:t> −72</m:t>
                      </m:r>
                      <m:r>
                        <a:rPr lang="en-IN" b="0" i="1" smtClean="0">
                          <a:latin typeface="Cambria Math" panose="02040503050406030204" pitchFamily="18" charset="0"/>
                        </a:rPr>
                        <m:t>𝛼</m:t>
                      </m:r>
                      <m:r>
                        <a:rPr lang="en-IN" b="0" i="1" smtClean="0">
                          <a:latin typeface="Cambria Math" panose="02040503050406030204" pitchFamily="18" charset="0"/>
                        </a:rPr>
                        <m:t>=81</m:t>
                      </m:r>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 −8</m:t>
                      </m:r>
                      <m:r>
                        <a:rPr lang="en-IN" b="0" i="1" smtClean="0">
                          <a:latin typeface="Cambria Math" panose="02040503050406030204" pitchFamily="18" charset="0"/>
                        </a:rPr>
                        <m:t>𝛼</m:t>
                      </m:r>
                      <m:r>
                        <a:rPr lang="en-IN" b="0" i="1" smtClean="0">
                          <a:latin typeface="Cambria Math" panose="02040503050406030204" pitchFamily="18" charset="0"/>
                        </a:rPr>
                        <m:t>=9</m:t>
                      </m:r>
                    </m:oMath>
                  </m:oMathPara>
                </a14:m>
                <a:endParaRPr lang="en-IN" dirty="0"/>
              </a:p>
              <a:p>
                <a:pPr marL="0" indent="0">
                  <a:buNone/>
                </a:pPr>
                <a:r>
                  <a:rPr lang="en-IN" dirty="0"/>
                  <a:t>Therefore, it has an integer solution.</a:t>
                </a:r>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t="-2801" b="-12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84FDBD-6B23-B6CF-43BB-A96096447D48}"/>
                  </a:ext>
                </a:extLst>
              </p:cNvPr>
              <p:cNvSpPr txBox="1"/>
              <p:nvPr/>
            </p:nvSpPr>
            <p:spPr>
              <a:xfrm>
                <a:off x="6705600" y="3592286"/>
                <a:ext cx="4027714" cy="1938992"/>
              </a:xfrm>
              <a:prstGeom prst="rect">
                <a:avLst/>
              </a:prstGeom>
              <a:noFill/>
            </p:spPr>
            <p:txBody>
              <a:bodyPr wrap="square" rtlCol="0">
                <a:spAutoFit/>
              </a:bodyPr>
              <a:lstStyle/>
              <a:p>
                <a:r>
                  <a:rPr lang="en-IN" sz="2400" dirty="0"/>
                  <a:t>solution:</a:t>
                </a:r>
              </a:p>
              <a:p>
                <a:r>
                  <a:rPr lang="en-IN" sz="2400" b="0" dirty="0"/>
                  <a:t>Let </a:t>
                </a:r>
                <a14:m>
                  <m:oMath xmlns:m="http://schemas.openxmlformats.org/officeDocument/2006/math">
                    <m:r>
                      <a:rPr lang="en-IN" sz="2400" b="0" i="1" smtClean="0">
                        <a:latin typeface="Cambria Math" panose="02040503050406030204" pitchFamily="18" charset="0"/>
                      </a:rPr>
                      <m:t>𝛼</m:t>
                    </m:r>
                    <m:r>
                      <a:rPr lang="en-IN" sz="2400" b="0" i="1" smtClean="0">
                        <a:latin typeface="Cambria Math" panose="02040503050406030204" pitchFamily="18" charset="0"/>
                      </a:rPr>
                      <m:t>=0</m:t>
                    </m:r>
                  </m:oMath>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𝑥</m:t>
                      </m:r>
                      <m:r>
                        <a:rPr lang="en-IN" sz="2400" b="0" i="1" smtClean="0">
                          <a:latin typeface="Cambria Math" panose="02040503050406030204" pitchFamily="18" charset="0"/>
                        </a:rPr>
                        <m:t>=−9</m:t>
                      </m:r>
                    </m:oMath>
                  </m:oMathPara>
                </a14:m>
                <a:endParaRPr lang="en-IN" sz="2400" dirty="0"/>
              </a:p>
              <a:p>
                <a:pPr/>
                <a14:m>
                  <m:oMathPara xmlns:m="http://schemas.openxmlformats.org/officeDocument/2006/math">
                    <m:oMathParaPr>
                      <m:jc m:val="left"/>
                    </m:oMathParaPr>
                    <m:oMath xmlns:m="http://schemas.openxmlformats.org/officeDocument/2006/math">
                      <m:r>
                        <a:rPr lang="en-IN" sz="2400" b="0" i="1" smtClean="0">
                          <a:latin typeface="Cambria Math" panose="02040503050406030204" pitchFamily="18" charset="0"/>
                        </a:rPr>
                        <m:t>𝑦</m:t>
                      </m:r>
                      <m:r>
                        <a:rPr lang="en-IN" sz="2400" b="0" i="1" smtClean="0">
                          <a:latin typeface="Cambria Math" panose="02040503050406030204" pitchFamily="18" charset="0"/>
                        </a:rPr>
                        <m:t>=2+27 −0=29</m:t>
                      </m:r>
                    </m:oMath>
                  </m:oMathPara>
                </a14:m>
                <a:endParaRPr lang="en-IN" sz="2400" dirty="0"/>
              </a:p>
              <a:p>
                <a:r>
                  <a:rPr lang="en-IN" sz="2400" dirty="0"/>
                  <a:t>15 * (-9) + 8 * 29 = 97</a:t>
                </a:r>
              </a:p>
            </p:txBody>
          </p:sp>
        </mc:Choice>
        <mc:Fallback xmlns="">
          <p:sp>
            <p:nvSpPr>
              <p:cNvPr id="4" name="TextBox 3">
                <a:extLst>
                  <a:ext uri="{FF2B5EF4-FFF2-40B4-BE49-F238E27FC236}">
                    <a16:creationId xmlns:a16="http://schemas.microsoft.com/office/drawing/2014/main" id="{CD84FDBD-6B23-B6CF-43BB-A96096447D48}"/>
                  </a:ext>
                </a:extLst>
              </p:cNvPr>
              <p:cNvSpPr txBox="1">
                <a:spLocks noRot="1" noChangeAspect="1" noMove="1" noResize="1" noEditPoints="1" noAdjustHandles="1" noChangeArrowheads="1" noChangeShapeType="1" noTextEdit="1"/>
              </p:cNvSpPr>
              <p:nvPr/>
            </p:nvSpPr>
            <p:spPr>
              <a:xfrm>
                <a:off x="6705600" y="3592286"/>
                <a:ext cx="4027714" cy="1938992"/>
              </a:xfrm>
              <a:prstGeom prst="rect">
                <a:avLst/>
              </a:prstGeom>
              <a:blipFill>
                <a:blip r:embed="rId3"/>
                <a:stretch>
                  <a:fillRect l="-2269" t="-2516" b="-6289"/>
                </a:stretch>
              </a:blipFill>
            </p:spPr>
            <p:txBody>
              <a:bodyPr/>
              <a:lstStyle/>
              <a:p>
                <a:r>
                  <a:rPr lang="en-IN">
                    <a:noFill/>
                  </a:rPr>
                  <a:t> </a:t>
                </a:r>
              </a:p>
            </p:txBody>
          </p:sp>
        </mc:Fallback>
      </mc:AlternateContent>
    </p:spTree>
    <p:extLst>
      <p:ext uri="{BB962C8B-B14F-4D97-AF65-F5344CB8AC3E}">
        <p14:creationId xmlns:p14="http://schemas.microsoft.com/office/powerpoint/2010/main" val="468942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lstStyle/>
              <a:p>
                <a:r>
                  <a:rPr lang="en-IN" dirty="0"/>
                  <a:t>Does the following equalities have an integer solution?</a:t>
                </a:r>
              </a:p>
              <a:p>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+2</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=0</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+4</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=3</m:t>
                      </m:r>
                    </m:oMath>
                  </m:oMathPara>
                </a14:m>
                <a:endParaRPr lang="en-IN" dirty="0"/>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3957212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normAutofit fontScale="70000" lnSpcReduction="20000"/>
              </a:bodyPr>
              <a:lstStyle/>
              <a:p>
                <a:pPr marL="0" indent="0">
                  <a:buNone/>
                </a:pPr>
                <a14:m>
                  <m:oMath xmlns:m="http://schemas.openxmlformats.org/officeDocument/2006/math">
                    <m:r>
                      <a:rPr lang="en-IN" b="0" i="1" smtClean="0">
                        <a:latin typeface="Cambria Math" panose="02040503050406030204" pitchFamily="18" charset="0"/>
                      </a:rPr>
                      <m:t>−3</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+2</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=0</m:t>
                    </m:r>
                  </m:oMath>
                </a14:m>
                <a:r>
                  <a:rPr lang="en-IN" dirty="0"/>
                  <a:t>       (equation 1)</a:t>
                </a:r>
              </a:p>
              <a:p>
                <a:pPr marL="0" indent="0">
                  <a:buNone/>
                </a:pPr>
                <a14:m>
                  <m:oMath xmlns:m="http://schemas.openxmlformats.org/officeDocument/2006/math">
                    <m:r>
                      <a:rPr lang="en-IN" b="0" i="1" smtClean="0">
                        <a:latin typeface="Cambria Math" panose="02040503050406030204" pitchFamily="18" charset="0"/>
                      </a:rPr>
                      <m:t>3</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+4</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=3</m:t>
                    </m:r>
                  </m:oMath>
                </a14:m>
                <a:r>
                  <a:rPr lang="en-IN" dirty="0"/>
                  <a:t>          (equation 2)</a:t>
                </a:r>
              </a:p>
              <a:p>
                <a:pPr marL="0" indent="0">
                  <a:buNone/>
                </a:pPr>
                <a:endParaRPr lang="en-IN" dirty="0"/>
              </a:p>
              <a:p>
                <a:pPr marL="0" indent="0">
                  <a:buNone/>
                </a:pPr>
                <a:r>
                  <a:rPr lang="en-IN" dirty="0"/>
                  <a:t>Least coefficient = 2 in equation 1</a:t>
                </a:r>
              </a:p>
              <a:p>
                <a:pPr marL="0" indent="0">
                  <a:buNone/>
                </a:pPr>
                <a:r>
                  <a:rPr lang="en-IN" dirty="0"/>
                  <a:t>m = 3</a:t>
                </a: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3 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=3</m:t>
                      </m:r>
                      <m:r>
                        <a:rPr lang="en-IN" b="0" i="1" smtClean="0">
                          <a:latin typeface="Cambria Math" panose="02040503050406030204" pitchFamily="18" charset="0"/>
                        </a:rPr>
                        <m:t>𝛼</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0 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oMath>
                  </m:oMathPara>
                </a14:m>
                <a:endParaRPr lang="en-IN" b="0"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=3</m:t>
                      </m:r>
                      <m:r>
                        <a:rPr lang="en-IN" b="0" i="1" smtClean="0">
                          <a:latin typeface="Cambria Math" panose="02040503050406030204" pitchFamily="18" charset="0"/>
                        </a:rPr>
                        <m:t>𝛼</m:t>
                      </m:r>
                    </m:oMath>
                  </m:oMathPara>
                </a14:m>
                <a:endParaRPr lang="en-IN" b="0" dirty="0"/>
              </a:p>
              <a:p>
                <a:pPr marL="0" indent="0">
                  <a:buNone/>
                </a:pPr>
                <a:r>
                  <a:rPr lang="en-IN" dirty="0"/>
                  <a:t>substituting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=−3</m:t>
                    </m:r>
                    <m:r>
                      <a:rPr lang="en-IN" b="0" i="1" smtClean="0">
                        <a:latin typeface="Cambria Math" panose="02040503050406030204" pitchFamily="18" charset="0"/>
                      </a:rPr>
                      <m:t>𝛼</m:t>
                    </m:r>
                  </m:oMath>
                </a14:m>
                <a:r>
                  <a:rPr lang="en-IN" dirty="0"/>
                  <a:t> in </a:t>
                </a:r>
                <a:r>
                  <a:rPr lang="en-IN" dirty="0" err="1"/>
                  <a:t>eq</a:t>
                </a:r>
                <a:r>
                  <a:rPr lang="en-IN" dirty="0"/>
                  <a:t> 1</a:t>
                </a: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−6</m:t>
                      </m:r>
                      <m:r>
                        <a:rPr lang="en-IN" b="0" i="1" smtClean="0">
                          <a:latin typeface="Cambria Math" panose="02040503050406030204" pitchFamily="18" charset="0"/>
                        </a:rPr>
                        <m:t>𝛼</m:t>
                      </m:r>
                      <m:r>
                        <a:rPr lang="en-IN" b="0" i="1" smtClean="0">
                          <a:latin typeface="Cambria Math" panose="02040503050406030204" pitchFamily="18" charset="0"/>
                        </a:rPr>
                        <m:t>=0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+2</m:t>
                      </m:r>
                      <m:r>
                        <a:rPr lang="en-IN" b="0" i="1" smtClean="0">
                          <a:latin typeface="Cambria Math" panose="02040503050406030204" pitchFamily="18" charset="0"/>
                        </a:rPr>
                        <m:t>𝛼</m:t>
                      </m:r>
                      <m:r>
                        <a:rPr lang="en-IN" b="0" i="1" smtClean="0">
                          <a:latin typeface="Cambria Math" panose="02040503050406030204" pitchFamily="18" charset="0"/>
                        </a:rPr>
                        <m:t>=0       (</m:t>
                      </m:r>
                      <m:r>
                        <a:rPr lang="en-IN" b="0" i="1" smtClean="0">
                          <a:latin typeface="Cambria Math" panose="02040503050406030204" pitchFamily="18" charset="0"/>
                        </a:rPr>
                        <m:t>𝑒𝑞</m:t>
                      </m:r>
                      <m:r>
                        <a:rPr lang="en-IN" b="0" i="1" smtClean="0">
                          <a:latin typeface="Cambria Math" panose="02040503050406030204" pitchFamily="18" charset="0"/>
                        </a:rPr>
                        <m:t> 3)</m:t>
                      </m:r>
                    </m:oMath>
                  </m:oMathPara>
                </a14:m>
                <a:endParaRPr lang="en-IN" b="0" dirty="0"/>
              </a:p>
              <a:p>
                <a:pPr marL="0" indent="0">
                  <a:buNone/>
                </a:pPr>
                <a:r>
                  <a:rPr lang="en-IN" dirty="0"/>
                  <a:t>substituting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2</m:t>
                        </m:r>
                      </m:sub>
                    </m:sSub>
                    <m:r>
                      <a:rPr lang="en-IN" b="0" i="1" smtClean="0">
                        <a:latin typeface="Cambria Math" panose="02040503050406030204" pitchFamily="18" charset="0"/>
                      </a:rPr>
                      <m:t>=−3</m:t>
                    </m:r>
                    <m:r>
                      <a:rPr lang="en-IN" b="0" i="1" smtClean="0">
                        <a:latin typeface="Cambria Math" panose="02040503050406030204" pitchFamily="18" charset="0"/>
                      </a:rPr>
                      <m:t>𝛼</m:t>
                    </m:r>
                  </m:oMath>
                </a14:m>
                <a:r>
                  <a:rPr lang="en-IN" dirty="0"/>
                  <a:t> in </a:t>
                </a:r>
                <a:r>
                  <a:rPr lang="en-IN" dirty="0" err="1"/>
                  <a:t>eq</a:t>
                </a:r>
                <a:r>
                  <a:rPr lang="en-IN" dirty="0"/>
                  <a:t> 2</a:t>
                </a:r>
              </a:p>
              <a:p>
                <a:pPr marL="0" indent="0">
                  <a:buNone/>
                </a:pPr>
                <a14:m>
                  <m:oMath xmlns:m="http://schemas.openxmlformats.org/officeDocument/2006/math">
                    <m:r>
                      <a:rPr lang="en-IN" b="0" i="1" smtClean="0">
                        <a:latin typeface="Cambria Math" panose="02040503050406030204" pitchFamily="18" charset="0"/>
                      </a:rPr>
                      <m:t>3</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−12</m:t>
                    </m:r>
                    <m:r>
                      <a:rPr lang="en-IN" b="0" i="1" smtClean="0">
                        <a:latin typeface="Cambria Math" panose="02040503050406030204" pitchFamily="18" charset="0"/>
                      </a:rPr>
                      <m:t>𝛼</m:t>
                    </m:r>
                    <m:r>
                      <a:rPr lang="en-IN" b="0" i="1" smtClean="0">
                        <a:latin typeface="Cambria Math" panose="02040503050406030204" pitchFamily="18" charset="0"/>
                      </a:rPr>
                      <m:t>=3</m:t>
                    </m:r>
                  </m:oMath>
                </a14:m>
                <a:r>
                  <a:rPr lang="en-IN" dirty="0"/>
                  <a:t>  </a:t>
                </a:r>
                <a14:m>
                  <m:oMath xmlns:m="http://schemas.openxmlformats.org/officeDocument/2006/math">
                    <m:r>
                      <a:rPr lang="en-IN" b="0" i="1" dirty="0" smtClean="0">
                        <a:latin typeface="Cambria Math" panose="02040503050406030204" pitchFamily="18" charset="0"/>
                      </a:rPr>
                      <m:t>→ </m:t>
                    </m:r>
                  </m:oMath>
                </a14:m>
                <a:r>
                  <a:rPr lang="en-IN" dirty="0"/>
                  <a:t> </a:t>
                </a:r>
                <a14:m>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𝑥</m:t>
                        </m:r>
                      </m:e>
                      <m:sub>
                        <m:r>
                          <a:rPr lang="en-IN" b="0" i="1" dirty="0" smtClean="0">
                            <a:latin typeface="Cambria Math" panose="02040503050406030204" pitchFamily="18" charset="0"/>
                          </a:rPr>
                          <m:t>1</m:t>
                        </m:r>
                      </m:sub>
                    </m:sSub>
                    <m:r>
                      <a:rPr lang="en-IN" b="0" i="1" dirty="0" smtClean="0">
                        <a:latin typeface="Cambria Math" panose="02040503050406030204" pitchFamily="18" charset="0"/>
                      </a:rPr>
                      <m:t>−4</m:t>
                    </m:r>
                    <m:r>
                      <a:rPr lang="en-IN" b="0" i="1" dirty="0" smtClean="0">
                        <a:latin typeface="Cambria Math" panose="02040503050406030204" pitchFamily="18" charset="0"/>
                      </a:rPr>
                      <m:t>𝛼</m:t>
                    </m:r>
                    <m:r>
                      <a:rPr lang="en-IN" b="0" i="1" dirty="0" smtClean="0">
                        <a:latin typeface="Cambria Math" panose="02040503050406030204" pitchFamily="18" charset="0"/>
                      </a:rPr>
                      <m:t>=1        (</m:t>
                    </m:r>
                    <m:r>
                      <a:rPr lang="en-IN" b="0" i="1" dirty="0" smtClean="0">
                        <a:latin typeface="Cambria Math" panose="02040503050406030204" pitchFamily="18" charset="0"/>
                      </a:rPr>
                      <m:t>𝑒𝑞</m:t>
                    </m:r>
                    <m:r>
                      <a:rPr lang="en-IN" b="0" i="1" dirty="0" smtClean="0">
                        <a:latin typeface="Cambria Math" panose="02040503050406030204" pitchFamily="18" charset="0"/>
                      </a:rPr>
                      <m:t> 4)</m:t>
                    </m:r>
                  </m:oMath>
                </a14:m>
                <a:endParaRPr lang="en-IN" dirty="0"/>
              </a:p>
              <a:p>
                <a:pPr marL="0" indent="0">
                  <a:buNone/>
                </a:pPr>
                <a:r>
                  <a:rPr lang="en-IN" dirty="0"/>
                  <a:t>substituting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=−2</m:t>
                    </m:r>
                    <m:r>
                      <a:rPr lang="en-IN" b="0" i="1" smtClean="0">
                        <a:latin typeface="Cambria Math" panose="02040503050406030204" pitchFamily="18" charset="0"/>
                      </a:rPr>
                      <m:t>𝛼</m:t>
                    </m:r>
                  </m:oMath>
                </a14:m>
                <a:r>
                  <a:rPr lang="en-IN" dirty="0"/>
                  <a:t> from </a:t>
                </a:r>
                <a:r>
                  <a:rPr lang="en-IN" dirty="0" err="1"/>
                  <a:t>eq</a:t>
                </a:r>
                <a:r>
                  <a:rPr lang="en-IN" dirty="0"/>
                  <a:t> 3 in </a:t>
                </a:r>
                <a:r>
                  <a:rPr lang="en-IN" dirty="0" err="1"/>
                  <a:t>eq</a:t>
                </a:r>
                <a:r>
                  <a:rPr lang="en-IN" dirty="0"/>
                  <a:t> 4</a:t>
                </a:r>
              </a:p>
              <a:p>
                <a:pPr marL="0" indent="0">
                  <a:buNone/>
                </a:pPr>
                <a14:m>
                  <m:oMath xmlns:m="http://schemas.openxmlformats.org/officeDocument/2006/math">
                    <m:r>
                      <a:rPr lang="en-IN" b="0" i="1" smtClean="0">
                        <a:latin typeface="Cambria Math" panose="02040503050406030204" pitchFamily="18" charset="0"/>
                      </a:rPr>
                      <m:t>−6</m:t>
                    </m:r>
                    <m:r>
                      <a:rPr lang="en-IN" b="0" i="1" smtClean="0">
                        <a:latin typeface="Cambria Math" panose="02040503050406030204" pitchFamily="18" charset="0"/>
                      </a:rPr>
                      <m:t>𝛼</m:t>
                    </m:r>
                    <m:r>
                      <a:rPr lang="en-IN" b="0" i="1" smtClean="0">
                        <a:latin typeface="Cambria Math" panose="02040503050406030204" pitchFamily="18" charset="0"/>
                      </a:rPr>
                      <m:t>=1</m:t>
                    </m:r>
                    <m:r>
                      <a:rPr lang="en-IN" b="0" i="0" smtClean="0">
                        <a:latin typeface="Cambria Math" panose="02040503050406030204" pitchFamily="18" charset="0"/>
                      </a:rPr>
                      <m:t>    →</m:t>
                    </m:r>
                  </m:oMath>
                </a14:m>
                <a:r>
                  <a:rPr lang="en-IN" dirty="0"/>
                  <a:t> no solution because </a:t>
                </a:r>
                <a14:m>
                  <m:oMath xmlns:m="http://schemas.openxmlformats.org/officeDocument/2006/math">
                    <m:r>
                      <a:rPr lang="en-IN" b="0" i="1" smtClean="0">
                        <a:latin typeface="Cambria Math" panose="02040503050406030204" pitchFamily="18" charset="0"/>
                      </a:rPr>
                      <m:t>𝛼</m:t>
                    </m:r>
                  </m:oMath>
                </a14:m>
                <a:r>
                  <a:rPr lang="en-IN" dirty="0"/>
                  <a:t> is not an integer</a:t>
                </a:r>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638" t="-2521"/>
                </a:stretch>
              </a:blipFill>
            </p:spPr>
            <p:txBody>
              <a:bodyPr/>
              <a:lstStyle/>
              <a:p>
                <a:r>
                  <a:rPr lang="en-IN">
                    <a:noFill/>
                  </a:rPr>
                  <a:t> </a:t>
                </a:r>
              </a:p>
            </p:txBody>
          </p:sp>
        </mc:Fallback>
      </mc:AlternateContent>
    </p:spTree>
    <p:extLst>
      <p:ext uri="{BB962C8B-B14F-4D97-AF65-F5344CB8AC3E}">
        <p14:creationId xmlns:p14="http://schemas.microsoft.com/office/powerpoint/2010/main" val="1784579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5B3734-D320-9092-2F19-494BFA2D760D}"/>
                  </a:ext>
                </a:extLst>
              </p:cNvPr>
              <p:cNvSpPr>
                <a:spLocks noGrp="1"/>
              </p:cNvSpPr>
              <p:nvPr>
                <p:ph idx="1"/>
              </p:nvPr>
            </p:nvSpPr>
            <p:spPr/>
            <p:txBody>
              <a:bodyPr/>
              <a:lstStyle/>
              <a:p>
                <a:r>
                  <a:rPr lang="en-IN" dirty="0"/>
                  <a:t>Does the following equalities have an integer solution?</a:t>
                </a:r>
              </a:p>
              <a:p>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7</m:t>
                      </m:r>
                      <m:r>
                        <a:rPr lang="en-IN" b="0" i="1" smtClean="0">
                          <a:latin typeface="Cambria Math" panose="02040503050406030204" pitchFamily="18" charset="0"/>
                        </a:rPr>
                        <m:t>𝑥</m:t>
                      </m:r>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+31</m:t>
                      </m:r>
                      <m:r>
                        <a:rPr lang="en-IN" b="0" i="1" smtClean="0">
                          <a:latin typeface="Cambria Math" panose="02040503050406030204" pitchFamily="18" charset="0"/>
                        </a:rPr>
                        <m:t>𝑧</m:t>
                      </m:r>
                      <m:r>
                        <a:rPr lang="en-IN" b="0" i="1" smtClean="0">
                          <a:latin typeface="Cambria Math" panose="02040503050406030204" pitchFamily="18" charset="0"/>
                        </a:rPr>
                        <m:t>=17</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+14</m:t>
                      </m:r>
                      <m:r>
                        <a:rPr lang="en-IN" b="0" i="1" smtClean="0">
                          <a:latin typeface="Cambria Math" panose="02040503050406030204" pitchFamily="18" charset="0"/>
                        </a:rPr>
                        <m:t>𝑧</m:t>
                      </m:r>
                      <m:r>
                        <a:rPr lang="en-IN" b="0" i="1" smtClean="0">
                          <a:latin typeface="Cambria Math" panose="02040503050406030204" pitchFamily="18" charset="0"/>
                        </a:rPr>
                        <m:t>=7</m:t>
                      </m:r>
                    </m:oMath>
                  </m:oMathPara>
                </a14:m>
                <a:endParaRPr lang="en-IN" dirty="0"/>
              </a:p>
            </p:txBody>
          </p:sp>
        </mc:Choice>
        <mc:Fallback xmlns="">
          <p:sp>
            <p:nvSpPr>
              <p:cNvPr id="3" name="Content Placeholder 2">
                <a:extLst>
                  <a:ext uri="{FF2B5EF4-FFF2-40B4-BE49-F238E27FC236}">
                    <a16:creationId xmlns:a16="http://schemas.microsoft.com/office/drawing/2014/main" id="{CD5B3734-D320-9092-2F19-494BFA2D76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051857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71E4CA-F85E-DA48-0B33-7F707E5EAA23}"/>
                  </a:ext>
                </a:extLst>
              </p:cNvPr>
              <p:cNvSpPr txBox="1"/>
              <p:nvPr/>
            </p:nvSpPr>
            <p:spPr>
              <a:xfrm>
                <a:off x="947057" y="1524000"/>
                <a:ext cx="7968343" cy="5078313"/>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𝟕</m:t>
                      </m:r>
                      <m:r>
                        <a:rPr lang="en-IN" b="1" i="1" smtClean="0">
                          <a:latin typeface="Cambria Math" panose="02040503050406030204" pitchFamily="18" charset="0"/>
                        </a:rPr>
                        <m:t>𝒙</m:t>
                      </m:r>
                      <m:r>
                        <a:rPr lang="en-IN" b="1" i="1" smtClean="0">
                          <a:latin typeface="Cambria Math" panose="02040503050406030204" pitchFamily="18" charset="0"/>
                        </a:rPr>
                        <m:t>+</m:t>
                      </m:r>
                      <m:r>
                        <a:rPr lang="en-IN" b="1" i="1" smtClean="0">
                          <a:latin typeface="Cambria Math" panose="02040503050406030204" pitchFamily="18" charset="0"/>
                        </a:rPr>
                        <m:t>𝟏𝟐</m:t>
                      </m:r>
                      <m:r>
                        <a:rPr lang="en-IN" b="1" i="1" smtClean="0">
                          <a:latin typeface="Cambria Math" panose="02040503050406030204" pitchFamily="18" charset="0"/>
                        </a:rPr>
                        <m:t>𝒚</m:t>
                      </m:r>
                      <m:r>
                        <a:rPr lang="en-IN" b="1" i="1" smtClean="0">
                          <a:latin typeface="Cambria Math" panose="02040503050406030204" pitchFamily="18" charset="0"/>
                        </a:rPr>
                        <m:t>+</m:t>
                      </m:r>
                      <m:r>
                        <a:rPr lang="en-IN" b="1" i="1" smtClean="0">
                          <a:latin typeface="Cambria Math" panose="02040503050406030204" pitchFamily="18" charset="0"/>
                        </a:rPr>
                        <m:t>𝟑𝟏</m:t>
                      </m:r>
                      <m:r>
                        <a:rPr lang="en-IN" b="1" i="1" smtClean="0">
                          <a:latin typeface="Cambria Math" panose="02040503050406030204" pitchFamily="18" charset="0"/>
                        </a:rPr>
                        <m:t>𝒛</m:t>
                      </m:r>
                      <m:r>
                        <a:rPr lang="en-IN" b="1" i="1" smtClean="0">
                          <a:latin typeface="Cambria Math" panose="02040503050406030204" pitchFamily="18" charset="0"/>
                        </a:rPr>
                        <m:t>=</m:t>
                      </m:r>
                      <m:r>
                        <a:rPr lang="en-IN" b="1" i="1" smtClean="0">
                          <a:latin typeface="Cambria Math" panose="02040503050406030204" pitchFamily="18" charset="0"/>
                        </a:rPr>
                        <m:t>𝟏𝟕</m:t>
                      </m:r>
                      <m:r>
                        <a:rPr lang="en-IN" b="1" i="1" smtClean="0">
                          <a:latin typeface="Cambria Math" panose="02040503050406030204" pitchFamily="18" charset="0"/>
                        </a:rPr>
                        <m:t>        (</m:t>
                      </m:r>
                      <m:r>
                        <a:rPr lang="en-IN" b="1" i="1" smtClean="0">
                          <a:latin typeface="Cambria Math" panose="02040503050406030204" pitchFamily="18" charset="0"/>
                        </a:rPr>
                        <m:t>𝒆𝒒</m:t>
                      </m:r>
                      <m:r>
                        <a:rPr lang="en-IN" b="1" i="1" smtClean="0">
                          <a:latin typeface="Cambria Math" panose="02040503050406030204" pitchFamily="18" charset="0"/>
                        </a:rPr>
                        <m:t> </m:t>
                      </m:r>
                      <m:r>
                        <a:rPr lang="en-IN" b="1" i="1" smtClean="0">
                          <a:latin typeface="Cambria Math" panose="02040503050406030204" pitchFamily="18" charset="0"/>
                        </a:rPr>
                        <m:t>𝟏</m:t>
                      </m:r>
                      <m:r>
                        <a:rPr lang="en-IN" b="1" i="1" smtClean="0">
                          <a:latin typeface="Cambria Math" panose="02040503050406030204" pitchFamily="18" charset="0"/>
                        </a:rPr>
                        <m:t>)</m:t>
                      </m:r>
                    </m:oMath>
                  </m:oMathPara>
                </a14:m>
                <a:endParaRPr lang="en-IN" b="1" dirty="0"/>
              </a:p>
              <a:p>
                <a:pPr marL="0" indent="0">
                  <a:buNone/>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𝟑</m:t>
                      </m:r>
                      <m:r>
                        <a:rPr lang="en-IN" b="1" i="1" smtClean="0">
                          <a:latin typeface="Cambria Math" panose="02040503050406030204" pitchFamily="18" charset="0"/>
                        </a:rPr>
                        <m:t>𝒙</m:t>
                      </m:r>
                      <m:r>
                        <a:rPr lang="en-IN" b="1" i="1" smtClean="0">
                          <a:latin typeface="Cambria Math" panose="02040503050406030204" pitchFamily="18" charset="0"/>
                        </a:rPr>
                        <m:t>+</m:t>
                      </m:r>
                      <m:r>
                        <a:rPr lang="en-IN" b="1" i="1" smtClean="0">
                          <a:latin typeface="Cambria Math" panose="02040503050406030204" pitchFamily="18" charset="0"/>
                        </a:rPr>
                        <m:t>𝟓</m:t>
                      </m:r>
                      <m:r>
                        <a:rPr lang="en-IN" b="1" i="1" smtClean="0">
                          <a:latin typeface="Cambria Math" panose="02040503050406030204" pitchFamily="18" charset="0"/>
                        </a:rPr>
                        <m:t>𝒚</m:t>
                      </m:r>
                      <m:r>
                        <a:rPr lang="en-IN" b="1" i="1" smtClean="0">
                          <a:latin typeface="Cambria Math" panose="02040503050406030204" pitchFamily="18" charset="0"/>
                        </a:rPr>
                        <m:t>+</m:t>
                      </m:r>
                      <m:r>
                        <a:rPr lang="en-IN" b="1" i="1" smtClean="0">
                          <a:latin typeface="Cambria Math" panose="02040503050406030204" pitchFamily="18" charset="0"/>
                        </a:rPr>
                        <m:t>𝟏𝟒</m:t>
                      </m:r>
                      <m:r>
                        <a:rPr lang="en-IN" b="1" i="1" smtClean="0">
                          <a:latin typeface="Cambria Math" panose="02040503050406030204" pitchFamily="18" charset="0"/>
                        </a:rPr>
                        <m:t>𝒛</m:t>
                      </m:r>
                      <m:r>
                        <a:rPr lang="en-IN" b="1" i="1" smtClean="0">
                          <a:latin typeface="Cambria Math" panose="02040503050406030204" pitchFamily="18" charset="0"/>
                        </a:rPr>
                        <m:t>=</m:t>
                      </m:r>
                      <m:r>
                        <a:rPr lang="en-IN" b="1" i="1" smtClean="0">
                          <a:latin typeface="Cambria Math" panose="02040503050406030204" pitchFamily="18" charset="0"/>
                        </a:rPr>
                        <m:t>𝟕</m:t>
                      </m:r>
                      <m:r>
                        <a:rPr lang="en-IN" b="1" i="1" smtClean="0">
                          <a:latin typeface="Cambria Math" panose="02040503050406030204" pitchFamily="18" charset="0"/>
                        </a:rPr>
                        <m:t>             (</m:t>
                      </m:r>
                      <m:r>
                        <a:rPr lang="en-IN" b="1" i="1" smtClean="0">
                          <a:latin typeface="Cambria Math" panose="02040503050406030204" pitchFamily="18" charset="0"/>
                        </a:rPr>
                        <m:t>𝒆𝒒</m:t>
                      </m:r>
                      <m:r>
                        <a:rPr lang="en-IN" b="1" i="1" smtClean="0">
                          <a:latin typeface="Cambria Math" panose="02040503050406030204" pitchFamily="18" charset="0"/>
                        </a:rPr>
                        <m:t> </m:t>
                      </m:r>
                      <m:r>
                        <a:rPr lang="en-IN" b="1" i="1" smtClean="0">
                          <a:latin typeface="Cambria Math" panose="02040503050406030204" pitchFamily="18" charset="0"/>
                        </a:rPr>
                        <m:t>𝟐</m:t>
                      </m:r>
                      <m:r>
                        <a:rPr lang="en-IN" b="1" i="1" smtClean="0">
                          <a:latin typeface="Cambria Math" panose="02040503050406030204" pitchFamily="18" charset="0"/>
                        </a:rPr>
                        <m:t>)</m:t>
                      </m:r>
                    </m:oMath>
                  </m:oMathPara>
                </a14:m>
                <a:endParaRPr lang="en-IN" b="1" dirty="0"/>
              </a:p>
              <a:p>
                <a:pPr marL="0" indent="0">
                  <a:buNone/>
                </a:pPr>
                <a:endParaRPr lang="en-IN" b="1" dirty="0"/>
              </a:p>
              <a:p>
                <a:r>
                  <a:rPr lang="en-IN" dirty="0"/>
                  <a:t>Least coefficient 3 in </a:t>
                </a:r>
                <a:r>
                  <a:rPr lang="en-IN" dirty="0" err="1"/>
                  <a:t>eq</a:t>
                </a:r>
                <a:r>
                  <a:rPr lang="en-IN" dirty="0"/>
                  <a:t> 2</a:t>
                </a:r>
              </a:p>
              <a:p>
                <a:r>
                  <a:rPr lang="en-IN" dirty="0"/>
                  <a:t>m = 4</a:t>
                </a:r>
              </a:p>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3 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4</m:t>
                          </m:r>
                        </m:e>
                      </m:d>
                      <m:r>
                        <a:rPr lang="en-IN" b="0" i="1" smtClean="0">
                          <a:latin typeface="Cambria Math" panose="02040503050406030204" pitchFamily="18" charset="0"/>
                        </a:rPr>
                        <m:t>𝑥</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5 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4</m:t>
                          </m:r>
                        </m:e>
                      </m:d>
                      <m:r>
                        <a:rPr lang="en-IN" b="0" i="1" smtClean="0">
                          <a:latin typeface="Cambria Math" panose="02040503050406030204" pitchFamily="18" charset="0"/>
                        </a:rPr>
                        <m:t>𝑦</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14 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4</m:t>
                          </m:r>
                        </m:e>
                      </m:d>
                      <m:r>
                        <a:rPr lang="en-IN" b="0" i="1" smtClean="0">
                          <a:latin typeface="Cambria Math" panose="02040503050406030204" pitchFamily="18" charset="0"/>
                        </a:rPr>
                        <m:t>𝑧</m:t>
                      </m:r>
                      <m:r>
                        <a:rPr lang="en-IN" b="0" i="1" smtClean="0">
                          <a:latin typeface="Cambria Math" panose="02040503050406030204" pitchFamily="18" charset="0"/>
                        </a:rPr>
                        <m:t>=4</m:t>
                      </m:r>
                      <m:r>
                        <a:rPr lang="en-IN" b="0" i="1" smtClean="0">
                          <a:latin typeface="Cambria Math" panose="02040503050406030204" pitchFamily="18" charset="0"/>
                        </a:rPr>
                        <m:t>𝛼</m:t>
                      </m:r>
                      <m:r>
                        <a:rPr lang="en-IN" b="0" i="1" smtClean="0">
                          <a:latin typeface="Cambria Math" panose="02040503050406030204" pitchFamily="18" charset="0"/>
                        </a:rPr>
                        <m:t>+(7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4)</m:t>
                      </m:r>
                    </m:oMath>
                  </m:oMathPara>
                </a14:m>
                <a:endParaRPr lang="en-IN"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=4</m:t>
                      </m:r>
                      <m:r>
                        <a:rPr lang="en-IN" b="0" i="1" smtClean="0">
                          <a:latin typeface="Cambria Math" panose="02040503050406030204" pitchFamily="18" charset="0"/>
                        </a:rPr>
                        <m:t>𝛼</m:t>
                      </m:r>
                      <m:r>
                        <a:rPr lang="en-IN" b="0" i="1" smtClean="0">
                          <a:latin typeface="Cambria Math" panose="02040503050406030204" pitchFamily="18" charset="0"/>
                        </a:rPr>
                        <m:t>−1</m:t>
                      </m:r>
                    </m:oMath>
                  </m:oMathPara>
                </a14:m>
                <a:endParaRPr lang="en-IN"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 −2</m:t>
                      </m:r>
                      <m:r>
                        <a:rPr lang="en-IN" b="0" i="1" smtClean="0">
                          <a:latin typeface="Cambria Math" panose="02040503050406030204" pitchFamily="18" charset="0"/>
                        </a:rPr>
                        <m:t>𝑧</m:t>
                      </m:r>
                      <m:r>
                        <a:rPr lang="en-IN" b="0" i="1" smtClean="0">
                          <a:latin typeface="Cambria Math" panose="02040503050406030204" pitchFamily="18" charset="0"/>
                        </a:rPr>
                        <m:t> −4</m:t>
                      </m:r>
                      <m:r>
                        <a:rPr lang="en-IN" b="0" i="1" smtClean="0">
                          <a:latin typeface="Cambria Math" panose="02040503050406030204" pitchFamily="18" charset="0"/>
                        </a:rPr>
                        <m:t>𝛼</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3</m:t>
                          </m:r>
                        </m:e>
                      </m:d>
                    </m:oMath>
                  </m:oMathPara>
                </a14:m>
                <a:endParaRPr lang="en-IN" b="0" dirty="0"/>
              </a:p>
              <a:p>
                <a:r>
                  <a:rPr lang="en-IN" b="0" dirty="0"/>
                  <a:t>substituting </a:t>
                </a:r>
                <a:r>
                  <a:rPr lang="en-IN" b="0" dirty="0" err="1"/>
                  <a:t>eq</a:t>
                </a:r>
                <a:r>
                  <a:rPr lang="en-IN" b="0" dirty="0"/>
                  <a:t> 3 in </a:t>
                </a:r>
                <a:r>
                  <a:rPr lang="en-IN" b="0" dirty="0" err="1"/>
                  <a:t>eq</a:t>
                </a:r>
                <a:r>
                  <a:rPr lang="en-IN" b="0" dirty="0"/>
                  <a:t> 1</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7 </m:t>
                      </m:r>
                      <m:d>
                        <m:dPr>
                          <m:ctrlPr>
                            <a:rPr lang="en-IN" b="0" i="1" smtClean="0">
                              <a:latin typeface="Cambria Math" panose="02040503050406030204" pitchFamily="18" charset="0"/>
                            </a:rPr>
                          </m:ctrlPr>
                        </m:dPr>
                        <m:e>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−4</m:t>
                          </m:r>
                          <m:r>
                            <a:rPr lang="en-IN" b="0" i="1" smtClean="0">
                              <a:latin typeface="Cambria Math" panose="02040503050406030204" pitchFamily="18" charset="0"/>
                            </a:rPr>
                            <m:t>𝛼</m:t>
                          </m:r>
                          <m:r>
                            <a:rPr lang="en-IN" b="0" i="1" smtClean="0">
                              <a:latin typeface="Cambria Math" panose="02040503050406030204" pitchFamily="18" charset="0"/>
                            </a:rPr>
                            <m:t>+1</m:t>
                          </m:r>
                        </m:e>
                      </m:d>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+31</m:t>
                      </m:r>
                      <m:r>
                        <a:rPr lang="en-IN" b="0" i="1" smtClean="0">
                          <a:latin typeface="Cambria Math" panose="02040503050406030204" pitchFamily="18" charset="0"/>
                        </a:rPr>
                        <m:t>𝑧</m:t>
                      </m:r>
                      <m:r>
                        <a:rPr lang="en-IN" b="0" i="1" smtClean="0">
                          <a:latin typeface="Cambria Math" panose="02040503050406030204" pitchFamily="18" charset="0"/>
                        </a:rPr>
                        <m:t>=17      → 19</m:t>
                      </m:r>
                      <m:r>
                        <a:rPr lang="en-IN" b="0" i="1" smtClean="0">
                          <a:latin typeface="Cambria Math" panose="02040503050406030204" pitchFamily="18" charset="0"/>
                        </a:rPr>
                        <m:t>𝑦</m:t>
                      </m:r>
                      <m:r>
                        <a:rPr lang="en-IN" b="0" i="1" smtClean="0">
                          <a:latin typeface="Cambria Math" panose="02040503050406030204" pitchFamily="18" charset="0"/>
                        </a:rPr>
                        <m:t>+17</m:t>
                      </m:r>
                      <m:r>
                        <a:rPr lang="en-IN" b="0" i="1" smtClean="0">
                          <a:latin typeface="Cambria Math" panose="02040503050406030204" pitchFamily="18" charset="0"/>
                        </a:rPr>
                        <m:t>𝑧</m:t>
                      </m:r>
                      <m:r>
                        <a:rPr lang="en-IN" b="0" i="1" smtClean="0">
                          <a:latin typeface="Cambria Math" panose="02040503050406030204" pitchFamily="18" charset="0"/>
                        </a:rPr>
                        <m:t> −28</m:t>
                      </m:r>
                      <m:r>
                        <a:rPr lang="en-IN" b="0" i="1" smtClean="0">
                          <a:latin typeface="Cambria Math" panose="02040503050406030204" pitchFamily="18" charset="0"/>
                        </a:rPr>
                        <m:t>𝛼</m:t>
                      </m:r>
                      <m:r>
                        <a:rPr lang="en-IN" b="0" i="1" smtClean="0">
                          <a:latin typeface="Cambria Math" panose="02040503050406030204" pitchFamily="18" charset="0"/>
                        </a:rPr>
                        <m:t>=10   (</m:t>
                      </m:r>
                      <m:r>
                        <a:rPr lang="en-IN" b="0" i="1" smtClean="0">
                          <a:latin typeface="Cambria Math" panose="02040503050406030204" pitchFamily="18" charset="0"/>
                        </a:rPr>
                        <m:t>𝑒𝑞</m:t>
                      </m:r>
                      <m:r>
                        <a:rPr lang="en-IN" b="0" i="1" smtClean="0">
                          <a:latin typeface="Cambria Math" panose="02040503050406030204" pitchFamily="18" charset="0"/>
                        </a:rPr>
                        <m:t> 4)</m:t>
                      </m:r>
                    </m:oMath>
                  </m:oMathPara>
                </a14:m>
                <a:endParaRPr lang="en-IN" b="0" dirty="0"/>
              </a:p>
              <a:p>
                <a:r>
                  <a:rPr lang="en-IN" b="0" dirty="0"/>
                  <a:t>substituting eq3 in </a:t>
                </a:r>
                <a:r>
                  <a:rPr lang="en-IN" b="0" dirty="0" err="1"/>
                  <a:t>eq</a:t>
                </a:r>
                <a:r>
                  <a:rPr lang="en-IN" b="0" dirty="0"/>
                  <a:t> 2</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3 </m:t>
                      </m:r>
                      <m:d>
                        <m:dPr>
                          <m:ctrlPr>
                            <a:rPr lang="en-IN" b="0" i="1" smtClean="0">
                              <a:latin typeface="Cambria Math" panose="02040503050406030204" pitchFamily="18" charset="0"/>
                            </a:rPr>
                          </m:ctrlPr>
                        </m:dPr>
                        <m:e>
                          <m:r>
                            <a:rPr lang="en-IN" b="0" i="1" smtClean="0">
                              <a:latin typeface="Cambria Math" panose="02040503050406030204" pitchFamily="18" charset="0"/>
                            </a:rPr>
                            <m:t>𝑦</m:t>
                          </m:r>
                          <m:r>
                            <a:rPr lang="en-IN" b="0" i="1" smtClean="0">
                              <a:latin typeface="Cambria Math" panose="02040503050406030204" pitchFamily="18" charset="0"/>
                            </a:rPr>
                            <m:t> −2</m:t>
                          </m:r>
                          <m:r>
                            <a:rPr lang="en-IN" b="0" i="1" smtClean="0">
                              <a:latin typeface="Cambria Math" panose="02040503050406030204" pitchFamily="18" charset="0"/>
                            </a:rPr>
                            <m:t>𝑧</m:t>
                          </m:r>
                          <m:r>
                            <a:rPr lang="en-IN" b="0" i="1" smtClean="0">
                              <a:latin typeface="Cambria Math" panose="02040503050406030204" pitchFamily="18" charset="0"/>
                            </a:rPr>
                            <m:t> −4</m:t>
                          </m:r>
                          <m:r>
                            <a:rPr lang="en-IN" b="0" i="1" smtClean="0">
                              <a:latin typeface="Cambria Math" panose="02040503050406030204" pitchFamily="18" charset="0"/>
                            </a:rPr>
                            <m:t>𝛼</m:t>
                          </m:r>
                          <m:r>
                            <a:rPr lang="en-IN" b="0" i="1" smtClean="0">
                              <a:latin typeface="Cambria Math" panose="02040503050406030204" pitchFamily="18" charset="0"/>
                            </a:rPr>
                            <m:t>+1</m:t>
                          </m:r>
                        </m:e>
                      </m:d>
                      <m:r>
                        <a:rPr lang="en-IN" b="0" i="1" smtClean="0">
                          <a:latin typeface="Cambria Math" panose="02040503050406030204" pitchFamily="18" charset="0"/>
                        </a:rPr>
                        <m:t>+5</m:t>
                      </m:r>
                      <m:r>
                        <a:rPr lang="en-IN" b="0" i="1" smtClean="0">
                          <a:latin typeface="Cambria Math" panose="02040503050406030204" pitchFamily="18" charset="0"/>
                        </a:rPr>
                        <m:t>𝑦</m:t>
                      </m:r>
                      <m:r>
                        <a:rPr lang="en-IN" b="0" i="1" smtClean="0">
                          <a:latin typeface="Cambria Math" panose="02040503050406030204" pitchFamily="18" charset="0"/>
                        </a:rPr>
                        <m:t>+14</m:t>
                      </m:r>
                      <m:r>
                        <a:rPr lang="en-IN" b="0" i="1" smtClean="0">
                          <a:latin typeface="Cambria Math" panose="02040503050406030204" pitchFamily="18" charset="0"/>
                        </a:rPr>
                        <m:t>𝑧</m:t>
                      </m:r>
                      <m:r>
                        <a:rPr lang="en-IN" b="0" i="1" smtClean="0">
                          <a:latin typeface="Cambria Math" panose="02040503050406030204" pitchFamily="18" charset="0"/>
                        </a:rPr>
                        <m:t>=7       →  2</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 −3</m:t>
                      </m:r>
                      <m:r>
                        <a:rPr lang="en-IN" b="0" i="1" smtClean="0">
                          <a:latin typeface="Cambria Math" panose="02040503050406030204" pitchFamily="18" charset="0"/>
                        </a:rPr>
                        <m:t>𝛼</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5</m:t>
                          </m:r>
                        </m:e>
                      </m:d>
                    </m:oMath>
                  </m:oMathPara>
                </a14:m>
                <a:endParaRPr lang="en-IN" b="0" dirty="0"/>
              </a:p>
              <a:p>
                <a:endParaRPr lang="en-IN" b="0" dirty="0"/>
              </a:p>
              <a:p>
                <a:r>
                  <a:rPr lang="en-IN" b="0" dirty="0"/>
                  <a:t>Least coefficient 2 in </a:t>
                </a:r>
                <a:r>
                  <a:rPr lang="en-IN" b="0" dirty="0" err="1"/>
                  <a:t>eq</a:t>
                </a:r>
                <a:r>
                  <a:rPr lang="en-IN" b="0" dirty="0"/>
                  <a:t> 5</a:t>
                </a:r>
              </a:p>
              <a:p>
                <a:r>
                  <a:rPr lang="en-IN" dirty="0"/>
                  <a:t>m = 3</a:t>
                </a:r>
              </a:p>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𝑦</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𝑧</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3 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𝛼</m:t>
                      </m:r>
                      <m:r>
                        <a:rPr lang="en-IN" b="0" i="1" smtClean="0">
                          <a:latin typeface="Cambria Math" panose="02040503050406030204" pitchFamily="18" charset="0"/>
                        </a:rPr>
                        <m:t>=3</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1 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3</m:t>
                          </m:r>
                        </m:e>
                      </m:d>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 −</m:t>
                      </m:r>
                      <m:r>
                        <a:rPr lang="en-IN" b="0" i="1" smtClean="0">
                          <a:latin typeface="Cambria Math" panose="02040503050406030204" pitchFamily="18" charset="0"/>
                        </a:rPr>
                        <m:t>𝑧</m:t>
                      </m:r>
                      <m:r>
                        <a:rPr lang="en-IN" b="0" i="1" smtClean="0">
                          <a:latin typeface="Cambria Math" panose="02040503050406030204" pitchFamily="18" charset="0"/>
                        </a:rPr>
                        <m:t>=3</m:t>
                      </m:r>
                      <m:r>
                        <a:rPr lang="en-IN" b="0" i="1" smtClean="0">
                          <a:latin typeface="Cambria Math" panose="02040503050406030204" pitchFamily="18" charset="0"/>
                        </a:rPr>
                        <m:t>𝛽</m:t>
                      </m:r>
                      <m:r>
                        <a:rPr lang="en-IN" b="0" i="1" smtClean="0">
                          <a:latin typeface="Cambria Math" panose="02040503050406030204" pitchFamily="18" charset="0"/>
                        </a:rPr>
                        <m:t>+1            →    </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 −3</m:t>
                      </m:r>
                      <m:r>
                        <a:rPr lang="en-IN" b="0" i="1" smtClean="0">
                          <a:latin typeface="Cambria Math" panose="02040503050406030204" pitchFamily="18" charset="0"/>
                        </a:rPr>
                        <m:t>𝛽</m:t>
                      </m:r>
                      <m:r>
                        <a:rPr lang="en-IN" b="0" i="1" smtClean="0">
                          <a:latin typeface="Cambria Math" panose="02040503050406030204" pitchFamily="18" charset="0"/>
                        </a:rPr>
                        <m:t>−1     (</m:t>
                      </m:r>
                      <m:r>
                        <a:rPr lang="en-IN" b="0" i="1" smtClean="0">
                          <a:latin typeface="Cambria Math" panose="02040503050406030204" pitchFamily="18" charset="0"/>
                        </a:rPr>
                        <m:t>𝑒𝑞</m:t>
                      </m:r>
                      <m:r>
                        <a:rPr lang="en-IN" b="0" i="1" smtClean="0">
                          <a:latin typeface="Cambria Math" panose="02040503050406030204" pitchFamily="18" charset="0"/>
                        </a:rPr>
                        <m:t> 6)</m:t>
                      </m:r>
                    </m:oMath>
                  </m:oMathPara>
                </a14:m>
                <a:endParaRPr lang="en-IN" b="0" dirty="0"/>
              </a:p>
              <a:p>
                <a:endParaRPr lang="en-IN" dirty="0"/>
              </a:p>
            </p:txBody>
          </p:sp>
        </mc:Choice>
        <mc:Fallback xmlns="">
          <p:sp>
            <p:nvSpPr>
              <p:cNvPr id="4" name="TextBox 3">
                <a:extLst>
                  <a:ext uri="{FF2B5EF4-FFF2-40B4-BE49-F238E27FC236}">
                    <a16:creationId xmlns:a16="http://schemas.microsoft.com/office/drawing/2014/main" id="{3271E4CA-F85E-DA48-0B33-7F707E5EAA23}"/>
                  </a:ext>
                </a:extLst>
              </p:cNvPr>
              <p:cNvSpPr txBox="1">
                <a:spLocks noRot="1" noChangeAspect="1" noMove="1" noResize="1" noEditPoints="1" noAdjustHandles="1" noChangeArrowheads="1" noChangeShapeType="1" noTextEdit="1"/>
              </p:cNvSpPr>
              <p:nvPr/>
            </p:nvSpPr>
            <p:spPr>
              <a:xfrm>
                <a:off x="947057" y="1524000"/>
                <a:ext cx="7968343" cy="5078313"/>
              </a:xfrm>
              <a:prstGeom prst="rect">
                <a:avLst/>
              </a:prstGeom>
              <a:blipFill>
                <a:blip r:embed="rId2"/>
                <a:stretch>
                  <a:fillRect l="-612"/>
                </a:stretch>
              </a:blipFill>
            </p:spPr>
            <p:txBody>
              <a:bodyPr/>
              <a:lstStyle/>
              <a:p>
                <a:r>
                  <a:rPr lang="en-IN">
                    <a:noFill/>
                  </a:rPr>
                  <a:t> </a:t>
                </a:r>
              </a:p>
            </p:txBody>
          </p:sp>
        </mc:Fallback>
      </mc:AlternateContent>
    </p:spTree>
    <p:extLst>
      <p:ext uri="{BB962C8B-B14F-4D97-AF65-F5344CB8AC3E}">
        <p14:creationId xmlns:p14="http://schemas.microsoft.com/office/powerpoint/2010/main" val="2935526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71E4CA-F85E-DA48-0B33-7F707E5EAA23}"/>
                  </a:ext>
                </a:extLst>
              </p:cNvPr>
              <p:cNvSpPr txBox="1"/>
              <p:nvPr/>
            </p:nvSpPr>
            <p:spPr>
              <a:xfrm>
                <a:off x="947057" y="1524000"/>
                <a:ext cx="7968343" cy="4801314"/>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𝟕</m:t>
                      </m:r>
                      <m:r>
                        <a:rPr lang="en-IN" b="1" i="1" smtClean="0">
                          <a:latin typeface="Cambria Math" panose="02040503050406030204" pitchFamily="18" charset="0"/>
                        </a:rPr>
                        <m:t>𝒙</m:t>
                      </m:r>
                      <m:r>
                        <a:rPr lang="en-IN" b="1" i="1" smtClean="0">
                          <a:latin typeface="Cambria Math" panose="02040503050406030204" pitchFamily="18" charset="0"/>
                        </a:rPr>
                        <m:t>+</m:t>
                      </m:r>
                      <m:r>
                        <a:rPr lang="en-IN" b="1" i="1" smtClean="0">
                          <a:latin typeface="Cambria Math" panose="02040503050406030204" pitchFamily="18" charset="0"/>
                        </a:rPr>
                        <m:t>𝟏𝟐</m:t>
                      </m:r>
                      <m:r>
                        <a:rPr lang="en-IN" b="1" i="1" smtClean="0">
                          <a:latin typeface="Cambria Math" panose="02040503050406030204" pitchFamily="18" charset="0"/>
                        </a:rPr>
                        <m:t>𝒚</m:t>
                      </m:r>
                      <m:r>
                        <a:rPr lang="en-IN" b="1" i="1" smtClean="0">
                          <a:latin typeface="Cambria Math" panose="02040503050406030204" pitchFamily="18" charset="0"/>
                        </a:rPr>
                        <m:t>+</m:t>
                      </m:r>
                      <m:r>
                        <a:rPr lang="en-IN" b="1" i="1" smtClean="0">
                          <a:latin typeface="Cambria Math" panose="02040503050406030204" pitchFamily="18" charset="0"/>
                        </a:rPr>
                        <m:t>𝟑𝟏</m:t>
                      </m:r>
                      <m:r>
                        <a:rPr lang="en-IN" b="1" i="1" smtClean="0">
                          <a:latin typeface="Cambria Math" panose="02040503050406030204" pitchFamily="18" charset="0"/>
                        </a:rPr>
                        <m:t>𝒛</m:t>
                      </m:r>
                      <m:r>
                        <a:rPr lang="en-IN" b="1" i="1" smtClean="0">
                          <a:latin typeface="Cambria Math" panose="02040503050406030204" pitchFamily="18" charset="0"/>
                        </a:rPr>
                        <m:t>=</m:t>
                      </m:r>
                      <m:r>
                        <a:rPr lang="en-IN" b="1" i="1" smtClean="0">
                          <a:latin typeface="Cambria Math" panose="02040503050406030204" pitchFamily="18" charset="0"/>
                        </a:rPr>
                        <m:t>𝟏𝟕</m:t>
                      </m:r>
                      <m:r>
                        <a:rPr lang="en-IN" b="1" i="1" smtClean="0">
                          <a:latin typeface="Cambria Math" panose="02040503050406030204" pitchFamily="18" charset="0"/>
                        </a:rPr>
                        <m:t>        (</m:t>
                      </m:r>
                      <m:r>
                        <a:rPr lang="en-IN" b="1" i="1" smtClean="0">
                          <a:latin typeface="Cambria Math" panose="02040503050406030204" pitchFamily="18" charset="0"/>
                        </a:rPr>
                        <m:t>𝒆𝒒</m:t>
                      </m:r>
                      <m:r>
                        <a:rPr lang="en-IN" b="1" i="1" smtClean="0">
                          <a:latin typeface="Cambria Math" panose="02040503050406030204" pitchFamily="18" charset="0"/>
                        </a:rPr>
                        <m:t> </m:t>
                      </m:r>
                      <m:r>
                        <a:rPr lang="en-IN" b="1" i="1" smtClean="0">
                          <a:latin typeface="Cambria Math" panose="02040503050406030204" pitchFamily="18" charset="0"/>
                        </a:rPr>
                        <m:t>𝟏</m:t>
                      </m:r>
                      <m:r>
                        <a:rPr lang="en-IN" b="1" i="1" smtClean="0">
                          <a:latin typeface="Cambria Math" panose="02040503050406030204" pitchFamily="18" charset="0"/>
                        </a:rPr>
                        <m:t>)</m:t>
                      </m:r>
                    </m:oMath>
                  </m:oMathPara>
                </a14:m>
                <a:endParaRPr lang="en-IN" b="1" dirty="0"/>
              </a:p>
              <a:p>
                <a:pPr marL="0" indent="0">
                  <a:buNone/>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𝟑</m:t>
                      </m:r>
                      <m:r>
                        <a:rPr lang="en-IN" b="1" i="1" smtClean="0">
                          <a:latin typeface="Cambria Math" panose="02040503050406030204" pitchFamily="18" charset="0"/>
                        </a:rPr>
                        <m:t>𝒙</m:t>
                      </m:r>
                      <m:r>
                        <a:rPr lang="en-IN" b="1" i="1" smtClean="0">
                          <a:latin typeface="Cambria Math" panose="02040503050406030204" pitchFamily="18" charset="0"/>
                        </a:rPr>
                        <m:t>+</m:t>
                      </m:r>
                      <m:r>
                        <a:rPr lang="en-IN" b="1" i="1" smtClean="0">
                          <a:latin typeface="Cambria Math" panose="02040503050406030204" pitchFamily="18" charset="0"/>
                        </a:rPr>
                        <m:t>𝟓</m:t>
                      </m:r>
                      <m:r>
                        <a:rPr lang="en-IN" b="1" i="1" smtClean="0">
                          <a:latin typeface="Cambria Math" panose="02040503050406030204" pitchFamily="18" charset="0"/>
                        </a:rPr>
                        <m:t>𝒚</m:t>
                      </m:r>
                      <m:r>
                        <a:rPr lang="en-IN" b="1" i="1" smtClean="0">
                          <a:latin typeface="Cambria Math" panose="02040503050406030204" pitchFamily="18" charset="0"/>
                        </a:rPr>
                        <m:t>+</m:t>
                      </m:r>
                      <m:r>
                        <a:rPr lang="en-IN" b="1" i="1" smtClean="0">
                          <a:latin typeface="Cambria Math" panose="02040503050406030204" pitchFamily="18" charset="0"/>
                        </a:rPr>
                        <m:t>𝟏𝟒</m:t>
                      </m:r>
                      <m:r>
                        <a:rPr lang="en-IN" b="1" i="1" smtClean="0">
                          <a:latin typeface="Cambria Math" panose="02040503050406030204" pitchFamily="18" charset="0"/>
                        </a:rPr>
                        <m:t>𝒛</m:t>
                      </m:r>
                      <m:r>
                        <a:rPr lang="en-IN" b="1" i="1" smtClean="0">
                          <a:latin typeface="Cambria Math" panose="02040503050406030204" pitchFamily="18" charset="0"/>
                        </a:rPr>
                        <m:t>=</m:t>
                      </m:r>
                      <m:r>
                        <a:rPr lang="en-IN" b="1" i="1" smtClean="0">
                          <a:latin typeface="Cambria Math" panose="02040503050406030204" pitchFamily="18" charset="0"/>
                        </a:rPr>
                        <m:t>𝟕</m:t>
                      </m:r>
                      <m:r>
                        <a:rPr lang="en-IN" b="1" i="1" smtClean="0">
                          <a:latin typeface="Cambria Math" panose="02040503050406030204" pitchFamily="18" charset="0"/>
                        </a:rPr>
                        <m:t>             (</m:t>
                      </m:r>
                      <m:r>
                        <a:rPr lang="en-IN" b="1" i="1" smtClean="0">
                          <a:latin typeface="Cambria Math" panose="02040503050406030204" pitchFamily="18" charset="0"/>
                        </a:rPr>
                        <m:t>𝒆𝒒</m:t>
                      </m:r>
                      <m:r>
                        <a:rPr lang="en-IN" b="1" i="1" smtClean="0">
                          <a:latin typeface="Cambria Math" panose="02040503050406030204" pitchFamily="18" charset="0"/>
                        </a:rPr>
                        <m:t> </m:t>
                      </m:r>
                      <m:r>
                        <a:rPr lang="en-IN" b="1" i="1" smtClean="0">
                          <a:latin typeface="Cambria Math" panose="02040503050406030204" pitchFamily="18" charset="0"/>
                        </a:rPr>
                        <m:t>𝟐</m:t>
                      </m:r>
                      <m:r>
                        <a:rPr lang="en-IN" b="1" i="1" smtClean="0">
                          <a:latin typeface="Cambria Math" panose="02040503050406030204" pitchFamily="18" charset="0"/>
                        </a:rPr>
                        <m:t>)</m:t>
                      </m:r>
                    </m:oMath>
                  </m:oMathPara>
                </a14:m>
                <a:endParaRPr lang="en-IN" b="1" dirty="0"/>
              </a:p>
              <a:p>
                <a:pPr marL="0" indent="0">
                  <a:buNone/>
                </a:pPr>
                <a:endParaRPr lang="en-IN" b="1"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 −2</m:t>
                      </m:r>
                      <m:r>
                        <a:rPr lang="en-IN" b="0" i="1" smtClean="0">
                          <a:latin typeface="Cambria Math" panose="02040503050406030204" pitchFamily="18" charset="0"/>
                        </a:rPr>
                        <m:t>𝑧</m:t>
                      </m:r>
                      <m:r>
                        <a:rPr lang="en-IN" b="0" i="1" smtClean="0">
                          <a:latin typeface="Cambria Math" panose="02040503050406030204" pitchFamily="18" charset="0"/>
                        </a:rPr>
                        <m:t> −4</m:t>
                      </m:r>
                      <m:r>
                        <a:rPr lang="en-IN" b="0" i="1" smtClean="0">
                          <a:latin typeface="Cambria Math" panose="02040503050406030204" pitchFamily="18" charset="0"/>
                        </a:rPr>
                        <m:t>𝛼</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3</m:t>
                          </m:r>
                        </m:e>
                      </m:d>
                    </m:oMath>
                  </m:oMathPara>
                </a14:m>
                <a:endParaRPr lang="en-IN" b="0" dirty="0"/>
              </a:p>
              <a:p>
                <a:endParaRPr lang="en-IN"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19</m:t>
                      </m:r>
                      <m:r>
                        <a:rPr lang="en-IN" b="0" i="1" smtClean="0">
                          <a:latin typeface="Cambria Math" panose="02040503050406030204" pitchFamily="18" charset="0"/>
                        </a:rPr>
                        <m:t>𝑦</m:t>
                      </m:r>
                      <m:r>
                        <a:rPr lang="en-IN" b="0" i="1" smtClean="0">
                          <a:latin typeface="Cambria Math" panose="02040503050406030204" pitchFamily="18" charset="0"/>
                        </a:rPr>
                        <m:t>+17</m:t>
                      </m:r>
                      <m:r>
                        <a:rPr lang="en-IN" b="0" i="1" smtClean="0">
                          <a:latin typeface="Cambria Math" panose="02040503050406030204" pitchFamily="18" charset="0"/>
                        </a:rPr>
                        <m:t>𝑧</m:t>
                      </m:r>
                      <m:r>
                        <a:rPr lang="en-IN" b="0" i="1" smtClean="0">
                          <a:latin typeface="Cambria Math" panose="02040503050406030204" pitchFamily="18" charset="0"/>
                        </a:rPr>
                        <m:t> −28</m:t>
                      </m:r>
                      <m:r>
                        <a:rPr lang="en-IN" b="0" i="1" smtClean="0">
                          <a:latin typeface="Cambria Math" panose="02040503050406030204" pitchFamily="18" charset="0"/>
                        </a:rPr>
                        <m:t>𝛼</m:t>
                      </m:r>
                      <m:r>
                        <a:rPr lang="en-IN" b="0" i="1" smtClean="0">
                          <a:latin typeface="Cambria Math" panose="02040503050406030204" pitchFamily="18" charset="0"/>
                        </a:rPr>
                        <m:t>=10   (</m:t>
                      </m:r>
                      <m:r>
                        <a:rPr lang="en-IN" b="0" i="1" smtClean="0">
                          <a:latin typeface="Cambria Math" panose="02040503050406030204" pitchFamily="18" charset="0"/>
                        </a:rPr>
                        <m:t>𝑒𝑞</m:t>
                      </m:r>
                      <m:r>
                        <a:rPr lang="en-IN" b="0" i="1" smtClean="0">
                          <a:latin typeface="Cambria Math" panose="02040503050406030204" pitchFamily="18" charset="0"/>
                        </a:rPr>
                        <m:t> 4)</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 −3</m:t>
                      </m:r>
                      <m:r>
                        <a:rPr lang="en-IN" b="0" i="1" smtClean="0">
                          <a:latin typeface="Cambria Math" panose="02040503050406030204" pitchFamily="18" charset="0"/>
                        </a:rPr>
                        <m:t>𝛼</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5</m:t>
                          </m:r>
                        </m:e>
                      </m:d>
                    </m:oMath>
                  </m:oMathPara>
                </a14:m>
                <a:endParaRPr lang="en-IN" b="0" dirty="0"/>
              </a:p>
              <a:p>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 −</m:t>
                      </m:r>
                      <m:r>
                        <a:rPr lang="en-IN" b="0" i="1" smtClean="0">
                          <a:latin typeface="Cambria Math" panose="02040503050406030204" pitchFamily="18" charset="0"/>
                        </a:rPr>
                        <m:t>𝑧</m:t>
                      </m:r>
                      <m:r>
                        <a:rPr lang="en-IN" b="0" i="1" smtClean="0">
                          <a:latin typeface="Cambria Math" panose="02040503050406030204" pitchFamily="18" charset="0"/>
                        </a:rPr>
                        <m:t>=3</m:t>
                      </m:r>
                      <m:r>
                        <a:rPr lang="en-IN" b="0" i="1" smtClean="0">
                          <a:latin typeface="Cambria Math" panose="02040503050406030204" pitchFamily="18" charset="0"/>
                        </a:rPr>
                        <m:t>𝛽</m:t>
                      </m:r>
                      <m:r>
                        <a:rPr lang="en-IN" b="0" i="1" smtClean="0">
                          <a:latin typeface="Cambria Math" panose="02040503050406030204" pitchFamily="18" charset="0"/>
                        </a:rPr>
                        <m:t>+1            →    </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 −3</m:t>
                      </m:r>
                      <m:r>
                        <a:rPr lang="en-IN" b="0" i="1" smtClean="0">
                          <a:latin typeface="Cambria Math" panose="02040503050406030204" pitchFamily="18" charset="0"/>
                        </a:rPr>
                        <m:t>𝛽</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6</m:t>
                          </m:r>
                        </m:e>
                      </m:d>
                    </m:oMath>
                  </m:oMathPara>
                </a14:m>
                <a:endParaRPr lang="en-IN" b="0" dirty="0"/>
              </a:p>
              <a:p>
                <a:r>
                  <a:rPr lang="en-IN" dirty="0"/>
                  <a:t>substituting </a:t>
                </a:r>
                <a:r>
                  <a:rPr lang="en-IN" dirty="0" err="1"/>
                  <a:t>eq</a:t>
                </a:r>
                <a:r>
                  <a:rPr lang="en-IN" dirty="0"/>
                  <a:t> 6 in </a:t>
                </a:r>
                <a:r>
                  <a:rPr lang="en-IN" dirty="0" err="1"/>
                  <a:t>eq</a:t>
                </a:r>
                <a:r>
                  <a:rPr lang="en-IN" dirty="0"/>
                  <a:t> 4 </a:t>
                </a:r>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−19</m:t>
                      </m:r>
                      <m:r>
                        <a:rPr lang="en-IN" b="0" i="1" smtClean="0">
                          <a:latin typeface="Cambria Math" panose="02040503050406030204" pitchFamily="18" charset="0"/>
                        </a:rPr>
                        <m:t>𝑧</m:t>
                      </m:r>
                      <m:r>
                        <a:rPr lang="en-IN" b="0" i="1" smtClean="0">
                          <a:latin typeface="Cambria Math" panose="02040503050406030204" pitchFamily="18" charset="0"/>
                        </a:rPr>
                        <m:t> −57</m:t>
                      </m:r>
                      <m:r>
                        <a:rPr lang="en-IN" b="0" i="1" smtClean="0">
                          <a:latin typeface="Cambria Math" panose="02040503050406030204" pitchFamily="18" charset="0"/>
                        </a:rPr>
                        <m:t>𝛽</m:t>
                      </m:r>
                      <m:r>
                        <a:rPr lang="en-IN" b="0" i="1" smtClean="0">
                          <a:latin typeface="Cambria Math" panose="02040503050406030204" pitchFamily="18" charset="0"/>
                        </a:rPr>
                        <m:t>−19+17</m:t>
                      </m:r>
                      <m:r>
                        <a:rPr lang="en-IN" b="0" i="1" smtClean="0">
                          <a:latin typeface="Cambria Math" panose="02040503050406030204" pitchFamily="18" charset="0"/>
                        </a:rPr>
                        <m:t>𝑧</m:t>
                      </m:r>
                      <m:r>
                        <a:rPr lang="en-IN" b="0" i="1" smtClean="0">
                          <a:latin typeface="Cambria Math" panose="02040503050406030204" pitchFamily="18" charset="0"/>
                        </a:rPr>
                        <m:t>−28</m:t>
                      </m:r>
                      <m:r>
                        <a:rPr lang="en-IN" b="0" i="1" smtClean="0">
                          <a:latin typeface="Cambria Math" panose="02040503050406030204" pitchFamily="18" charset="0"/>
                        </a:rPr>
                        <m:t>𝛼</m:t>
                      </m:r>
                      <m:r>
                        <a:rPr lang="en-IN" b="0" i="1" smtClean="0">
                          <a:latin typeface="Cambria Math" panose="02040503050406030204" pitchFamily="18" charset="0"/>
                        </a:rPr>
                        <m:t>=10    →  −2</m:t>
                      </m:r>
                      <m:r>
                        <a:rPr lang="en-IN" b="0" i="1" smtClean="0">
                          <a:latin typeface="Cambria Math" panose="02040503050406030204" pitchFamily="18" charset="0"/>
                        </a:rPr>
                        <m:t>𝑧</m:t>
                      </m:r>
                      <m:r>
                        <a:rPr lang="en-IN" b="0" i="1" smtClean="0">
                          <a:latin typeface="Cambria Math" panose="02040503050406030204" pitchFamily="18" charset="0"/>
                        </a:rPr>
                        <m:t> −57</m:t>
                      </m:r>
                      <m:r>
                        <a:rPr lang="en-IN" b="0" i="1" smtClean="0">
                          <a:latin typeface="Cambria Math" panose="02040503050406030204" pitchFamily="18" charset="0"/>
                        </a:rPr>
                        <m:t>𝛽</m:t>
                      </m:r>
                      <m:r>
                        <a:rPr lang="en-IN" b="0" i="1" smtClean="0">
                          <a:latin typeface="Cambria Math" panose="02040503050406030204" pitchFamily="18" charset="0"/>
                        </a:rPr>
                        <m:t>−28</m:t>
                      </m:r>
                      <m:r>
                        <a:rPr lang="en-IN" b="0" i="1" smtClean="0">
                          <a:latin typeface="Cambria Math" panose="02040503050406030204" pitchFamily="18" charset="0"/>
                        </a:rPr>
                        <m:t>𝛼</m:t>
                      </m:r>
                      <m:r>
                        <a:rPr lang="en-IN" b="0" i="1" smtClean="0">
                          <a:latin typeface="Cambria Math" panose="02040503050406030204" pitchFamily="18" charset="0"/>
                        </a:rPr>
                        <m:t>=29    (</m:t>
                      </m:r>
                      <m:r>
                        <a:rPr lang="en-IN" b="0" i="1" smtClean="0">
                          <a:latin typeface="Cambria Math" panose="02040503050406030204" pitchFamily="18" charset="0"/>
                        </a:rPr>
                        <m:t>𝑒𝑞</m:t>
                      </m:r>
                      <m:r>
                        <a:rPr lang="en-IN" b="0" i="1" smtClean="0">
                          <a:latin typeface="Cambria Math" panose="02040503050406030204" pitchFamily="18" charset="0"/>
                        </a:rPr>
                        <m:t> 7)</m:t>
                      </m:r>
                    </m:oMath>
                  </m:oMathPara>
                </a14:m>
                <a:endParaRPr lang="en-IN" b="0" dirty="0"/>
              </a:p>
              <a:p>
                <a:r>
                  <a:rPr lang="en-IN" b="0" dirty="0"/>
                  <a:t>substituting </a:t>
                </a:r>
                <a:r>
                  <a:rPr lang="en-IN" b="0" dirty="0" err="1"/>
                  <a:t>eq</a:t>
                </a:r>
                <a:r>
                  <a:rPr lang="en-IN" b="0" dirty="0"/>
                  <a:t> 6 in </a:t>
                </a:r>
                <a:r>
                  <a:rPr lang="en-IN" b="0" dirty="0" err="1"/>
                  <a:t>eq</a:t>
                </a:r>
                <a:r>
                  <a:rPr lang="en-IN" b="0" dirty="0"/>
                  <a:t> 5</a:t>
                </a:r>
              </a:p>
              <a:p>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 −6</m:t>
                    </m:r>
                    <m:r>
                      <a:rPr lang="en-IN" b="0" i="1" smtClean="0">
                        <a:latin typeface="Cambria Math" panose="02040503050406030204" pitchFamily="18" charset="0"/>
                      </a:rPr>
                      <m:t>𝛽</m:t>
                    </m:r>
                    <m:r>
                      <a:rPr lang="en-IN" b="0" i="1" smtClean="0">
                        <a:latin typeface="Cambria Math" panose="02040503050406030204" pitchFamily="18" charset="0"/>
                      </a:rPr>
                      <m:t>−2+2</m:t>
                    </m:r>
                    <m:r>
                      <a:rPr lang="en-IN" b="0" i="1" smtClean="0">
                        <a:latin typeface="Cambria Math" panose="02040503050406030204" pitchFamily="18" charset="0"/>
                      </a:rPr>
                      <m:t>𝑧</m:t>
                    </m:r>
                    <m:r>
                      <a:rPr lang="en-IN" b="0" i="1" smtClean="0">
                        <a:latin typeface="Cambria Math" panose="02040503050406030204" pitchFamily="18" charset="0"/>
                      </a:rPr>
                      <m:t> −3</m:t>
                    </m:r>
                    <m:r>
                      <a:rPr lang="en-IN" b="0" i="1" smtClean="0">
                        <a:latin typeface="Cambria Math" panose="02040503050406030204" pitchFamily="18" charset="0"/>
                      </a:rPr>
                      <m:t>𝛼</m:t>
                    </m:r>
                    <m:r>
                      <a:rPr lang="en-IN" b="0" i="1" smtClean="0">
                        <a:latin typeface="Cambria Math" panose="02040503050406030204" pitchFamily="18" charset="0"/>
                      </a:rPr>
                      <m:t>=1    →  </m:t>
                    </m:r>
                    <m:r>
                      <a:rPr lang="en-IN" b="0" i="1" smtClean="0">
                        <a:latin typeface="Cambria Math" panose="02040503050406030204" pitchFamily="18" charset="0"/>
                      </a:rPr>
                      <m:t>𝛼</m:t>
                    </m:r>
                    <m:r>
                      <a:rPr lang="en-IN" b="0" i="1" smtClean="0">
                        <a:latin typeface="Cambria Math" panose="02040503050406030204" pitchFamily="18" charset="0"/>
                      </a:rPr>
                      <m:t>=−2</m:t>
                    </m:r>
                    <m:r>
                      <a:rPr lang="en-IN" b="0" i="1" smtClean="0">
                        <a:latin typeface="Cambria Math" panose="02040503050406030204" pitchFamily="18" charset="0"/>
                      </a:rPr>
                      <m:t>𝛽</m:t>
                    </m:r>
                    <m:r>
                      <a:rPr lang="en-IN" b="0" i="1" smtClean="0">
                        <a:latin typeface="Cambria Math" panose="02040503050406030204" pitchFamily="18" charset="0"/>
                      </a:rPr>
                      <m:t>−1</m:t>
                    </m:r>
                  </m:oMath>
                </a14:m>
                <a:r>
                  <a:rPr lang="en-IN" b="0" dirty="0"/>
                  <a:t>  (</a:t>
                </a:r>
                <a:r>
                  <a:rPr lang="en-IN" b="0" dirty="0" err="1"/>
                  <a:t>eq</a:t>
                </a:r>
                <a:r>
                  <a:rPr lang="en-IN" b="0" dirty="0"/>
                  <a:t> 8)</a:t>
                </a:r>
              </a:p>
              <a:p>
                <a:r>
                  <a:rPr lang="en-IN" dirty="0"/>
                  <a:t>substituting eq 8</a:t>
                </a:r>
                <a14:m>
                  <m:oMath xmlns:m="http://schemas.openxmlformats.org/officeDocument/2006/math">
                    <m:r>
                      <a:rPr lang="en-IN" b="0" i="1" smtClean="0">
                        <a:latin typeface="Cambria Math" panose="02040503050406030204" pitchFamily="18" charset="0"/>
                      </a:rPr>
                      <m:t>  </m:t>
                    </m:r>
                    <m:r>
                      <a:rPr lang="en-IN" b="0" i="1" smtClean="0">
                        <a:latin typeface="Cambria Math" panose="02040503050406030204" pitchFamily="18" charset="0"/>
                      </a:rPr>
                      <m:t>𝑖𝑛</m:t>
                    </m:r>
                    <m:r>
                      <a:rPr lang="en-IN" b="0" i="1" smtClean="0">
                        <a:latin typeface="Cambria Math" panose="02040503050406030204" pitchFamily="18" charset="0"/>
                      </a:rPr>
                      <m:t> </m:t>
                    </m:r>
                    <m:r>
                      <a:rPr lang="en-IN" b="0" i="1" smtClean="0">
                        <a:latin typeface="Cambria Math" panose="02040503050406030204" pitchFamily="18" charset="0"/>
                      </a:rPr>
                      <m:t>𝑒𝑞</m:t>
                    </m:r>
                    <m:r>
                      <a:rPr lang="en-IN" b="0" i="1" smtClean="0">
                        <a:latin typeface="Cambria Math" panose="02040503050406030204" pitchFamily="18" charset="0"/>
                      </a:rPr>
                      <m:t> 7</m:t>
                    </m:r>
                  </m:oMath>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 −57</m:t>
                      </m:r>
                      <m:r>
                        <a:rPr lang="en-IN" b="0" i="1" smtClean="0">
                          <a:latin typeface="Cambria Math" panose="02040503050406030204" pitchFamily="18" charset="0"/>
                        </a:rPr>
                        <m:t>𝛽</m:t>
                      </m:r>
                      <m:r>
                        <a:rPr lang="en-IN" b="0" i="1" smtClean="0">
                          <a:latin typeface="Cambria Math" panose="02040503050406030204" pitchFamily="18" charset="0"/>
                        </a:rPr>
                        <m:t>+56</m:t>
                      </m:r>
                      <m:r>
                        <a:rPr lang="en-IN" b="0" i="1" smtClean="0">
                          <a:latin typeface="Cambria Math" panose="02040503050406030204" pitchFamily="18" charset="0"/>
                        </a:rPr>
                        <m:t>𝛽</m:t>
                      </m:r>
                      <m:r>
                        <a:rPr lang="en-IN" b="0" i="1" smtClean="0">
                          <a:latin typeface="Cambria Math" panose="02040503050406030204" pitchFamily="18" charset="0"/>
                        </a:rPr>
                        <m:t>+28=29        →  −2</m:t>
                      </m:r>
                      <m:r>
                        <a:rPr lang="en-IN" b="0" i="1" smtClean="0">
                          <a:latin typeface="Cambria Math" panose="02040503050406030204" pitchFamily="18" charset="0"/>
                        </a:rPr>
                        <m:t>𝑧</m:t>
                      </m:r>
                      <m:r>
                        <a:rPr lang="en-IN" b="0" i="1" smtClean="0">
                          <a:latin typeface="Cambria Math" panose="02040503050406030204" pitchFamily="18" charset="0"/>
                        </a:rPr>
                        <m:t> −</m:t>
                      </m:r>
                      <m:r>
                        <a:rPr lang="en-IN" b="0" i="1" smtClean="0">
                          <a:latin typeface="Cambria Math" panose="02040503050406030204" pitchFamily="18" charset="0"/>
                        </a:rPr>
                        <m:t>𝛽</m:t>
                      </m:r>
                      <m:r>
                        <a:rPr lang="en-IN" b="0" i="1" smtClean="0">
                          <a:latin typeface="Cambria Math" panose="02040503050406030204" pitchFamily="18" charset="0"/>
                        </a:rPr>
                        <m:t>=1  (</m:t>
                      </m:r>
                      <m:r>
                        <a:rPr lang="en-IN" b="0" i="1" smtClean="0">
                          <a:latin typeface="Cambria Math" panose="02040503050406030204" pitchFamily="18" charset="0"/>
                        </a:rPr>
                        <m:t>𝑒𝑞</m:t>
                      </m:r>
                      <m:r>
                        <a:rPr lang="en-IN" b="0" i="1" smtClean="0">
                          <a:latin typeface="Cambria Math" panose="02040503050406030204" pitchFamily="18" charset="0"/>
                        </a:rPr>
                        <m:t> 9)</m:t>
                      </m:r>
                    </m:oMath>
                  </m:oMathPara>
                </a14:m>
                <a:endParaRPr lang="en-IN" b="0" dirty="0"/>
              </a:p>
              <a:p>
                <a:r>
                  <a:rPr lang="en-IN" dirty="0"/>
                  <a:t>Only, equation 9 left which is satisfiable because the coefficient of </a:t>
                </a:r>
                <a14:m>
                  <m:oMath xmlns:m="http://schemas.openxmlformats.org/officeDocument/2006/math">
                    <m:r>
                      <a:rPr lang="en-IN" b="0" i="1" smtClean="0">
                        <a:latin typeface="Cambria Math" panose="02040503050406030204" pitchFamily="18" charset="0"/>
                      </a:rPr>
                      <m:t>𝛽</m:t>
                    </m:r>
                  </m:oMath>
                </a14:m>
                <a:r>
                  <a:rPr lang="en-IN" b="0" dirty="0"/>
                  <a:t> is -1.</a:t>
                </a:r>
              </a:p>
              <a:p>
                <a:r>
                  <a:rPr lang="en-IN" b="0" dirty="0"/>
                  <a:t>Thus, it has integer solutions.</a:t>
                </a:r>
              </a:p>
            </p:txBody>
          </p:sp>
        </mc:Choice>
        <mc:Fallback xmlns="">
          <p:sp>
            <p:nvSpPr>
              <p:cNvPr id="4" name="TextBox 3">
                <a:extLst>
                  <a:ext uri="{FF2B5EF4-FFF2-40B4-BE49-F238E27FC236}">
                    <a16:creationId xmlns:a16="http://schemas.microsoft.com/office/drawing/2014/main" id="{3271E4CA-F85E-DA48-0B33-7F707E5EAA23}"/>
                  </a:ext>
                </a:extLst>
              </p:cNvPr>
              <p:cNvSpPr txBox="1">
                <a:spLocks noRot="1" noChangeAspect="1" noMove="1" noResize="1" noEditPoints="1" noAdjustHandles="1" noChangeArrowheads="1" noChangeShapeType="1" noTextEdit="1"/>
              </p:cNvSpPr>
              <p:nvPr/>
            </p:nvSpPr>
            <p:spPr>
              <a:xfrm>
                <a:off x="947057" y="1524000"/>
                <a:ext cx="7968343" cy="4801314"/>
              </a:xfrm>
              <a:prstGeom prst="rect">
                <a:avLst/>
              </a:prstGeom>
              <a:blipFill>
                <a:blip r:embed="rId2"/>
                <a:stretch>
                  <a:fillRect l="-612" b="-1015"/>
                </a:stretch>
              </a:blipFill>
            </p:spPr>
            <p:txBody>
              <a:bodyPr/>
              <a:lstStyle/>
              <a:p>
                <a:r>
                  <a:rPr lang="en-IN">
                    <a:noFill/>
                  </a:rPr>
                  <a:t> </a:t>
                </a:r>
              </a:p>
            </p:txBody>
          </p:sp>
        </mc:Fallback>
      </mc:AlternateContent>
    </p:spTree>
    <p:extLst>
      <p:ext uri="{BB962C8B-B14F-4D97-AF65-F5344CB8AC3E}">
        <p14:creationId xmlns:p14="http://schemas.microsoft.com/office/powerpoint/2010/main" val="747305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90045-E014-4B9B-B17E-A5967B058D60}"/>
              </a:ext>
            </a:extLst>
          </p:cNvPr>
          <p:cNvSpPr>
            <a:spLocks noGrp="1"/>
          </p:cNvSpPr>
          <p:nvPr>
            <p:ph type="title"/>
          </p:nvPr>
        </p:nvSpPr>
        <p:spPr/>
        <p:txBody>
          <a:bodyPr/>
          <a:lstStyle/>
          <a:p>
            <a:r>
              <a:rPr lang="en-IN" dirty="0"/>
              <a:t>Equalities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71E4CA-F85E-DA48-0B33-7F707E5EAA23}"/>
                  </a:ext>
                </a:extLst>
              </p:cNvPr>
              <p:cNvSpPr txBox="1"/>
              <p:nvPr/>
            </p:nvSpPr>
            <p:spPr>
              <a:xfrm>
                <a:off x="914400" y="1582340"/>
                <a:ext cx="7968343" cy="3693319"/>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𝟕</m:t>
                      </m:r>
                      <m:r>
                        <a:rPr lang="en-IN" b="1" i="1" smtClean="0">
                          <a:latin typeface="Cambria Math" panose="02040503050406030204" pitchFamily="18" charset="0"/>
                        </a:rPr>
                        <m:t>𝒙</m:t>
                      </m:r>
                      <m:r>
                        <a:rPr lang="en-IN" b="1" i="1" smtClean="0">
                          <a:latin typeface="Cambria Math" panose="02040503050406030204" pitchFamily="18" charset="0"/>
                        </a:rPr>
                        <m:t>+</m:t>
                      </m:r>
                      <m:r>
                        <a:rPr lang="en-IN" b="1" i="1" smtClean="0">
                          <a:latin typeface="Cambria Math" panose="02040503050406030204" pitchFamily="18" charset="0"/>
                        </a:rPr>
                        <m:t>𝟏𝟐</m:t>
                      </m:r>
                      <m:r>
                        <a:rPr lang="en-IN" b="1" i="1" smtClean="0">
                          <a:latin typeface="Cambria Math" panose="02040503050406030204" pitchFamily="18" charset="0"/>
                        </a:rPr>
                        <m:t>𝒚</m:t>
                      </m:r>
                      <m:r>
                        <a:rPr lang="en-IN" b="1" i="1" smtClean="0">
                          <a:latin typeface="Cambria Math" panose="02040503050406030204" pitchFamily="18" charset="0"/>
                        </a:rPr>
                        <m:t>+</m:t>
                      </m:r>
                      <m:r>
                        <a:rPr lang="en-IN" b="1" i="1" smtClean="0">
                          <a:latin typeface="Cambria Math" panose="02040503050406030204" pitchFamily="18" charset="0"/>
                        </a:rPr>
                        <m:t>𝟑𝟏</m:t>
                      </m:r>
                      <m:r>
                        <a:rPr lang="en-IN" b="1" i="1" smtClean="0">
                          <a:latin typeface="Cambria Math" panose="02040503050406030204" pitchFamily="18" charset="0"/>
                        </a:rPr>
                        <m:t>𝒛</m:t>
                      </m:r>
                      <m:r>
                        <a:rPr lang="en-IN" b="1" i="1" smtClean="0">
                          <a:latin typeface="Cambria Math" panose="02040503050406030204" pitchFamily="18" charset="0"/>
                        </a:rPr>
                        <m:t>=</m:t>
                      </m:r>
                      <m:r>
                        <a:rPr lang="en-IN" b="1" i="1" smtClean="0">
                          <a:latin typeface="Cambria Math" panose="02040503050406030204" pitchFamily="18" charset="0"/>
                        </a:rPr>
                        <m:t>𝟏𝟕</m:t>
                      </m:r>
                      <m:r>
                        <a:rPr lang="en-IN" b="1" i="1" smtClean="0">
                          <a:latin typeface="Cambria Math" panose="02040503050406030204" pitchFamily="18" charset="0"/>
                        </a:rPr>
                        <m:t>        (</m:t>
                      </m:r>
                      <m:r>
                        <a:rPr lang="en-IN" b="1" i="1" smtClean="0">
                          <a:latin typeface="Cambria Math" panose="02040503050406030204" pitchFamily="18" charset="0"/>
                        </a:rPr>
                        <m:t>𝒆𝒒</m:t>
                      </m:r>
                      <m:r>
                        <a:rPr lang="en-IN" b="1" i="1" smtClean="0">
                          <a:latin typeface="Cambria Math" panose="02040503050406030204" pitchFamily="18" charset="0"/>
                        </a:rPr>
                        <m:t> </m:t>
                      </m:r>
                      <m:r>
                        <a:rPr lang="en-IN" b="1" i="1" smtClean="0">
                          <a:latin typeface="Cambria Math" panose="02040503050406030204" pitchFamily="18" charset="0"/>
                        </a:rPr>
                        <m:t>𝟏</m:t>
                      </m:r>
                      <m:r>
                        <a:rPr lang="en-IN" b="1" i="1" smtClean="0">
                          <a:latin typeface="Cambria Math" panose="02040503050406030204" pitchFamily="18" charset="0"/>
                        </a:rPr>
                        <m:t>)</m:t>
                      </m:r>
                    </m:oMath>
                  </m:oMathPara>
                </a14:m>
                <a:endParaRPr lang="en-IN" b="1" dirty="0"/>
              </a:p>
              <a:p>
                <a:pPr marL="0" indent="0">
                  <a:buNone/>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𝟑</m:t>
                      </m:r>
                      <m:r>
                        <a:rPr lang="en-IN" b="1" i="1" smtClean="0">
                          <a:latin typeface="Cambria Math" panose="02040503050406030204" pitchFamily="18" charset="0"/>
                        </a:rPr>
                        <m:t>𝒙</m:t>
                      </m:r>
                      <m:r>
                        <a:rPr lang="en-IN" b="1" i="1" smtClean="0">
                          <a:latin typeface="Cambria Math" panose="02040503050406030204" pitchFamily="18" charset="0"/>
                        </a:rPr>
                        <m:t>+</m:t>
                      </m:r>
                      <m:r>
                        <a:rPr lang="en-IN" b="1" i="1" smtClean="0">
                          <a:latin typeface="Cambria Math" panose="02040503050406030204" pitchFamily="18" charset="0"/>
                        </a:rPr>
                        <m:t>𝟓</m:t>
                      </m:r>
                      <m:r>
                        <a:rPr lang="en-IN" b="1" i="1" smtClean="0">
                          <a:latin typeface="Cambria Math" panose="02040503050406030204" pitchFamily="18" charset="0"/>
                        </a:rPr>
                        <m:t>𝒚</m:t>
                      </m:r>
                      <m:r>
                        <a:rPr lang="en-IN" b="1" i="1" smtClean="0">
                          <a:latin typeface="Cambria Math" panose="02040503050406030204" pitchFamily="18" charset="0"/>
                        </a:rPr>
                        <m:t>+</m:t>
                      </m:r>
                      <m:r>
                        <a:rPr lang="en-IN" b="1" i="1" smtClean="0">
                          <a:latin typeface="Cambria Math" panose="02040503050406030204" pitchFamily="18" charset="0"/>
                        </a:rPr>
                        <m:t>𝟏𝟒</m:t>
                      </m:r>
                      <m:r>
                        <a:rPr lang="en-IN" b="1" i="1" smtClean="0">
                          <a:latin typeface="Cambria Math" panose="02040503050406030204" pitchFamily="18" charset="0"/>
                        </a:rPr>
                        <m:t>𝒛</m:t>
                      </m:r>
                      <m:r>
                        <a:rPr lang="en-IN" b="1" i="1" smtClean="0">
                          <a:latin typeface="Cambria Math" panose="02040503050406030204" pitchFamily="18" charset="0"/>
                        </a:rPr>
                        <m:t>=</m:t>
                      </m:r>
                      <m:r>
                        <a:rPr lang="en-IN" b="1" i="1" smtClean="0">
                          <a:latin typeface="Cambria Math" panose="02040503050406030204" pitchFamily="18" charset="0"/>
                        </a:rPr>
                        <m:t>𝟕</m:t>
                      </m:r>
                      <m:r>
                        <a:rPr lang="en-IN" b="1" i="1" smtClean="0">
                          <a:latin typeface="Cambria Math" panose="02040503050406030204" pitchFamily="18" charset="0"/>
                        </a:rPr>
                        <m:t>             (</m:t>
                      </m:r>
                      <m:r>
                        <a:rPr lang="en-IN" b="1" i="1" smtClean="0">
                          <a:latin typeface="Cambria Math" panose="02040503050406030204" pitchFamily="18" charset="0"/>
                        </a:rPr>
                        <m:t>𝒆𝒒</m:t>
                      </m:r>
                      <m:r>
                        <a:rPr lang="en-IN" b="1" i="1" smtClean="0">
                          <a:latin typeface="Cambria Math" panose="02040503050406030204" pitchFamily="18" charset="0"/>
                        </a:rPr>
                        <m:t> </m:t>
                      </m:r>
                      <m:r>
                        <a:rPr lang="en-IN" b="1" i="1" smtClean="0">
                          <a:latin typeface="Cambria Math" panose="02040503050406030204" pitchFamily="18" charset="0"/>
                        </a:rPr>
                        <m:t>𝟐</m:t>
                      </m:r>
                      <m:r>
                        <a:rPr lang="en-IN" b="1" i="1" smtClean="0">
                          <a:latin typeface="Cambria Math" panose="02040503050406030204" pitchFamily="18" charset="0"/>
                        </a:rPr>
                        <m:t>)</m:t>
                      </m:r>
                    </m:oMath>
                  </m:oMathPara>
                </a14:m>
                <a:endParaRPr lang="en-IN" b="1" dirty="0"/>
              </a:p>
              <a:p>
                <a:pPr marL="0" indent="0">
                  <a:buNone/>
                </a:pPr>
                <a:endParaRPr lang="en-IN" b="1"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𝑦</m:t>
                      </m:r>
                      <m:r>
                        <a:rPr lang="en-IN" b="0" i="1" smtClean="0">
                          <a:latin typeface="Cambria Math" panose="02040503050406030204" pitchFamily="18" charset="0"/>
                        </a:rPr>
                        <m:t> −2</m:t>
                      </m:r>
                      <m:r>
                        <a:rPr lang="en-IN" b="0" i="1" smtClean="0">
                          <a:latin typeface="Cambria Math" panose="02040503050406030204" pitchFamily="18" charset="0"/>
                        </a:rPr>
                        <m:t>𝑧</m:t>
                      </m:r>
                      <m:r>
                        <a:rPr lang="en-IN" b="0" i="1" smtClean="0">
                          <a:latin typeface="Cambria Math" panose="02040503050406030204" pitchFamily="18" charset="0"/>
                        </a:rPr>
                        <m:t> −4</m:t>
                      </m:r>
                      <m:r>
                        <a:rPr lang="en-IN" b="0" i="1" smtClean="0">
                          <a:latin typeface="Cambria Math" panose="02040503050406030204" pitchFamily="18" charset="0"/>
                        </a:rPr>
                        <m:t>𝛼</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3</m:t>
                          </m:r>
                        </m:e>
                      </m:d>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𝑧</m:t>
                      </m:r>
                      <m:r>
                        <a:rPr lang="en-IN" b="0" i="1" smtClean="0">
                          <a:latin typeface="Cambria Math" panose="02040503050406030204" pitchFamily="18" charset="0"/>
                        </a:rPr>
                        <m:t> −3</m:t>
                      </m:r>
                      <m:r>
                        <a:rPr lang="en-IN" b="0" i="1" smtClean="0">
                          <a:latin typeface="Cambria Math" panose="02040503050406030204" pitchFamily="18" charset="0"/>
                        </a:rPr>
                        <m:t>𝛽</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6</m:t>
                          </m:r>
                        </m:e>
                      </m:d>
                    </m:oMath>
                  </m:oMathPara>
                </a14:m>
                <a:endParaRPr lang="en-IN" b="0" dirty="0"/>
              </a:p>
              <a:p>
                <a14:m>
                  <m:oMath xmlns:m="http://schemas.openxmlformats.org/officeDocument/2006/math">
                    <m:r>
                      <a:rPr lang="en-IN" i="1">
                        <a:latin typeface="Cambria Math" panose="02040503050406030204" pitchFamily="18" charset="0"/>
                      </a:rPr>
                      <m:t>𝛼</m:t>
                    </m:r>
                    <m:r>
                      <a:rPr lang="en-IN" i="1">
                        <a:latin typeface="Cambria Math" panose="02040503050406030204" pitchFamily="18" charset="0"/>
                      </a:rPr>
                      <m:t>=−2</m:t>
                    </m:r>
                    <m:r>
                      <a:rPr lang="en-IN" i="1">
                        <a:latin typeface="Cambria Math" panose="02040503050406030204" pitchFamily="18" charset="0"/>
                      </a:rPr>
                      <m:t>𝛽</m:t>
                    </m:r>
                    <m:r>
                      <a:rPr lang="en-IN" i="1">
                        <a:latin typeface="Cambria Math" panose="02040503050406030204" pitchFamily="18" charset="0"/>
                      </a:rPr>
                      <m:t>−1</m:t>
                    </m:r>
                  </m:oMath>
                </a14:m>
                <a:r>
                  <a:rPr lang="en-IN" b="0" dirty="0"/>
                  <a:t> (</a:t>
                </a:r>
                <a:r>
                  <a:rPr lang="en-IN" b="0" dirty="0" err="1"/>
                  <a:t>eq</a:t>
                </a:r>
                <a:r>
                  <a:rPr lang="en-IN" b="0" dirty="0"/>
                  <a:t> 8)</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𝑧</m:t>
                      </m:r>
                      <m:r>
                        <a:rPr lang="en-IN" b="0" i="1" smtClean="0">
                          <a:latin typeface="Cambria Math" panose="02040503050406030204" pitchFamily="18" charset="0"/>
                        </a:rPr>
                        <m:t> −</m:t>
                      </m:r>
                      <m:r>
                        <a:rPr lang="en-IN" b="0" i="1" smtClean="0">
                          <a:latin typeface="Cambria Math" panose="02040503050406030204" pitchFamily="18" charset="0"/>
                        </a:rPr>
                        <m:t>𝛽</m:t>
                      </m:r>
                      <m:r>
                        <a:rPr lang="en-IN" b="0" i="1" smtClean="0">
                          <a:latin typeface="Cambria Math" panose="02040503050406030204" pitchFamily="18" charset="0"/>
                        </a:rPr>
                        <m:t>=1  </m:t>
                      </m:r>
                      <m:d>
                        <m:dPr>
                          <m:ctrlPr>
                            <a:rPr lang="en-IN" b="0" i="1" smtClean="0">
                              <a:latin typeface="Cambria Math" panose="02040503050406030204" pitchFamily="18" charset="0"/>
                            </a:rPr>
                          </m:ctrlPr>
                        </m:dPr>
                        <m:e>
                          <m:r>
                            <a:rPr lang="en-IN" b="0" i="1" smtClean="0">
                              <a:latin typeface="Cambria Math" panose="02040503050406030204" pitchFamily="18" charset="0"/>
                            </a:rPr>
                            <m:t>𝑒𝑞</m:t>
                          </m:r>
                          <m:r>
                            <a:rPr lang="en-IN" b="0" i="1" smtClean="0">
                              <a:latin typeface="Cambria Math" panose="02040503050406030204" pitchFamily="18" charset="0"/>
                            </a:rPr>
                            <m:t> 9</m:t>
                          </m:r>
                        </m:e>
                      </m:d>
                    </m:oMath>
                  </m:oMathPara>
                </a14:m>
                <a:endParaRPr lang="en-IN" b="0" dirty="0"/>
              </a:p>
              <a:p>
                <a:r>
                  <a:rPr lang="en-IN" b="0" dirty="0"/>
                  <a:t>assume </a:t>
                </a:r>
                <a:r>
                  <a:rPr lang="en-IN" b="1" dirty="0"/>
                  <a:t>z = 0 </a:t>
                </a:r>
                <a:r>
                  <a:rPr lang="en-IN" b="0" dirty="0"/>
                  <a:t>in </a:t>
                </a:r>
                <a:r>
                  <a:rPr lang="en-IN" b="0" dirty="0" err="1"/>
                  <a:t>eq</a:t>
                </a:r>
                <a:r>
                  <a:rPr lang="en-IN" b="0" dirty="0"/>
                  <a:t> 9</a:t>
                </a:r>
              </a:p>
              <a:p>
                <a:pPr/>
                <a14:m>
                  <m:oMathPara xmlns:m="http://schemas.openxmlformats.org/officeDocument/2006/math">
                    <m:oMathParaPr>
                      <m:jc m:val="left"/>
                    </m:oMathParaPr>
                    <m:oMath xmlns:m="http://schemas.openxmlformats.org/officeDocument/2006/math">
                      <m:r>
                        <a:rPr lang="en-IN" b="1" i="1" smtClean="0">
                          <a:latin typeface="Cambria Math" panose="02040503050406030204" pitchFamily="18" charset="0"/>
                        </a:rPr>
                        <m:t>𝜷</m:t>
                      </m:r>
                      <m:r>
                        <a:rPr lang="en-IN" b="1" i="1" smtClean="0">
                          <a:latin typeface="Cambria Math" panose="02040503050406030204" pitchFamily="18" charset="0"/>
                        </a:rPr>
                        <m:t>=−</m:t>
                      </m:r>
                      <m:r>
                        <a:rPr lang="en-IN" b="1" i="1" smtClean="0">
                          <a:latin typeface="Cambria Math" panose="02040503050406030204" pitchFamily="18" charset="0"/>
                        </a:rPr>
                        <m:t>𝟏</m:t>
                      </m:r>
                    </m:oMath>
                  </m:oMathPara>
                </a14:m>
                <a:endParaRPr lang="en-IN" b="1" dirty="0"/>
              </a:p>
              <a:p>
                <a:r>
                  <a:rPr lang="en-IN" b="0" dirty="0"/>
                  <a:t>from </a:t>
                </a:r>
                <a:r>
                  <a:rPr lang="en-IN" b="0" dirty="0" err="1"/>
                  <a:t>eq</a:t>
                </a:r>
                <a:r>
                  <a:rPr lang="en-IN" b="0" dirty="0"/>
                  <a:t> 8,  </a:t>
                </a:r>
                <a14:m>
                  <m:oMath xmlns:m="http://schemas.openxmlformats.org/officeDocument/2006/math">
                    <m:r>
                      <a:rPr lang="en-IN" b="1" i="1" smtClean="0">
                        <a:latin typeface="Cambria Math" panose="02040503050406030204" pitchFamily="18" charset="0"/>
                      </a:rPr>
                      <m:t>𝜶</m:t>
                    </m:r>
                    <m:r>
                      <a:rPr lang="en-IN" b="1" i="1" smtClean="0">
                        <a:latin typeface="Cambria Math" panose="02040503050406030204" pitchFamily="18" charset="0"/>
                      </a:rPr>
                      <m:t>=</m:t>
                    </m:r>
                    <m:r>
                      <a:rPr lang="en-IN" b="1" i="1" smtClean="0">
                        <a:latin typeface="Cambria Math" panose="02040503050406030204" pitchFamily="18" charset="0"/>
                      </a:rPr>
                      <m:t>𝟏</m:t>
                    </m:r>
                  </m:oMath>
                </a14:m>
                <a:endParaRPr lang="en-IN" b="1" dirty="0"/>
              </a:p>
              <a:p>
                <a:r>
                  <a:rPr lang="en-IN" dirty="0"/>
                  <a:t>from </a:t>
                </a:r>
                <a:r>
                  <a:rPr lang="en-IN" dirty="0" err="1"/>
                  <a:t>eq</a:t>
                </a:r>
                <a:r>
                  <a:rPr lang="en-IN" dirty="0"/>
                  <a:t> 6, </a:t>
                </a:r>
                <a:r>
                  <a:rPr lang="en-IN" b="1" dirty="0"/>
                  <a:t>y = 2</a:t>
                </a:r>
              </a:p>
              <a:p>
                <a:r>
                  <a:rPr lang="en-IN" dirty="0"/>
                  <a:t>from </a:t>
                </a:r>
                <a:r>
                  <a:rPr lang="en-IN" dirty="0" err="1"/>
                  <a:t>eq</a:t>
                </a:r>
                <a:r>
                  <a:rPr lang="en-IN" dirty="0"/>
                  <a:t> 3, </a:t>
                </a:r>
                <a:r>
                  <a:rPr lang="en-IN" b="1" dirty="0"/>
                  <a:t>x = -1 </a:t>
                </a:r>
              </a:p>
              <a:p>
                <a:r>
                  <a:rPr lang="en-IN" dirty="0"/>
                  <a:t>Therefore, x = -1, y = 2, z = 0  is a solution.</a:t>
                </a:r>
              </a:p>
            </p:txBody>
          </p:sp>
        </mc:Choice>
        <mc:Fallback xmlns="">
          <p:sp>
            <p:nvSpPr>
              <p:cNvPr id="4" name="TextBox 3">
                <a:extLst>
                  <a:ext uri="{FF2B5EF4-FFF2-40B4-BE49-F238E27FC236}">
                    <a16:creationId xmlns:a16="http://schemas.microsoft.com/office/drawing/2014/main" id="{3271E4CA-F85E-DA48-0B33-7F707E5EAA23}"/>
                  </a:ext>
                </a:extLst>
              </p:cNvPr>
              <p:cNvSpPr txBox="1">
                <a:spLocks noRot="1" noChangeAspect="1" noMove="1" noResize="1" noEditPoints="1" noAdjustHandles="1" noChangeArrowheads="1" noChangeShapeType="1" noTextEdit="1"/>
              </p:cNvSpPr>
              <p:nvPr/>
            </p:nvSpPr>
            <p:spPr>
              <a:xfrm>
                <a:off x="914400" y="1582340"/>
                <a:ext cx="7968343" cy="3693319"/>
              </a:xfrm>
              <a:prstGeom prst="rect">
                <a:avLst/>
              </a:prstGeom>
              <a:blipFill>
                <a:blip r:embed="rId2"/>
                <a:stretch>
                  <a:fillRect l="-612" b="-1818"/>
                </a:stretch>
              </a:blipFill>
            </p:spPr>
            <p:txBody>
              <a:bodyPr/>
              <a:lstStyle/>
              <a:p>
                <a:r>
                  <a:rPr lang="en-IN">
                    <a:noFill/>
                  </a:rPr>
                  <a:t> </a:t>
                </a:r>
              </a:p>
            </p:txBody>
          </p:sp>
        </mc:Fallback>
      </mc:AlternateContent>
    </p:spTree>
    <p:extLst>
      <p:ext uri="{BB962C8B-B14F-4D97-AF65-F5344CB8AC3E}">
        <p14:creationId xmlns:p14="http://schemas.microsoft.com/office/powerpoint/2010/main" val="2790706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F51FB-9AAC-2E85-6060-81B12CBC20AD}"/>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583C56-A216-4B44-2E98-F9D631814D82}"/>
                  </a:ext>
                </a:extLst>
              </p:cNvPr>
              <p:cNvSpPr>
                <a:spLocks noGrp="1"/>
              </p:cNvSpPr>
              <p:nvPr>
                <p:ph idx="1"/>
              </p:nvPr>
            </p:nvSpPr>
            <p:spPr>
              <a:xfrm>
                <a:off x="5518370" y="235974"/>
                <a:ext cx="6526161" cy="6449961"/>
              </a:xfrm>
            </p:spPr>
            <p:txBody>
              <a:bodyPr>
                <a:normAutofit/>
              </a:bodyPr>
              <a:lstStyle/>
              <a:p>
                <a:pPr marL="0" indent="0">
                  <a:lnSpc>
                    <a:spcPct val="120000"/>
                  </a:lnSpc>
                  <a:spcBef>
                    <a:spcPts val="0"/>
                  </a:spcBef>
                  <a:buNone/>
                </a:pPr>
                <a:r>
                  <a:rPr lang="en-IN" sz="1800" dirty="0">
                    <a:solidFill>
                      <a:schemeClr val="accent1"/>
                    </a:solidFill>
                  </a:rPr>
                  <a:t>Algorithm: </a:t>
                </a:r>
                <a:r>
                  <a:rPr lang="en-IN" sz="1800" dirty="0" err="1">
                    <a:solidFill>
                      <a:schemeClr val="accent1"/>
                    </a:solidFill>
                  </a:rPr>
                  <a:t>Omega_Test</a:t>
                </a:r>
                <a:endParaRPr lang="en-IN" sz="1800" dirty="0">
                  <a:solidFill>
                    <a:schemeClr val="accent1"/>
                  </a:solidFill>
                </a:endParaRPr>
              </a:p>
              <a:p>
                <a:pPr marL="0" indent="0">
                  <a:lnSpc>
                    <a:spcPct val="120000"/>
                  </a:lnSpc>
                  <a:spcBef>
                    <a:spcPts val="0"/>
                  </a:spcBef>
                  <a:buNone/>
                </a:pPr>
                <a:r>
                  <a:rPr lang="en-IN" sz="1800" dirty="0">
                    <a:solidFill>
                      <a:schemeClr val="accent1"/>
                    </a:solidFill>
                  </a:rPr>
                  <a:t>Input: A conjunction of constraints C</a:t>
                </a:r>
              </a:p>
              <a:p>
                <a:pPr marL="0" indent="0">
                  <a:lnSpc>
                    <a:spcPct val="120000"/>
                  </a:lnSpc>
                  <a:spcBef>
                    <a:spcPts val="0"/>
                  </a:spcBef>
                  <a:buNone/>
                </a:pPr>
                <a:r>
                  <a:rPr lang="en-IN" sz="1800" dirty="0">
                    <a:solidFill>
                      <a:schemeClr val="accent1"/>
                    </a:solidFill>
                  </a:rPr>
                  <a:t>Output: “Satisfiable” if C is satisfiable; otherwise, “Unsatisfiable”</a:t>
                </a:r>
              </a:p>
              <a:p>
                <a:pPr marL="0" indent="0">
                  <a:lnSpc>
                    <a:spcPct val="120000"/>
                  </a:lnSpc>
                  <a:spcBef>
                    <a:spcPts val="0"/>
                  </a:spcBef>
                  <a:buNone/>
                </a:pPr>
                <a:r>
                  <a:rPr lang="en-IN" sz="1800" dirty="0"/>
                  <a:t>if C contains only one variable:</a:t>
                </a:r>
              </a:p>
              <a:p>
                <a:pPr marL="0" indent="0">
                  <a:lnSpc>
                    <a:spcPct val="120000"/>
                  </a:lnSpc>
                  <a:spcBef>
                    <a:spcPts val="0"/>
                  </a:spcBef>
                  <a:buNone/>
                </a:pPr>
                <a:r>
                  <a:rPr lang="en-IN" sz="1800" dirty="0"/>
                  <a:t>    Solve and return result;</a:t>
                </a:r>
              </a:p>
              <a:p>
                <a:pPr marL="0" indent="0">
                  <a:lnSpc>
                    <a:spcPct val="120000"/>
                  </a:lnSpc>
                  <a:spcBef>
                    <a:spcPts val="0"/>
                  </a:spcBef>
                  <a:buNone/>
                </a:pPr>
                <a:r>
                  <a:rPr lang="en-IN" sz="1800" dirty="0"/>
                  <a:t>Otherwise, choose a variable v that occurs in C</a:t>
                </a:r>
              </a:p>
              <a:p>
                <a:pPr marL="0" indent="0">
                  <a:lnSpc>
                    <a:spcPct val="120000"/>
                  </a:lnSpc>
                  <a:spcBef>
                    <a:spcPts val="0"/>
                  </a:spcBef>
                  <a:buNone/>
                </a:pP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𝑅</m:t>
                        </m:r>
                      </m:sub>
                    </m:sSub>
                    <m:r>
                      <a:rPr lang="en-IN" sz="1800" b="0" i="1" smtClean="0">
                        <a:latin typeface="Cambria Math" panose="02040503050406030204" pitchFamily="18" charset="0"/>
                      </a:rPr>
                      <m:t>:=</m:t>
                    </m:r>
                    <m:r>
                      <a:rPr lang="en-IN" sz="1800" b="0" i="1" smtClean="0">
                        <a:latin typeface="Cambria Math" panose="02040503050406030204" pitchFamily="18" charset="0"/>
                      </a:rPr>
                      <m:t>𝑅𝑒𝑎𝑙</m:t>
                    </m:r>
                    <m:r>
                      <a:rPr lang="en-IN" sz="1800" b="0" i="1" smtClean="0">
                        <a:latin typeface="Cambria Math" panose="02040503050406030204" pitchFamily="18" charset="0"/>
                      </a:rPr>
                      <m:t>_</m:t>
                    </m:r>
                    <m:r>
                      <a:rPr lang="en-IN" sz="1800" b="0" i="1" smtClean="0">
                        <a:latin typeface="Cambria Math" panose="02040503050406030204" pitchFamily="18" charset="0"/>
                      </a:rPr>
                      <m:t>𝑆h𝑎𝑑𝑜𝑤</m:t>
                    </m:r>
                  </m:oMath>
                </a14:m>
                <a:r>
                  <a:rPr lang="en-IN" sz="1800" dirty="0"/>
                  <a:t>(C, v);</a:t>
                </a:r>
              </a:p>
              <a:p>
                <a:pPr marL="0" indent="0">
                  <a:lnSpc>
                    <a:spcPct val="120000"/>
                  </a:lnSpc>
                  <a:spcBef>
                    <a:spcPts val="0"/>
                  </a:spcBef>
                  <a:buNone/>
                </a:pPr>
                <a:r>
                  <a:rPr lang="en-IN" sz="1800" dirty="0"/>
                  <a:t>if </a:t>
                </a:r>
                <a:r>
                  <a:rPr lang="en-IN" sz="1800" dirty="0" err="1"/>
                  <a:t>Omega_Test</a:t>
                </a:r>
                <a:r>
                  <a:rPr lang="en-IN" sz="1800" dirty="0"/>
                  <a:t>(</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𝑅</m:t>
                        </m:r>
                      </m:sub>
                    </m:sSub>
                  </m:oMath>
                </a14:m>
                <a:r>
                  <a:rPr lang="en-IN" sz="1800" dirty="0"/>
                  <a:t>) = “Unsatisfiable”: </a:t>
                </a:r>
              </a:p>
              <a:p>
                <a:pPr marL="0" indent="0">
                  <a:lnSpc>
                    <a:spcPct val="120000"/>
                  </a:lnSpc>
                  <a:spcBef>
                    <a:spcPts val="0"/>
                  </a:spcBef>
                  <a:buNone/>
                </a:pPr>
                <a:r>
                  <a:rPr lang="en-IN" sz="1800" dirty="0"/>
                  <a:t>    return “Unsatisfiable”</a:t>
                </a:r>
              </a:p>
              <a:p>
                <a:pPr marL="0" indent="0">
                  <a:lnSpc>
                    <a:spcPct val="120000"/>
                  </a:lnSpc>
                  <a:spcBef>
                    <a:spcPts val="0"/>
                  </a:spcBef>
                  <a:buNone/>
                </a:pPr>
                <a14:m>
                  <m:oMathPara xmlns:m="http://schemas.openxmlformats.org/officeDocument/2006/math">
                    <m:oMathParaPr>
                      <m:jc m:val="left"/>
                    </m:oMathParaPr>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𝐷</m:t>
                          </m:r>
                        </m:sub>
                      </m:sSub>
                      <m:r>
                        <a:rPr lang="en-IN" sz="1800" b="0" i="1" smtClean="0">
                          <a:latin typeface="Cambria Math" panose="02040503050406030204" pitchFamily="18" charset="0"/>
                        </a:rPr>
                        <m:t>:=</m:t>
                      </m:r>
                      <m:r>
                        <a:rPr lang="en-IN" sz="1800" b="0" i="1" smtClean="0">
                          <a:latin typeface="Cambria Math" panose="02040503050406030204" pitchFamily="18" charset="0"/>
                        </a:rPr>
                        <m:t>𝐷𝑎𝑟𝑘</m:t>
                      </m:r>
                      <m:r>
                        <m:rPr>
                          <m:lit/>
                        </m:rPr>
                        <a:rPr lang="en-IN" sz="1800" b="0" i="1" smtClean="0">
                          <a:latin typeface="Cambria Math" panose="02040503050406030204" pitchFamily="18" charset="0"/>
                        </a:rPr>
                        <m:t>_</m:t>
                      </m:r>
                      <m:r>
                        <a:rPr lang="en-IN" sz="1800" b="0" i="1" smtClean="0">
                          <a:latin typeface="Cambria Math" panose="02040503050406030204" pitchFamily="18" charset="0"/>
                        </a:rPr>
                        <m:t>𝑆h𝑎𝑑𝑜𝑤</m:t>
                      </m:r>
                      <m:d>
                        <m:dPr>
                          <m:ctrlPr>
                            <a:rPr lang="en-IN" sz="1800" b="0" i="1" smtClean="0">
                              <a:latin typeface="Cambria Math" panose="02040503050406030204" pitchFamily="18" charset="0"/>
                            </a:rPr>
                          </m:ctrlPr>
                        </m:dPr>
                        <m:e>
                          <m:r>
                            <a:rPr lang="en-IN" sz="1800" b="0" i="1" smtClean="0">
                              <a:latin typeface="Cambria Math" panose="02040503050406030204" pitchFamily="18" charset="0"/>
                            </a:rPr>
                            <m:t>𝐶</m:t>
                          </m:r>
                          <m:r>
                            <a:rPr lang="en-IN" sz="1800" b="0" i="1" smtClean="0">
                              <a:latin typeface="Cambria Math" panose="02040503050406030204" pitchFamily="18" charset="0"/>
                            </a:rPr>
                            <m:t>, </m:t>
                          </m:r>
                          <m:r>
                            <a:rPr lang="en-IN" sz="1800" b="0" i="1" smtClean="0">
                              <a:latin typeface="Cambria Math" panose="02040503050406030204" pitchFamily="18" charset="0"/>
                            </a:rPr>
                            <m:t>𝑣</m:t>
                          </m:r>
                        </m:e>
                      </m:d>
                      <m:r>
                        <a:rPr lang="en-IN" sz="1800" b="0" i="1" smtClean="0">
                          <a:latin typeface="Cambria Math" panose="02040503050406030204" pitchFamily="18" charset="0"/>
                        </a:rPr>
                        <m:t>;</m:t>
                      </m:r>
                    </m:oMath>
                  </m:oMathPara>
                </a14:m>
                <a:endParaRPr lang="en-IN" sz="1800" dirty="0"/>
              </a:p>
              <a:p>
                <a:pPr marL="0" indent="0">
                  <a:lnSpc>
                    <a:spcPct val="120000"/>
                  </a:lnSpc>
                  <a:spcBef>
                    <a:spcPts val="0"/>
                  </a:spcBef>
                  <a:buNone/>
                </a:pPr>
                <a:r>
                  <a:rPr lang="en-IN" sz="1800" dirty="0"/>
                  <a:t>if </a:t>
                </a:r>
                <a:r>
                  <a:rPr lang="en-IN" sz="1800" dirty="0" err="1"/>
                  <a:t>Omega_Test</a:t>
                </a:r>
                <a:r>
                  <a:rPr lang="en-IN" sz="1800" dirty="0"/>
                  <a:t>(</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𝐷</m:t>
                        </m:r>
                      </m:sub>
                    </m:sSub>
                  </m:oMath>
                </a14:m>
                <a:r>
                  <a:rPr lang="en-IN" sz="1800" dirty="0"/>
                  <a:t>) = “Satisfiable”:</a:t>
                </a:r>
              </a:p>
              <a:p>
                <a:pPr marL="0" indent="0">
                  <a:lnSpc>
                    <a:spcPct val="120000"/>
                  </a:lnSpc>
                  <a:spcBef>
                    <a:spcPts val="0"/>
                  </a:spcBef>
                  <a:buNone/>
                </a:pPr>
                <a:r>
                  <a:rPr lang="en-IN" sz="1800" dirty="0"/>
                  <a:t>    return “Satisfiable”;</a:t>
                </a:r>
              </a:p>
              <a:p>
                <a:pPr marL="0" indent="0">
                  <a:lnSpc>
                    <a:spcPct val="120000"/>
                  </a:lnSpc>
                  <a:spcBef>
                    <a:spcPts val="0"/>
                  </a:spcBef>
                  <a:buNone/>
                </a:pPr>
                <a:r>
                  <a:rPr lang="en-IN" sz="1800" dirty="0"/>
                  <a:t>if </a:t>
                </a:r>
                <a14:m>
                  <m:oMath xmlns:m="http://schemas.openxmlformats.org/officeDocument/2006/math">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𝑅</m:t>
                        </m:r>
                      </m:sub>
                    </m:sSub>
                    <m:r>
                      <a:rPr lang="en-IN" sz="1800" b="0" i="1" smtClean="0">
                        <a:latin typeface="Cambria Math" panose="02040503050406030204" pitchFamily="18" charset="0"/>
                      </a:rPr>
                      <m:t>=</m:t>
                    </m:r>
                    <m:sSub>
                      <m:sSubPr>
                        <m:ctrlPr>
                          <a:rPr lang="en-IN" sz="1800" b="0" i="1" smtClean="0">
                            <a:latin typeface="Cambria Math" panose="02040503050406030204" pitchFamily="18" charset="0"/>
                          </a:rPr>
                        </m:ctrlPr>
                      </m:sSubPr>
                      <m:e>
                        <m:r>
                          <a:rPr lang="en-IN" sz="1800" b="0" i="1" smtClean="0">
                            <a:latin typeface="Cambria Math" panose="02040503050406030204" pitchFamily="18" charset="0"/>
                          </a:rPr>
                          <m:t>𝐶</m:t>
                        </m:r>
                      </m:e>
                      <m:sub>
                        <m:r>
                          <a:rPr lang="en-IN" sz="1800" b="0" i="1" smtClean="0">
                            <a:latin typeface="Cambria Math" panose="02040503050406030204" pitchFamily="18" charset="0"/>
                          </a:rPr>
                          <m:t>𝐷</m:t>
                        </m:r>
                      </m:sub>
                    </m:sSub>
                    <m:r>
                      <a:rPr lang="en-IN" sz="1800" b="0" i="1" smtClean="0">
                        <a:latin typeface="Cambria Math" panose="02040503050406030204" pitchFamily="18" charset="0"/>
                      </a:rPr>
                      <m:t>:</m:t>
                    </m:r>
                  </m:oMath>
                </a14:m>
                <a:endParaRPr lang="en-IN" sz="1800" b="0" dirty="0"/>
              </a:p>
              <a:p>
                <a:pPr marL="0" indent="0">
                  <a:lnSpc>
                    <a:spcPct val="120000"/>
                  </a:lnSpc>
                  <a:spcBef>
                    <a:spcPts val="0"/>
                  </a:spcBef>
                  <a:buNone/>
                </a:pPr>
                <a:r>
                  <a:rPr lang="en-IN" sz="1800" dirty="0"/>
                  <a:t>    return “Unsatisfiable”;</a:t>
                </a:r>
              </a:p>
              <a:p>
                <a:pPr marL="0" indent="0">
                  <a:lnSpc>
                    <a:spcPct val="120000"/>
                  </a:lnSpc>
                  <a:spcBef>
                    <a:spcPts val="0"/>
                  </a:spcBef>
                  <a:buNone/>
                </a:pPr>
                <a14:m>
                  <m:oMathPara xmlns:m="http://schemas.openxmlformats.org/officeDocument/2006/math">
                    <m:oMathParaPr>
                      <m:jc m:val="left"/>
                    </m:oMathParaPr>
                    <m:oMath xmlns:m="http://schemas.openxmlformats.org/officeDocument/2006/math">
                      <m:sSubSup>
                        <m:sSubSupPr>
                          <m:ctrlPr>
                            <a:rPr lang="en-IN" sz="1800" b="0" i="1" smtClean="0">
                              <a:latin typeface="Cambria Math" panose="02040503050406030204" pitchFamily="18" charset="0"/>
                            </a:rPr>
                          </m:ctrlPr>
                        </m:sSubSupPr>
                        <m:e>
                          <m:r>
                            <a:rPr lang="en-IN" sz="1800" b="0" i="1" smtClean="0">
                              <a:latin typeface="Cambria Math" panose="02040503050406030204" pitchFamily="18" charset="0"/>
                            </a:rPr>
                            <m:t>𝐶</m:t>
                          </m:r>
                        </m:e>
                        <m:sub>
                          <m:r>
                            <a:rPr lang="en-IN" sz="1800" b="0" i="1" smtClean="0">
                              <a:latin typeface="Cambria Math" panose="02040503050406030204" pitchFamily="18" charset="0"/>
                            </a:rPr>
                            <m:t>𝐺</m:t>
                          </m:r>
                        </m:sub>
                        <m:sup>
                          <m:r>
                            <a:rPr lang="en-IN" sz="1800" b="0" i="1" smtClean="0">
                              <a:latin typeface="Cambria Math" panose="02040503050406030204" pitchFamily="18" charset="0"/>
                            </a:rPr>
                            <m:t>1</m:t>
                          </m:r>
                        </m:sup>
                      </m:sSubSup>
                      <m:r>
                        <a:rPr lang="en-IN" sz="1800" b="0" i="1" smtClean="0">
                          <a:latin typeface="Cambria Math" panose="02040503050406030204" pitchFamily="18" charset="0"/>
                        </a:rPr>
                        <m:t>, …,</m:t>
                      </m:r>
                      <m:sSubSup>
                        <m:sSubSupPr>
                          <m:ctrlPr>
                            <a:rPr lang="en-IN" sz="1800" b="0" i="1" smtClean="0">
                              <a:latin typeface="Cambria Math" panose="02040503050406030204" pitchFamily="18" charset="0"/>
                            </a:rPr>
                          </m:ctrlPr>
                        </m:sSubSupPr>
                        <m:e>
                          <m:r>
                            <a:rPr lang="en-IN" sz="1800" b="0" i="1" smtClean="0">
                              <a:latin typeface="Cambria Math" panose="02040503050406030204" pitchFamily="18" charset="0"/>
                            </a:rPr>
                            <m:t>𝐶</m:t>
                          </m:r>
                        </m:e>
                        <m:sub>
                          <m:r>
                            <a:rPr lang="en-IN" sz="1800" b="0" i="1" smtClean="0">
                              <a:latin typeface="Cambria Math" panose="02040503050406030204" pitchFamily="18" charset="0"/>
                            </a:rPr>
                            <m:t>𝐺</m:t>
                          </m:r>
                        </m:sub>
                        <m:sup>
                          <m:r>
                            <a:rPr lang="en-IN" sz="1800" b="0" i="1" smtClean="0">
                              <a:latin typeface="Cambria Math" panose="02040503050406030204" pitchFamily="18" charset="0"/>
                            </a:rPr>
                            <m:t>𝑛</m:t>
                          </m:r>
                        </m:sup>
                      </m:sSubSup>
                      <m:r>
                        <a:rPr lang="en-IN" sz="1800" b="0" i="1" smtClean="0">
                          <a:latin typeface="Cambria Math" panose="02040503050406030204" pitchFamily="18" charset="0"/>
                        </a:rPr>
                        <m:t> ≔</m:t>
                      </m:r>
                      <m:r>
                        <a:rPr lang="en-IN" sz="1800" b="0" i="1" smtClean="0">
                          <a:latin typeface="Cambria Math" panose="02040503050406030204" pitchFamily="18" charset="0"/>
                        </a:rPr>
                        <m:t>𝐺𝑟𝑎𝑦</m:t>
                      </m:r>
                      <m:r>
                        <m:rPr>
                          <m:lit/>
                        </m:rPr>
                        <a:rPr lang="en-IN" sz="1800" b="0" i="1" smtClean="0">
                          <a:latin typeface="Cambria Math" panose="02040503050406030204" pitchFamily="18" charset="0"/>
                        </a:rPr>
                        <m:t>_</m:t>
                      </m:r>
                      <m:r>
                        <a:rPr lang="en-IN" sz="1800" b="0" i="1" smtClean="0">
                          <a:latin typeface="Cambria Math" panose="02040503050406030204" pitchFamily="18" charset="0"/>
                        </a:rPr>
                        <m:t>𝑆h𝑎𝑑𝑜𝑤</m:t>
                      </m:r>
                      <m:d>
                        <m:dPr>
                          <m:ctrlPr>
                            <a:rPr lang="en-IN" sz="1800" b="0" i="1" smtClean="0">
                              <a:latin typeface="Cambria Math" panose="02040503050406030204" pitchFamily="18" charset="0"/>
                            </a:rPr>
                          </m:ctrlPr>
                        </m:dPr>
                        <m:e>
                          <m:r>
                            <a:rPr lang="en-IN" sz="1800" b="0" i="1" smtClean="0">
                              <a:latin typeface="Cambria Math" panose="02040503050406030204" pitchFamily="18" charset="0"/>
                            </a:rPr>
                            <m:t>𝐶</m:t>
                          </m:r>
                          <m:r>
                            <a:rPr lang="en-IN" sz="1800" b="0" i="1" smtClean="0">
                              <a:latin typeface="Cambria Math" panose="02040503050406030204" pitchFamily="18" charset="0"/>
                            </a:rPr>
                            <m:t>, </m:t>
                          </m:r>
                          <m:r>
                            <a:rPr lang="en-IN" sz="1800" b="0" i="1" smtClean="0">
                              <a:latin typeface="Cambria Math" panose="02040503050406030204" pitchFamily="18" charset="0"/>
                            </a:rPr>
                            <m:t>𝑣</m:t>
                          </m:r>
                        </m:e>
                      </m:d>
                      <m:r>
                        <a:rPr lang="en-IN" sz="1800" b="0" i="1" smtClean="0">
                          <a:latin typeface="Cambria Math" panose="02040503050406030204" pitchFamily="18" charset="0"/>
                        </a:rPr>
                        <m:t>;</m:t>
                      </m:r>
                    </m:oMath>
                  </m:oMathPara>
                </a14:m>
                <a:endParaRPr lang="en-IN" sz="1800" b="0" dirty="0"/>
              </a:p>
              <a:p>
                <a:pPr marL="0" indent="0">
                  <a:lnSpc>
                    <a:spcPct val="120000"/>
                  </a:lnSpc>
                  <a:spcBef>
                    <a:spcPts val="0"/>
                  </a:spcBef>
                  <a:buNone/>
                </a:pPr>
                <a:r>
                  <a:rPr lang="en-IN" sz="1800" dirty="0"/>
                  <a:t>for </a:t>
                </a:r>
                <a:r>
                  <a:rPr lang="en-IN" sz="1800" dirty="0" err="1"/>
                  <a:t>i</a:t>
                </a:r>
                <a:r>
                  <a:rPr lang="en-IN" sz="1800" dirty="0"/>
                  <a:t> = 1 to n:</a:t>
                </a:r>
              </a:p>
              <a:p>
                <a:pPr marL="0" indent="0">
                  <a:lnSpc>
                    <a:spcPct val="120000"/>
                  </a:lnSpc>
                  <a:spcBef>
                    <a:spcPts val="0"/>
                  </a:spcBef>
                  <a:buNone/>
                </a:pPr>
                <a:r>
                  <a:rPr lang="en-IN" sz="1800" dirty="0"/>
                  <a:t>    if </a:t>
                </a:r>
                <a:r>
                  <a:rPr lang="en-IN" sz="1800" dirty="0" err="1"/>
                  <a:t>Omega_Test</a:t>
                </a:r>
                <a:r>
                  <a:rPr lang="en-IN" sz="1800" dirty="0"/>
                  <a:t>(</a:t>
                </a:r>
                <a14:m>
                  <m:oMath xmlns:m="http://schemas.openxmlformats.org/officeDocument/2006/math">
                    <m:sSubSup>
                      <m:sSubSupPr>
                        <m:ctrlPr>
                          <a:rPr lang="en-IN" sz="1800" b="0" i="1" smtClean="0">
                            <a:latin typeface="Cambria Math" panose="02040503050406030204" pitchFamily="18" charset="0"/>
                          </a:rPr>
                        </m:ctrlPr>
                      </m:sSubSupPr>
                      <m:e>
                        <m:r>
                          <a:rPr lang="en-IN" sz="1800" b="0" i="1" smtClean="0">
                            <a:latin typeface="Cambria Math" panose="02040503050406030204" pitchFamily="18" charset="0"/>
                          </a:rPr>
                          <m:t>𝐶</m:t>
                        </m:r>
                      </m:e>
                      <m:sub>
                        <m:r>
                          <a:rPr lang="en-IN" sz="1800" b="0" i="1" smtClean="0">
                            <a:latin typeface="Cambria Math" panose="02040503050406030204" pitchFamily="18" charset="0"/>
                          </a:rPr>
                          <m:t>𝐺</m:t>
                        </m:r>
                      </m:sub>
                      <m:sup>
                        <m:r>
                          <a:rPr lang="en-IN" sz="1800" b="0" i="1" smtClean="0">
                            <a:latin typeface="Cambria Math" panose="02040503050406030204" pitchFamily="18" charset="0"/>
                          </a:rPr>
                          <m:t>𝑖</m:t>
                        </m:r>
                      </m:sup>
                    </m:sSubSup>
                  </m:oMath>
                </a14:m>
                <a:r>
                  <a:rPr lang="en-IN" sz="1800" dirty="0"/>
                  <a:t>) = “Satisfiable”:</a:t>
                </a:r>
              </a:p>
              <a:p>
                <a:pPr marL="0" indent="0">
                  <a:lnSpc>
                    <a:spcPct val="120000"/>
                  </a:lnSpc>
                  <a:spcBef>
                    <a:spcPts val="0"/>
                  </a:spcBef>
                  <a:buNone/>
                </a:pPr>
                <a:r>
                  <a:rPr lang="en-IN" sz="1800" dirty="0"/>
                  <a:t>        return “Satisfiable”;</a:t>
                </a:r>
              </a:p>
              <a:p>
                <a:pPr marL="0" indent="0">
                  <a:lnSpc>
                    <a:spcPct val="120000"/>
                  </a:lnSpc>
                  <a:spcBef>
                    <a:spcPts val="0"/>
                  </a:spcBef>
                  <a:buNone/>
                </a:pPr>
                <a:r>
                  <a:rPr lang="en-IN" sz="1800" dirty="0"/>
                  <a:t>return “Unsatisfiable”</a:t>
                </a:r>
              </a:p>
              <a:p>
                <a:pPr marL="0" indent="0">
                  <a:lnSpc>
                    <a:spcPct val="120000"/>
                  </a:lnSpc>
                  <a:spcBef>
                    <a:spcPts val="0"/>
                  </a:spcBef>
                  <a:buNone/>
                </a:pPr>
                <a:endParaRPr lang="en-IN" sz="180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62583C56-A216-4B44-2E98-F9D631814D82}"/>
                  </a:ext>
                </a:extLst>
              </p:cNvPr>
              <p:cNvSpPr>
                <a:spLocks noGrp="1" noRot="1" noChangeAspect="1" noMove="1" noResize="1" noEditPoints="1" noAdjustHandles="1" noChangeArrowheads="1" noChangeShapeType="1" noTextEdit="1"/>
              </p:cNvSpPr>
              <p:nvPr>
                <p:ph idx="1"/>
              </p:nvPr>
            </p:nvSpPr>
            <p:spPr>
              <a:xfrm>
                <a:off x="5518370" y="235974"/>
                <a:ext cx="6526161" cy="6449961"/>
              </a:xfrm>
              <a:blipFill>
                <a:blip r:embed="rId2"/>
                <a:stretch>
                  <a:fillRect l="-747" b="-95"/>
                </a:stretch>
              </a:blipFill>
            </p:spPr>
            <p:txBody>
              <a:bodyPr/>
              <a:lstStyle/>
              <a:p>
                <a:r>
                  <a:rPr lang="en-IN">
                    <a:noFill/>
                  </a:rPr>
                  <a:t> </a:t>
                </a:r>
              </a:p>
            </p:txBody>
          </p:sp>
        </mc:Fallback>
      </mc:AlternateContent>
    </p:spTree>
    <p:extLst>
      <p:ext uri="{BB962C8B-B14F-4D97-AF65-F5344CB8AC3E}">
        <p14:creationId xmlns:p14="http://schemas.microsoft.com/office/powerpoint/2010/main" val="3019347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Real shadow</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extLst>
              <p:ext uri="{D42A27DB-BD31-4B8C-83A1-F6EECF244321}">
                <p14:modId xmlns:p14="http://schemas.microsoft.com/office/powerpoint/2010/main" val="1904217280"/>
              </p:ext>
            </p:extLst>
          </p:nvPr>
        </p:nvGraphicFramePr>
        <p:xfrm>
          <a:off x="838200" y="1346652"/>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987270F-824F-67A8-3FDA-AD9DB38A7C40}"/>
              </a:ext>
            </a:extLst>
          </p:cNvPr>
          <p:cNvSpPr txBox="1"/>
          <p:nvPr/>
        </p:nvSpPr>
        <p:spPr>
          <a:xfrm>
            <a:off x="1828800" y="5867788"/>
            <a:ext cx="9067800" cy="830997"/>
          </a:xfrm>
          <a:prstGeom prst="rect">
            <a:avLst/>
          </a:prstGeom>
          <a:noFill/>
        </p:spPr>
        <p:txBody>
          <a:bodyPr wrap="square">
            <a:spAutoFit/>
          </a:bodyPr>
          <a:lstStyle/>
          <a:p>
            <a:r>
              <a:rPr lang="en-IN" sz="2400" dirty="0">
                <a:solidFill>
                  <a:schemeClr val="accent1"/>
                </a:solidFill>
              </a:rPr>
              <a:t>If we are eliminating y, the projection of all the points in the solution space on the x-axis is the real shadow, i.e., 1 &lt;= x &lt;= 4</a:t>
            </a:r>
          </a:p>
        </p:txBody>
      </p:sp>
    </p:spTree>
    <p:extLst>
      <p:ext uri="{BB962C8B-B14F-4D97-AF65-F5344CB8AC3E}">
        <p14:creationId xmlns:p14="http://schemas.microsoft.com/office/powerpoint/2010/main" val="970107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Dark shadow</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346652"/>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987270F-824F-67A8-3FDA-AD9DB38A7C40}"/>
              </a:ext>
            </a:extLst>
          </p:cNvPr>
          <p:cNvSpPr txBox="1"/>
          <p:nvPr/>
        </p:nvSpPr>
        <p:spPr>
          <a:xfrm>
            <a:off x="838200" y="5867788"/>
            <a:ext cx="10058400" cy="830997"/>
          </a:xfrm>
          <a:prstGeom prst="rect">
            <a:avLst/>
          </a:prstGeom>
          <a:noFill/>
        </p:spPr>
        <p:txBody>
          <a:bodyPr wrap="square">
            <a:spAutoFit/>
          </a:bodyPr>
          <a:lstStyle/>
          <a:p>
            <a:r>
              <a:rPr lang="en-IN" sz="2400" dirty="0">
                <a:solidFill>
                  <a:schemeClr val="accent1"/>
                </a:solidFill>
              </a:rPr>
              <a:t>If we are eliminating y, the projection of all the points in the red area (where y is at least one unit thick) on the x-axis is the real shadow, i.e., 1.7 &lt;= x &lt;= 3.6</a:t>
            </a:r>
          </a:p>
        </p:txBody>
      </p:sp>
      <p:cxnSp>
        <p:nvCxnSpPr>
          <p:cNvPr id="3" name="Straight Connector 2">
            <a:extLst>
              <a:ext uri="{FF2B5EF4-FFF2-40B4-BE49-F238E27FC236}">
                <a16:creationId xmlns:a16="http://schemas.microsoft.com/office/drawing/2014/main" id="{DD1977E3-6662-91BA-ED7C-B13F653D70E9}"/>
              </a:ext>
            </a:extLst>
          </p:cNvPr>
          <p:cNvCxnSpPr>
            <a:cxnSpLocks/>
          </p:cNvCxnSpPr>
          <p:nvPr/>
        </p:nvCxnSpPr>
        <p:spPr>
          <a:xfrm>
            <a:off x="8991597" y="3635829"/>
            <a:ext cx="0" cy="1208314"/>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0ACEA79F-AF44-29BE-7ABA-09E9372AA636}"/>
              </a:ext>
            </a:extLst>
          </p:cNvPr>
          <p:cNvCxnSpPr>
            <a:cxnSpLocks/>
          </p:cNvCxnSpPr>
          <p:nvPr/>
        </p:nvCxnSpPr>
        <p:spPr>
          <a:xfrm>
            <a:off x="5421088" y="3799115"/>
            <a:ext cx="0" cy="1208314"/>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3ED4D681-14B7-2E7A-33BD-B86A9FDC301B}"/>
              </a:ext>
            </a:extLst>
          </p:cNvPr>
          <p:cNvCxnSpPr/>
          <p:nvPr/>
        </p:nvCxnSpPr>
        <p:spPr>
          <a:xfrm flipV="1">
            <a:off x="5421088" y="2460170"/>
            <a:ext cx="2405741" cy="14260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ABE8236-6FF8-8842-7C70-6B6784F2DCAD}"/>
              </a:ext>
            </a:extLst>
          </p:cNvPr>
          <p:cNvCxnSpPr/>
          <p:nvPr/>
        </p:nvCxnSpPr>
        <p:spPr>
          <a:xfrm>
            <a:off x="7826829" y="2449284"/>
            <a:ext cx="1164768" cy="12627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6F190CD-062D-3579-F57E-B81852C200D1}"/>
              </a:ext>
            </a:extLst>
          </p:cNvPr>
          <p:cNvCxnSpPr/>
          <p:nvPr/>
        </p:nvCxnSpPr>
        <p:spPr>
          <a:xfrm flipV="1">
            <a:off x="5421088" y="4757056"/>
            <a:ext cx="3570509" cy="2177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8259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Gray shadow</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extLst>
              <p:ext uri="{D42A27DB-BD31-4B8C-83A1-F6EECF244321}">
                <p14:modId xmlns:p14="http://schemas.microsoft.com/office/powerpoint/2010/main" val="708578366"/>
              </p:ext>
            </p:extLst>
          </p:nvPr>
        </p:nvGraphicFramePr>
        <p:xfrm>
          <a:off x="838200" y="1346652"/>
          <a:ext cx="10515600"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A987270F-824F-67A8-3FDA-AD9DB38A7C40}"/>
              </a:ext>
            </a:extLst>
          </p:cNvPr>
          <p:cNvSpPr txBox="1"/>
          <p:nvPr/>
        </p:nvSpPr>
        <p:spPr>
          <a:xfrm>
            <a:off x="381000" y="5867788"/>
            <a:ext cx="10515600" cy="830997"/>
          </a:xfrm>
          <a:prstGeom prst="rect">
            <a:avLst/>
          </a:prstGeom>
          <a:noFill/>
        </p:spPr>
        <p:txBody>
          <a:bodyPr wrap="square">
            <a:spAutoFit/>
          </a:bodyPr>
          <a:lstStyle/>
          <a:p>
            <a:r>
              <a:rPr lang="en-IN" sz="2400" dirty="0">
                <a:solidFill>
                  <a:schemeClr val="accent1"/>
                </a:solidFill>
              </a:rPr>
              <a:t>If we are eliminating y, the projection of all the points in the red area (real shadow – dark shadow) on the x-axis is the real shadow, i.e., 1 &lt;= x &lt;= 1.7, 3.6 &lt;= x &lt;= 4</a:t>
            </a:r>
          </a:p>
        </p:txBody>
      </p:sp>
      <p:cxnSp>
        <p:nvCxnSpPr>
          <p:cNvPr id="3" name="Straight Connector 2">
            <a:extLst>
              <a:ext uri="{FF2B5EF4-FFF2-40B4-BE49-F238E27FC236}">
                <a16:creationId xmlns:a16="http://schemas.microsoft.com/office/drawing/2014/main" id="{DD1977E3-6662-91BA-ED7C-B13F653D70E9}"/>
              </a:ext>
            </a:extLst>
          </p:cNvPr>
          <p:cNvCxnSpPr>
            <a:cxnSpLocks/>
          </p:cNvCxnSpPr>
          <p:nvPr/>
        </p:nvCxnSpPr>
        <p:spPr>
          <a:xfrm>
            <a:off x="8991597" y="3635829"/>
            <a:ext cx="0" cy="1208314"/>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 name="Straight Connector 4">
            <a:extLst>
              <a:ext uri="{FF2B5EF4-FFF2-40B4-BE49-F238E27FC236}">
                <a16:creationId xmlns:a16="http://schemas.microsoft.com/office/drawing/2014/main" id="{0ACEA79F-AF44-29BE-7ABA-09E9372AA636}"/>
              </a:ext>
            </a:extLst>
          </p:cNvPr>
          <p:cNvCxnSpPr>
            <a:cxnSpLocks/>
          </p:cNvCxnSpPr>
          <p:nvPr/>
        </p:nvCxnSpPr>
        <p:spPr>
          <a:xfrm>
            <a:off x="5421088" y="3799115"/>
            <a:ext cx="0" cy="1208314"/>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8DE1B380-08B3-7A91-89C7-AF58CA059095}"/>
              </a:ext>
            </a:extLst>
          </p:cNvPr>
          <p:cNvCxnSpPr/>
          <p:nvPr/>
        </p:nvCxnSpPr>
        <p:spPr>
          <a:xfrm flipV="1">
            <a:off x="3439886" y="3918858"/>
            <a:ext cx="1981202" cy="112122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1BD9066-A5F2-6143-8304-08C5C865F2E7}"/>
              </a:ext>
            </a:extLst>
          </p:cNvPr>
          <p:cNvCxnSpPr/>
          <p:nvPr/>
        </p:nvCxnSpPr>
        <p:spPr>
          <a:xfrm flipV="1">
            <a:off x="3418114" y="4942115"/>
            <a:ext cx="2002974" cy="8708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C807CF52-D448-4FB6-E08C-6E1233C5464A}"/>
              </a:ext>
            </a:extLst>
          </p:cNvPr>
          <p:cNvGrpSpPr/>
          <p:nvPr/>
        </p:nvGrpSpPr>
        <p:grpSpPr>
          <a:xfrm>
            <a:off x="8991377" y="3701040"/>
            <a:ext cx="1091880" cy="1143000"/>
            <a:chOff x="8991377" y="3701040"/>
            <a:chExt cx="1091880" cy="1143000"/>
          </a:xfrm>
        </p:grpSpPr>
        <mc:AlternateContent xmlns:mc="http://schemas.openxmlformats.org/markup-compatibility/2006" xmlns:p14="http://schemas.microsoft.com/office/powerpoint/2010/main">
          <mc:Choice Requires="p14">
            <p:contentPart p14:bwMode="auto" r:id="rId3">
              <p14:nvContentPartPr>
                <p14:cNvPr id="22" name="Ink 21">
                  <a:extLst>
                    <a:ext uri="{FF2B5EF4-FFF2-40B4-BE49-F238E27FC236}">
                      <a16:creationId xmlns:a16="http://schemas.microsoft.com/office/drawing/2014/main" id="{FF2A4206-9E3E-D21C-AB67-C9CAD1C39789}"/>
                    </a:ext>
                  </a:extLst>
                </p14:cNvPr>
                <p14:cNvContentPartPr/>
                <p14:nvPr/>
              </p14:nvContentPartPr>
              <p14:xfrm>
                <a:off x="9034937" y="3701040"/>
                <a:ext cx="1036800" cy="1111680"/>
              </p14:xfrm>
            </p:contentPart>
          </mc:Choice>
          <mc:Fallback xmlns="">
            <p:pic>
              <p:nvPicPr>
                <p:cNvPr id="22" name="Ink 21">
                  <a:extLst>
                    <a:ext uri="{FF2B5EF4-FFF2-40B4-BE49-F238E27FC236}">
                      <a16:creationId xmlns:a16="http://schemas.microsoft.com/office/drawing/2014/main" id="{FF2A4206-9E3E-D21C-AB67-C9CAD1C39789}"/>
                    </a:ext>
                  </a:extLst>
                </p:cNvPr>
                <p:cNvPicPr/>
                <p:nvPr/>
              </p:nvPicPr>
              <p:blipFill>
                <a:blip r:embed="rId4"/>
                <a:stretch>
                  <a:fillRect/>
                </a:stretch>
              </p:blipFill>
              <p:spPr>
                <a:xfrm>
                  <a:off x="9017297" y="3683040"/>
                  <a:ext cx="1072440" cy="1147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3" name="Ink 22">
                  <a:extLst>
                    <a:ext uri="{FF2B5EF4-FFF2-40B4-BE49-F238E27FC236}">
                      <a16:creationId xmlns:a16="http://schemas.microsoft.com/office/drawing/2014/main" id="{2DACE9E2-CA2A-D683-778B-8348646B1AB6}"/>
                    </a:ext>
                  </a:extLst>
                </p14:cNvPr>
                <p14:cNvContentPartPr/>
                <p14:nvPr/>
              </p14:nvContentPartPr>
              <p14:xfrm>
                <a:off x="8991377" y="4809840"/>
                <a:ext cx="1091880" cy="34200"/>
              </p14:xfrm>
            </p:contentPart>
          </mc:Choice>
          <mc:Fallback xmlns="">
            <p:pic>
              <p:nvPicPr>
                <p:cNvPr id="23" name="Ink 22">
                  <a:extLst>
                    <a:ext uri="{FF2B5EF4-FFF2-40B4-BE49-F238E27FC236}">
                      <a16:creationId xmlns:a16="http://schemas.microsoft.com/office/drawing/2014/main" id="{2DACE9E2-CA2A-D683-778B-8348646B1AB6}"/>
                    </a:ext>
                  </a:extLst>
                </p:cNvPr>
                <p:cNvPicPr/>
                <p:nvPr/>
              </p:nvPicPr>
              <p:blipFill>
                <a:blip r:embed="rId6"/>
                <a:stretch>
                  <a:fillRect/>
                </a:stretch>
              </p:blipFill>
              <p:spPr>
                <a:xfrm>
                  <a:off x="8973377" y="4792200"/>
                  <a:ext cx="1127520" cy="69840"/>
                </a:xfrm>
                <a:prstGeom prst="rect">
                  <a:avLst/>
                </a:prstGeom>
              </p:spPr>
            </p:pic>
          </mc:Fallback>
        </mc:AlternateContent>
      </p:grpSp>
    </p:spTree>
    <p:extLst>
      <p:ext uri="{BB962C8B-B14F-4D97-AF65-F5344CB8AC3E}">
        <p14:creationId xmlns:p14="http://schemas.microsoft.com/office/powerpoint/2010/main" val="40286004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Gray shadow</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16392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DFB0C-EC63-9E8C-E77C-6922A195FD99}"/>
              </a:ext>
            </a:extLst>
          </p:cNvPr>
          <p:cNvSpPr>
            <a:spLocks noGrp="1"/>
          </p:cNvSpPr>
          <p:nvPr>
            <p:ph type="title"/>
          </p:nvPr>
        </p:nvSpPr>
        <p:spPr/>
        <p:txBody>
          <a:bodyPr/>
          <a:lstStyle/>
          <a:p>
            <a:r>
              <a:rPr lang="en-IN" dirty="0" err="1"/>
              <a:t>Real_Shadow</a:t>
            </a:r>
            <a:endParaRPr lang="en-IN" dirty="0"/>
          </a:p>
        </p:txBody>
      </p:sp>
      <p:sp>
        <p:nvSpPr>
          <p:cNvPr id="3" name="Content Placeholder 2">
            <a:extLst>
              <a:ext uri="{FF2B5EF4-FFF2-40B4-BE49-F238E27FC236}">
                <a16:creationId xmlns:a16="http://schemas.microsoft.com/office/drawing/2014/main" id="{BE12679B-0804-D364-F809-E41531FCBD87}"/>
              </a:ext>
            </a:extLst>
          </p:cNvPr>
          <p:cNvSpPr>
            <a:spLocks noGrp="1"/>
          </p:cNvSpPr>
          <p:nvPr>
            <p:ph idx="1"/>
          </p:nvPr>
        </p:nvSpPr>
        <p:spPr/>
        <p:txBody>
          <a:bodyPr>
            <a:normAutofit/>
          </a:bodyPr>
          <a:lstStyle/>
          <a:p>
            <a:r>
              <a:rPr lang="en-IN" dirty="0" err="1"/>
              <a:t>Real_Shadow</a:t>
            </a:r>
            <a:r>
              <a:rPr lang="en-IN" dirty="0"/>
              <a:t> generates constraints to remove a variable in a way similar to the Fourier-</a:t>
            </a:r>
            <a:r>
              <a:rPr lang="en-IN" dirty="0" err="1"/>
              <a:t>Motzkin</a:t>
            </a:r>
            <a:r>
              <a:rPr lang="en-IN" dirty="0"/>
              <a:t> Variable Elimination</a:t>
            </a:r>
          </a:p>
        </p:txBody>
      </p:sp>
    </p:spTree>
    <p:extLst>
      <p:ext uri="{BB962C8B-B14F-4D97-AF65-F5344CB8AC3E}">
        <p14:creationId xmlns:p14="http://schemas.microsoft.com/office/powerpoint/2010/main" val="73426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DFB0C-EC63-9E8C-E77C-6922A195FD99}"/>
              </a:ext>
            </a:extLst>
          </p:cNvPr>
          <p:cNvSpPr>
            <a:spLocks noGrp="1"/>
          </p:cNvSpPr>
          <p:nvPr>
            <p:ph type="title"/>
          </p:nvPr>
        </p:nvSpPr>
        <p:spPr/>
        <p:txBody>
          <a:bodyPr/>
          <a:lstStyle/>
          <a:p>
            <a:r>
              <a:rPr lang="en-IN" dirty="0"/>
              <a:t>Dark Shadow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12679B-0804-D364-F809-E41531FCBD87}"/>
                  </a:ext>
                </a:extLst>
              </p:cNvPr>
              <p:cNvSpPr>
                <a:spLocks noGrp="1"/>
              </p:cNvSpPr>
              <p:nvPr>
                <p:ph idx="1"/>
              </p:nvPr>
            </p:nvSpPr>
            <p:spPr/>
            <p:txBody>
              <a:bodyPr>
                <a:normAutofit/>
              </a:bodyPr>
              <a:lstStyle/>
              <a:p>
                <a:r>
                  <a:rPr lang="en-US" dirty="0"/>
                  <a:t>Let’s say after eliminating a variable </a:t>
                </a:r>
                <a:r>
                  <a:rPr lang="en-US" dirty="0">
                    <a:solidFill>
                      <a:schemeClr val="accent1"/>
                    </a:solidFill>
                  </a:rPr>
                  <a:t>z</a:t>
                </a:r>
                <a:r>
                  <a:rPr lang="en-US" dirty="0"/>
                  <a:t>, integer solutions exist for the rest of the variables; an integer solution will not exist for </a:t>
                </a:r>
                <a:r>
                  <a:rPr lang="en-US" dirty="0">
                    <a:solidFill>
                      <a:schemeClr val="accent1"/>
                    </a:solidFill>
                  </a:rPr>
                  <a:t>z</a:t>
                </a:r>
                <a:r>
                  <a:rPr lang="en-US" dirty="0"/>
                  <a:t> if the lower limit of </a:t>
                </a:r>
                <a:r>
                  <a:rPr lang="en-US" dirty="0">
                    <a:solidFill>
                      <a:schemeClr val="accent1"/>
                    </a:solidFill>
                  </a:rPr>
                  <a:t>z &gt; </a:t>
                </a:r>
                <a:r>
                  <a:rPr lang="en-US" dirty="0" err="1">
                    <a:solidFill>
                      <a:schemeClr val="accent1"/>
                    </a:solidFill>
                  </a:rPr>
                  <a:t>i</a:t>
                </a:r>
                <a:r>
                  <a:rPr lang="en-US" dirty="0">
                    <a:solidFill>
                      <a:schemeClr val="accent1"/>
                    </a:solidFill>
                  </a:rPr>
                  <a:t> </a:t>
                </a:r>
                <a:r>
                  <a:rPr lang="en-US" dirty="0"/>
                  <a:t>and the upper limit of </a:t>
                </a:r>
                <a:r>
                  <a:rPr lang="en-US" dirty="0">
                    <a:solidFill>
                      <a:schemeClr val="accent1"/>
                    </a:solidFill>
                  </a:rPr>
                  <a:t>z &lt; </a:t>
                </a:r>
                <a:r>
                  <a:rPr lang="en-US" dirty="0" err="1">
                    <a:solidFill>
                      <a:schemeClr val="accent1"/>
                    </a:solidFill>
                  </a:rPr>
                  <a:t>i</a:t>
                </a:r>
                <a:r>
                  <a:rPr lang="en-US" dirty="0">
                    <a:solidFill>
                      <a:schemeClr val="accent1"/>
                    </a:solidFill>
                  </a:rPr>
                  <a:t> + 1 </a:t>
                </a:r>
                <a:r>
                  <a:rPr lang="en-US" dirty="0"/>
                  <a:t>for some integer </a:t>
                </a:r>
                <a:r>
                  <a:rPr lang="en-US" dirty="0" err="1">
                    <a:solidFill>
                      <a:schemeClr val="accent1"/>
                    </a:solidFill>
                  </a:rPr>
                  <a:t>i</a:t>
                </a:r>
                <a:endParaRPr lang="en-US" dirty="0">
                  <a:solidFill>
                    <a:schemeClr val="accent1"/>
                  </a:solidFill>
                </a:endParaRPr>
              </a:p>
              <a:p>
                <a:pPr marL="0" indent="0">
                  <a:buNone/>
                </a:pPr>
                <a:endParaRPr lang="en-IN" dirty="0"/>
              </a:p>
              <a:p>
                <a:r>
                  <a:rPr lang="en-IN" dirty="0"/>
                  <a:t>For a constraint of type </a:t>
                </a:r>
                <a14:m>
                  <m:oMath xmlns:m="http://schemas.openxmlformats.org/officeDocument/2006/math">
                    <m:r>
                      <a:rPr lang="en-IN" b="0" i="1" smtClean="0">
                        <a:solidFill>
                          <a:schemeClr val="accent1"/>
                        </a:solidFill>
                        <a:latin typeface="Cambria Math" panose="02040503050406030204" pitchFamily="18" charset="0"/>
                      </a:rPr>
                      <m:t>𝑏𝑧</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𝛽</m:t>
                    </m:r>
                  </m:oMath>
                </a14:m>
                <a:r>
                  <a:rPr lang="en-IN" dirty="0"/>
                  <a:t>; the lower limit of </a:t>
                </a:r>
                <a:r>
                  <a:rPr lang="en-IN" dirty="0">
                    <a:solidFill>
                      <a:schemeClr val="accent1"/>
                    </a:solidFill>
                  </a:rPr>
                  <a:t>z</a:t>
                </a:r>
                <a:r>
                  <a:rPr lang="en-IN" dirty="0"/>
                  <a:t> is </a:t>
                </a:r>
                <a14:m>
                  <m:oMath xmlns:m="http://schemas.openxmlformats.org/officeDocument/2006/math">
                    <m:f>
                      <m:fPr>
                        <m:ctrlPr>
                          <a:rPr lang="en-IN" b="0" i="1" smtClean="0">
                            <a:solidFill>
                              <a:schemeClr val="accent1"/>
                            </a:solidFill>
                            <a:latin typeface="Cambria Math" panose="02040503050406030204" pitchFamily="18" charset="0"/>
                          </a:rPr>
                        </m:ctrlPr>
                      </m:fPr>
                      <m:num>
                        <m:r>
                          <a:rPr lang="en-IN" b="0" i="1" smtClean="0">
                            <a:solidFill>
                              <a:schemeClr val="accent1"/>
                            </a:solidFill>
                            <a:latin typeface="Cambria Math" panose="02040503050406030204" pitchFamily="18" charset="0"/>
                          </a:rPr>
                          <m:t>𝛽</m:t>
                        </m:r>
                      </m:num>
                      <m:den>
                        <m:r>
                          <a:rPr lang="en-IN" b="0" i="1" smtClean="0">
                            <a:solidFill>
                              <a:schemeClr val="accent1"/>
                            </a:solidFill>
                            <a:latin typeface="Cambria Math" panose="02040503050406030204" pitchFamily="18" charset="0"/>
                          </a:rPr>
                          <m:t>𝑏</m:t>
                        </m:r>
                      </m:den>
                    </m:f>
                  </m:oMath>
                </a14:m>
                <a:endParaRPr lang="en-IN" b="0" dirty="0"/>
              </a:p>
              <a:p>
                <a:endParaRPr lang="en-IN" dirty="0"/>
              </a:p>
              <a:p>
                <a:r>
                  <a:rPr lang="en-IN" dirty="0"/>
                  <a:t>For a constraint of type </a:t>
                </a:r>
                <a14:m>
                  <m:oMath xmlns:m="http://schemas.openxmlformats.org/officeDocument/2006/math">
                    <m:r>
                      <a:rPr lang="en-IN" b="0" i="1" smtClean="0">
                        <a:solidFill>
                          <a:schemeClr val="accent1"/>
                        </a:solidFill>
                        <a:latin typeface="Cambria Math" panose="02040503050406030204" pitchFamily="18" charset="0"/>
                      </a:rPr>
                      <m:t>𝑐𝑧</m:t>
                    </m:r>
                    <m:r>
                      <a:rPr lang="en-IN" b="0" i="1" smtClean="0">
                        <a:solidFill>
                          <a:schemeClr val="accent1"/>
                        </a:solidFill>
                        <a:latin typeface="Cambria Math" panose="02040503050406030204" pitchFamily="18" charset="0"/>
                      </a:rPr>
                      <m:t>≤</m:t>
                    </m:r>
                    <m:r>
                      <a:rPr lang="en-IN" b="0" i="1" smtClean="0">
                        <a:solidFill>
                          <a:schemeClr val="accent1"/>
                        </a:solidFill>
                        <a:latin typeface="Cambria Math" panose="02040503050406030204" pitchFamily="18" charset="0"/>
                      </a:rPr>
                      <m:t>𝛾</m:t>
                    </m:r>
                    <m:r>
                      <a:rPr lang="en-IN" b="0" i="1" smtClean="0">
                        <a:latin typeface="Cambria Math" panose="02040503050406030204" pitchFamily="18" charset="0"/>
                      </a:rPr>
                      <m:t>;</m:t>
                    </m:r>
                  </m:oMath>
                </a14:m>
                <a:r>
                  <a:rPr lang="en-IN" dirty="0"/>
                  <a:t> the upper limit of </a:t>
                </a:r>
                <a:r>
                  <a:rPr lang="en-IN" dirty="0">
                    <a:solidFill>
                      <a:schemeClr val="accent1"/>
                    </a:solidFill>
                  </a:rPr>
                  <a:t>z</a:t>
                </a:r>
                <a:r>
                  <a:rPr lang="en-IN" dirty="0"/>
                  <a:t> is </a:t>
                </a:r>
                <a14:m>
                  <m:oMath xmlns:m="http://schemas.openxmlformats.org/officeDocument/2006/math">
                    <m:f>
                      <m:fPr>
                        <m:ctrlPr>
                          <a:rPr lang="en-IN" b="0" i="1" smtClean="0">
                            <a:solidFill>
                              <a:schemeClr val="accent1"/>
                            </a:solidFill>
                            <a:latin typeface="Cambria Math" panose="02040503050406030204" pitchFamily="18" charset="0"/>
                          </a:rPr>
                        </m:ctrlPr>
                      </m:fPr>
                      <m:num>
                        <m:r>
                          <a:rPr lang="en-IN" b="0" i="1" smtClean="0">
                            <a:solidFill>
                              <a:schemeClr val="accent1"/>
                            </a:solidFill>
                            <a:latin typeface="Cambria Math" panose="02040503050406030204" pitchFamily="18" charset="0"/>
                          </a:rPr>
                          <m:t>𝛾</m:t>
                        </m:r>
                      </m:num>
                      <m:den>
                        <m:r>
                          <a:rPr lang="en-IN" b="0" i="1" smtClean="0">
                            <a:solidFill>
                              <a:schemeClr val="accent1"/>
                            </a:solidFill>
                            <a:latin typeface="Cambria Math" panose="02040503050406030204" pitchFamily="18" charset="0"/>
                          </a:rPr>
                          <m:t>𝑐</m:t>
                        </m:r>
                      </m:den>
                    </m:f>
                  </m:oMath>
                </a14:m>
                <a:r>
                  <a:rPr lang="en-IN" dirty="0">
                    <a:solidFill>
                      <a:schemeClr val="accent1"/>
                    </a:solidFill>
                  </a:rPr>
                  <a:t> </a:t>
                </a:r>
                <a:endParaRPr lang="en-IN" dirty="0"/>
              </a:p>
            </p:txBody>
          </p:sp>
        </mc:Choice>
        <mc:Fallback xmlns="">
          <p:sp>
            <p:nvSpPr>
              <p:cNvPr id="3" name="Content Placeholder 2">
                <a:extLst>
                  <a:ext uri="{FF2B5EF4-FFF2-40B4-BE49-F238E27FC236}">
                    <a16:creationId xmlns:a16="http://schemas.microsoft.com/office/drawing/2014/main" id="{BE12679B-0804-D364-F809-E41531FCBD87}"/>
                  </a:ext>
                </a:extLst>
              </p:cNvPr>
              <p:cNvSpPr>
                <a:spLocks noGrp="1" noRot="1" noChangeAspect="1" noMove="1" noResize="1" noEditPoints="1" noAdjustHandles="1" noChangeArrowheads="1" noChangeShapeType="1" noTextEdit="1"/>
              </p:cNvSpPr>
              <p:nvPr>
                <p:ph idx="1"/>
              </p:nvPr>
            </p:nvSpPr>
            <p:spPr>
              <a:blipFill>
                <a:blip r:embed="rId2"/>
                <a:stretch>
                  <a:fillRect l="-1043" t="-2241" r="-1739"/>
                </a:stretch>
              </a:blipFill>
            </p:spPr>
            <p:txBody>
              <a:bodyPr/>
              <a:lstStyle/>
              <a:p>
                <a:r>
                  <a:rPr lang="en-IN">
                    <a:noFill/>
                  </a:rPr>
                  <a:t> </a:t>
                </a:r>
              </a:p>
            </p:txBody>
          </p:sp>
        </mc:Fallback>
      </mc:AlternateContent>
    </p:spTree>
    <p:extLst>
      <p:ext uri="{BB962C8B-B14F-4D97-AF65-F5344CB8AC3E}">
        <p14:creationId xmlns:p14="http://schemas.microsoft.com/office/powerpoint/2010/main" val="22420556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Dark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cxnSp>
        <p:nvCxnSpPr>
          <p:cNvPr id="5" name="Straight Connector 4">
            <a:extLst>
              <a:ext uri="{FF2B5EF4-FFF2-40B4-BE49-F238E27FC236}">
                <a16:creationId xmlns:a16="http://schemas.microsoft.com/office/drawing/2014/main" id="{CED0B266-BFBE-E41B-C311-00D4D09734FD}"/>
              </a:ext>
            </a:extLst>
          </p:cNvPr>
          <p:cNvCxnSpPr/>
          <p:nvPr/>
        </p:nvCxnSpPr>
        <p:spPr>
          <a:xfrm>
            <a:off x="2546555" y="3264310"/>
            <a:ext cx="60271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E01935-9318-3C92-CC0D-5FB17872F8F8}"/>
              </a:ext>
            </a:extLst>
          </p:cNvPr>
          <p:cNvCxnSpPr/>
          <p:nvPr/>
        </p:nvCxnSpPr>
        <p:spPr>
          <a:xfrm>
            <a:off x="3382297" y="2989006"/>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497A32-ED11-B835-6859-F4C5C47B9845}"/>
              </a:ext>
            </a:extLst>
          </p:cNvPr>
          <p:cNvCxnSpPr/>
          <p:nvPr/>
        </p:nvCxnSpPr>
        <p:spPr>
          <a:xfrm>
            <a:off x="7959228" y="3013585"/>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177EDB-1E42-CCD3-8867-C437D36FBF1C}"/>
              </a:ext>
            </a:extLst>
          </p:cNvPr>
          <p:cNvCxnSpPr/>
          <p:nvPr/>
        </p:nvCxnSpPr>
        <p:spPr>
          <a:xfrm>
            <a:off x="6489303" y="2989003"/>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C08222-E6AE-F0E3-31A5-C4D95526AA51}"/>
              </a:ext>
            </a:extLst>
          </p:cNvPr>
          <p:cNvCxnSpPr/>
          <p:nvPr/>
        </p:nvCxnSpPr>
        <p:spPr>
          <a:xfrm>
            <a:off x="4517930" y="2993919"/>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C1BDF5-0996-92FB-AB82-893D3A935668}"/>
              </a:ext>
            </a:extLst>
          </p:cNvPr>
          <p:cNvSpPr txBox="1"/>
          <p:nvPr/>
        </p:nvSpPr>
        <p:spPr>
          <a:xfrm>
            <a:off x="3254481" y="3578942"/>
            <a:ext cx="471948" cy="369332"/>
          </a:xfrm>
          <a:prstGeom prst="rect">
            <a:avLst/>
          </a:prstGeom>
          <a:noFill/>
        </p:spPr>
        <p:txBody>
          <a:bodyPr wrap="square" rtlCol="0">
            <a:spAutoFit/>
          </a:bodyPr>
          <a:lstStyle/>
          <a:p>
            <a:r>
              <a:rPr lang="en-IN" b="1" dirty="0" err="1"/>
              <a:t>i</a:t>
            </a:r>
            <a:endParaRPr lang="en-IN" b="1" dirty="0"/>
          </a:p>
        </p:txBody>
      </p:sp>
      <p:sp>
        <p:nvSpPr>
          <p:cNvPr id="12" name="TextBox 11">
            <a:extLst>
              <a:ext uri="{FF2B5EF4-FFF2-40B4-BE49-F238E27FC236}">
                <a16:creationId xmlns:a16="http://schemas.microsoft.com/office/drawing/2014/main" id="{F3DEF5B2-518E-1E76-F988-E2208A940F1C}"/>
              </a:ext>
            </a:extLst>
          </p:cNvPr>
          <p:cNvSpPr txBox="1"/>
          <p:nvPr/>
        </p:nvSpPr>
        <p:spPr>
          <a:xfrm>
            <a:off x="7792083" y="3574025"/>
            <a:ext cx="673490" cy="369332"/>
          </a:xfrm>
          <a:prstGeom prst="rect">
            <a:avLst/>
          </a:prstGeom>
          <a:noFill/>
        </p:spPr>
        <p:txBody>
          <a:bodyPr wrap="square" rtlCol="0">
            <a:spAutoFit/>
          </a:bodyPr>
          <a:lstStyle/>
          <a:p>
            <a:r>
              <a:rPr lang="en-IN" b="1" dirty="0" err="1"/>
              <a:t>i</a:t>
            </a:r>
            <a:r>
              <a:rPr lang="en-IN" b="1" dirty="0"/>
              <a:t> + 1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E9FC80-4744-D89E-FD77-53ED9B2A6C6E}"/>
                  </a:ext>
                </a:extLst>
              </p:cNvPr>
              <p:cNvSpPr txBox="1"/>
              <p:nvPr/>
            </p:nvSpPr>
            <p:spPr>
              <a:xfrm>
                <a:off x="6214004" y="3628102"/>
                <a:ext cx="673490" cy="5706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𝜸</m:t>
                          </m:r>
                        </m:num>
                        <m:den>
                          <m:r>
                            <a:rPr lang="en-IN" b="1" i="1" smtClean="0">
                              <a:latin typeface="Cambria Math" panose="02040503050406030204" pitchFamily="18" charset="0"/>
                            </a:rPr>
                            <m:t>𝒄</m:t>
                          </m:r>
                        </m:den>
                      </m:f>
                    </m:oMath>
                  </m:oMathPara>
                </a14:m>
                <a:endParaRPr lang="en-IN" b="1" dirty="0"/>
              </a:p>
            </p:txBody>
          </p:sp>
        </mc:Choice>
        <mc:Fallback xmlns="">
          <p:sp>
            <p:nvSpPr>
              <p:cNvPr id="13" name="TextBox 12">
                <a:extLst>
                  <a:ext uri="{FF2B5EF4-FFF2-40B4-BE49-F238E27FC236}">
                    <a16:creationId xmlns:a16="http://schemas.microsoft.com/office/drawing/2014/main" id="{18E9FC80-4744-D89E-FD77-53ED9B2A6C6E}"/>
                  </a:ext>
                </a:extLst>
              </p:cNvPr>
              <p:cNvSpPr txBox="1">
                <a:spLocks noRot="1" noChangeAspect="1" noMove="1" noResize="1" noEditPoints="1" noAdjustHandles="1" noChangeArrowheads="1" noChangeShapeType="1" noTextEdit="1"/>
              </p:cNvSpPr>
              <p:nvPr/>
            </p:nvSpPr>
            <p:spPr>
              <a:xfrm>
                <a:off x="6214004" y="3628102"/>
                <a:ext cx="673490" cy="57066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5E30F7-6F27-0A85-BD7C-591C209B7D45}"/>
                  </a:ext>
                </a:extLst>
              </p:cNvPr>
              <p:cNvSpPr txBox="1"/>
              <p:nvPr/>
            </p:nvSpPr>
            <p:spPr>
              <a:xfrm>
                <a:off x="4203301" y="3593688"/>
                <a:ext cx="673490"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𝜷</m:t>
                          </m:r>
                        </m:num>
                        <m:den>
                          <m:r>
                            <a:rPr lang="en-IN" b="1" i="1" smtClean="0">
                              <a:latin typeface="Cambria Math" panose="02040503050406030204" pitchFamily="18" charset="0"/>
                            </a:rPr>
                            <m:t>𝒃</m:t>
                          </m:r>
                        </m:den>
                      </m:f>
                    </m:oMath>
                  </m:oMathPara>
                </a14:m>
                <a:endParaRPr lang="en-IN" b="1" dirty="0"/>
              </a:p>
            </p:txBody>
          </p:sp>
        </mc:Choice>
        <mc:Fallback xmlns="">
          <p:sp>
            <p:nvSpPr>
              <p:cNvPr id="14" name="TextBox 13">
                <a:extLst>
                  <a:ext uri="{FF2B5EF4-FFF2-40B4-BE49-F238E27FC236}">
                    <a16:creationId xmlns:a16="http://schemas.microsoft.com/office/drawing/2014/main" id="{065E30F7-6F27-0A85-BD7C-591C209B7D45}"/>
                  </a:ext>
                </a:extLst>
              </p:cNvPr>
              <p:cNvSpPr txBox="1">
                <a:spLocks noRot="1" noChangeAspect="1" noMove="1" noResize="1" noEditPoints="1" noAdjustHandles="1" noChangeArrowheads="1" noChangeShapeType="1" noTextEdit="1"/>
              </p:cNvSpPr>
              <p:nvPr/>
            </p:nvSpPr>
            <p:spPr>
              <a:xfrm>
                <a:off x="4203301" y="3593688"/>
                <a:ext cx="673490" cy="618311"/>
              </a:xfrm>
              <a:prstGeom prst="rect">
                <a:avLst/>
              </a:prstGeom>
              <a:blipFill>
                <a:blip r:embed="rId3"/>
                <a:stretch>
                  <a:fillRect/>
                </a:stretch>
              </a:blipFill>
            </p:spPr>
            <p:txBody>
              <a:bodyPr/>
              <a:lstStyle/>
              <a:p>
                <a:r>
                  <a:rPr lang="en-IN">
                    <a:noFill/>
                  </a:rPr>
                  <a:t> </a:t>
                </a:r>
              </a:p>
            </p:txBody>
          </p:sp>
        </mc:Fallback>
      </mc:AlternateContent>
      <p:sp>
        <p:nvSpPr>
          <p:cNvPr id="15" name="Right Brace 14">
            <a:extLst>
              <a:ext uri="{FF2B5EF4-FFF2-40B4-BE49-F238E27FC236}">
                <a16:creationId xmlns:a16="http://schemas.microsoft.com/office/drawing/2014/main" id="{071C124C-61C8-49CD-5425-D330E81E556A}"/>
              </a:ext>
            </a:extLst>
          </p:cNvPr>
          <p:cNvSpPr/>
          <p:nvPr/>
        </p:nvSpPr>
        <p:spPr>
          <a:xfrm rot="5400000">
            <a:off x="3714143" y="3820972"/>
            <a:ext cx="471940" cy="113563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C43C69C3-4A93-EF59-54BB-2788BCB7775D}"/>
              </a:ext>
            </a:extLst>
          </p:cNvPr>
          <p:cNvSpPr/>
          <p:nvPr/>
        </p:nvSpPr>
        <p:spPr>
          <a:xfrm rot="5400000">
            <a:off x="6950067" y="3775288"/>
            <a:ext cx="570670" cy="144765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B1C2B3-7FDB-346F-0C6F-43E8BCD242C1}"/>
                  </a:ext>
                </a:extLst>
              </p:cNvPr>
              <p:cNvSpPr txBox="1"/>
              <p:nvPr/>
            </p:nvSpPr>
            <p:spPr>
              <a:xfrm>
                <a:off x="3726429" y="4784449"/>
                <a:ext cx="791501"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oMath>
                  </m:oMathPara>
                </a14:m>
                <a:endParaRPr lang="en-IN" dirty="0"/>
              </a:p>
            </p:txBody>
          </p:sp>
        </mc:Choice>
        <mc:Fallback xmlns="">
          <p:sp>
            <p:nvSpPr>
              <p:cNvPr id="17" name="TextBox 16">
                <a:extLst>
                  <a:ext uri="{FF2B5EF4-FFF2-40B4-BE49-F238E27FC236}">
                    <a16:creationId xmlns:a16="http://schemas.microsoft.com/office/drawing/2014/main" id="{83B1C2B3-7FDB-346F-0C6F-43E8BCD242C1}"/>
                  </a:ext>
                </a:extLst>
              </p:cNvPr>
              <p:cNvSpPr txBox="1">
                <a:spLocks noRot="1" noChangeAspect="1" noMove="1" noResize="1" noEditPoints="1" noAdjustHandles="1" noChangeArrowheads="1" noChangeShapeType="1" noTextEdit="1"/>
              </p:cNvSpPr>
              <p:nvPr/>
            </p:nvSpPr>
            <p:spPr>
              <a:xfrm>
                <a:off x="3726429" y="4784449"/>
                <a:ext cx="791501" cy="6127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38AFA2-9870-BF3A-2480-708AC1AD71F7}"/>
                  </a:ext>
                </a:extLst>
              </p:cNvPr>
              <p:cNvSpPr txBox="1"/>
              <p:nvPr/>
            </p:nvSpPr>
            <p:spPr>
              <a:xfrm>
                <a:off x="6815069" y="4835249"/>
                <a:ext cx="791501"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m:oMathPara>
                </a14:m>
                <a:endParaRPr lang="en-IN" dirty="0"/>
              </a:p>
            </p:txBody>
          </p:sp>
        </mc:Choice>
        <mc:Fallback xmlns="">
          <p:sp>
            <p:nvSpPr>
              <p:cNvPr id="18" name="TextBox 17">
                <a:extLst>
                  <a:ext uri="{FF2B5EF4-FFF2-40B4-BE49-F238E27FC236}">
                    <a16:creationId xmlns:a16="http://schemas.microsoft.com/office/drawing/2014/main" id="{7638AFA2-9870-BF3A-2480-708AC1AD71F7}"/>
                  </a:ext>
                </a:extLst>
              </p:cNvPr>
              <p:cNvSpPr txBox="1">
                <a:spLocks noRot="1" noChangeAspect="1" noMove="1" noResize="1" noEditPoints="1" noAdjustHandles="1" noChangeArrowheads="1" noChangeShapeType="1" noTextEdit="1"/>
              </p:cNvSpPr>
              <p:nvPr/>
            </p:nvSpPr>
            <p:spPr>
              <a:xfrm>
                <a:off x="6815069" y="4835249"/>
                <a:ext cx="791501" cy="612796"/>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513536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Dark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cxnSp>
        <p:nvCxnSpPr>
          <p:cNvPr id="5" name="Straight Connector 4">
            <a:extLst>
              <a:ext uri="{FF2B5EF4-FFF2-40B4-BE49-F238E27FC236}">
                <a16:creationId xmlns:a16="http://schemas.microsoft.com/office/drawing/2014/main" id="{CED0B266-BFBE-E41B-C311-00D4D09734FD}"/>
              </a:ext>
            </a:extLst>
          </p:cNvPr>
          <p:cNvCxnSpPr/>
          <p:nvPr/>
        </p:nvCxnSpPr>
        <p:spPr>
          <a:xfrm>
            <a:off x="2546555" y="3264310"/>
            <a:ext cx="60271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E01935-9318-3C92-CC0D-5FB17872F8F8}"/>
              </a:ext>
            </a:extLst>
          </p:cNvPr>
          <p:cNvCxnSpPr/>
          <p:nvPr/>
        </p:nvCxnSpPr>
        <p:spPr>
          <a:xfrm>
            <a:off x="3382297" y="2989006"/>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497A32-ED11-B835-6859-F4C5C47B9845}"/>
              </a:ext>
            </a:extLst>
          </p:cNvPr>
          <p:cNvCxnSpPr/>
          <p:nvPr/>
        </p:nvCxnSpPr>
        <p:spPr>
          <a:xfrm>
            <a:off x="7959228" y="3013585"/>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177EDB-1E42-CCD3-8867-C437D36FBF1C}"/>
              </a:ext>
            </a:extLst>
          </p:cNvPr>
          <p:cNvCxnSpPr/>
          <p:nvPr/>
        </p:nvCxnSpPr>
        <p:spPr>
          <a:xfrm>
            <a:off x="6489303" y="2989003"/>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C08222-E6AE-F0E3-31A5-C4D95526AA51}"/>
              </a:ext>
            </a:extLst>
          </p:cNvPr>
          <p:cNvCxnSpPr/>
          <p:nvPr/>
        </p:nvCxnSpPr>
        <p:spPr>
          <a:xfrm>
            <a:off x="4517930" y="2993919"/>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C1BDF5-0996-92FB-AB82-893D3A935668}"/>
              </a:ext>
            </a:extLst>
          </p:cNvPr>
          <p:cNvSpPr txBox="1"/>
          <p:nvPr/>
        </p:nvSpPr>
        <p:spPr>
          <a:xfrm>
            <a:off x="3254481" y="3578942"/>
            <a:ext cx="471948" cy="369332"/>
          </a:xfrm>
          <a:prstGeom prst="rect">
            <a:avLst/>
          </a:prstGeom>
          <a:noFill/>
        </p:spPr>
        <p:txBody>
          <a:bodyPr wrap="square" rtlCol="0">
            <a:spAutoFit/>
          </a:bodyPr>
          <a:lstStyle/>
          <a:p>
            <a:r>
              <a:rPr lang="en-IN" b="1" dirty="0" err="1"/>
              <a:t>i</a:t>
            </a:r>
            <a:endParaRPr lang="en-IN" b="1" dirty="0"/>
          </a:p>
        </p:txBody>
      </p:sp>
      <p:sp>
        <p:nvSpPr>
          <p:cNvPr id="12" name="TextBox 11">
            <a:extLst>
              <a:ext uri="{FF2B5EF4-FFF2-40B4-BE49-F238E27FC236}">
                <a16:creationId xmlns:a16="http://schemas.microsoft.com/office/drawing/2014/main" id="{F3DEF5B2-518E-1E76-F988-E2208A940F1C}"/>
              </a:ext>
            </a:extLst>
          </p:cNvPr>
          <p:cNvSpPr txBox="1"/>
          <p:nvPr/>
        </p:nvSpPr>
        <p:spPr>
          <a:xfrm>
            <a:off x="7792083" y="3574025"/>
            <a:ext cx="673490" cy="369332"/>
          </a:xfrm>
          <a:prstGeom prst="rect">
            <a:avLst/>
          </a:prstGeom>
          <a:noFill/>
        </p:spPr>
        <p:txBody>
          <a:bodyPr wrap="square" rtlCol="0">
            <a:spAutoFit/>
          </a:bodyPr>
          <a:lstStyle/>
          <a:p>
            <a:r>
              <a:rPr lang="en-IN" b="1" dirty="0" err="1"/>
              <a:t>i</a:t>
            </a:r>
            <a:r>
              <a:rPr lang="en-IN" b="1" dirty="0"/>
              <a:t> + 1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E9FC80-4744-D89E-FD77-53ED9B2A6C6E}"/>
                  </a:ext>
                </a:extLst>
              </p:cNvPr>
              <p:cNvSpPr txBox="1"/>
              <p:nvPr/>
            </p:nvSpPr>
            <p:spPr>
              <a:xfrm>
                <a:off x="6214004" y="3628102"/>
                <a:ext cx="673490" cy="5706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𝜸</m:t>
                          </m:r>
                        </m:num>
                        <m:den>
                          <m:r>
                            <a:rPr lang="en-IN" b="1" i="1" smtClean="0">
                              <a:latin typeface="Cambria Math" panose="02040503050406030204" pitchFamily="18" charset="0"/>
                            </a:rPr>
                            <m:t>𝒄</m:t>
                          </m:r>
                        </m:den>
                      </m:f>
                    </m:oMath>
                  </m:oMathPara>
                </a14:m>
                <a:endParaRPr lang="en-IN" b="1" dirty="0"/>
              </a:p>
            </p:txBody>
          </p:sp>
        </mc:Choice>
        <mc:Fallback xmlns="">
          <p:sp>
            <p:nvSpPr>
              <p:cNvPr id="13" name="TextBox 12">
                <a:extLst>
                  <a:ext uri="{FF2B5EF4-FFF2-40B4-BE49-F238E27FC236}">
                    <a16:creationId xmlns:a16="http://schemas.microsoft.com/office/drawing/2014/main" id="{18E9FC80-4744-D89E-FD77-53ED9B2A6C6E}"/>
                  </a:ext>
                </a:extLst>
              </p:cNvPr>
              <p:cNvSpPr txBox="1">
                <a:spLocks noRot="1" noChangeAspect="1" noMove="1" noResize="1" noEditPoints="1" noAdjustHandles="1" noChangeArrowheads="1" noChangeShapeType="1" noTextEdit="1"/>
              </p:cNvSpPr>
              <p:nvPr/>
            </p:nvSpPr>
            <p:spPr>
              <a:xfrm>
                <a:off x="6214004" y="3628102"/>
                <a:ext cx="673490" cy="57066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5E30F7-6F27-0A85-BD7C-591C209B7D45}"/>
                  </a:ext>
                </a:extLst>
              </p:cNvPr>
              <p:cNvSpPr txBox="1"/>
              <p:nvPr/>
            </p:nvSpPr>
            <p:spPr>
              <a:xfrm>
                <a:off x="4203301" y="3593688"/>
                <a:ext cx="673490"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𝜷</m:t>
                          </m:r>
                        </m:num>
                        <m:den>
                          <m:r>
                            <a:rPr lang="en-IN" b="1" i="1" smtClean="0">
                              <a:latin typeface="Cambria Math" panose="02040503050406030204" pitchFamily="18" charset="0"/>
                            </a:rPr>
                            <m:t>𝒃</m:t>
                          </m:r>
                        </m:den>
                      </m:f>
                    </m:oMath>
                  </m:oMathPara>
                </a14:m>
                <a:endParaRPr lang="en-IN" b="1" dirty="0"/>
              </a:p>
            </p:txBody>
          </p:sp>
        </mc:Choice>
        <mc:Fallback xmlns="">
          <p:sp>
            <p:nvSpPr>
              <p:cNvPr id="14" name="TextBox 13">
                <a:extLst>
                  <a:ext uri="{FF2B5EF4-FFF2-40B4-BE49-F238E27FC236}">
                    <a16:creationId xmlns:a16="http://schemas.microsoft.com/office/drawing/2014/main" id="{065E30F7-6F27-0A85-BD7C-591C209B7D45}"/>
                  </a:ext>
                </a:extLst>
              </p:cNvPr>
              <p:cNvSpPr txBox="1">
                <a:spLocks noRot="1" noChangeAspect="1" noMove="1" noResize="1" noEditPoints="1" noAdjustHandles="1" noChangeArrowheads="1" noChangeShapeType="1" noTextEdit="1"/>
              </p:cNvSpPr>
              <p:nvPr/>
            </p:nvSpPr>
            <p:spPr>
              <a:xfrm>
                <a:off x="4203301" y="3593688"/>
                <a:ext cx="673490" cy="618311"/>
              </a:xfrm>
              <a:prstGeom prst="rect">
                <a:avLst/>
              </a:prstGeom>
              <a:blipFill>
                <a:blip r:embed="rId3"/>
                <a:stretch>
                  <a:fillRect/>
                </a:stretch>
              </a:blipFill>
            </p:spPr>
            <p:txBody>
              <a:bodyPr/>
              <a:lstStyle/>
              <a:p>
                <a:r>
                  <a:rPr lang="en-IN">
                    <a:noFill/>
                  </a:rPr>
                  <a:t> </a:t>
                </a:r>
              </a:p>
            </p:txBody>
          </p:sp>
        </mc:Fallback>
      </mc:AlternateContent>
      <p:sp>
        <p:nvSpPr>
          <p:cNvPr id="15" name="Right Brace 14">
            <a:extLst>
              <a:ext uri="{FF2B5EF4-FFF2-40B4-BE49-F238E27FC236}">
                <a16:creationId xmlns:a16="http://schemas.microsoft.com/office/drawing/2014/main" id="{071C124C-61C8-49CD-5425-D330E81E556A}"/>
              </a:ext>
            </a:extLst>
          </p:cNvPr>
          <p:cNvSpPr/>
          <p:nvPr/>
        </p:nvSpPr>
        <p:spPr>
          <a:xfrm rot="5400000">
            <a:off x="3714143" y="3820972"/>
            <a:ext cx="471940" cy="113563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C43C69C3-4A93-EF59-54BB-2788BCB7775D}"/>
              </a:ext>
            </a:extLst>
          </p:cNvPr>
          <p:cNvSpPr/>
          <p:nvPr/>
        </p:nvSpPr>
        <p:spPr>
          <a:xfrm rot="5400000">
            <a:off x="6950067" y="3775288"/>
            <a:ext cx="570670" cy="144765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B1C2B3-7FDB-346F-0C6F-43E8BCD242C1}"/>
                  </a:ext>
                </a:extLst>
              </p:cNvPr>
              <p:cNvSpPr txBox="1"/>
              <p:nvPr/>
            </p:nvSpPr>
            <p:spPr>
              <a:xfrm>
                <a:off x="3726429" y="4621889"/>
                <a:ext cx="791501"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oMath>
                  </m:oMathPara>
                </a14:m>
                <a:endParaRPr lang="en-IN" dirty="0"/>
              </a:p>
            </p:txBody>
          </p:sp>
        </mc:Choice>
        <mc:Fallback xmlns="">
          <p:sp>
            <p:nvSpPr>
              <p:cNvPr id="17" name="TextBox 16">
                <a:extLst>
                  <a:ext uri="{FF2B5EF4-FFF2-40B4-BE49-F238E27FC236}">
                    <a16:creationId xmlns:a16="http://schemas.microsoft.com/office/drawing/2014/main" id="{83B1C2B3-7FDB-346F-0C6F-43E8BCD242C1}"/>
                  </a:ext>
                </a:extLst>
              </p:cNvPr>
              <p:cNvSpPr txBox="1">
                <a:spLocks noRot="1" noChangeAspect="1" noMove="1" noResize="1" noEditPoints="1" noAdjustHandles="1" noChangeArrowheads="1" noChangeShapeType="1" noTextEdit="1"/>
              </p:cNvSpPr>
              <p:nvPr/>
            </p:nvSpPr>
            <p:spPr>
              <a:xfrm>
                <a:off x="3726429" y="4621889"/>
                <a:ext cx="791501" cy="6127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38AFA2-9870-BF3A-2480-708AC1AD71F7}"/>
                  </a:ext>
                </a:extLst>
              </p:cNvPr>
              <p:cNvSpPr txBox="1"/>
              <p:nvPr/>
            </p:nvSpPr>
            <p:spPr>
              <a:xfrm>
                <a:off x="6815069" y="4713329"/>
                <a:ext cx="791501"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m:oMathPara>
                </a14:m>
                <a:endParaRPr lang="en-IN" dirty="0"/>
              </a:p>
            </p:txBody>
          </p:sp>
        </mc:Choice>
        <mc:Fallback xmlns="">
          <p:sp>
            <p:nvSpPr>
              <p:cNvPr id="18" name="TextBox 17">
                <a:extLst>
                  <a:ext uri="{FF2B5EF4-FFF2-40B4-BE49-F238E27FC236}">
                    <a16:creationId xmlns:a16="http://schemas.microsoft.com/office/drawing/2014/main" id="{7638AFA2-9870-BF3A-2480-708AC1AD71F7}"/>
                  </a:ext>
                </a:extLst>
              </p:cNvPr>
              <p:cNvSpPr txBox="1">
                <a:spLocks noRot="1" noChangeAspect="1" noMove="1" noResize="1" noEditPoints="1" noAdjustHandles="1" noChangeArrowheads="1" noChangeShapeType="1" noTextEdit="1"/>
              </p:cNvSpPr>
              <p:nvPr/>
            </p:nvSpPr>
            <p:spPr>
              <a:xfrm>
                <a:off x="6815069" y="4713329"/>
                <a:ext cx="791501" cy="6127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CEF9B3-A068-1276-28A8-2D831CCC6EC3}"/>
                  </a:ext>
                </a:extLst>
              </p:cNvPr>
              <p:cNvSpPr txBox="1"/>
              <p:nvPr/>
            </p:nvSpPr>
            <p:spPr>
              <a:xfrm>
                <a:off x="3068320" y="5354320"/>
                <a:ext cx="6959600" cy="1445909"/>
              </a:xfrm>
              <a:prstGeom prst="rect">
                <a:avLst/>
              </a:prstGeom>
              <a:noFill/>
            </p:spPr>
            <p:txBody>
              <a:bodyPr wrap="square" rtlCol="0">
                <a:spAutoFit/>
              </a:bodyPr>
              <a:lstStyle/>
              <a:p>
                <a:r>
                  <a:rPr lang="en-IN" dirty="0"/>
                  <a:t>Because all coefficients and variables are integers, </a:t>
                </a:r>
                <a14:m>
                  <m:oMath xmlns:m="http://schemas.openxmlformats.org/officeDocument/2006/math">
                    <m:r>
                      <a:rPr lang="en-IN" b="0" i="1" smtClean="0">
                        <a:latin typeface="Cambria Math" panose="02040503050406030204" pitchFamily="18" charset="0"/>
                      </a:rPr>
                      <m:t>𝛽</m:t>
                    </m:r>
                  </m:oMath>
                </a14:m>
                <a:r>
                  <a:rPr lang="en-IN" dirty="0"/>
                  <a:t> is also an integer. Therefore, we can write </a:t>
                </a:r>
                <a14:m>
                  <m:oMath xmlns:m="http://schemas.openxmlformats.org/officeDocument/2006/math">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r>
                      <a:rPr lang="en-IN" b="0" i="1" smtClean="0">
                        <a:latin typeface="Cambria Math" panose="02040503050406030204" pitchFamily="18" charset="0"/>
                      </a:rPr>
                      <m:t>𝑑</m:t>
                    </m:r>
                    <m:r>
                      <a:rPr lang="en-IN" b="0" i="1" smtClean="0">
                        <a:latin typeface="Cambria Math" panose="02040503050406030204" pitchFamily="18" charset="0"/>
                      </a:rPr>
                      <m:t>,</m:t>
                    </m:r>
                  </m:oMath>
                </a14:m>
                <a:r>
                  <a:rPr lang="en-IN" dirty="0"/>
                  <a:t> where </a:t>
                </a:r>
                <a:r>
                  <a:rPr lang="en-IN" dirty="0" err="1"/>
                  <a:t>i</a:t>
                </a:r>
                <a:r>
                  <a:rPr lang="en-IN" dirty="0"/>
                  <a:t> and d are integers. Because </a:t>
                </a:r>
                <a14:m>
                  <m:oMath xmlns:m="http://schemas.openxmlformats.org/officeDocument/2006/math">
                    <m:r>
                      <a:rPr lang="en-IN" b="0" i="1" smtClean="0">
                        <a:latin typeface="Cambria Math" panose="02040503050406030204" pitchFamily="18" charset="0"/>
                      </a:rPr>
                      <m:t>𝛽</m:t>
                    </m:r>
                  </m:oMath>
                </a14:m>
                <a:r>
                  <a:rPr lang="en-IN" dirty="0"/>
                  <a:t> is not divisible by </a:t>
                </a:r>
                <a:r>
                  <a:rPr lang="en-IN" dirty="0" err="1"/>
                  <a:t>i</a:t>
                </a:r>
                <a:r>
                  <a:rPr lang="en-IN" dirty="0"/>
                  <a:t>, d &gt;= 1. Therefore,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𝑑</m:t>
                        </m:r>
                      </m:num>
                      <m:den>
                        <m:r>
                          <a:rPr lang="en-IN" b="0" i="1" smtClean="0">
                            <a:latin typeface="Cambria Math" panose="02040503050406030204" pitchFamily="18" charset="0"/>
                          </a:rPr>
                          <m:t>𝑏</m:t>
                        </m:r>
                      </m:den>
                    </m:f>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r>
                      <a:rPr lang="en-IN" b="0" i="0" smtClean="0">
                        <a:latin typeface="Cambria Math" panose="02040503050406030204" pitchFamily="18" charset="0"/>
                      </a:rPr>
                      <m:t>.</m:t>
                    </m:r>
                  </m:oMath>
                </a14:m>
                <a:r>
                  <a:rPr lang="en-IN" dirty="0"/>
                  <a:t> Similarly, we can show that </a:t>
                </a:r>
                <a14:m>
                  <m:oMath xmlns:m="http://schemas.openxmlformats.org/officeDocument/2006/math">
                    <m:r>
                      <a:rPr lang="en-IN" b="0" i="1" smtClean="0">
                        <a:latin typeface="Cambria Math" panose="02040503050406030204" pitchFamily="18" charset="0"/>
                      </a:rPr>
                      <m:t>𝑖</m:t>
                    </m:r>
                    <m:r>
                      <a:rPr lang="en-IN" b="0" i="1" smtClean="0">
                        <a:latin typeface="Cambria Math" panose="02040503050406030204" pitchFamily="18" charset="0"/>
                      </a:rPr>
                      <m:t>+1 −</m:t>
                    </m:r>
                    <m:f>
                      <m:fPr>
                        <m:ctrlPr>
                          <a:rPr lang="en-IN" b="0" i="1" smtClean="0">
                            <a:latin typeface="Cambria Math" panose="02040503050406030204" pitchFamily="18" charset="0"/>
                          </a:rPr>
                        </m:ctrlPr>
                      </m:fPr>
                      <m:num>
                        <m:r>
                          <a:rPr lang="en-IN" b="0" i="1" smtClean="0">
                            <a:latin typeface="Cambria Math" panose="02040503050406030204" pitchFamily="18" charset="0"/>
                          </a:rPr>
                          <m:t>𝛾</m:t>
                        </m:r>
                      </m:num>
                      <m:den>
                        <m:r>
                          <a:rPr lang="en-IN" b="0" i="1" smtClean="0">
                            <a:latin typeface="Cambria Math" panose="02040503050406030204" pitchFamily="18" charset="0"/>
                          </a:rPr>
                          <m:t>𝑐</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a14:m>
                <a:endParaRPr lang="en-IN" dirty="0"/>
              </a:p>
            </p:txBody>
          </p:sp>
        </mc:Choice>
        <mc:Fallback xmlns="">
          <p:sp>
            <p:nvSpPr>
              <p:cNvPr id="4" name="TextBox 3">
                <a:extLst>
                  <a:ext uri="{FF2B5EF4-FFF2-40B4-BE49-F238E27FC236}">
                    <a16:creationId xmlns:a16="http://schemas.microsoft.com/office/drawing/2014/main" id="{F9CEF9B3-A068-1276-28A8-2D831CCC6EC3}"/>
                  </a:ext>
                </a:extLst>
              </p:cNvPr>
              <p:cNvSpPr txBox="1">
                <a:spLocks noRot="1" noChangeAspect="1" noMove="1" noResize="1" noEditPoints="1" noAdjustHandles="1" noChangeArrowheads="1" noChangeShapeType="1" noTextEdit="1"/>
              </p:cNvSpPr>
              <p:nvPr/>
            </p:nvSpPr>
            <p:spPr>
              <a:xfrm>
                <a:off x="3068320" y="5354320"/>
                <a:ext cx="6959600" cy="1445909"/>
              </a:xfrm>
              <a:prstGeom prst="rect">
                <a:avLst/>
              </a:prstGeom>
              <a:blipFill>
                <a:blip r:embed="rId6"/>
                <a:stretch>
                  <a:fillRect l="-701" t="-2101" b="-1681"/>
                </a:stretch>
              </a:blipFill>
            </p:spPr>
            <p:txBody>
              <a:bodyPr/>
              <a:lstStyle/>
              <a:p>
                <a:r>
                  <a:rPr lang="en-IN">
                    <a:noFill/>
                  </a:rPr>
                  <a:t> </a:t>
                </a:r>
              </a:p>
            </p:txBody>
          </p:sp>
        </mc:Fallback>
      </mc:AlternateContent>
    </p:spTree>
    <p:extLst>
      <p:ext uri="{BB962C8B-B14F-4D97-AF65-F5344CB8AC3E}">
        <p14:creationId xmlns:p14="http://schemas.microsoft.com/office/powerpoint/2010/main" val="11203452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Dark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cxnSp>
        <p:nvCxnSpPr>
          <p:cNvPr id="5" name="Straight Connector 4">
            <a:extLst>
              <a:ext uri="{FF2B5EF4-FFF2-40B4-BE49-F238E27FC236}">
                <a16:creationId xmlns:a16="http://schemas.microsoft.com/office/drawing/2014/main" id="{CED0B266-BFBE-E41B-C311-00D4D09734FD}"/>
              </a:ext>
            </a:extLst>
          </p:cNvPr>
          <p:cNvCxnSpPr/>
          <p:nvPr/>
        </p:nvCxnSpPr>
        <p:spPr>
          <a:xfrm>
            <a:off x="2546555" y="3264310"/>
            <a:ext cx="60271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E01935-9318-3C92-CC0D-5FB17872F8F8}"/>
              </a:ext>
            </a:extLst>
          </p:cNvPr>
          <p:cNvCxnSpPr/>
          <p:nvPr/>
        </p:nvCxnSpPr>
        <p:spPr>
          <a:xfrm>
            <a:off x="3382297" y="2989006"/>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497A32-ED11-B835-6859-F4C5C47B9845}"/>
              </a:ext>
            </a:extLst>
          </p:cNvPr>
          <p:cNvCxnSpPr/>
          <p:nvPr/>
        </p:nvCxnSpPr>
        <p:spPr>
          <a:xfrm>
            <a:off x="7959228" y="3013585"/>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177EDB-1E42-CCD3-8867-C437D36FBF1C}"/>
              </a:ext>
            </a:extLst>
          </p:cNvPr>
          <p:cNvCxnSpPr/>
          <p:nvPr/>
        </p:nvCxnSpPr>
        <p:spPr>
          <a:xfrm>
            <a:off x="6489303" y="2989003"/>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C08222-E6AE-F0E3-31A5-C4D95526AA51}"/>
              </a:ext>
            </a:extLst>
          </p:cNvPr>
          <p:cNvCxnSpPr/>
          <p:nvPr/>
        </p:nvCxnSpPr>
        <p:spPr>
          <a:xfrm>
            <a:off x="4517930" y="2993919"/>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C1BDF5-0996-92FB-AB82-893D3A935668}"/>
              </a:ext>
            </a:extLst>
          </p:cNvPr>
          <p:cNvSpPr txBox="1"/>
          <p:nvPr/>
        </p:nvSpPr>
        <p:spPr>
          <a:xfrm>
            <a:off x="3254481" y="3578942"/>
            <a:ext cx="471948" cy="369332"/>
          </a:xfrm>
          <a:prstGeom prst="rect">
            <a:avLst/>
          </a:prstGeom>
          <a:noFill/>
        </p:spPr>
        <p:txBody>
          <a:bodyPr wrap="square" rtlCol="0">
            <a:spAutoFit/>
          </a:bodyPr>
          <a:lstStyle/>
          <a:p>
            <a:r>
              <a:rPr lang="en-IN" b="1" dirty="0" err="1"/>
              <a:t>i</a:t>
            </a:r>
            <a:endParaRPr lang="en-IN" b="1" dirty="0"/>
          </a:p>
        </p:txBody>
      </p:sp>
      <p:sp>
        <p:nvSpPr>
          <p:cNvPr id="12" name="TextBox 11">
            <a:extLst>
              <a:ext uri="{FF2B5EF4-FFF2-40B4-BE49-F238E27FC236}">
                <a16:creationId xmlns:a16="http://schemas.microsoft.com/office/drawing/2014/main" id="{F3DEF5B2-518E-1E76-F988-E2208A940F1C}"/>
              </a:ext>
            </a:extLst>
          </p:cNvPr>
          <p:cNvSpPr txBox="1"/>
          <p:nvPr/>
        </p:nvSpPr>
        <p:spPr>
          <a:xfrm>
            <a:off x="7792083" y="3574025"/>
            <a:ext cx="673490" cy="369332"/>
          </a:xfrm>
          <a:prstGeom prst="rect">
            <a:avLst/>
          </a:prstGeom>
          <a:noFill/>
        </p:spPr>
        <p:txBody>
          <a:bodyPr wrap="square" rtlCol="0">
            <a:spAutoFit/>
          </a:bodyPr>
          <a:lstStyle/>
          <a:p>
            <a:r>
              <a:rPr lang="en-IN" b="1" dirty="0" err="1"/>
              <a:t>i</a:t>
            </a:r>
            <a:r>
              <a:rPr lang="en-IN" b="1" dirty="0"/>
              <a:t> + 1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E9FC80-4744-D89E-FD77-53ED9B2A6C6E}"/>
                  </a:ext>
                </a:extLst>
              </p:cNvPr>
              <p:cNvSpPr txBox="1"/>
              <p:nvPr/>
            </p:nvSpPr>
            <p:spPr>
              <a:xfrm>
                <a:off x="6214004" y="3628102"/>
                <a:ext cx="673490" cy="5706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𝜸</m:t>
                          </m:r>
                        </m:num>
                        <m:den>
                          <m:r>
                            <a:rPr lang="en-IN" b="1" i="1" smtClean="0">
                              <a:latin typeface="Cambria Math" panose="02040503050406030204" pitchFamily="18" charset="0"/>
                            </a:rPr>
                            <m:t>𝒄</m:t>
                          </m:r>
                        </m:den>
                      </m:f>
                    </m:oMath>
                  </m:oMathPara>
                </a14:m>
                <a:endParaRPr lang="en-IN" b="1" dirty="0"/>
              </a:p>
            </p:txBody>
          </p:sp>
        </mc:Choice>
        <mc:Fallback xmlns="">
          <p:sp>
            <p:nvSpPr>
              <p:cNvPr id="13" name="TextBox 12">
                <a:extLst>
                  <a:ext uri="{FF2B5EF4-FFF2-40B4-BE49-F238E27FC236}">
                    <a16:creationId xmlns:a16="http://schemas.microsoft.com/office/drawing/2014/main" id="{18E9FC80-4744-D89E-FD77-53ED9B2A6C6E}"/>
                  </a:ext>
                </a:extLst>
              </p:cNvPr>
              <p:cNvSpPr txBox="1">
                <a:spLocks noRot="1" noChangeAspect="1" noMove="1" noResize="1" noEditPoints="1" noAdjustHandles="1" noChangeArrowheads="1" noChangeShapeType="1" noTextEdit="1"/>
              </p:cNvSpPr>
              <p:nvPr/>
            </p:nvSpPr>
            <p:spPr>
              <a:xfrm>
                <a:off x="6214004" y="3628102"/>
                <a:ext cx="673490" cy="57066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5E30F7-6F27-0A85-BD7C-591C209B7D45}"/>
                  </a:ext>
                </a:extLst>
              </p:cNvPr>
              <p:cNvSpPr txBox="1"/>
              <p:nvPr/>
            </p:nvSpPr>
            <p:spPr>
              <a:xfrm>
                <a:off x="4203301" y="3593688"/>
                <a:ext cx="673490"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𝜷</m:t>
                          </m:r>
                        </m:num>
                        <m:den>
                          <m:r>
                            <a:rPr lang="en-IN" b="1" i="1" smtClean="0">
                              <a:latin typeface="Cambria Math" panose="02040503050406030204" pitchFamily="18" charset="0"/>
                            </a:rPr>
                            <m:t>𝒃</m:t>
                          </m:r>
                        </m:den>
                      </m:f>
                    </m:oMath>
                  </m:oMathPara>
                </a14:m>
                <a:endParaRPr lang="en-IN" b="1" dirty="0"/>
              </a:p>
            </p:txBody>
          </p:sp>
        </mc:Choice>
        <mc:Fallback xmlns="">
          <p:sp>
            <p:nvSpPr>
              <p:cNvPr id="14" name="TextBox 13">
                <a:extLst>
                  <a:ext uri="{FF2B5EF4-FFF2-40B4-BE49-F238E27FC236}">
                    <a16:creationId xmlns:a16="http://schemas.microsoft.com/office/drawing/2014/main" id="{065E30F7-6F27-0A85-BD7C-591C209B7D45}"/>
                  </a:ext>
                </a:extLst>
              </p:cNvPr>
              <p:cNvSpPr txBox="1">
                <a:spLocks noRot="1" noChangeAspect="1" noMove="1" noResize="1" noEditPoints="1" noAdjustHandles="1" noChangeArrowheads="1" noChangeShapeType="1" noTextEdit="1"/>
              </p:cNvSpPr>
              <p:nvPr/>
            </p:nvSpPr>
            <p:spPr>
              <a:xfrm>
                <a:off x="4203301" y="3593688"/>
                <a:ext cx="673490" cy="618311"/>
              </a:xfrm>
              <a:prstGeom prst="rect">
                <a:avLst/>
              </a:prstGeom>
              <a:blipFill>
                <a:blip r:embed="rId3"/>
                <a:stretch>
                  <a:fillRect/>
                </a:stretch>
              </a:blipFill>
            </p:spPr>
            <p:txBody>
              <a:bodyPr/>
              <a:lstStyle/>
              <a:p>
                <a:r>
                  <a:rPr lang="en-IN">
                    <a:noFill/>
                  </a:rPr>
                  <a:t> </a:t>
                </a:r>
              </a:p>
            </p:txBody>
          </p:sp>
        </mc:Fallback>
      </mc:AlternateContent>
      <p:sp>
        <p:nvSpPr>
          <p:cNvPr id="15" name="Right Brace 14">
            <a:extLst>
              <a:ext uri="{FF2B5EF4-FFF2-40B4-BE49-F238E27FC236}">
                <a16:creationId xmlns:a16="http://schemas.microsoft.com/office/drawing/2014/main" id="{071C124C-61C8-49CD-5425-D330E81E556A}"/>
              </a:ext>
            </a:extLst>
          </p:cNvPr>
          <p:cNvSpPr/>
          <p:nvPr/>
        </p:nvSpPr>
        <p:spPr>
          <a:xfrm rot="5400000">
            <a:off x="3714143" y="3820972"/>
            <a:ext cx="471940" cy="113563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C43C69C3-4A93-EF59-54BB-2788BCB7775D}"/>
              </a:ext>
            </a:extLst>
          </p:cNvPr>
          <p:cNvSpPr/>
          <p:nvPr/>
        </p:nvSpPr>
        <p:spPr>
          <a:xfrm rot="5400000">
            <a:off x="6950067" y="3775288"/>
            <a:ext cx="570670" cy="144765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B1C2B3-7FDB-346F-0C6F-43E8BCD242C1}"/>
                  </a:ext>
                </a:extLst>
              </p:cNvPr>
              <p:cNvSpPr txBox="1"/>
              <p:nvPr/>
            </p:nvSpPr>
            <p:spPr>
              <a:xfrm>
                <a:off x="3726429" y="4621889"/>
                <a:ext cx="791501"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oMath>
                  </m:oMathPara>
                </a14:m>
                <a:endParaRPr lang="en-IN" dirty="0"/>
              </a:p>
            </p:txBody>
          </p:sp>
        </mc:Choice>
        <mc:Fallback xmlns="">
          <p:sp>
            <p:nvSpPr>
              <p:cNvPr id="17" name="TextBox 16">
                <a:extLst>
                  <a:ext uri="{FF2B5EF4-FFF2-40B4-BE49-F238E27FC236}">
                    <a16:creationId xmlns:a16="http://schemas.microsoft.com/office/drawing/2014/main" id="{83B1C2B3-7FDB-346F-0C6F-43E8BCD242C1}"/>
                  </a:ext>
                </a:extLst>
              </p:cNvPr>
              <p:cNvSpPr txBox="1">
                <a:spLocks noRot="1" noChangeAspect="1" noMove="1" noResize="1" noEditPoints="1" noAdjustHandles="1" noChangeArrowheads="1" noChangeShapeType="1" noTextEdit="1"/>
              </p:cNvSpPr>
              <p:nvPr/>
            </p:nvSpPr>
            <p:spPr>
              <a:xfrm>
                <a:off x="3726429" y="4621889"/>
                <a:ext cx="791501" cy="6127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38AFA2-9870-BF3A-2480-708AC1AD71F7}"/>
                  </a:ext>
                </a:extLst>
              </p:cNvPr>
              <p:cNvSpPr txBox="1"/>
              <p:nvPr/>
            </p:nvSpPr>
            <p:spPr>
              <a:xfrm>
                <a:off x="6815069" y="4713329"/>
                <a:ext cx="791501"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m:oMathPara>
                </a14:m>
                <a:endParaRPr lang="en-IN" dirty="0"/>
              </a:p>
            </p:txBody>
          </p:sp>
        </mc:Choice>
        <mc:Fallback xmlns="">
          <p:sp>
            <p:nvSpPr>
              <p:cNvPr id="18" name="TextBox 17">
                <a:extLst>
                  <a:ext uri="{FF2B5EF4-FFF2-40B4-BE49-F238E27FC236}">
                    <a16:creationId xmlns:a16="http://schemas.microsoft.com/office/drawing/2014/main" id="{7638AFA2-9870-BF3A-2480-708AC1AD71F7}"/>
                  </a:ext>
                </a:extLst>
              </p:cNvPr>
              <p:cNvSpPr txBox="1">
                <a:spLocks noRot="1" noChangeAspect="1" noMove="1" noResize="1" noEditPoints="1" noAdjustHandles="1" noChangeArrowheads="1" noChangeShapeType="1" noTextEdit="1"/>
              </p:cNvSpPr>
              <p:nvPr/>
            </p:nvSpPr>
            <p:spPr>
              <a:xfrm>
                <a:off x="6815069" y="4713329"/>
                <a:ext cx="791501" cy="6127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CEF9B3-A068-1276-28A8-2D831CCC6EC3}"/>
                  </a:ext>
                </a:extLst>
              </p:cNvPr>
              <p:cNvSpPr txBox="1"/>
              <p:nvPr/>
            </p:nvSpPr>
            <p:spPr>
              <a:xfrm>
                <a:off x="3068320" y="5354320"/>
                <a:ext cx="6959600" cy="7146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e>
                      </m:d>
                      <m:r>
                        <a:rPr lang="en-IN" b="0" i="1" smtClean="0">
                          <a:latin typeface="Cambria Math" panose="02040503050406030204" pitchFamily="18" charset="0"/>
                        </a:rPr>
                        <m:t> ∧  </m:t>
                      </m:r>
                      <m:d>
                        <m:dPr>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+1−</m:t>
                          </m:r>
                          <m:f>
                            <m:fPr>
                              <m:ctrlPr>
                                <a:rPr lang="en-IN" b="0" i="1" smtClean="0">
                                  <a:latin typeface="Cambria Math" panose="02040503050406030204" pitchFamily="18" charset="0"/>
                                </a:rPr>
                              </m:ctrlPr>
                            </m:fPr>
                            <m:num>
                              <m:r>
                                <a:rPr lang="en-IN" b="0" i="1" smtClean="0">
                                  <a:latin typeface="Cambria Math" panose="02040503050406030204" pitchFamily="18" charset="0"/>
                                </a:rPr>
                                <m:t>𝛾</m:t>
                              </m:r>
                            </m:num>
                            <m:den>
                              <m:r>
                                <a:rPr lang="en-IN" b="0" i="1" smtClean="0">
                                  <a:latin typeface="Cambria Math" panose="02040503050406030204" pitchFamily="18" charset="0"/>
                                </a:rPr>
                                <m:t>𝑐</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e>
                      </m:d>
                    </m:oMath>
                  </m:oMathPara>
                </a14:m>
                <a:endParaRPr lang="en-IN" dirty="0"/>
              </a:p>
            </p:txBody>
          </p:sp>
        </mc:Choice>
        <mc:Fallback xmlns="">
          <p:sp>
            <p:nvSpPr>
              <p:cNvPr id="4" name="TextBox 3">
                <a:extLst>
                  <a:ext uri="{FF2B5EF4-FFF2-40B4-BE49-F238E27FC236}">
                    <a16:creationId xmlns:a16="http://schemas.microsoft.com/office/drawing/2014/main" id="{F9CEF9B3-A068-1276-28A8-2D831CCC6EC3}"/>
                  </a:ext>
                </a:extLst>
              </p:cNvPr>
              <p:cNvSpPr txBox="1">
                <a:spLocks noRot="1" noChangeAspect="1" noMove="1" noResize="1" noEditPoints="1" noAdjustHandles="1" noChangeArrowheads="1" noChangeShapeType="1" noTextEdit="1"/>
              </p:cNvSpPr>
              <p:nvPr/>
            </p:nvSpPr>
            <p:spPr>
              <a:xfrm>
                <a:off x="3068320" y="5354320"/>
                <a:ext cx="6959600" cy="714683"/>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461781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Dark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CEF9B3-A068-1276-28A8-2D831CCC6EC3}"/>
                  </a:ext>
                </a:extLst>
              </p:cNvPr>
              <p:cNvSpPr txBox="1"/>
              <p:nvPr/>
            </p:nvSpPr>
            <p:spPr>
              <a:xfrm>
                <a:off x="944880" y="1635760"/>
                <a:ext cx="6959600" cy="71468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e>
                      </m:d>
                      <m:r>
                        <a:rPr lang="en-IN" b="0" i="1" smtClean="0">
                          <a:latin typeface="Cambria Math" panose="02040503050406030204" pitchFamily="18" charset="0"/>
                        </a:rPr>
                        <m:t> ∧  </m:t>
                      </m:r>
                      <m:d>
                        <m:dPr>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+1−</m:t>
                          </m:r>
                          <m:f>
                            <m:fPr>
                              <m:ctrlPr>
                                <a:rPr lang="en-IN" b="0" i="1" smtClean="0">
                                  <a:latin typeface="Cambria Math" panose="02040503050406030204" pitchFamily="18" charset="0"/>
                                </a:rPr>
                              </m:ctrlPr>
                            </m:fPr>
                            <m:num>
                              <m:r>
                                <a:rPr lang="en-IN" b="0" i="1" smtClean="0">
                                  <a:latin typeface="Cambria Math" panose="02040503050406030204" pitchFamily="18" charset="0"/>
                                </a:rPr>
                                <m:t>𝛾</m:t>
                              </m:r>
                            </m:num>
                            <m:den>
                              <m:r>
                                <a:rPr lang="en-IN" b="0" i="1" smtClean="0">
                                  <a:latin typeface="Cambria Math" panose="02040503050406030204" pitchFamily="18" charset="0"/>
                                </a:rPr>
                                <m:t>𝑐</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e>
                      </m:d>
                    </m:oMath>
                  </m:oMathPara>
                </a14:m>
                <a:endParaRPr lang="en-IN" dirty="0"/>
              </a:p>
            </p:txBody>
          </p:sp>
        </mc:Choice>
        <mc:Fallback xmlns="">
          <p:sp>
            <p:nvSpPr>
              <p:cNvPr id="4" name="TextBox 3">
                <a:extLst>
                  <a:ext uri="{FF2B5EF4-FFF2-40B4-BE49-F238E27FC236}">
                    <a16:creationId xmlns:a16="http://schemas.microsoft.com/office/drawing/2014/main" id="{F9CEF9B3-A068-1276-28A8-2D831CCC6EC3}"/>
                  </a:ext>
                </a:extLst>
              </p:cNvPr>
              <p:cNvSpPr txBox="1">
                <a:spLocks noRot="1" noChangeAspect="1" noMove="1" noResize="1" noEditPoints="1" noAdjustHandles="1" noChangeArrowheads="1" noChangeShapeType="1" noTextEdit="1"/>
              </p:cNvSpPr>
              <p:nvPr/>
            </p:nvSpPr>
            <p:spPr>
              <a:xfrm>
                <a:off x="944880" y="1635760"/>
                <a:ext cx="6959600" cy="714683"/>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14878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Dark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CEF9B3-A068-1276-28A8-2D831CCC6EC3}"/>
                  </a:ext>
                </a:extLst>
              </p:cNvPr>
              <p:cNvSpPr txBox="1"/>
              <p:nvPr/>
            </p:nvSpPr>
            <p:spPr>
              <a:xfrm>
                <a:off x="944880" y="1635760"/>
                <a:ext cx="6959600" cy="46610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e>
                      </m:d>
                    </m:oMath>
                  </m:oMathPara>
                </a14:m>
                <a:endParaRPr lang="en-IN"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𝑖</m:t>
                          </m:r>
                          <m:r>
                            <a:rPr lang="en-IN" b="0" i="1" smtClean="0">
                              <a:latin typeface="Cambria Math" panose="02040503050406030204" pitchFamily="18" charset="0"/>
                            </a:rPr>
                            <m:t>+1−</m:t>
                          </m:r>
                          <m:f>
                            <m:fPr>
                              <m:ctrlPr>
                                <a:rPr lang="en-IN" b="0" i="1" smtClean="0">
                                  <a:latin typeface="Cambria Math" panose="02040503050406030204" pitchFamily="18" charset="0"/>
                                </a:rPr>
                              </m:ctrlPr>
                            </m:fPr>
                            <m:num>
                              <m:r>
                                <a:rPr lang="en-IN" b="0" i="1" smtClean="0">
                                  <a:latin typeface="Cambria Math" panose="02040503050406030204" pitchFamily="18" charset="0"/>
                                </a:rPr>
                                <m:t>𝛾</m:t>
                              </m:r>
                            </m:num>
                            <m:den>
                              <m:r>
                                <a:rPr lang="en-IN" b="0" i="1" smtClean="0">
                                  <a:latin typeface="Cambria Math" panose="02040503050406030204" pitchFamily="18" charset="0"/>
                                </a:rPr>
                                <m:t>𝑐</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e>
                      </m:d>
                    </m:oMath>
                  </m:oMathPara>
                </a14:m>
                <a:endParaRPr lang="en-IN" dirty="0"/>
              </a:p>
              <a:p>
                <a14:m>
                  <m:oMath xmlns:m="http://schemas.openxmlformats.org/officeDocument/2006/math">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𝑐𝑏𝑖</m:t>
                    </m:r>
                    <m:r>
                      <a:rPr lang="en-IN" b="0" i="1" smtClean="0">
                        <a:latin typeface="Cambria Math" panose="02040503050406030204" pitchFamily="18" charset="0"/>
                      </a:rPr>
                      <m:t>≥</m:t>
                    </m:r>
                    <m:r>
                      <a:rPr lang="en-IN" b="0" i="1" smtClean="0">
                        <a:latin typeface="Cambria Math" panose="02040503050406030204" pitchFamily="18" charset="0"/>
                      </a:rPr>
                      <m:t>𝑐</m:t>
                    </m:r>
                  </m:oMath>
                </a14:m>
                <a:r>
                  <a:rPr lang="en-IN" b="0" dirty="0"/>
                  <a:t>     </a:t>
                </a:r>
                <a14:m>
                  <m:oMath xmlns:m="http://schemas.openxmlformats.org/officeDocument/2006/math">
                    <m:r>
                      <a:rPr lang="en-IN" b="0" i="1" dirty="0" smtClean="0">
                        <a:latin typeface="Cambria Math" panose="02040503050406030204" pitchFamily="18" charset="0"/>
                      </a:rPr>
                      <m:t>→</m:t>
                    </m:r>
                  </m:oMath>
                </a14:m>
                <a:r>
                  <a:rPr lang="en-IN" b="0" dirty="0"/>
                  <a:t>         </a:t>
                </a:r>
                <a14:m>
                  <m:oMath xmlns:m="http://schemas.openxmlformats.org/officeDocument/2006/math">
                    <m:r>
                      <a:rPr lang="en-IN" b="0" i="1" dirty="0" smtClean="0">
                        <a:latin typeface="Cambria Math" panose="02040503050406030204" pitchFamily="18" charset="0"/>
                      </a:rPr>
                      <m:t>𝑐𝑏𝑖</m:t>
                    </m:r>
                    <m:r>
                      <a:rPr lang="en-IN" b="0" i="1" dirty="0" smtClean="0">
                        <a:latin typeface="Cambria Math" panose="02040503050406030204" pitchFamily="18" charset="0"/>
                      </a:rPr>
                      <m:t>≤</m:t>
                    </m:r>
                    <m:r>
                      <a:rPr lang="en-IN" b="0" i="1" dirty="0" smtClean="0">
                        <a:latin typeface="Cambria Math" panose="02040503050406030204" pitchFamily="18" charset="0"/>
                      </a:rPr>
                      <m:t>𝑐</m:t>
                    </m:r>
                    <m:r>
                      <a:rPr lang="en-IN" b="0" i="1" dirty="0" smtClean="0">
                        <a:latin typeface="Cambria Math" panose="02040503050406030204" pitchFamily="18" charset="0"/>
                      </a:rPr>
                      <m:t> −</m:t>
                    </m:r>
                    <m:r>
                      <a:rPr lang="en-IN" b="0" i="1" dirty="0" smtClean="0">
                        <a:latin typeface="Cambria Math" panose="02040503050406030204" pitchFamily="18" charset="0"/>
                      </a:rPr>
                      <m:t>𝑐</m:t>
                    </m:r>
                    <m:r>
                      <a:rPr lang="en-IN" b="0" i="1" dirty="0" smtClean="0">
                        <a:latin typeface="Cambria Math" panose="02040503050406030204" pitchFamily="18" charset="0"/>
                      </a:rPr>
                      <m:t>𝛽</m:t>
                    </m:r>
                  </m:oMath>
                </a14:m>
                <a:r>
                  <a:rPr lang="en-IN" b="0"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b="0" dirty="0"/>
              </a:p>
              <a:p>
                <a14:m>
                  <m:oMath xmlns:m="http://schemas.openxmlformats.org/officeDocument/2006/math">
                    <m:r>
                      <a:rPr lang="en-IN" b="0" i="1" smtClean="0">
                        <a:latin typeface="Cambria Math" panose="02040503050406030204" pitchFamily="18" charset="0"/>
                      </a:rPr>
                      <m:t>𝑐𝑏𝑖</m:t>
                    </m:r>
                    <m:r>
                      <a:rPr lang="en-IN" b="0" i="1" smtClean="0">
                        <a:latin typeface="Cambria Math" panose="02040503050406030204" pitchFamily="18" charset="0"/>
                      </a:rPr>
                      <m:t>+</m:t>
                    </m:r>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b="0" i="1" dirty="0" smtClean="0">
                        <a:latin typeface="Cambria Math" panose="02040503050406030204" pitchFamily="18" charset="0"/>
                      </a:rPr>
                      <m:t>𝑐𝑏𝑖</m:t>
                    </m:r>
                    <m:r>
                      <a:rPr lang="en-IN" b="0" i="1" dirty="0" smtClean="0">
                        <a:latin typeface="Cambria Math" panose="02040503050406030204" pitchFamily="18" charset="0"/>
                      </a:rPr>
                      <m:t>≥</m:t>
                    </m:r>
                    <m:r>
                      <a:rPr lang="en-IN" b="0" i="1" dirty="0" smtClean="0">
                        <a:latin typeface="Cambria Math" panose="02040503050406030204" pitchFamily="18" charset="0"/>
                      </a:rPr>
                      <m:t>𝑏</m:t>
                    </m:r>
                    <m:r>
                      <a:rPr lang="en-IN" b="0" i="1" dirty="0" smtClean="0">
                        <a:latin typeface="Cambria Math" panose="02040503050406030204" pitchFamily="18" charset="0"/>
                      </a:rPr>
                      <m:t>𝛾</m:t>
                    </m:r>
                    <m:r>
                      <a:rPr lang="en-IN" b="0" i="1" dirty="0" smtClean="0">
                        <a:latin typeface="Cambria Math" panose="02040503050406030204" pitchFamily="18" charset="0"/>
                      </a:rPr>
                      <m:t>+</m:t>
                    </m:r>
                    <m:r>
                      <a:rPr lang="en-IN" b="0" i="1" dirty="0" smtClean="0">
                        <a:latin typeface="Cambria Math" panose="02040503050406030204" pitchFamily="18" charset="0"/>
                      </a:rPr>
                      <m:t>𝑏</m:t>
                    </m:r>
                    <m:r>
                      <a:rPr lang="en-IN" b="0" i="1" dirty="0" smtClean="0">
                        <a:latin typeface="Cambria Math" panose="02040503050406030204" pitchFamily="18" charset="0"/>
                      </a:rPr>
                      <m:t>−</m:t>
                    </m:r>
                    <m:r>
                      <a:rPr lang="en-IN" b="0" i="1" dirty="0" smtClean="0">
                        <a:latin typeface="Cambria Math" panose="02040503050406030204" pitchFamily="18" charset="0"/>
                      </a:rPr>
                      <m:t>𝑐𝑏</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𝑖𝑖</m:t>
                    </m:r>
                    <m:r>
                      <a:rPr lang="en-IN" b="0" i="1" dirty="0" smtClean="0">
                        <a:latin typeface="Cambria Math" panose="02040503050406030204" pitchFamily="18" charset="0"/>
                      </a:rPr>
                      <m:t>)</m:t>
                    </m:r>
                  </m:oMath>
                </a14:m>
                <a:endParaRPr lang="en-IN" dirty="0"/>
              </a:p>
              <a:p>
                <a:endParaRPr lang="en-IN" dirty="0"/>
              </a:p>
              <a:p>
                <a14:m>
                  <m:oMath xmlns:m="http://schemas.openxmlformats.org/officeDocument/2006/math">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m:t>
                    </m:r>
                    <m:r>
                      <a:rPr lang="en-IN" b="0" i="1" smtClean="0">
                        <a:latin typeface="Cambria Math" panose="02040503050406030204" pitchFamily="18" charset="0"/>
                      </a:rPr>
                      <m:t>𝑐𝑏</m:t>
                    </m:r>
                  </m:oMath>
                </a14:m>
                <a:r>
                  <a:rPr lang="en-IN" b="0" dirty="0"/>
                  <a:t>               from (</a:t>
                </a:r>
                <a:r>
                  <a:rPr lang="en-IN" b="0" dirty="0" err="1"/>
                  <a:t>i</a:t>
                </a:r>
                <a:r>
                  <a:rPr lang="en-IN" b="0"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𝑐</m:t>
                      </m:r>
                      <m:r>
                        <a:rPr lang="en-IN" b="0" i="1" smtClean="0">
                          <a:latin typeface="Cambria Math" panose="02040503050406030204" pitchFamily="18" charset="0"/>
                        </a:rPr>
                        <m:t> −</m:t>
                      </m:r>
                      <m:r>
                        <a:rPr lang="en-IN" b="0" i="1" smtClean="0">
                          <a:latin typeface="Cambria Math" panose="02040503050406030204" pitchFamily="18" charset="0"/>
                        </a:rPr>
                        <m:t>𝑏</m:t>
                      </m:r>
                    </m:oMath>
                  </m:oMathPara>
                </a14:m>
                <a:endParaRPr lang="en-IN" dirty="0"/>
              </a:p>
              <a:p>
                <a:endParaRPr lang="en-IN" b="0" dirty="0"/>
              </a:p>
              <a:p>
                <a:r>
                  <a:rPr lang="en-IN" dirty="0"/>
                  <a:t>Therefore, z will not lie between two consecutive integers if</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&gt;</m:t>
                      </m:r>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𝑐</m:t>
                      </m:r>
                      <m:r>
                        <a:rPr lang="en-IN" b="0" i="1" smtClean="0">
                          <a:latin typeface="Cambria Math" panose="02040503050406030204" pitchFamily="18" charset="0"/>
                        </a:rPr>
                        <m:t> −</m:t>
                      </m:r>
                      <m:r>
                        <a:rPr lang="en-IN" b="0" i="1" smtClean="0">
                          <a:latin typeface="Cambria Math" panose="02040503050406030204" pitchFamily="18" charset="0"/>
                        </a:rPr>
                        <m:t>𝑏</m:t>
                      </m:r>
                      <m:r>
                        <a:rPr lang="en-IN" b="0" i="1" smtClean="0">
                          <a:latin typeface="Cambria Math" panose="02040503050406030204" pitchFamily="18" charset="0"/>
                        </a:rPr>
                        <m:t>+1</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m:t>
                      </m:r>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r>
                        <a:rPr lang="en-IN" b="0" i="1" smtClean="0">
                          <a:latin typeface="Cambria Math" panose="02040503050406030204" pitchFamily="18" charset="0"/>
                        </a:rPr>
                        <m:t>−1</m:t>
                      </m:r>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m:oMathPara>
                </a14:m>
                <a:endParaRPr lang="en-IN" dirty="0"/>
              </a:p>
              <a:p>
                <a:r>
                  <a:rPr lang="en-IN" dirty="0"/>
                  <a:t>Thus, z must have an integer solution if the above condition is true. </a:t>
                </a:r>
              </a:p>
            </p:txBody>
          </p:sp>
        </mc:Choice>
        <mc:Fallback xmlns="">
          <p:sp>
            <p:nvSpPr>
              <p:cNvPr id="4" name="TextBox 3">
                <a:extLst>
                  <a:ext uri="{FF2B5EF4-FFF2-40B4-BE49-F238E27FC236}">
                    <a16:creationId xmlns:a16="http://schemas.microsoft.com/office/drawing/2014/main" id="{F9CEF9B3-A068-1276-28A8-2D831CCC6EC3}"/>
                  </a:ext>
                </a:extLst>
              </p:cNvPr>
              <p:cNvSpPr txBox="1">
                <a:spLocks noRot="1" noChangeAspect="1" noMove="1" noResize="1" noEditPoints="1" noAdjustHandles="1" noChangeArrowheads="1" noChangeShapeType="1" noTextEdit="1"/>
              </p:cNvSpPr>
              <p:nvPr/>
            </p:nvSpPr>
            <p:spPr>
              <a:xfrm>
                <a:off x="944880" y="1635760"/>
                <a:ext cx="6959600" cy="4661020"/>
              </a:xfrm>
              <a:prstGeom prst="rect">
                <a:avLst/>
              </a:prstGeom>
              <a:blipFill>
                <a:blip r:embed="rId2"/>
                <a:stretch>
                  <a:fillRect l="-701" b="-1046"/>
                </a:stretch>
              </a:blipFill>
            </p:spPr>
            <p:txBody>
              <a:bodyPr/>
              <a:lstStyle/>
              <a:p>
                <a:r>
                  <a:rPr lang="en-IN">
                    <a:noFill/>
                  </a:rPr>
                  <a:t> </a:t>
                </a:r>
              </a:p>
            </p:txBody>
          </p:sp>
        </mc:Fallback>
      </mc:AlternateContent>
    </p:spTree>
    <p:extLst>
      <p:ext uri="{BB962C8B-B14F-4D97-AF65-F5344CB8AC3E}">
        <p14:creationId xmlns:p14="http://schemas.microsoft.com/office/powerpoint/2010/main" val="2644168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Gray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cxnSp>
        <p:nvCxnSpPr>
          <p:cNvPr id="5" name="Straight Connector 4">
            <a:extLst>
              <a:ext uri="{FF2B5EF4-FFF2-40B4-BE49-F238E27FC236}">
                <a16:creationId xmlns:a16="http://schemas.microsoft.com/office/drawing/2014/main" id="{CED0B266-BFBE-E41B-C311-00D4D09734FD}"/>
              </a:ext>
            </a:extLst>
          </p:cNvPr>
          <p:cNvCxnSpPr/>
          <p:nvPr/>
        </p:nvCxnSpPr>
        <p:spPr>
          <a:xfrm>
            <a:off x="2546555" y="3264310"/>
            <a:ext cx="60271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E01935-9318-3C92-CC0D-5FB17872F8F8}"/>
              </a:ext>
            </a:extLst>
          </p:cNvPr>
          <p:cNvCxnSpPr/>
          <p:nvPr/>
        </p:nvCxnSpPr>
        <p:spPr>
          <a:xfrm>
            <a:off x="3382297" y="2989006"/>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497A32-ED11-B835-6859-F4C5C47B9845}"/>
              </a:ext>
            </a:extLst>
          </p:cNvPr>
          <p:cNvCxnSpPr/>
          <p:nvPr/>
        </p:nvCxnSpPr>
        <p:spPr>
          <a:xfrm>
            <a:off x="7959228" y="3013585"/>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177EDB-1E42-CCD3-8867-C437D36FBF1C}"/>
              </a:ext>
            </a:extLst>
          </p:cNvPr>
          <p:cNvCxnSpPr/>
          <p:nvPr/>
        </p:nvCxnSpPr>
        <p:spPr>
          <a:xfrm>
            <a:off x="6489303" y="2989003"/>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C08222-E6AE-F0E3-31A5-C4D95526AA51}"/>
              </a:ext>
            </a:extLst>
          </p:cNvPr>
          <p:cNvCxnSpPr/>
          <p:nvPr/>
        </p:nvCxnSpPr>
        <p:spPr>
          <a:xfrm>
            <a:off x="4517930" y="2993919"/>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C1BDF5-0996-92FB-AB82-893D3A935668}"/>
              </a:ext>
            </a:extLst>
          </p:cNvPr>
          <p:cNvSpPr txBox="1"/>
          <p:nvPr/>
        </p:nvSpPr>
        <p:spPr>
          <a:xfrm>
            <a:off x="3254481" y="3578942"/>
            <a:ext cx="471948" cy="369332"/>
          </a:xfrm>
          <a:prstGeom prst="rect">
            <a:avLst/>
          </a:prstGeom>
          <a:noFill/>
        </p:spPr>
        <p:txBody>
          <a:bodyPr wrap="square" rtlCol="0">
            <a:spAutoFit/>
          </a:bodyPr>
          <a:lstStyle/>
          <a:p>
            <a:r>
              <a:rPr lang="en-IN" b="1" dirty="0" err="1"/>
              <a:t>i</a:t>
            </a:r>
            <a:endParaRPr lang="en-IN" b="1" dirty="0"/>
          </a:p>
        </p:txBody>
      </p:sp>
      <p:sp>
        <p:nvSpPr>
          <p:cNvPr id="12" name="TextBox 11">
            <a:extLst>
              <a:ext uri="{FF2B5EF4-FFF2-40B4-BE49-F238E27FC236}">
                <a16:creationId xmlns:a16="http://schemas.microsoft.com/office/drawing/2014/main" id="{F3DEF5B2-518E-1E76-F988-E2208A940F1C}"/>
              </a:ext>
            </a:extLst>
          </p:cNvPr>
          <p:cNvSpPr txBox="1"/>
          <p:nvPr/>
        </p:nvSpPr>
        <p:spPr>
          <a:xfrm>
            <a:off x="7792083" y="3574025"/>
            <a:ext cx="673490" cy="369332"/>
          </a:xfrm>
          <a:prstGeom prst="rect">
            <a:avLst/>
          </a:prstGeom>
          <a:noFill/>
        </p:spPr>
        <p:txBody>
          <a:bodyPr wrap="square" rtlCol="0">
            <a:spAutoFit/>
          </a:bodyPr>
          <a:lstStyle/>
          <a:p>
            <a:r>
              <a:rPr lang="en-IN" b="1" dirty="0" err="1"/>
              <a:t>i</a:t>
            </a:r>
            <a:r>
              <a:rPr lang="en-IN" b="1" dirty="0"/>
              <a:t> + 1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E9FC80-4744-D89E-FD77-53ED9B2A6C6E}"/>
                  </a:ext>
                </a:extLst>
              </p:cNvPr>
              <p:cNvSpPr txBox="1"/>
              <p:nvPr/>
            </p:nvSpPr>
            <p:spPr>
              <a:xfrm>
                <a:off x="6214004" y="3628102"/>
                <a:ext cx="673490" cy="5706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𝜸</m:t>
                          </m:r>
                        </m:num>
                        <m:den>
                          <m:r>
                            <a:rPr lang="en-IN" b="1" i="1" smtClean="0">
                              <a:latin typeface="Cambria Math" panose="02040503050406030204" pitchFamily="18" charset="0"/>
                            </a:rPr>
                            <m:t>𝒄</m:t>
                          </m:r>
                        </m:den>
                      </m:f>
                    </m:oMath>
                  </m:oMathPara>
                </a14:m>
                <a:endParaRPr lang="en-IN" b="1" dirty="0"/>
              </a:p>
            </p:txBody>
          </p:sp>
        </mc:Choice>
        <mc:Fallback xmlns="">
          <p:sp>
            <p:nvSpPr>
              <p:cNvPr id="13" name="TextBox 12">
                <a:extLst>
                  <a:ext uri="{FF2B5EF4-FFF2-40B4-BE49-F238E27FC236}">
                    <a16:creationId xmlns:a16="http://schemas.microsoft.com/office/drawing/2014/main" id="{18E9FC80-4744-D89E-FD77-53ED9B2A6C6E}"/>
                  </a:ext>
                </a:extLst>
              </p:cNvPr>
              <p:cNvSpPr txBox="1">
                <a:spLocks noRot="1" noChangeAspect="1" noMove="1" noResize="1" noEditPoints="1" noAdjustHandles="1" noChangeArrowheads="1" noChangeShapeType="1" noTextEdit="1"/>
              </p:cNvSpPr>
              <p:nvPr/>
            </p:nvSpPr>
            <p:spPr>
              <a:xfrm>
                <a:off x="6214004" y="3628102"/>
                <a:ext cx="673490" cy="57066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5E30F7-6F27-0A85-BD7C-591C209B7D45}"/>
                  </a:ext>
                </a:extLst>
              </p:cNvPr>
              <p:cNvSpPr txBox="1"/>
              <p:nvPr/>
            </p:nvSpPr>
            <p:spPr>
              <a:xfrm>
                <a:off x="4203301" y="3593688"/>
                <a:ext cx="673490"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𝜷</m:t>
                          </m:r>
                        </m:num>
                        <m:den>
                          <m:r>
                            <a:rPr lang="en-IN" b="1" i="1" smtClean="0">
                              <a:latin typeface="Cambria Math" panose="02040503050406030204" pitchFamily="18" charset="0"/>
                            </a:rPr>
                            <m:t>𝒃</m:t>
                          </m:r>
                        </m:den>
                      </m:f>
                    </m:oMath>
                  </m:oMathPara>
                </a14:m>
                <a:endParaRPr lang="en-IN" b="1" dirty="0"/>
              </a:p>
            </p:txBody>
          </p:sp>
        </mc:Choice>
        <mc:Fallback xmlns="">
          <p:sp>
            <p:nvSpPr>
              <p:cNvPr id="14" name="TextBox 13">
                <a:extLst>
                  <a:ext uri="{FF2B5EF4-FFF2-40B4-BE49-F238E27FC236}">
                    <a16:creationId xmlns:a16="http://schemas.microsoft.com/office/drawing/2014/main" id="{065E30F7-6F27-0A85-BD7C-591C209B7D45}"/>
                  </a:ext>
                </a:extLst>
              </p:cNvPr>
              <p:cNvSpPr txBox="1">
                <a:spLocks noRot="1" noChangeAspect="1" noMove="1" noResize="1" noEditPoints="1" noAdjustHandles="1" noChangeArrowheads="1" noChangeShapeType="1" noTextEdit="1"/>
              </p:cNvSpPr>
              <p:nvPr/>
            </p:nvSpPr>
            <p:spPr>
              <a:xfrm>
                <a:off x="4203301" y="3593688"/>
                <a:ext cx="673490" cy="618311"/>
              </a:xfrm>
              <a:prstGeom prst="rect">
                <a:avLst/>
              </a:prstGeom>
              <a:blipFill>
                <a:blip r:embed="rId3"/>
                <a:stretch>
                  <a:fillRect/>
                </a:stretch>
              </a:blipFill>
            </p:spPr>
            <p:txBody>
              <a:bodyPr/>
              <a:lstStyle/>
              <a:p>
                <a:r>
                  <a:rPr lang="en-IN">
                    <a:noFill/>
                  </a:rPr>
                  <a:t> </a:t>
                </a:r>
              </a:p>
            </p:txBody>
          </p:sp>
        </mc:Fallback>
      </mc:AlternateContent>
      <p:sp>
        <p:nvSpPr>
          <p:cNvPr id="15" name="Right Brace 14">
            <a:extLst>
              <a:ext uri="{FF2B5EF4-FFF2-40B4-BE49-F238E27FC236}">
                <a16:creationId xmlns:a16="http://schemas.microsoft.com/office/drawing/2014/main" id="{071C124C-61C8-49CD-5425-D330E81E556A}"/>
              </a:ext>
            </a:extLst>
          </p:cNvPr>
          <p:cNvSpPr/>
          <p:nvPr/>
        </p:nvSpPr>
        <p:spPr>
          <a:xfrm rot="5400000">
            <a:off x="3714143" y="3820972"/>
            <a:ext cx="471940" cy="113563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C43C69C3-4A93-EF59-54BB-2788BCB7775D}"/>
              </a:ext>
            </a:extLst>
          </p:cNvPr>
          <p:cNvSpPr/>
          <p:nvPr/>
        </p:nvSpPr>
        <p:spPr>
          <a:xfrm rot="5400000">
            <a:off x="6950067" y="3775288"/>
            <a:ext cx="570670" cy="144765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B1C2B3-7FDB-346F-0C6F-43E8BCD242C1}"/>
                  </a:ext>
                </a:extLst>
              </p:cNvPr>
              <p:cNvSpPr txBox="1"/>
              <p:nvPr/>
            </p:nvSpPr>
            <p:spPr>
              <a:xfrm>
                <a:off x="3726429" y="4784449"/>
                <a:ext cx="791501"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oMath>
                  </m:oMathPara>
                </a14:m>
                <a:endParaRPr lang="en-IN" dirty="0"/>
              </a:p>
            </p:txBody>
          </p:sp>
        </mc:Choice>
        <mc:Fallback xmlns="">
          <p:sp>
            <p:nvSpPr>
              <p:cNvPr id="17" name="TextBox 16">
                <a:extLst>
                  <a:ext uri="{FF2B5EF4-FFF2-40B4-BE49-F238E27FC236}">
                    <a16:creationId xmlns:a16="http://schemas.microsoft.com/office/drawing/2014/main" id="{83B1C2B3-7FDB-346F-0C6F-43E8BCD242C1}"/>
                  </a:ext>
                </a:extLst>
              </p:cNvPr>
              <p:cNvSpPr txBox="1">
                <a:spLocks noRot="1" noChangeAspect="1" noMove="1" noResize="1" noEditPoints="1" noAdjustHandles="1" noChangeArrowheads="1" noChangeShapeType="1" noTextEdit="1"/>
              </p:cNvSpPr>
              <p:nvPr/>
            </p:nvSpPr>
            <p:spPr>
              <a:xfrm>
                <a:off x="3726429" y="4784449"/>
                <a:ext cx="791501" cy="6127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38AFA2-9870-BF3A-2480-708AC1AD71F7}"/>
                  </a:ext>
                </a:extLst>
              </p:cNvPr>
              <p:cNvSpPr txBox="1"/>
              <p:nvPr/>
            </p:nvSpPr>
            <p:spPr>
              <a:xfrm>
                <a:off x="6815069" y="4835249"/>
                <a:ext cx="791501"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m:oMathPara>
                </a14:m>
                <a:endParaRPr lang="en-IN" dirty="0"/>
              </a:p>
            </p:txBody>
          </p:sp>
        </mc:Choice>
        <mc:Fallback xmlns="">
          <p:sp>
            <p:nvSpPr>
              <p:cNvPr id="18" name="TextBox 17">
                <a:extLst>
                  <a:ext uri="{FF2B5EF4-FFF2-40B4-BE49-F238E27FC236}">
                    <a16:creationId xmlns:a16="http://schemas.microsoft.com/office/drawing/2014/main" id="{7638AFA2-9870-BF3A-2480-708AC1AD71F7}"/>
                  </a:ext>
                </a:extLst>
              </p:cNvPr>
              <p:cNvSpPr txBox="1">
                <a:spLocks noRot="1" noChangeAspect="1" noMove="1" noResize="1" noEditPoints="1" noAdjustHandles="1" noChangeArrowheads="1" noChangeShapeType="1" noTextEdit="1"/>
              </p:cNvSpPr>
              <p:nvPr/>
            </p:nvSpPr>
            <p:spPr>
              <a:xfrm>
                <a:off x="6815069" y="4835249"/>
                <a:ext cx="791501" cy="612796"/>
              </a:xfrm>
              <a:prstGeom prst="rect">
                <a:avLst/>
              </a:prstGeom>
              <a:blipFill>
                <a:blip r:embed="rId5"/>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6F282754-4FF2-A223-22FC-FB6D855A738C}"/>
              </a:ext>
            </a:extLst>
          </p:cNvPr>
          <p:cNvSpPr txBox="1"/>
          <p:nvPr/>
        </p:nvSpPr>
        <p:spPr>
          <a:xfrm>
            <a:off x="2625213" y="5938684"/>
            <a:ext cx="6567948" cy="369332"/>
          </a:xfrm>
          <a:prstGeom prst="rect">
            <a:avLst/>
          </a:prstGeom>
          <a:noFill/>
        </p:spPr>
        <p:txBody>
          <a:bodyPr wrap="square" rtlCol="0">
            <a:spAutoFit/>
          </a:bodyPr>
          <a:lstStyle/>
          <a:p>
            <a:r>
              <a:rPr lang="en-IN" dirty="0"/>
              <a:t>These constraints may hold even if </a:t>
            </a:r>
            <a:r>
              <a:rPr lang="en-IN" dirty="0" err="1">
                <a:solidFill>
                  <a:schemeClr val="accent1"/>
                </a:solidFill>
              </a:rPr>
              <a:t>i</a:t>
            </a:r>
            <a:r>
              <a:rPr lang="en-IN" dirty="0"/>
              <a:t> is real.</a:t>
            </a:r>
          </a:p>
        </p:txBody>
      </p:sp>
    </p:spTree>
    <p:extLst>
      <p:ext uri="{BB962C8B-B14F-4D97-AF65-F5344CB8AC3E}">
        <p14:creationId xmlns:p14="http://schemas.microsoft.com/office/powerpoint/2010/main" val="1269423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Gray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cxnSp>
        <p:nvCxnSpPr>
          <p:cNvPr id="5" name="Straight Connector 4">
            <a:extLst>
              <a:ext uri="{FF2B5EF4-FFF2-40B4-BE49-F238E27FC236}">
                <a16:creationId xmlns:a16="http://schemas.microsoft.com/office/drawing/2014/main" id="{CED0B266-BFBE-E41B-C311-00D4D09734FD}"/>
              </a:ext>
            </a:extLst>
          </p:cNvPr>
          <p:cNvCxnSpPr/>
          <p:nvPr/>
        </p:nvCxnSpPr>
        <p:spPr>
          <a:xfrm>
            <a:off x="2546555" y="3264310"/>
            <a:ext cx="60271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E01935-9318-3C92-CC0D-5FB17872F8F8}"/>
              </a:ext>
            </a:extLst>
          </p:cNvPr>
          <p:cNvCxnSpPr/>
          <p:nvPr/>
        </p:nvCxnSpPr>
        <p:spPr>
          <a:xfrm>
            <a:off x="3382297" y="2989006"/>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497A32-ED11-B835-6859-F4C5C47B9845}"/>
              </a:ext>
            </a:extLst>
          </p:cNvPr>
          <p:cNvCxnSpPr/>
          <p:nvPr/>
        </p:nvCxnSpPr>
        <p:spPr>
          <a:xfrm>
            <a:off x="7959228" y="3013585"/>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177EDB-1E42-CCD3-8867-C437D36FBF1C}"/>
              </a:ext>
            </a:extLst>
          </p:cNvPr>
          <p:cNvCxnSpPr/>
          <p:nvPr/>
        </p:nvCxnSpPr>
        <p:spPr>
          <a:xfrm>
            <a:off x="6489303" y="2989003"/>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C08222-E6AE-F0E3-31A5-C4D95526AA51}"/>
              </a:ext>
            </a:extLst>
          </p:cNvPr>
          <p:cNvCxnSpPr/>
          <p:nvPr/>
        </p:nvCxnSpPr>
        <p:spPr>
          <a:xfrm>
            <a:off x="4517930" y="2993919"/>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C1BDF5-0996-92FB-AB82-893D3A935668}"/>
              </a:ext>
            </a:extLst>
          </p:cNvPr>
          <p:cNvSpPr txBox="1"/>
          <p:nvPr/>
        </p:nvSpPr>
        <p:spPr>
          <a:xfrm>
            <a:off x="3254481" y="3578942"/>
            <a:ext cx="471948" cy="369332"/>
          </a:xfrm>
          <a:prstGeom prst="rect">
            <a:avLst/>
          </a:prstGeom>
          <a:noFill/>
        </p:spPr>
        <p:txBody>
          <a:bodyPr wrap="square" rtlCol="0">
            <a:spAutoFit/>
          </a:bodyPr>
          <a:lstStyle/>
          <a:p>
            <a:r>
              <a:rPr lang="en-IN" b="1" dirty="0" err="1"/>
              <a:t>i</a:t>
            </a:r>
            <a:endParaRPr lang="en-IN" b="1" dirty="0"/>
          </a:p>
        </p:txBody>
      </p:sp>
      <p:sp>
        <p:nvSpPr>
          <p:cNvPr id="12" name="TextBox 11">
            <a:extLst>
              <a:ext uri="{FF2B5EF4-FFF2-40B4-BE49-F238E27FC236}">
                <a16:creationId xmlns:a16="http://schemas.microsoft.com/office/drawing/2014/main" id="{F3DEF5B2-518E-1E76-F988-E2208A940F1C}"/>
              </a:ext>
            </a:extLst>
          </p:cNvPr>
          <p:cNvSpPr txBox="1"/>
          <p:nvPr/>
        </p:nvSpPr>
        <p:spPr>
          <a:xfrm>
            <a:off x="7792083" y="3574025"/>
            <a:ext cx="673490" cy="369332"/>
          </a:xfrm>
          <a:prstGeom prst="rect">
            <a:avLst/>
          </a:prstGeom>
          <a:noFill/>
        </p:spPr>
        <p:txBody>
          <a:bodyPr wrap="square" rtlCol="0">
            <a:spAutoFit/>
          </a:bodyPr>
          <a:lstStyle/>
          <a:p>
            <a:r>
              <a:rPr lang="en-IN" b="1" dirty="0" err="1"/>
              <a:t>i</a:t>
            </a:r>
            <a:r>
              <a:rPr lang="en-IN" b="1" dirty="0"/>
              <a:t> + 1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E9FC80-4744-D89E-FD77-53ED9B2A6C6E}"/>
                  </a:ext>
                </a:extLst>
              </p:cNvPr>
              <p:cNvSpPr txBox="1"/>
              <p:nvPr/>
            </p:nvSpPr>
            <p:spPr>
              <a:xfrm>
                <a:off x="6214004" y="3628102"/>
                <a:ext cx="673490" cy="5706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𝜸</m:t>
                          </m:r>
                        </m:num>
                        <m:den>
                          <m:r>
                            <a:rPr lang="en-IN" b="1" i="1" smtClean="0">
                              <a:latin typeface="Cambria Math" panose="02040503050406030204" pitchFamily="18" charset="0"/>
                            </a:rPr>
                            <m:t>𝒄</m:t>
                          </m:r>
                        </m:den>
                      </m:f>
                    </m:oMath>
                  </m:oMathPara>
                </a14:m>
                <a:endParaRPr lang="en-IN" b="1" dirty="0"/>
              </a:p>
            </p:txBody>
          </p:sp>
        </mc:Choice>
        <mc:Fallback xmlns="">
          <p:sp>
            <p:nvSpPr>
              <p:cNvPr id="13" name="TextBox 12">
                <a:extLst>
                  <a:ext uri="{FF2B5EF4-FFF2-40B4-BE49-F238E27FC236}">
                    <a16:creationId xmlns:a16="http://schemas.microsoft.com/office/drawing/2014/main" id="{18E9FC80-4744-D89E-FD77-53ED9B2A6C6E}"/>
                  </a:ext>
                </a:extLst>
              </p:cNvPr>
              <p:cNvSpPr txBox="1">
                <a:spLocks noRot="1" noChangeAspect="1" noMove="1" noResize="1" noEditPoints="1" noAdjustHandles="1" noChangeArrowheads="1" noChangeShapeType="1" noTextEdit="1"/>
              </p:cNvSpPr>
              <p:nvPr/>
            </p:nvSpPr>
            <p:spPr>
              <a:xfrm>
                <a:off x="6214004" y="3628102"/>
                <a:ext cx="673490" cy="57066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5E30F7-6F27-0A85-BD7C-591C209B7D45}"/>
                  </a:ext>
                </a:extLst>
              </p:cNvPr>
              <p:cNvSpPr txBox="1"/>
              <p:nvPr/>
            </p:nvSpPr>
            <p:spPr>
              <a:xfrm>
                <a:off x="4203301" y="3593688"/>
                <a:ext cx="673490"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𝜷</m:t>
                          </m:r>
                        </m:num>
                        <m:den>
                          <m:r>
                            <a:rPr lang="en-IN" b="1" i="1" smtClean="0">
                              <a:latin typeface="Cambria Math" panose="02040503050406030204" pitchFamily="18" charset="0"/>
                            </a:rPr>
                            <m:t>𝒃</m:t>
                          </m:r>
                        </m:den>
                      </m:f>
                    </m:oMath>
                  </m:oMathPara>
                </a14:m>
                <a:endParaRPr lang="en-IN" b="1" dirty="0"/>
              </a:p>
            </p:txBody>
          </p:sp>
        </mc:Choice>
        <mc:Fallback xmlns="">
          <p:sp>
            <p:nvSpPr>
              <p:cNvPr id="14" name="TextBox 13">
                <a:extLst>
                  <a:ext uri="{FF2B5EF4-FFF2-40B4-BE49-F238E27FC236}">
                    <a16:creationId xmlns:a16="http://schemas.microsoft.com/office/drawing/2014/main" id="{065E30F7-6F27-0A85-BD7C-591C209B7D45}"/>
                  </a:ext>
                </a:extLst>
              </p:cNvPr>
              <p:cNvSpPr txBox="1">
                <a:spLocks noRot="1" noChangeAspect="1" noMove="1" noResize="1" noEditPoints="1" noAdjustHandles="1" noChangeArrowheads="1" noChangeShapeType="1" noTextEdit="1"/>
              </p:cNvSpPr>
              <p:nvPr/>
            </p:nvSpPr>
            <p:spPr>
              <a:xfrm>
                <a:off x="4203301" y="3593688"/>
                <a:ext cx="673490" cy="618311"/>
              </a:xfrm>
              <a:prstGeom prst="rect">
                <a:avLst/>
              </a:prstGeom>
              <a:blipFill>
                <a:blip r:embed="rId3"/>
                <a:stretch>
                  <a:fillRect/>
                </a:stretch>
              </a:blipFill>
            </p:spPr>
            <p:txBody>
              <a:bodyPr/>
              <a:lstStyle/>
              <a:p>
                <a:r>
                  <a:rPr lang="en-IN">
                    <a:noFill/>
                  </a:rPr>
                  <a:t> </a:t>
                </a:r>
              </a:p>
            </p:txBody>
          </p:sp>
        </mc:Fallback>
      </mc:AlternateContent>
      <p:sp>
        <p:nvSpPr>
          <p:cNvPr id="15" name="Right Brace 14">
            <a:extLst>
              <a:ext uri="{FF2B5EF4-FFF2-40B4-BE49-F238E27FC236}">
                <a16:creationId xmlns:a16="http://schemas.microsoft.com/office/drawing/2014/main" id="{071C124C-61C8-49CD-5425-D330E81E556A}"/>
              </a:ext>
            </a:extLst>
          </p:cNvPr>
          <p:cNvSpPr/>
          <p:nvPr/>
        </p:nvSpPr>
        <p:spPr>
          <a:xfrm rot="5400000">
            <a:off x="3714143" y="3820972"/>
            <a:ext cx="471940" cy="113563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C43C69C3-4A93-EF59-54BB-2788BCB7775D}"/>
              </a:ext>
            </a:extLst>
          </p:cNvPr>
          <p:cNvSpPr/>
          <p:nvPr/>
        </p:nvSpPr>
        <p:spPr>
          <a:xfrm rot="5400000">
            <a:off x="6950067" y="3775288"/>
            <a:ext cx="570670" cy="144765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B1C2B3-7FDB-346F-0C6F-43E8BCD242C1}"/>
                  </a:ext>
                </a:extLst>
              </p:cNvPr>
              <p:cNvSpPr txBox="1"/>
              <p:nvPr/>
            </p:nvSpPr>
            <p:spPr>
              <a:xfrm>
                <a:off x="3726429" y="4784449"/>
                <a:ext cx="791501"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oMath>
                  </m:oMathPara>
                </a14:m>
                <a:endParaRPr lang="en-IN" dirty="0"/>
              </a:p>
            </p:txBody>
          </p:sp>
        </mc:Choice>
        <mc:Fallback xmlns="">
          <p:sp>
            <p:nvSpPr>
              <p:cNvPr id="17" name="TextBox 16">
                <a:extLst>
                  <a:ext uri="{FF2B5EF4-FFF2-40B4-BE49-F238E27FC236}">
                    <a16:creationId xmlns:a16="http://schemas.microsoft.com/office/drawing/2014/main" id="{83B1C2B3-7FDB-346F-0C6F-43E8BCD242C1}"/>
                  </a:ext>
                </a:extLst>
              </p:cNvPr>
              <p:cNvSpPr txBox="1">
                <a:spLocks noRot="1" noChangeAspect="1" noMove="1" noResize="1" noEditPoints="1" noAdjustHandles="1" noChangeArrowheads="1" noChangeShapeType="1" noTextEdit="1"/>
              </p:cNvSpPr>
              <p:nvPr/>
            </p:nvSpPr>
            <p:spPr>
              <a:xfrm>
                <a:off x="3726429" y="4784449"/>
                <a:ext cx="791501" cy="6127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38AFA2-9870-BF3A-2480-708AC1AD71F7}"/>
                  </a:ext>
                </a:extLst>
              </p:cNvPr>
              <p:cNvSpPr txBox="1"/>
              <p:nvPr/>
            </p:nvSpPr>
            <p:spPr>
              <a:xfrm>
                <a:off x="6815069" y="4835249"/>
                <a:ext cx="791501"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m:oMathPara>
                </a14:m>
                <a:endParaRPr lang="en-IN" dirty="0"/>
              </a:p>
            </p:txBody>
          </p:sp>
        </mc:Choice>
        <mc:Fallback xmlns="">
          <p:sp>
            <p:nvSpPr>
              <p:cNvPr id="18" name="TextBox 17">
                <a:extLst>
                  <a:ext uri="{FF2B5EF4-FFF2-40B4-BE49-F238E27FC236}">
                    <a16:creationId xmlns:a16="http://schemas.microsoft.com/office/drawing/2014/main" id="{7638AFA2-9870-BF3A-2480-708AC1AD71F7}"/>
                  </a:ext>
                </a:extLst>
              </p:cNvPr>
              <p:cNvSpPr txBox="1">
                <a:spLocks noRot="1" noChangeAspect="1" noMove="1" noResize="1" noEditPoints="1" noAdjustHandles="1" noChangeArrowheads="1" noChangeShapeType="1" noTextEdit="1"/>
              </p:cNvSpPr>
              <p:nvPr/>
            </p:nvSpPr>
            <p:spPr>
              <a:xfrm>
                <a:off x="6815069" y="4835249"/>
                <a:ext cx="791501" cy="612796"/>
              </a:xfrm>
              <a:prstGeom prst="rect">
                <a:avLst/>
              </a:prstGeom>
              <a:blipFill>
                <a:blip r:embed="rId5"/>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6F282754-4FF2-A223-22FC-FB6D855A738C}"/>
              </a:ext>
            </a:extLst>
          </p:cNvPr>
          <p:cNvSpPr txBox="1"/>
          <p:nvPr/>
        </p:nvSpPr>
        <p:spPr>
          <a:xfrm>
            <a:off x="2625213" y="5818941"/>
            <a:ext cx="6567948" cy="369332"/>
          </a:xfrm>
          <a:prstGeom prst="rect">
            <a:avLst/>
          </a:prstGeom>
          <a:noFill/>
        </p:spPr>
        <p:txBody>
          <a:bodyPr wrap="square" rtlCol="0">
            <a:spAutoFit/>
          </a:bodyPr>
          <a:lstStyle/>
          <a:p>
            <a:r>
              <a:rPr lang="en-IN" dirty="0"/>
              <a:t>Which points should we try if the dark shadow has no solution?</a:t>
            </a:r>
          </a:p>
        </p:txBody>
      </p:sp>
    </p:spTree>
    <p:extLst>
      <p:ext uri="{BB962C8B-B14F-4D97-AF65-F5344CB8AC3E}">
        <p14:creationId xmlns:p14="http://schemas.microsoft.com/office/powerpoint/2010/main" val="1132055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Gray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p:cxnSp>
        <p:nvCxnSpPr>
          <p:cNvPr id="5" name="Straight Connector 4">
            <a:extLst>
              <a:ext uri="{FF2B5EF4-FFF2-40B4-BE49-F238E27FC236}">
                <a16:creationId xmlns:a16="http://schemas.microsoft.com/office/drawing/2014/main" id="{CED0B266-BFBE-E41B-C311-00D4D09734FD}"/>
              </a:ext>
            </a:extLst>
          </p:cNvPr>
          <p:cNvCxnSpPr/>
          <p:nvPr/>
        </p:nvCxnSpPr>
        <p:spPr>
          <a:xfrm>
            <a:off x="2546555" y="3264310"/>
            <a:ext cx="602717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2E01935-9318-3C92-CC0D-5FB17872F8F8}"/>
              </a:ext>
            </a:extLst>
          </p:cNvPr>
          <p:cNvCxnSpPr/>
          <p:nvPr/>
        </p:nvCxnSpPr>
        <p:spPr>
          <a:xfrm>
            <a:off x="3382297" y="2989006"/>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E497A32-ED11-B835-6859-F4C5C47B9845}"/>
              </a:ext>
            </a:extLst>
          </p:cNvPr>
          <p:cNvCxnSpPr/>
          <p:nvPr/>
        </p:nvCxnSpPr>
        <p:spPr>
          <a:xfrm>
            <a:off x="7959228" y="3013585"/>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177EDB-1E42-CCD3-8867-C437D36FBF1C}"/>
              </a:ext>
            </a:extLst>
          </p:cNvPr>
          <p:cNvCxnSpPr/>
          <p:nvPr/>
        </p:nvCxnSpPr>
        <p:spPr>
          <a:xfrm>
            <a:off x="6489303" y="2989003"/>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BC08222-E6AE-F0E3-31A5-C4D95526AA51}"/>
              </a:ext>
            </a:extLst>
          </p:cNvPr>
          <p:cNvCxnSpPr/>
          <p:nvPr/>
        </p:nvCxnSpPr>
        <p:spPr>
          <a:xfrm>
            <a:off x="4517930" y="2993919"/>
            <a:ext cx="0" cy="5407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6C1BDF5-0996-92FB-AB82-893D3A935668}"/>
              </a:ext>
            </a:extLst>
          </p:cNvPr>
          <p:cNvSpPr txBox="1"/>
          <p:nvPr/>
        </p:nvSpPr>
        <p:spPr>
          <a:xfrm>
            <a:off x="3254481" y="3578942"/>
            <a:ext cx="471948" cy="369332"/>
          </a:xfrm>
          <a:prstGeom prst="rect">
            <a:avLst/>
          </a:prstGeom>
          <a:noFill/>
        </p:spPr>
        <p:txBody>
          <a:bodyPr wrap="square" rtlCol="0">
            <a:spAutoFit/>
          </a:bodyPr>
          <a:lstStyle/>
          <a:p>
            <a:r>
              <a:rPr lang="en-IN" b="1" dirty="0" err="1"/>
              <a:t>i</a:t>
            </a:r>
            <a:endParaRPr lang="en-IN" b="1" dirty="0"/>
          </a:p>
        </p:txBody>
      </p:sp>
      <p:sp>
        <p:nvSpPr>
          <p:cNvPr id="12" name="TextBox 11">
            <a:extLst>
              <a:ext uri="{FF2B5EF4-FFF2-40B4-BE49-F238E27FC236}">
                <a16:creationId xmlns:a16="http://schemas.microsoft.com/office/drawing/2014/main" id="{F3DEF5B2-518E-1E76-F988-E2208A940F1C}"/>
              </a:ext>
            </a:extLst>
          </p:cNvPr>
          <p:cNvSpPr txBox="1"/>
          <p:nvPr/>
        </p:nvSpPr>
        <p:spPr>
          <a:xfrm>
            <a:off x="7792083" y="3574025"/>
            <a:ext cx="673490" cy="369332"/>
          </a:xfrm>
          <a:prstGeom prst="rect">
            <a:avLst/>
          </a:prstGeom>
          <a:noFill/>
        </p:spPr>
        <p:txBody>
          <a:bodyPr wrap="square" rtlCol="0">
            <a:spAutoFit/>
          </a:bodyPr>
          <a:lstStyle/>
          <a:p>
            <a:r>
              <a:rPr lang="en-IN" b="1" dirty="0" err="1"/>
              <a:t>i</a:t>
            </a:r>
            <a:r>
              <a:rPr lang="en-IN" b="1" dirty="0"/>
              <a:t> + 1</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8E9FC80-4744-D89E-FD77-53ED9B2A6C6E}"/>
                  </a:ext>
                </a:extLst>
              </p:cNvPr>
              <p:cNvSpPr txBox="1"/>
              <p:nvPr/>
            </p:nvSpPr>
            <p:spPr>
              <a:xfrm>
                <a:off x="6214004" y="3628102"/>
                <a:ext cx="673490" cy="5706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𝜸</m:t>
                          </m:r>
                        </m:num>
                        <m:den>
                          <m:r>
                            <a:rPr lang="en-IN" b="1" i="1" smtClean="0">
                              <a:latin typeface="Cambria Math" panose="02040503050406030204" pitchFamily="18" charset="0"/>
                            </a:rPr>
                            <m:t>𝒄</m:t>
                          </m:r>
                        </m:den>
                      </m:f>
                    </m:oMath>
                  </m:oMathPara>
                </a14:m>
                <a:endParaRPr lang="en-IN" b="1" dirty="0"/>
              </a:p>
            </p:txBody>
          </p:sp>
        </mc:Choice>
        <mc:Fallback xmlns="">
          <p:sp>
            <p:nvSpPr>
              <p:cNvPr id="13" name="TextBox 12">
                <a:extLst>
                  <a:ext uri="{FF2B5EF4-FFF2-40B4-BE49-F238E27FC236}">
                    <a16:creationId xmlns:a16="http://schemas.microsoft.com/office/drawing/2014/main" id="{18E9FC80-4744-D89E-FD77-53ED9B2A6C6E}"/>
                  </a:ext>
                </a:extLst>
              </p:cNvPr>
              <p:cNvSpPr txBox="1">
                <a:spLocks noRot="1" noChangeAspect="1" noMove="1" noResize="1" noEditPoints="1" noAdjustHandles="1" noChangeArrowheads="1" noChangeShapeType="1" noTextEdit="1"/>
              </p:cNvSpPr>
              <p:nvPr/>
            </p:nvSpPr>
            <p:spPr>
              <a:xfrm>
                <a:off x="6214004" y="3628102"/>
                <a:ext cx="673490" cy="570669"/>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65E30F7-6F27-0A85-BD7C-591C209B7D45}"/>
                  </a:ext>
                </a:extLst>
              </p:cNvPr>
              <p:cNvSpPr txBox="1"/>
              <p:nvPr/>
            </p:nvSpPr>
            <p:spPr>
              <a:xfrm>
                <a:off x="4203301" y="3593688"/>
                <a:ext cx="673490" cy="618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IN" b="1" i="1" smtClean="0">
                              <a:latin typeface="Cambria Math" panose="02040503050406030204" pitchFamily="18" charset="0"/>
                            </a:rPr>
                          </m:ctrlPr>
                        </m:fPr>
                        <m:num>
                          <m:r>
                            <a:rPr lang="en-IN" b="1" i="1" smtClean="0">
                              <a:latin typeface="Cambria Math" panose="02040503050406030204" pitchFamily="18" charset="0"/>
                            </a:rPr>
                            <m:t>𝜷</m:t>
                          </m:r>
                        </m:num>
                        <m:den>
                          <m:r>
                            <a:rPr lang="en-IN" b="1" i="1" smtClean="0">
                              <a:latin typeface="Cambria Math" panose="02040503050406030204" pitchFamily="18" charset="0"/>
                            </a:rPr>
                            <m:t>𝒃</m:t>
                          </m:r>
                        </m:den>
                      </m:f>
                    </m:oMath>
                  </m:oMathPara>
                </a14:m>
                <a:endParaRPr lang="en-IN" b="1" dirty="0"/>
              </a:p>
            </p:txBody>
          </p:sp>
        </mc:Choice>
        <mc:Fallback xmlns="">
          <p:sp>
            <p:nvSpPr>
              <p:cNvPr id="14" name="TextBox 13">
                <a:extLst>
                  <a:ext uri="{FF2B5EF4-FFF2-40B4-BE49-F238E27FC236}">
                    <a16:creationId xmlns:a16="http://schemas.microsoft.com/office/drawing/2014/main" id="{065E30F7-6F27-0A85-BD7C-591C209B7D45}"/>
                  </a:ext>
                </a:extLst>
              </p:cNvPr>
              <p:cNvSpPr txBox="1">
                <a:spLocks noRot="1" noChangeAspect="1" noMove="1" noResize="1" noEditPoints="1" noAdjustHandles="1" noChangeArrowheads="1" noChangeShapeType="1" noTextEdit="1"/>
              </p:cNvSpPr>
              <p:nvPr/>
            </p:nvSpPr>
            <p:spPr>
              <a:xfrm>
                <a:off x="4203301" y="3593688"/>
                <a:ext cx="673490" cy="618311"/>
              </a:xfrm>
              <a:prstGeom prst="rect">
                <a:avLst/>
              </a:prstGeom>
              <a:blipFill>
                <a:blip r:embed="rId3"/>
                <a:stretch>
                  <a:fillRect/>
                </a:stretch>
              </a:blipFill>
            </p:spPr>
            <p:txBody>
              <a:bodyPr/>
              <a:lstStyle/>
              <a:p>
                <a:r>
                  <a:rPr lang="en-IN">
                    <a:noFill/>
                  </a:rPr>
                  <a:t> </a:t>
                </a:r>
              </a:p>
            </p:txBody>
          </p:sp>
        </mc:Fallback>
      </mc:AlternateContent>
      <p:sp>
        <p:nvSpPr>
          <p:cNvPr id="15" name="Right Brace 14">
            <a:extLst>
              <a:ext uri="{FF2B5EF4-FFF2-40B4-BE49-F238E27FC236}">
                <a16:creationId xmlns:a16="http://schemas.microsoft.com/office/drawing/2014/main" id="{071C124C-61C8-49CD-5425-D330E81E556A}"/>
              </a:ext>
            </a:extLst>
          </p:cNvPr>
          <p:cNvSpPr/>
          <p:nvPr/>
        </p:nvSpPr>
        <p:spPr>
          <a:xfrm rot="5400000">
            <a:off x="3714143" y="3820972"/>
            <a:ext cx="471940" cy="113563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Right Brace 15">
            <a:extLst>
              <a:ext uri="{FF2B5EF4-FFF2-40B4-BE49-F238E27FC236}">
                <a16:creationId xmlns:a16="http://schemas.microsoft.com/office/drawing/2014/main" id="{C43C69C3-4A93-EF59-54BB-2788BCB7775D}"/>
              </a:ext>
            </a:extLst>
          </p:cNvPr>
          <p:cNvSpPr/>
          <p:nvPr/>
        </p:nvSpPr>
        <p:spPr>
          <a:xfrm rot="5400000">
            <a:off x="6950067" y="3775288"/>
            <a:ext cx="570670" cy="1447651"/>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B1C2B3-7FDB-346F-0C6F-43E8BCD242C1}"/>
                  </a:ext>
                </a:extLst>
              </p:cNvPr>
              <p:cNvSpPr txBox="1"/>
              <p:nvPr/>
            </p:nvSpPr>
            <p:spPr>
              <a:xfrm>
                <a:off x="3726429" y="4784449"/>
                <a:ext cx="791501"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oMath>
                  </m:oMathPara>
                </a14:m>
                <a:endParaRPr lang="en-IN" dirty="0"/>
              </a:p>
            </p:txBody>
          </p:sp>
        </mc:Choice>
        <mc:Fallback xmlns="">
          <p:sp>
            <p:nvSpPr>
              <p:cNvPr id="17" name="TextBox 16">
                <a:extLst>
                  <a:ext uri="{FF2B5EF4-FFF2-40B4-BE49-F238E27FC236}">
                    <a16:creationId xmlns:a16="http://schemas.microsoft.com/office/drawing/2014/main" id="{83B1C2B3-7FDB-346F-0C6F-43E8BCD242C1}"/>
                  </a:ext>
                </a:extLst>
              </p:cNvPr>
              <p:cNvSpPr txBox="1">
                <a:spLocks noRot="1" noChangeAspect="1" noMove="1" noResize="1" noEditPoints="1" noAdjustHandles="1" noChangeArrowheads="1" noChangeShapeType="1" noTextEdit="1"/>
              </p:cNvSpPr>
              <p:nvPr/>
            </p:nvSpPr>
            <p:spPr>
              <a:xfrm>
                <a:off x="3726429" y="4784449"/>
                <a:ext cx="791501" cy="6127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38AFA2-9870-BF3A-2480-708AC1AD71F7}"/>
                  </a:ext>
                </a:extLst>
              </p:cNvPr>
              <p:cNvSpPr txBox="1"/>
              <p:nvPr/>
            </p:nvSpPr>
            <p:spPr>
              <a:xfrm>
                <a:off x="6815069" y="4835249"/>
                <a:ext cx="791501" cy="6127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𝑐</m:t>
                          </m:r>
                        </m:den>
                      </m:f>
                    </m:oMath>
                  </m:oMathPara>
                </a14:m>
                <a:endParaRPr lang="en-IN" dirty="0"/>
              </a:p>
            </p:txBody>
          </p:sp>
        </mc:Choice>
        <mc:Fallback xmlns="">
          <p:sp>
            <p:nvSpPr>
              <p:cNvPr id="18" name="TextBox 17">
                <a:extLst>
                  <a:ext uri="{FF2B5EF4-FFF2-40B4-BE49-F238E27FC236}">
                    <a16:creationId xmlns:a16="http://schemas.microsoft.com/office/drawing/2014/main" id="{7638AFA2-9870-BF3A-2480-708AC1AD71F7}"/>
                  </a:ext>
                </a:extLst>
              </p:cNvPr>
              <p:cNvSpPr txBox="1">
                <a:spLocks noRot="1" noChangeAspect="1" noMove="1" noResize="1" noEditPoints="1" noAdjustHandles="1" noChangeArrowheads="1" noChangeShapeType="1" noTextEdit="1"/>
              </p:cNvSpPr>
              <p:nvPr/>
            </p:nvSpPr>
            <p:spPr>
              <a:xfrm>
                <a:off x="6815069" y="4835249"/>
                <a:ext cx="791501" cy="61279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F282754-4FF2-A223-22FC-FB6D855A738C}"/>
                  </a:ext>
                </a:extLst>
              </p:cNvPr>
              <p:cNvSpPr txBox="1"/>
              <p:nvPr/>
            </p:nvSpPr>
            <p:spPr>
              <a:xfrm>
                <a:off x="2625213" y="5546798"/>
                <a:ext cx="7770644" cy="895373"/>
              </a:xfrm>
              <a:prstGeom prst="rect">
                <a:avLst/>
              </a:prstGeom>
              <a:noFill/>
            </p:spPr>
            <p:txBody>
              <a:bodyPr wrap="square" rtlCol="0">
                <a:spAutoFit/>
              </a:bodyPr>
              <a:lstStyle/>
              <a:p>
                <a:r>
                  <a:rPr lang="en-US" dirty="0"/>
                  <a:t>Which points should we try if the dark shadow has no solution?</a:t>
                </a:r>
                <a:endParaRPr lang="en-IN"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𝑏</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2</m:t>
                          </m:r>
                        </m:num>
                        <m:den>
                          <m:r>
                            <a:rPr lang="en-IN" b="0" i="1" smtClean="0">
                              <a:latin typeface="Cambria Math" panose="02040503050406030204" pitchFamily="18" charset="0"/>
                            </a:rPr>
                            <m:t>𝑏</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𝛽</m:t>
                          </m:r>
                        </m:num>
                        <m:den>
                          <m:r>
                            <a:rPr lang="en-IN" b="0" i="1" smtClean="0">
                              <a:latin typeface="Cambria Math" panose="02040503050406030204" pitchFamily="18" charset="0"/>
                            </a:rPr>
                            <m:t>𝑏</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3</m:t>
                          </m:r>
                        </m:num>
                        <m:den>
                          <m:r>
                            <a:rPr lang="en-IN" b="0" i="1" smtClean="0">
                              <a:latin typeface="Cambria Math" panose="02040503050406030204" pitchFamily="18" charset="0"/>
                            </a:rPr>
                            <m:t>𝑏</m:t>
                          </m:r>
                        </m:den>
                      </m:f>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𝛾</m:t>
                          </m:r>
                        </m:num>
                        <m:den>
                          <m:r>
                            <a:rPr lang="en-IN" b="0" i="1" smtClean="0">
                              <a:latin typeface="Cambria Math" panose="02040503050406030204" pitchFamily="18" charset="0"/>
                            </a:rPr>
                            <m:t>𝑐</m:t>
                          </m:r>
                        </m:den>
                      </m:f>
                    </m:oMath>
                  </m:oMathPara>
                </a14:m>
                <a:endParaRPr lang="en-IN" dirty="0"/>
              </a:p>
            </p:txBody>
          </p:sp>
        </mc:Choice>
        <mc:Fallback xmlns="">
          <p:sp>
            <p:nvSpPr>
              <p:cNvPr id="4" name="TextBox 3">
                <a:extLst>
                  <a:ext uri="{FF2B5EF4-FFF2-40B4-BE49-F238E27FC236}">
                    <a16:creationId xmlns:a16="http://schemas.microsoft.com/office/drawing/2014/main" id="{6F282754-4FF2-A223-22FC-FB6D855A738C}"/>
                  </a:ext>
                </a:extLst>
              </p:cNvPr>
              <p:cNvSpPr txBox="1">
                <a:spLocks noRot="1" noChangeAspect="1" noMove="1" noResize="1" noEditPoints="1" noAdjustHandles="1" noChangeArrowheads="1" noChangeShapeType="1" noTextEdit="1"/>
              </p:cNvSpPr>
              <p:nvPr/>
            </p:nvSpPr>
            <p:spPr>
              <a:xfrm>
                <a:off x="2625213" y="5546798"/>
                <a:ext cx="7770644" cy="895373"/>
              </a:xfrm>
              <a:prstGeom prst="rect">
                <a:avLst/>
              </a:prstGeom>
              <a:blipFill>
                <a:blip r:embed="rId6"/>
                <a:stretch>
                  <a:fillRect l="-706" t="-4082"/>
                </a:stretch>
              </a:blipFill>
            </p:spPr>
            <p:txBody>
              <a:bodyPr/>
              <a:lstStyle/>
              <a:p>
                <a:r>
                  <a:rPr lang="en-IN">
                    <a:noFill/>
                  </a:rPr>
                  <a:t> </a:t>
                </a:r>
              </a:p>
            </p:txBody>
          </p:sp>
        </mc:Fallback>
      </mc:AlternateContent>
    </p:spTree>
    <p:extLst>
      <p:ext uri="{BB962C8B-B14F-4D97-AF65-F5344CB8AC3E}">
        <p14:creationId xmlns:p14="http://schemas.microsoft.com/office/powerpoint/2010/main" val="2505272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32BE-5094-F38E-F006-4944A906627F}"/>
              </a:ext>
            </a:extLst>
          </p:cNvPr>
          <p:cNvSpPr>
            <a:spLocks noGrp="1"/>
          </p:cNvSpPr>
          <p:nvPr>
            <p:ph type="title"/>
          </p:nvPr>
        </p:nvSpPr>
        <p:spPr/>
        <p:txBody>
          <a:bodyPr/>
          <a:lstStyle/>
          <a:p>
            <a:r>
              <a:rPr lang="en-IN" dirty="0"/>
              <a:t>Gray Shadow</a:t>
            </a:r>
          </a:p>
        </p:txBody>
      </p:sp>
      <p:sp>
        <p:nvSpPr>
          <p:cNvPr id="3" name="Content Placeholder 2">
            <a:extLst>
              <a:ext uri="{FF2B5EF4-FFF2-40B4-BE49-F238E27FC236}">
                <a16:creationId xmlns:a16="http://schemas.microsoft.com/office/drawing/2014/main" id="{F6F028BB-26C3-2480-F28E-A9C44277DF56}"/>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CEF9B3-A068-1276-28A8-2D831CCC6EC3}"/>
                  </a:ext>
                </a:extLst>
              </p:cNvPr>
              <p:cNvSpPr txBox="1"/>
              <p:nvPr/>
            </p:nvSpPr>
            <p:spPr>
              <a:xfrm>
                <a:off x="944880" y="1635760"/>
                <a:ext cx="10037752" cy="1884298"/>
              </a:xfrm>
              <a:prstGeom prst="rect">
                <a:avLst/>
              </a:prstGeom>
              <a:noFill/>
            </p:spPr>
            <p:txBody>
              <a:bodyPr wrap="square" rtlCol="0">
                <a:spAutoFit/>
              </a:bodyPr>
              <a:lstStyle/>
              <a:p>
                <a:r>
                  <a:rPr lang="en-US" dirty="0"/>
                  <a:t>The constraints </a:t>
                </a:r>
                <a14:m>
                  <m:oMath xmlns:m="http://schemas.openxmlformats.org/officeDocument/2006/math">
                    <m:d>
                      <m:dPr>
                        <m:ctrlPr>
                          <a:rPr lang="en-US" i="1" dirty="0" smtClean="0">
                            <a:solidFill>
                              <a:schemeClr val="accent1"/>
                            </a:solidFill>
                            <a:latin typeface="Cambria Math" panose="02040503050406030204" pitchFamily="18" charset="0"/>
                          </a:rPr>
                        </m:ctrlPr>
                      </m:dPr>
                      <m:e>
                        <m:f>
                          <m:fPr>
                            <m:ctrlPr>
                              <a:rPr lang="en-US" i="1" dirty="0" smtClean="0">
                                <a:solidFill>
                                  <a:schemeClr val="accent1"/>
                                </a:solidFill>
                                <a:latin typeface="Cambria Math" panose="02040503050406030204" pitchFamily="18" charset="0"/>
                              </a:rPr>
                            </m:ctrlPr>
                          </m:fPr>
                          <m:num>
                            <m:r>
                              <a:rPr lang="en-US" i="1" dirty="0" smtClean="0">
                                <a:solidFill>
                                  <a:schemeClr val="accent1"/>
                                </a:solidFill>
                                <a:latin typeface="Cambria Math" panose="02040503050406030204" pitchFamily="18" charset="0"/>
                              </a:rPr>
                              <m:t>𝛽</m:t>
                            </m:r>
                          </m:num>
                          <m:den>
                            <m:r>
                              <a:rPr lang="en-US" i="1" dirty="0" smtClean="0">
                                <a:solidFill>
                                  <a:schemeClr val="accent1"/>
                                </a:solidFill>
                                <a:latin typeface="Cambria Math" panose="02040503050406030204" pitchFamily="18" charset="0"/>
                              </a:rPr>
                              <m:t>𝑏</m:t>
                            </m:r>
                          </m:den>
                        </m:f>
                        <m:r>
                          <a:rPr lang="en-US" i="1" dirty="0" smtClean="0">
                            <a:solidFill>
                              <a:schemeClr val="accent1"/>
                            </a:solidFill>
                            <a:latin typeface="Cambria Math" panose="02040503050406030204" pitchFamily="18" charset="0"/>
                          </a:rPr>
                          <m:t>−</m:t>
                        </m:r>
                        <m:r>
                          <a:rPr lang="en-US" i="1" dirty="0" smtClean="0">
                            <a:solidFill>
                              <a:schemeClr val="accent1"/>
                            </a:solidFill>
                            <a:latin typeface="Cambria Math" panose="02040503050406030204" pitchFamily="18" charset="0"/>
                          </a:rPr>
                          <m:t>𝑖</m:t>
                        </m:r>
                        <m:r>
                          <a:rPr lang="en-US" i="1" dirty="0" smtClean="0">
                            <a:solidFill>
                              <a:schemeClr val="accent1"/>
                            </a:solidFill>
                            <a:latin typeface="Cambria Math" panose="02040503050406030204" pitchFamily="18" charset="0"/>
                          </a:rPr>
                          <m:t>≥</m:t>
                        </m:r>
                        <m:f>
                          <m:fPr>
                            <m:ctrlPr>
                              <a:rPr lang="en-US" i="1" dirty="0" smtClean="0">
                                <a:solidFill>
                                  <a:schemeClr val="accent1"/>
                                </a:solidFill>
                                <a:latin typeface="Cambria Math" panose="02040503050406030204" pitchFamily="18" charset="0"/>
                              </a:rPr>
                            </m:ctrlPr>
                          </m:fPr>
                          <m:num>
                            <m:r>
                              <a:rPr lang="en-US" i="1" dirty="0" smtClean="0">
                                <a:solidFill>
                                  <a:schemeClr val="accent1"/>
                                </a:solidFill>
                                <a:latin typeface="Cambria Math" panose="02040503050406030204" pitchFamily="18" charset="0"/>
                              </a:rPr>
                              <m:t>1</m:t>
                            </m:r>
                          </m:num>
                          <m:den>
                            <m:r>
                              <a:rPr lang="en-US" i="1" dirty="0" smtClean="0">
                                <a:solidFill>
                                  <a:schemeClr val="accent1"/>
                                </a:solidFill>
                                <a:latin typeface="Cambria Math" panose="02040503050406030204" pitchFamily="18" charset="0"/>
                              </a:rPr>
                              <m:t>𝑏</m:t>
                            </m:r>
                          </m:den>
                        </m:f>
                      </m:e>
                    </m:d>
                  </m:oMath>
                </a14:m>
                <a:r>
                  <a:rPr lang="en-US" dirty="0"/>
                  <a:t>  and  </a:t>
                </a:r>
                <a14:m>
                  <m:oMath xmlns:m="http://schemas.openxmlformats.org/officeDocument/2006/math">
                    <m:d>
                      <m:dPr>
                        <m:ctrlPr>
                          <a:rPr lang="en-US" i="1" dirty="0" smtClean="0">
                            <a:solidFill>
                              <a:schemeClr val="accent1"/>
                            </a:solidFill>
                            <a:latin typeface="Cambria Math" panose="02040503050406030204" pitchFamily="18" charset="0"/>
                          </a:rPr>
                        </m:ctrlPr>
                      </m:dPr>
                      <m:e>
                        <m:r>
                          <a:rPr lang="en-US" i="1" dirty="0" smtClean="0">
                            <a:solidFill>
                              <a:schemeClr val="accent1"/>
                            </a:solidFill>
                            <a:latin typeface="Cambria Math" panose="02040503050406030204" pitchFamily="18" charset="0"/>
                          </a:rPr>
                          <m:t>𝑖</m:t>
                        </m:r>
                        <m:r>
                          <a:rPr lang="en-US" i="1" dirty="0" smtClean="0">
                            <a:solidFill>
                              <a:schemeClr val="accent1"/>
                            </a:solidFill>
                            <a:latin typeface="Cambria Math" panose="02040503050406030204" pitchFamily="18" charset="0"/>
                          </a:rPr>
                          <m:t>+1−</m:t>
                        </m:r>
                        <m:f>
                          <m:fPr>
                            <m:ctrlPr>
                              <a:rPr lang="en-US" i="1" dirty="0" smtClean="0">
                                <a:solidFill>
                                  <a:schemeClr val="accent1"/>
                                </a:solidFill>
                                <a:latin typeface="Cambria Math" panose="02040503050406030204" pitchFamily="18" charset="0"/>
                              </a:rPr>
                            </m:ctrlPr>
                          </m:fPr>
                          <m:num>
                            <m:r>
                              <a:rPr lang="en-US" i="1" dirty="0" smtClean="0">
                                <a:solidFill>
                                  <a:schemeClr val="accent1"/>
                                </a:solidFill>
                                <a:latin typeface="Cambria Math" panose="02040503050406030204" pitchFamily="18" charset="0"/>
                              </a:rPr>
                              <m:t>𝛾</m:t>
                            </m:r>
                          </m:num>
                          <m:den>
                            <m:r>
                              <a:rPr lang="en-US" i="1" dirty="0" smtClean="0">
                                <a:solidFill>
                                  <a:schemeClr val="accent1"/>
                                </a:solidFill>
                                <a:latin typeface="Cambria Math" panose="02040503050406030204" pitchFamily="18" charset="0"/>
                              </a:rPr>
                              <m:t>𝑐</m:t>
                            </m:r>
                          </m:den>
                        </m:f>
                        <m:r>
                          <a:rPr lang="en-US" i="1" dirty="0" smtClean="0">
                            <a:solidFill>
                              <a:schemeClr val="accent1"/>
                            </a:solidFill>
                            <a:latin typeface="Cambria Math" panose="02040503050406030204" pitchFamily="18" charset="0"/>
                          </a:rPr>
                          <m:t>≥</m:t>
                        </m:r>
                        <m:f>
                          <m:fPr>
                            <m:ctrlPr>
                              <a:rPr lang="en-US" i="1" dirty="0" smtClean="0">
                                <a:solidFill>
                                  <a:schemeClr val="accent1"/>
                                </a:solidFill>
                                <a:latin typeface="Cambria Math" panose="02040503050406030204" pitchFamily="18" charset="0"/>
                              </a:rPr>
                            </m:ctrlPr>
                          </m:fPr>
                          <m:num>
                            <m:r>
                              <a:rPr lang="en-US" i="1" dirty="0" smtClean="0">
                                <a:solidFill>
                                  <a:schemeClr val="accent1"/>
                                </a:solidFill>
                                <a:latin typeface="Cambria Math" panose="02040503050406030204" pitchFamily="18" charset="0"/>
                              </a:rPr>
                              <m:t>1</m:t>
                            </m:r>
                          </m:num>
                          <m:den>
                            <m:r>
                              <a:rPr lang="en-US" i="1" dirty="0" smtClean="0">
                                <a:solidFill>
                                  <a:schemeClr val="accent1"/>
                                </a:solidFill>
                                <a:latin typeface="Cambria Math" panose="02040503050406030204" pitchFamily="18" charset="0"/>
                              </a:rPr>
                              <m:t>𝑐</m:t>
                            </m:r>
                          </m:den>
                        </m:f>
                      </m:e>
                    </m:d>
                  </m:oMath>
                </a14:m>
                <a:r>
                  <a:rPr lang="en-US" dirty="0"/>
                  <a:t> are true when the lower and the upper limits of </a:t>
                </a:r>
                <a:r>
                  <a:rPr lang="en-US" dirty="0">
                    <a:solidFill>
                      <a:schemeClr val="accent1"/>
                    </a:solidFill>
                  </a:rPr>
                  <a:t>z</a:t>
                </a:r>
                <a:r>
                  <a:rPr lang="en-US" dirty="0"/>
                  <a:t> lies between two integers. However, these constraints may also hold if </a:t>
                </a:r>
                <a:r>
                  <a:rPr lang="en-US" dirty="0" err="1">
                    <a:solidFill>
                      <a:schemeClr val="accent1"/>
                    </a:solidFill>
                  </a:rPr>
                  <a:t>i</a:t>
                </a:r>
                <a:r>
                  <a:rPr lang="en-US" dirty="0"/>
                  <a:t> is real. If </a:t>
                </a:r>
                <a:r>
                  <a:rPr lang="en-US" dirty="0" err="1">
                    <a:solidFill>
                      <a:schemeClr val="accent1"/>
                    </a:solidFill>
                  </a:rPr>
                  <a:t>i</a:t>
                </a:r>
                <a:r>
                  <a:rPr lang="en-US" dirty="0"/>
                  <a:t> is real, then there may exist one integer solution between the lower and upper limits of </a:t>
                </a:r>
                <a:r>
                  <a:rPr lang="en-US" dirty="0">
                    <a:solidFill>
                      <a:schemeClr val="accent1"/>
                    </a:solidFill>
                  </a:rPr>
                  <a:t>z</a:t>
                </a:r>
                <a:r>
                  <a:rPr lang="en-US" dirty="0"/>
                  <a:t>. Therefore, even if we don’t find a solution using the dark shadow, an integer solution may exist in the area between the real shadow and the dark shadow, called the Gray shadow. The original constraints are unsatisfiable if no solution exists in the Gray shadow.</a:t>
                </a:r>
                <a:endParaRPr lang="en-IN" dirty="0"/>
              </a:p>
            </p:txBody>
          </p:sp>
        </mc:Choice>
        <mc:Fallback xmlns="">
          <p:sp>
            <p:nvSpPr>
              <p:cNvPr id="4" name="TextBox 3">
                <a:extLst>
                  <a:ext uri="{FF2B5EF4-FFF2-40B4-BE49-F238E27FC236}">
                    <a16:creationId xmlns:a16="http://schemas.microsoft.com/office/drawing/2014/main" id="{F9CEF9B3-A068-1276-28A8-2D831CCC6EC3}"/>
                  </a:ext>
                </a:extLst>
              </p:cNvPr>
              <p:cNvSpPr txBox="1">
                <a:spLocks noRot="1" noChangeAspect="1" noMove="1" noResize="1" noEditPoints="1" noAdjustHandles="1" noChangeArrowheads="1" noChangeShapeType="1" noTextEdit="1"/>
              </p:cNvSpPr>
              <p:nvPr/>
            </p:nvSpPr>
            <p:spPr>
              <a:xfrm>
                <a:off x="944880" y="1635760"/>
                <a:ext cx="10037752" cy="1884298"/>
              </a:xfrm>
              <a:prstGeom prst="rect">
                <a:avLst/>
              </a:prstGeom>
              <a:blipFill>
                <a:blip r:embed="rId2"/>
                <a:stretch>
                  <a:fillRect l="-486" r="-546" b="-453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C216980-5477-B7AD-A512-494DF03D418E}"/>
                  </a:ext>
                </a:extLst>
              </p:cNvPr>
              <p:cNvSpPr txBox="1"/>
              <p:nvPr/>
            </p:nvSpPr>
            <p:spPr>
              <a:xfrm>
                <a:off x="910466" y="3587466"/>
                <a:ext cx="10037752" cy="2834302"/>
              </a:xfrm>
              <a:prstGeom prst="rect">
                <a:avLst/>
              </a:prstGeom>
              <a:noFill/>
            </p:spPr>
            <p:txBody>
              <a:bodyPr wrap="square" rtlCol="0">
                <a:spAutoFit/>
              </a:bodyPr>
              <a:lstStyle/>
              <a:p>
                <a:r>
                  <a:rPr lang="en-IN" dirty="0"/>
                  <a:t>Original constraints:  </a:t>
                </a:r>
              </a:p>
              <a:p>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b="0" i="1" dirty="0" smtClean="0">
                        <a:latin typeface="Cambria Math" panose="02040503050406030204" pitchFamily="18" charset="0"/>
                      </a:rPr>
                      <m:t>𝑐𝑧</m:t>
                    </m:r>
                    <m:r>
                      <a:rPr lang="en-IN" b="0" i="1" dirty="0" smtClean="0">
                        <a:latin typeface="Cambria Math" panose="02040503050406030204" pitchFamily="18" charset="0"/>
                      </a:rPr>
                      <m:t>≤</m:t>
                    </m:r>
                    <m:r>
                      <a:rPr lang="en-IN" b="0" i="1" dirty="0" smtClean="0">
                        <a:latin typeface="Cambria Math" panose="02040503050406030204" pitchFamily="18" charset="0"/>
                      </a:rPr>
                      <m:t>𝛾</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b="0" i="1" dirty="0" smtClean="0">
                        <a:latin typeface="Cambria Math" panose="02040503050406030204" pitchFamily="18" charset="0"/>
                      </a:rPr>
                      <m:t>𝑐</m:t>
                    </m:r>
                    <m:r>
                      <a:rPr lang="en-IN" b="0" i="1" dirty="0" smtClean="0">
                        <a:latin typeface="Cambria Math" panose="02040503050406030204" pitchFamily="18" charset="0"/>
                      </a:rPr>
                      <m:t>𝛽</m:t>
                    </m:r>
                    <m:r>
                      <a:rPr lang="en-IN" b="0" i="1" dirty="0" smtClean="0">
                        <a:latin typeface="Cambria Math" panose="02040503050406030204" pitchFamily="18" charset="0"/>
                      </a:rPr>
                      <m:t>≤</m:t>
                    </m:r>
                    <m:r>
                      <a:rPr lang="en-IN" b="0" i="1" dirty="0" smtClean="0">
                        <a:latin typeface="Cambria Math" panose="02040503050406030204" pitchFamily="18" charset="0"/>
                      </a:rPr>
                      <m:t>𝑐𝑏𝑧</m:t>
                    </m:r>
                    <m:r>
                      <a:rPr lang="en-IN" b="0" i="1" dirty="0" smtClean="0">
                        <a:latin typeface="Cambria Math" panose="02040503050406030204" pitchFamily="18" charset="0"/>
                      </a:rPr>
                      <m:t>≤</m:t>
                    </m:r>
                    <m:r>
                      <a:rPr lang="en-IN" b="0" i="1" dirty="0" smtClean="0">
                        <a:latin typeface="Cambria Math" panose="02040503050406030204" pitchFamily="18" charset="0"/>
                      </a:rPr>
                      <m:t>𝑏</m:t>
                    </m:r>
                    <m:r>
                      <a:rPr lang="en-IN" b="0" i="1" dirty="0" smtClean="0">
                        <a:latin typeface="Cambria Math" panose="02040503050406030204" pitchFamily="18" charset="0"/>
                      </a:rPr>
                      <m:t>𝛾</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r>
                  <a:rPr lang="en-IN" dirty="0"/>
                  <a:t>Conditions for not inside the Gray shadow: </a:t>
                </a:r>
              </a:p>
              <a:p>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𝑐</m:t>
                    </m:r>
                    <m:r>
                      <a:rPr lang="en-IN" b="0" i="1" smtClean="0">
                        <a:latin typeface="Cambria Math" panose="02040503050406030204" pitchFamily="18" charset="0"/>
                      </a:rPr>
                      <m:t> −</m:t>
                    </m:r>
                    <m:r>
                      <a:rPr lang="en-IN" b="0" i="1" smtClean="0">
                        <a:latin typeface="Cambria Math" panose="02040503050406030204" pitchFamily="18" charset="0"/>
                      </a:rPr>
                      <m:t>𝑏</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b="0" i="1" dirty="0" smtClean="0">
                        <a:latin typeface="Cambria Math" panose="02040503050406030204" pitchFamily="18" charset="0"/>
                      </a:rPr>
                      <m:t>𝑏</m:t>
                    </m:r>
                    <m:r>
                      <a:rPr lang="en-IN" b="0" i="1" dirty="0" smtClean="0">
                        <a:latin typeface="Cambria Math" panose="02040503050406030204" pitchFamily="18" charset="0"/>
                      </a:rPr>
                      <m:t>𝛾</m:t>
                    </m:r>
                    <m:r>
                      <a:rPr lang="en-IN" b="0" i="1" dirty="0" smtClean="0">
                        <a:latin typeface="Cambria Math" panose="02040503050406030204" pitchFamily="18" charset="0"/>
                      </a:rPr>
                      <m:t>≤</m:t>
                    </m:r>
                    <m:r>
                      <a:rPr lang="en-IN" b="0" i="1" dirty="0" smtClean="0">
                        <a:latin typeface="Cambria Math" panose="02040503050406030204" pitchFamily="18" charset="0"/>
                      </a:rPr>
                      <m:t>𝑐</m:t>
                    </m:r>
                    <m:r>
                      <a:rPr lang="en-IN" b="0" i="1" dirty="0" smtClean="0">
                        <a:latin typeface="Cambria Math" panose="02040503050406030204" pitchFamily="18" charset="0"/>
                      </a:rPr>
                      <m:t>𝛽</m:t>
                    </m:r>
                    <m:r>
                      <a:rPr lang="en-IN" b="0" i="1" dirty="0" smtClean="0">
                        <a:latin typeface="Cambria Math" panose="02040503050406030204" pitchFamily="18" charset="0"/>
                      </a:rPr>
                      <m:t>+</m:t>
                    </m:r>
                    <m:r>
                      <a:rPr lang="en-IN" b="0" i="1" dirty="0" smtClean="0">
                        <a:latin typeface="Cambria Math" panose="02040503050406030204" pitchFamily="18" charset="0"/>
                      </a:rPr>
                      <m:t>𝑐𝑏</m:t>
                    </m:r>
                    <m:r>
                      <a:rPr lang="en-IN" b="0" i="1" dirty="0" smtClean="0">
                        <a:latin typeface="Cambria Math" panose="02040503050406030204" pitchFamily="18" charset="0"/>
                      </a:rPr>
                      <m:t>−</m:t>
                    </m:r>
                    <m:r>
                      <a:rPr lang="en-IN" b="0" i="1" dirty="0" smtClean="0">
                        <a:latin typeface="Cambria Math" panose="02040503050406030204" pitchFamily="18" charset="0"/>
                      </a:rPr>
                      <m:t>𝑐</m:t>
                    </m:r>
                    <m:r>
                      <a:rPr lang="en-IN" b="0" i="1" dirty="0" smtClean="0">
                        <a:latin typeface="Cambria Math" panose="02040503050406030204" pitchFamily="18" charset="0"/>
                      </a:rPr>
                      <m:t>−</m:t>
                    </m:r>
                    <m:r>
                      <a:rPr lang="en-IN" b="0" i="1" dirty="0" smtClean="0">
                        <a:latin typeface="Cambria Math" panose="02040503050406030204" pitchFamily="18" charset="0"/>
                      </a:rPr>
                      <m:t>𝑏</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𝑖𝑖</m:t>
                    </m:r>
                    <m:r>
                      <a:rPr lang="en-IN" b="0" i="1" dirty="0" smtClean="0">
                        <a:latin typeface="Cambria Math" panose="02040503050406030204" pitchFamily="18" charset="0"/>
                      </a:rPr>
                      <m:t>)</m:t>
                    </m:r>
                  </m:oMath>
                </a14:m>
                <a:endParaRPr lang="en-IN" dirty="0"/>
              </a:p>
              <a:p>
                <a:pPr>
                  <a:lnSpc>
                    <a:spcPct val="150000"/>
                  </a:lnSpc>
                </a:pPr>
                <a:r>
                  <a:rPr lang="en-IN" dirty="0"/>
                  <a:t>// The Gray shadow is the set of constraints when both (</a:t>
                </a:r>
                <a:r>
                  <a:rPr lang="en-IN" dirty="0" err="1"/>
                  <a:t>i</a:t>
                </a:r>
                <a:r>
                  <a:rPr lang="en-IN" dirty="0"/>
                  <a:t>) and (ii) hold</a:t>
                </a:r>
              </a:p>
              <a:p>
                <a:pPr>
                  <a:lnSpc>
                    <a:spcPct val="150000"/>
                  </a:lnSpc>
                </a:pPr>
                <a14:m>
                  <m:oMath xmlns:m="http://schemas.openxmlformats.org/officeDocument/2006/math">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𝑐𝑏𝑧</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oMath>
                </a14:m>
                <a:r>
                  <a:rPr lang="en-IN" dirty="0"/>
                  <a:t>           From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oMath>
                  </m:oMathPara>
                </a14:m>
                <a:endParaRPr lang="en-IN" b="0" dirty="0"/>
              </a:p>
              <a:p>
                <a:r>
                  <a:rPr lang="en-IN" dirty="0"/>
                  <a:t>The omega test tries all possible values of </a:t>
                </a:r>
                <a:r>
                  <a:rPr lang="en-IN" dirty="0" err="1"/>
                  <a:t>bz</a:t>
                </a:r>
                <a:r>
                  <a:rPr lang="en-IN" dirty="0"/>
                  <a:t> between these two bounds.</a:t>
                </a:r>
              </a:p>
            </p:txBody>
          </p:sp>
        </mc:Choice>
        <mc:Fallback xmlns="">
          <p:sp>
            <p:nvSpPr>
              <p:cNvPr id="5" name="TextBox 4">
                <a:extLst>
                  <a:ext uri="{FF2B5EF4-FFF2-40B4-BE49-F238E27FC236}">
                    <a16:creationId xmlns:a16="http://schemas.microsoft.com/office/drawing/2014/main" id="{5C216980-5477-B7AD-A512-494DF03D418E}"/>
                  </a:ext>
                </a:extLst>
              </p:cNvPr>
              <p:cNvSpPr txBox="1">
                <a:spLocks noRot="1" noChangeAspect="1" noMove="1" noResize="1" noEditPoints="1" noAdjustHandles="1" noChangeArrowheads="1" noChangeShapeType="1" noTextEdit="1"/>
              </p:cNvSpPr>
              <p:nvPr/>
            </p:nvSpPr>
            <p:spPr>
              <a:xfrm>
                <a:off x="910466" y="3587466"/>
                <a:ext cx="10037752" cy="2834302"/>
              </a:xfrm>
              <a:prstGeom prst="rect">
                <a:avLst/>
              </a:prstGeom>
              <a:blipFill>
                <a:blip r:embed="rId3"/>
                <a:stretch>
                  <a:fillRect l="-486" t="-1075" b="-2581"/>
                </a:stretch>
              </a:blipFill>
            </p:spPr>
            <p:txBody>
              <a:bodyPr/>
              <a:lstStyle/>
              <a:p>
                <a:r>
                  <a:rPr lang="en-IN">
                    <a:noFill/>
                  </a:rPr>
                  <a:t> </a:t>
                </a:r>
              </a:p>
            </p:txBody>
          </p:sp>
        </mc:Fallback>
      </mc:AlternateContent>
    </p:spTree>
    <p:extLst>
      <p:ext uri="{BB962C8B-B14F-4D97-AF65-F5344CB8AC3E}">
        <p14:creationId xmlns:p14="http://schemas.microsoft.com/office/powerpoint/2010/main" val="17474777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Example</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35852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394D7-F7DF-BBAA-82B4-9FA7538CB2DF}"/>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309B0C-1461-76E7-6599-D1F680C69534}"/>
                  </a:ext>
                </a:extLst>
              </p:cNvPr>
              <p:cNvSpPr>
                <a:spLocks noGrp="1"/>
              </p:cNvSpPr>
              <p:nvPr>
                <p:ph idx="1"/>
              </p:nvPr>
            </p:nvSpPr>
            <p:spPr/>
            <p:txBody>
              <a:bodyPr>
                <a:normAutofit fontScale="77500" lnSpcReduction="20000"/>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9</m:t>
                    </m:r>
                    <m:r>
                      <m:rPr>
                        <m:nor/>
                      </m:rPr>
                      <a:rPr lang="en-IN" dirty="0" smtClean="0"/>
                      <m:t>x</m:t>
                    </m:r>
                    <m:r>
                      <m:rPr>
                        <m:nor/>
                      </m:rPr>
                      <a:rPr lang="en-IN" dirty="0" smtClean="0"/>
                      <m:t> </m:t>
                    </m:r>
                    <m:r>
                      <a:rPr lang="en-IN" i="1" dirty="0" smtClean="0">
                        <a:latin typeface="Cambria Math" panose="02040503050406030204" pitchFamily="18" charset="0"/>
                      </a:rPr>
                      <m:t>–</m:t>
                    </m:r>
                    <m:r>
                      <m:rPr>
                        <m:nor/>
                      </m:rPr>
                      <a:rPr lang="en-IN" dirty="0" smtClean="0"/>
                      <m:t> 7</m:t>
                    </m:r>
                    <m:r>
                      <m:rPr>
                        <m:nor/>
                      </m:rPr>
                      <a:rPr lang="en-IN" b="0" i="0" dirty="0" smtClean="0"/>
                      <m:t>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2</m:t>
                      </m:r>
                      <m:r>
                        <a:rPr lang="en-IN" sz="2800" i="1" dirty="0" smtClean="0">
                          <a:latin typeface="Cambria Math" panose="02040503050406030204" pitchFamily="18" charset="0"/>
                        </a:rPr>
                        <m:t>𝑦</m:t>
                      </m:r>
                      <m:r>
                        <a:rPr lang="en-IN" sz="2800" i="1" dirty="0" smtClean="0">
                          <a:latin typeface="Cambria Math" panose="02040503050406030204" pitchFamily="18" charset="0"/>
                        </a:rPr>
                        <m:t>≤ 17 – 4</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i="1" dirty="0" smtClean="0">
                          <a:latin typeface="Cambria Math" panose="02040503050406030204" pitchFamily="18" charset="0"/>
                        </a:rPr>
                        <m:t> + 2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sz="2800" dirty="0"/>
                  <a:t>Eliminate y and check if the rest of the constraints have integer solutions.</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3</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9</m:t>
                          </m:r>
                          <m:r>
                            <a:rPr lang="en-IN" sz="2800" b="0" i="1" smtClean="0">
                              <a:latin typeface="Cambria Math" panose="02040503050406030204" pitchFamily="18" charset="0"/>
                            </a:rPr>
                            <m:t>𝑥</m:t>
                          </m:r>
                          <m:r>
                            <a:rPr lang="en-IN" sz="2800" b="0" i="1" smtClean="0">
                              <a:latin typeface="Cambria Math" panose="02040503050406030204" pitchFamily="18" charset="0"/>
                            </a:rPr>
                            <m:t>−7</m:t>
                          </m:r>
                        </m:e>
                      </m:d>
                      <m:r>
                        <a:rPr lang="en-IN" sz="2800" b="0" i="1" smtClean="0">
                          <a:latin typeface="Cambria Math" panose="02040503050406030204" pitchFamily="18" charset="0"/>
                        </a:rPr>
                        <m:t>≥2</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𝑥</m:t>
                          </m:r>
                          <m:r>
                            <a:rPr lang="en-IN" sz="2800" b="0" i="1" smtClean="0">
                              <a:latin typeface="Cambria Math" panose="02040503050406030204" pitchFamily="18" charset="0"/>
                            </a:rPr>
                            <m:t>+2</m:t>
                          </m:r>
                        </m:e>
                      </m:d>
                      <m:r>
                        <a:rPr lang="en-IN" sz="2800" b="0" i="1" smtClean="0">
                          <a:latin typeface="Cambria Math" panose="02040503050406030204" pitchFamily="18" charset="0"/>
                        </a:rPr>
                        <m:t>              </m:t>
                      </m:r>
                      <m:r>
                        <a:rPr lang="en-IN" sz="2800" b="0" i="1" smtClean="0">
                          <a:latin typeface="Cambria Math" panose="02040503050406030204" pitchFamily="18" charset="0"/>
                        </a:rPr>
                        <m:t>𝑓𝑟𝑜𝑚</m:t>
                      </m:r>
                      <m:r>
                        <a:rPr lang="en-IN" sz="2800" b="0" i="1" smtClean="0">
                          <a:latin typeface="Cambria Math" panose="02040503050406030204" pitchFamily="18" charset="0"/>
                        </a:rPr>
                        <m:t> </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 </m:t>
                      </m:r>
                      <m:r>
                        <a:rPr lang="en-IN" sz="2800" b="0" i="1" smtClean="0">
                          <a:latin typeface="Cambria Math" panose="02040503050406030204" pitchFamily="18" charset="0"/>
                        </a:rPr>
                        <m:t>𝑎𝑛𝑑</m:t>
                      </m:r>
                      <m:r>
                        <a:rPr lang="en-IN" sz="2800" b="0" i="1" smtClean="0">
                          <a:latin typeface="Cambria Math" panose="02040503050406030204" pitchFamily="18" charset="0"/>
                        </a:rPr>
                        <m:t> (</m:t>
                      </m:r>
                      <m:r>
                        <a:rPr lang="en-IN" sz="2800" b="0" i="1" smtClean="0">
                          <a:latin typeface="Cambria Math" panose="02040503050406030204" pitchFamily="18" charset="0"/>
                        </a:rPr>
                        <m:t>𝑖𝑖𝑖</m:t>
                      </m:r>
                      <m:r>
                        <a:rPr lang="en-IN" sz="2800" b="0" i="1"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≥1</m:t>
                      </m:r>
                    </m:oMath>
                  </m:oMathPara>
                </a14:m>
                <a:endParaRPr lang="en-IN" sz="2800" b="0" dirty="0"/>
              </a:p>
              <a:p>
                <a:pPr marL="0" indent="0">
                  <a:buNone/>
                </a:pPr>
                <a14:m>
                  <m:oMath xmlns:m="http://schemas.openxmlformats.org/officeDocument/2006/math">
                    <m:r>
                      <a:rPr lang="en-IN" sz="2800" b="0" i="1" smtClean="0">
                        <a:latin typeface="Cambria Math" panose="02040503050406030204" pitchFamily="18" charset="0"/>
                      </a:rPr>
                      <m:t>6</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17−4</m:t>
                        </m:r>
                        <m:r>
                          <a:rPr lang="en-IN" sz="2800" b="0" i="1" smtClean="0">
                            <a:latin typeface="Cambria Math" panose="02040503050406030204" pitchFamily="18" charset="0"/>
                          </a:rPr>
                          <m:t>𝑥</m:t>
                        </m:r>
                      </m:e>
                    </m:d>
                    <m:r>
                      <a:rPr lang="en-IN" sz="2800" b="0" i="1" smtClean="0">
                        <a:latin typeface="Cambria Math" panose="02040503050406030204" pitchFamily="18" charset="0"/>
                      </a:rPr>
                      <m:t>≥</m:t>
                    </m:r>
                    <m:r>
                      <a:rPr lang="en-IN" sz="2800" b="0" i="1" smtClean="0">
                        <a:latin typeface="Cambria Math" panose="02040503050406030204" pitchFamily="18" charset="0"/>
                      </a:rPr>
                      <m:t>𝑥</m:t>
                    </m:r>
                    <m:r>
                      <a:rPr lang="en-IN" sz="2800" b="0" i="1" smtClean="0">
                        <a:latin typeface="Cambria Math" panose="02040503050406030204" pitchFamily="18" charset="0"/>
                      </a:rPr>
                      <m:t>+2</m:t>
                    </m:r>
                  </m:oMath>
                </a14:m>
                <a:r>
                  <a:rPr lang="en-IN" sz="2800" dirty="0"/>
                  <a:t>                 from (ii) and (iii)</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≤4</m:t>
                      </m:r>
                    </m:oMath>
                  </m:oMathPara>
                </a14:m>
                <a:endParaRPr lang="en-IN" sz="2800" b="0" dirty="0"/>
              </a:p>
              <a:p>
                <a:pPr marL="0" indent="0">
                  <a:buNone/>
                </a:pPr>
                <a:r>
                  <a:rPr lang="en-IN" dirty="0"/>
                  <a:t>Thus, the rest of the formula has integer solutions.</a:t>
                </a:r>
              </a:p>
              <a:p>
                <a:r>
                  <a:rPr lang="en-IN" sz="2800" dirty="0"/>
                  <a:t>How do we know if y has integer solutions?</a:t>
                </a:r>
              </a:p>
              <a:p>
                <a:pPr lvl="1"/>
                <a:r>
                  <a:rPr lang="en-IN" dirty="0"/>
                  <a:t>Find the value of y by substituting each value of x in the range [1, 4]</a:t>
                </a:r>
              </a:p>
              <a:p>
                <a:pPr lvl="1"/>
                <a:r>
                  <a:rPr lang="en-IN" dirty="0"/>
                  <a:t>Too expensive</a:t>
                </a:r>
              </a:p>
              <a:p>
                <a:pPr marL="0" indent="0">
                  <a:buNone/>
                </a:pPr>
                <a:endParaRPr lang="en-IN" sz="280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3309B0C-1461-76E7-6599-D1F680C69534}"/>
                  </a:ext>
                </a:extLst>
              </p:cNvPr>
              <p:cNvSpPr>
                <a:spLocks noGrp="1" noRot="1" noChangeAspect="1" noMove="1" noResize="1" noEditPoints="1" noAdjustHandles="1" noChangeArrowheads="1" noChangeShapeType="1" noTextEdit="1"/>
              </p:cNvSpPr>
              <p:nvPr>
                <p:ph idx="1"/>
              </p:nvPr>
            </p:nvSpPr>
            <p:spPr>
              <a:blipFill>
                <a:blip r:embed="rId2"/>
                <a:stretch>
                  <a:fillRect l="-754" t="-840"/>
                </a:stretch>
              </a:blipFill>
            </p:spPr>
            <p:txBody>
              <a:bodyPr/>
              <a:lstStyle/>
              <a:p>
                <a:r>
                  <a:rPr lang="en-IN">
                    <a:noFill/>
                  </a:rPr>
                  <a:t> </a:t>
                </a:r>
              </a:p>
            </p:txBody>
          </p:sp>
        </mc:Fallback>
      </mc:AlternateContent>
    </p:spTree>
    <p:extLst>
      <p:ext uri="{BB962C8B-B14F-4D97-AF65-F5344CB8AC3E}">
        <p14:creationId xmlns:p14="http://schemas.microsoft.com/office/powerpoint/2010/main" val="1229664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9</m:t>
                    </m:r>
                    <m:r>
                      <m:rPr>
                        <m:nor/>
                      </m:rPr>
                      <a:rPr lang="en-IN" dirty="0" smtClean="0"/>
                      <m:t>x</m:t>
                    </m:r>
                    <m:r>
                      <m:rPr>
                        <m:nor/>
                      </m:rPr>
                      <a:rPr lang="en-IN" dirty="0" smtClean="0"/>
                      <m:t> </m:t>
                    </m:r>
                    <m:r>
                      <a:rPr lang="en-IN" i="1" dirty="0" smtClean="0">
                        <a:latin typeface="Cambria Math" panose="02040503050406030204" pitchFamily="18" charset="0"/>
                      </a:rPr>
                      <m:t>–</m:t>
                    </m:r>
                    <m:r>
                      <m:rPr>
                        <m:nor/>
                      </m:rPr>
                      <a:rPr lang="en-IN" dirty="0" smtClean="0"/>
                      <m:t> 7</m:t>
                    </m:r>
                    <m:r>
                      <m:rPr>
                        <m:nor/>
                      </m:rPr>
                      <a:rPr lang="en-IN" b="0" i="0" dirty="0" smtClean="0"/>
                      <m:t>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2</m:t>
                      </m:r>
                      <m:r>
                        <a:rPr lang="en-IN" sz="2800" i="1" dirty="0" smtClean="0">
                          <a:latin typeface="Cambria Math" panose="02040503050406030204" pitchFamily="18" charset="0"/>
                        </a:rPr>
                        <m:t>𝑦</m:t>
                      </m:r>
                      <m:r>
                        <a:rPr lang="en-IN" sz="2800" i="1" dirty="0" smtClean="0">
                          <a:latin typeface="Cambria Math" panose="02040503050406030204" pitchFamily="18" charset="0"/>
                        </a:rPr>
                        <m:t>≤ 17 – 4</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i="1" dirty="0" smtClean="0">
                          <a:latin typeface="Cambria Math" panose="02040503050406030204" pitchFamily="18" charset="0"/>
                        </a:rPr>
                        <m:t> + 2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dirty="0"/>
                  <a:t>Because the real-shadow has integer solutions, we can check whether the dark-shadow has integer solutions.</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25619826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9</m:t>
                    </m:r>
                    <m:r>
                      <m:rPr>
                        <m:nor/>
                      </m:rPr>
                      <a:rPr lang="en-IN" dirty="0" smtClean="0"/>
                      <m:t>x</m:t>
                    </m:r>
                    <m:r>
                      <m:rPr>
                        <m:nor/>
                      </m:rPr>
                      <a:rPr lang="en-IN" dirty="0" smtClean="0"/>
                      <m:t> </m:t>
                    </m:r>
                    <m:r>
                      <a:rPr lang="en-IN" i="1" dirty="0" smtClean="0">
                        <a:latin typeface="Cambria Math" panose="02040503050406030204" pitchFamily="18" charset="0"/>
                      </a:rPr>
                      <m:t>–</m:t>
                    </m:r>
                    <m:r>
                      <m:rPr>
                        <m:nor/>
                      </m:rPr>
                      <a:rPr lang="en-IN" dirty="0" smtClean="0"/>
                      <m:t> 7</m:t>
                    </m:r>
                    <m:r>
                      <m:rPr>
                        <m:nor/>
                      </m:rPr>
                      <a:rPr lang="en-IN" b="0" i="0" dirty="0" smtClean="0"/>
                      <m:t>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2</m:t>
                      </m:r>
                      <m:r>
                        <a:rPr lang="en-IN" sz="2800" i="1" dirty="0" smtClean="0">
                          <a:latin typeface="Cambria Math" panose="02040503050406030204" pitchFamily="18" charset="0"/>
                        </a:rPr>
                        <m:t>𝑦</m:t>
                      </m:r>
                      <m:r>
                        <a:rPr lang="en-IN" sz="2800" i="1" dirty="0" smtClean="0">
                          <a:latin typeface="Cambria Math" panose="02040503050406030204" pitchFamily="18" charset="0"/>
                        </a:rPr>
                        <m:t>≤ 17 – 4</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i="1" dirty="0" smtClean="0">
                          <a:latin typeface="Cambria Math" panose="02040503050406030204" pitchFamily="18" charset="0"/>
                        </a:rPr>
                        <m:t> + 2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9184850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9</m:t>
                    </m:r>
                    <m:r>
                      <m:rPr>
                        <m:nor/>
                      </m:rPr>
                      <a:rPr lang="en-IN" dirty="0" smtClean="0"/>
                      <m:t>x</m:t>
                    </m:r>
                    <m:r>
                      <m:rPr>
                        <m:nor/>
                      </m:rPr>
                      <a:rPr lang="en-IN" dirty="0" smtClean="0"/>
                      <m:t> </m:t>
                    </m:r>
                    <m:r>
                      <a:rPr lang="en-IN" i="1" dirty="0" smtClean="0">
                        <a:latin typeface="Cambria Math" panose="02040503050406030204" pitchFamily="18" charset="0"/>
                      </a:rPr>
                      <m:t>–</m:t>
                    </m:r>
                    <m:r>
                      <m:rPr>
                        <m:nor/>
                      </m:rPr>
                      <a:rPr lang="en-IN" dirty="0" smtClean="0"/>
                      <m:t> 7</m:t>
                    </m:r>
                    <m:r>
                      <m:rPr>
                        <m:nor/>
                      </m:rPr>
                      <a:rPr lang="en-IN" b="0" i="0" dirty="0" smtClean="0"/>
                      <m:t>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2</m:t>
                      </m:r>
                      <m:r>
                        <a:rPr lang="en-IN" sz="2800" i="1" dirty="0" smtClean="0">
                          <a:latin typeface="Cambria Math" panose="02040503050406030204" pitchFamily="18" charset="0"/>
                        </a:rPr>
                        <m:t>𝑦</m:t>
                      </m:r>
                      <m:r>
                        <a:rPr lang="en-IN" sz="2800" i="1" dirty="0" smtClean="0">
                          <a:latin typeface="Cambria Math" panose="02040503050406030204" pitchFamily="18" charset="0"/>
                        </a:rPr>
                        <m:t>≤ 17 – 4</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i="1" dirty="0" smtClean="0">
                          <a:latin typeface="Cambria Math" panose="02040503050406030204" pitchFamily="18" charset="0"/>
                        </a:rPr>
                        <m:t> + 2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14:m>
                  <m:oMath xmlns:m="http://schemas.openxmlformats.org/officeDocument/2006/math">
                    <m:r>
                      <a:rPr lang="en-IN" b="0" i="1" smtClean="0">
                        <a:latin typeface="Cambria Math" panose="02040503050406030204" pitchFamily="18" charset="0"/>
                      </a:rPr>
                      <m:t>12∗</m:t>
                    </m:r>
                    <m:d>
                      <m:dPr>
                        <m:ctrlPr>
                          <a:rPr lang="en-IN" b="0" i="1" smtClean="0">
                            <a:latin typeface="Cambria Math" panose="02040503050406030204" pitchFamily="18" charset="0"/>
                          </a:rPr>
                        </m:ctrlPr>
                      </m:dPr>
                      <m:e>
                        <m:r>
                          <a:rPr lang="en-IN" b="0" i="1" smtClean="0">
                            <a:latin typeface="Cambria Math" panose="02040503050406030204" pitchFamily="18" charset="0"/>
                          </a:rPr>
                          <m:t>9</m:t>
                        </m:r>
                        <m:r>
                          <a:rPr lang="en-IN" b="0" i="1" smtClean="0">
                            <a:latin typeface="Cambria Math" panose="02040503050406030204" pitchFamily="18" charset="0"/>
                          </a:rPr>
                          <m:t>𝑥</m:t>
                        </m:r>
                        <m:r>
                          <a:rPr lang="en-IN" b="0" i="1" smtClean="0">
                            <a:latin typeface="Cambria Math" panose="02040503050406030204" pitchFamily="18" charset="0"/>
                          </a:rPr>
                          <m:t>−7</m:t>
                        </m:r>
                      </m:e>
                    </m:d>
                    <m:r>
                      <a:rPr lang="en-IN" b="0" i="1" smtClean="0">
                        <a:latin typeface="Cambria Math" panose="02040503050406030204" pitchFamily="18" charset="0"/>
                      </a:rPr>
                      <m:t>−8∗</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+2</m:t>
                        </m:r>
                      </m:e>
                    </m:d>
                    <m:r>
                      <a:rPr lang="en-IN" b="0" i="1" smtClean="0">
                        <a:latin typeface="Cambria Math" panose="02040503050406030204" pitchFamily="18" charset="0"/>
                      </a:rPr>
                      <m:t>≥7∗11</m:t>
                    </m:r>
                  </m:oMath>
                </a14:m>
                <a:r>
                  <a:rPr lang="en-IN" dirty="0"/>
                  <a:t>          from (</a:t>
                </a:r>
                <a:r>
                  <a:rPr lang="en-IN" dirty="0" err="1"/>
                  <a:t>i</a:t>
                </a:r>
                <a:r>
                  <a:rPr lang="en-IN" dirty="0"/>
                  <a:t>) and (iii)</a:t>
                </a:r>
              </a:p>
              <a:p>
                <a:pPr marL="0" indent="0">
                  <a:buNone/>
                </a:pPr>
                <a14:m>
                  <m:oMath xmlns:m="http://schemas.openxmlformats.org/officeDocument/2006/math">
                    <m:r>
                      <a:rPr lang="en-IN" b="0" i="1" smtClean="0">
                        <a:latin typeface="Cambria Math" panose="02040503050406030204" pitchFamily="18" charset="0"/>
                      </a:rPr>
                      <m:t>12∗</m:t>
                    </m:r>
                    <m:d>
                      <m:dPr>
                        <m:ctrlPr>
                          <a:rPr lang="en-IN" b="0" i="1" smtClean="0">
                            <a:latin typeface="Cambria Math" panose="02040503050406030204" pitchFamily="18" charset="0"/>
                          </a:rPr>
                        </m:ctrlPr>
                      </m:dPr>
                      <m:e>
                        <m:r>
                          <a:rPr lang="en-IN" b="0" i="1" smtClean="0">
                            <a:latin typeface="Cambria Math" panose="02040503050406030204" pitchFamily="18" charset="0"/>
                          </a:rPr>
                          <m:t>17−4</m:t>
                        </m:r>
                        <m:r>
                          <a:rPr lang="en-IN" b="0" i="1" smtClean="0">
                            <a:latin typeface="Cambria Math" panose="02040503050406030204" pitchFamily="18" charset="0"/>
                          </a:rPr>
                          <m:t>𝑥</m:t>
                        </m:r>
                      </m:e>
                    </m:d>
                    <m:r>
                      <a:rPr lang="en-IN" b="0" i="1" smtClean="0">
                        <a:latin typeface="Cambria Math" panose="02040503050406030204" pitchFamily="18" charset="0"/>
                      </a:rPr>
                      <m:t>−2∗</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+2</m:t>
                        </m:r>
                      </m:e>
                    </m:d>
                    <m:r>
                      <a:rPr lang="en-IN" b="0" i="1" smtClean="0">
                        <a:latin typeface="Cambria Math" panose="02040503050406030204" pitchFamily="18" charset="0"/>
                      </a:rPr>
                      <m:t>≥1 ∗11</m:t>
                    </m:r>
                  </m:oMath>
                </a14:m>
                <a:r>
                  <a:rPr lang="en-IN" dirty="0"/>
                  <a:t>       from (ii) and (iii)</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b="-3081"/>
                </a:stretch>
              </a:blipFill>
            </p:spPr>
            <p:txBody>
              <a:bodyPr/>
              <a:lstStyle/>
              <a:p>
                <a:r>
                  <a:rPr lang="en-IN">
                    <a:noFill/>
                  </a:rPr>
                  <a:t> </a:t>
                </a:r>
              </a:p>
            </p:txBody>
          </p:sp>
        </mc:Fallback>
      </mc:AlternateContent>
    </p:spTree>
    <p:extLst>
      <p:ext uri="{BB962C8B-B14F-4D97-AF65-F5344CB8AC3E}">
        <p14:creationId xmlns:p14="http://schemas.microsoft.com/office/powerpoint/2010/main" val="1369709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lnSpcReduction="10000"/>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9</m:t>
                    </m:r>
                    <m:r>
                      <m:rPr>
                        <m:nor/>
                      </m:rPr>
                      <a:rPr lang="en-IN" dirty="0" smtClean="0"/>
                      <m:t>x</m:t>
                    </m:r>
                    <m:r>
                      <m:rPr>
                        <m:nor/>
                      </m:rPr>
                      <a:rPr lang="en-IN" dirty="0" smtClean="0"/>
                      <m:t> </m:t>
                    </m:r>
                    <m:r>
                      <a:rPr lang="en-IN" i="1" dirty="0" smtClean="0">
                        <a:latin typeface="Cambria Math" panose="02040503050406030204" pitchFamily="18" charset="0"/>
                      </a:rPr>
                      <m:t>–</m:t>
                    </m:r>
                    <m:r>
                      <m:rPr>
                        <m:nor/>
                      </m:rPr>
                      <a:rPr lang="en-IN" dirty="0" smtClean="0"/>
                      <m:t> 7</m:t>
                    </m:r>
                    <m:r>
                      <m:rPr>
                        <m:nor/>
                      </m:rPr>
                      <a:rPr lang="en-IN" b="0" i="0" dirty="0" smtClean="0"/>
                      <m:t>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2</m:t>
                      </m:r>
                      <m:r>
                        <a:rPr lang="en-IN" sz="2800" i="1" dirty="0" smtClean="0">
                          <a:latin typeface="Cambria Math" panose="02040503050406030204" pitchFamily="18" charset="0"/>
                        </a:rPr>
                        <m:t>𝑦</m:t>
                      </m:r>
                      <m:r>
                        <a:rPr lang="en-IN" sz="2800" i="1" dirty="0" smtClean="0">
                          <a:latin typeface="Cambria Math" panose="02040503050406030204" pitchFamily="18" charset="0"/>
                        </a:rPr>
                        <m:t>≤ 17 – 4</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i="1" dirty="0" smtClean="0">
                          <a:latin typeface="Cambria Math" panose="02040503050406030204" pitchFamily="18" charset="0"/>
                        </a:rPr>
                        <m:t> + 2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dirty="0"/>
              </a:p>
              <a:p>
                <a:pPr marL="0" indent="0">
                  <a:buNone/>
                </a:pPr>
                <a:endParaRPr lang="en-IN" dirty="0"/>
              </a:p>
              <a:p>
                <a:pPr marL="0" indent="0">
                  <a:buNone/>
                </a:pPr>
                <a:r>
                  <a:rPr lang="en-IN" dirty="0"/>
                  <a:t>Constraints after Dark-shadow elimination:</a:t>
                </a:r>
              </a:p>
              <a:p>
                <a:pPr marL="0" indent="0">
                  <a:buNone/>
                </a:pPr>
                <a:r>
                  <a:rPr lang="en-IN" dirty="0"/>
                  <a:t>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177</m:t>
                        </m:r>
                      </m:num>
                      <m:den>
                        <m:r>
                          <a:rPr lang="en-IN" b="0" i="1" smtClean="0">
                            <a:latin typeface="Cambria Math" panose="02040503050406030204" pitchFamily="18" charset="0"/>
                          </a:rPr>
                          <m:t>100</m:t>
                        </m:r>
                      </m:den>
                    </m:f>
                  </m:oMath>
                </a14:m>
                <a:endParaRPr lang="en-IN" b="0" dirty="0"/>
              </a:p>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189</m:t>
                        </m:r>
                      </m:num>
                      <m:den>
                        <m:r>
                          <a:rPr lang="en-IN" b="0" i="1" smtClean="0">
                            <a:latin typeface="Cambria Math" panose="02040503050406030204" pitchFamily="18" charset="0"/>
                          </a:rPr>
                          <m:t>50</m:t>
                        </m:r>
                      </m:den>
                    </m:f>
                  </m:oMath>
                </a14:m>
                <a:r>
                  <a:rPr lang="en-IN" dirty="0"/>
                  <a:t> </a:t>
                </a:r>
              </a:p>
              <a:p>
                <a:pPr marL="0" indent="0">
                  <a:buNone/>
                </a:pPr>
                <a:r>
                  <a:rPr lang="en-IN" dirty="0"/>
                  <a:t>x = 2 and x = 3 satisfy both constraints; therefore, y has an integer solution.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2616429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Example</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0663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394D7-F7DF-BBAA-82B4-9FA7538CB2DF}"/>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309B0C-1461-76E7-6599-D1F680C69534}"/>
                  </a:ext>
                </a:extLst>
              </p:cNvPr>
              <p:cNvSpPr>
                <a:spLocks noGrp="1"/>
              </p:cNvSpPr>
              <p:nvPr>
                <p:ph idx="1"/>
              </p:nvPr>
            </p:nvSpPr>
            <p:spPr/>
            <p:txBody>
              <a:bodyPr>
                <a:normAutofit fontScale="92500"/>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m:t>
                    </m:r>
                    <m:r>
                      <m:rPr>
                        <m:nor/>
                      </m:rPr>
                      <a:rPr lang="en-IN" b="0" i="0" dirty="0" smtClean="0"/>
                      <m:t>3</m:t>
                    </m:r>
                    <m:r>
                      <m:rPr>
                        <m:nor/>
                      </m:rPr>
                      <a:rPr lang="en-IN" dirty="0" smtClean="0"/>
                      <m:t>x</m:t>
                    </m:r>
                    <m:r>
                      <m:rPr>
                        <m:nor/>
                      </m:rPr>
                      <a:rPr lang="en-IN" dirty="0" smtClean="0"/>
                      <m:t> </m:t>
                    </m:r>
                    <m:r>
                      <a:rPr lang="en-IN" b="0" i="1" dirty="0" smtClean="0">
                        <a:latin typeface="Cambria Math" panose="02040503050406030204" pitchFamily="18" charset="0"/>
                      </a:rPr>
                      <m:t>+</m:t>
                    </m:r>
                    <m:r>
                      <m:rPr>
                        <m:nor/>
                      </m:rPr>
                      <a:rPr lang="en-IN" dirty="0" smtClean="0"/>
                      <m:t> </m:t>
                    </m:r>
                    <m:r>
                      <m:rPr>
                        <m:nor/>
                      </m:rPr>
                      <a:rPr lang="en-IN" b="0" i="0" dirty="0" smtClean="0"/>
                      <m:t>9          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sz="2800" i="1" dirty="0" smtClean="0">
                          <a:latin typeface="Cambria Math" panose="02040503050406030204" pitchFamily="18" charset="0"/>
                        </a:rPr>
                        <m:t>𝑦</m:t>
                      </m:r>
                      <m:r>
                        <a:rPr lang="en-IN" sz="2800" i="1" dirty="0" smtClean="0">
                          <a:latin typeface="Cambria Math" panose="02040503050406030204" pitchFamily="18" charset="0"/>
                        </a:rPr>
                        <m:t>≤ 15 –2</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 </m:t>
                      </m:r>
                      <m:r>
                        <a:rPr lang="en-IN" sz="2800" i="1" dirty="0" smtClean="0">
                          <a:latin typeface="Cambria Math" panose="02040503050406030204" pitchFamily="18" charset="0"/>
                        </a:rPr>
                        <m:t>𝑥</m:t>
                      </m:r>
                      <m:r>
                        <a:rPr lang="en-IN" sz="2800" i="1" dirty="0" smtClean="0">
                          <a:latin typeface="Cambria Math" panose="02040503050406030204" pitchFamily="18" charset="0"/>
                        </a:rPr>
                        <m:t> +17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sz="2800" dirty="0"/>
                  <a:t>Eliminate y and check if the rest of the constraints have integer solutions.</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3</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3</m:t>
                          </m:r>
                          <m:r>
                            <a:rPr lang="en-IN" sz="2800" b="0" i="1" smtClean="0">
                              <a:latin typeface="Cambria Math" panose="02040503050406030204" pitchFamily="18" charset="0"/>
                            </a:rPr>
                            <m:t>𝑥</m:t>
                          </m:r>
                          <m:r>
                            <a:rPr lang="en-IN" sz="2800" b="0" i="1" smtClean="0">
                              <a:latin typeface="Cambria Math" panose="02040503050406030204" pitchFamily="18" charset="0"/>
                            </a:rPr>
                            <m:t>+9</m:t>
                          </m:r>
                        </m:e>
                      </m:d>
                      <m:r>
                        <a:rPr lang="en-IN" sz="2800" b="0" i="1" smtClean="0">
                          <a:latin typeface="Cambria Math" panose="02040503050406030204" pitchFamily="18" charset="0"/>
                        </a:rPr>
                        <m:t>≥2</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𝑥</m:t>
                          </m:r>
                          <m:r>
                            <a:rPr lang="en-IN" sz="2800" b="0" i="1" smtClean="0">
                              <a:latin typeface="Cambria Math" panose="02040503050406030204" pitchFamily="18" charset="0"/>
                            </a:rPr>
                            <m:t>+17</m:t>
                          </m:r>
                        </m:e>
                      </m:d>
                      <m:r>
                        <a:rPr lang="en-IN" sz="2800" b="0" i="1" smtClean="0">
                          <a:latin typeface="Cambria Math" panose="02040503050406030204" pitchFamily="18" charset="0"/>
                        </a:rPr>
                        <m:t>              </m:t>
                      </m:r>
                      <m:r>
                        <a:rPr lang="en-IN" sz="2800" b="0" i="1" smtClean="0">
                          <a:latin typeface="Cambria Math" panose="02040503050406030204" pitchFamily="18" charset="0"/>
                        </a:rPr>
                        <m:t>𝑓𝑟𝑜𝑚</m:t>
                      </m:r>
                      <m:r>
                        <a:rPr lang="en-IN" sz="2800" b="0" i="1" smtClean="0">
                          <a:latin typeface="Cambria Math" panose="02040503050406030204" pitchFamily="18" charset="0"/>
                        </a:rPr>
                        <m:t> </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 </m:t>
                      </m:r>
                      <m:r>
                        <a:rPr lang="en-IN" sz="2800" b="0" i="1" smtClean="0">
                          <a:latin typeface="Cambria Math" panose="02040503050406030204" pitchFamily="18" charset="0"/>
                        </a:rPr>
                        <m:t>𝑎𝑛𝑑</m:t>
                      </m:r>
                      <m:r>
                        <a:rPr lang="en-IN" sz="2800" b="0" i="1" smtClean="0">
                          <a:latin typeface="Cambria Math" panose="02040503050406030204" pitchFamily="18" charset="0"/>
                        </a:rPr>
                        <m:t> (</m:t>
                      </m:r>
                      <m:r>
                        <a:rPr lang="en-IN" sz="2800" b="0" i="1" smtClean="0">
                          <a:latin typeface="Cambria Math" panose="02040503050406030204" pitchFamily="18" charset="0"/>
                        </a:rPr>
                        <m:t>𝑖𝑖𝑖</m:t>
                      </m:r>
                      <m:r>
                        <a:rPr lang="en-IN" sz="2800" b="0" i="1"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≥1</m:t>
                      </m:r>
                    </m:oMath>
                  </m:oMathPara>
                </a14:m>
                <a:endParaRPr lang="en-IN" sz="2800" b="0" dirty="0"/>
              </a:p>
              <a:p>
                <a:pPr marL="0" indent="0">
                  <a:buNone/>
                </a:pPr>
                <a14:m>
                  <m:oMath xmlns:m="http://schemas.openxmlformats.org/officeDocument/2006/math">
                    <m:r>
                      <a:rPr lang="en-IN" i="1">
                        <a:latin typeface="Cambria Math" panose="02040503050406030204" pitchFamily="18" charset="0"/>
                      </a:rPr>
                      <m:t>3</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15−2</m:t>
                        </m:r>
                        <m:r>
                          <a:rPr lang="en-IN" sz="2800" b="0" i="1" smtClean="0">
                            <a:latin typeface="Cambria Math" panose="02040503050406030204" pitchFamily="18" charset="0"/>
                          </a:rPr>
                          <m:t>𝑥</m:t>
                        </m:r>
                      </m:e>
                    </m:d>
                    <m:r>
                      <a:rPr lang="en-IN" sz="2800" b="0" i="1" smtClean="0">
                        <a:latin typeface="Cambria Math" panose="02040503050406030204" pitchFamily="18" charset="0"/>
                      </a:rPr>
                      <m:t>≥</m:t>
                    </m:r>
                    <m:r>
                      <a:rPr lang="en-IN" sz="2800" b="0" i="1" smtClean="0">
                        <a:latin typeface="Cambria Math" panose="02040503050406030204" pitchFamily="18" charset="0"/>
                      </a:rPr>
                      <m:t>𝑥</m:t>
                    </m:r>
                    <m:r>
                      <a:rPr lang="en-IN" sz="2800" b="0" i="1" smtClean="0">
                        <a:latin typeface="Cambria Math" panose="02040503050406030204" pitchFamily="18" charset="0"/>
                      </a:rPr>
                      <m:t>+17</m:t>
                    </m:r>
                  </m:oMath>
                </a14:m>
                <a:r>
                  <a:rPr lang="en-IN" sz="2800" dirty="0"/>
                  <a:t>                 from (ii) and (iii)</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≤4</m:t>
                      </m:r>
                    </m:oMath>
                  </m:oMathPara>
                </a14:m>
                <a:endParaRPr lang="en-IN" sz="2800" b="0" dirty="0"/>
              </a:p>
              <a:p>
                <a:pPr marL="0" indent="0">
                  <a:buNone/>
                </a:pPr>
                <a:r>
                  <a:rPr lang="en-IN" dirty="0"/>
                  <a:t>Thus, the rest of the formula has integer solutions.</a:t>
                </a:r>
                <a:endParaRPr lang="en-IN" sz="280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3309B0C-1461-76E7-6599-D1F680C69534}"/>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IN">
                    <a:noFill/>
                  </a:rPr>
                  <a:t> </a:t>
                </a:r>
              </a:p>
            </p:txBody>
          </p:sp>
        </mc:Fallback>
      </mc:AlternateContent>
    </p:spTree>
    <p:extLst>
      <p:ext uri="{BB962C8B-B14F-4D97-AF65-F5344CB8AC3E}">
        <p14:creationId xmlns:p14="http://schemas.microsoft.com/office/powerpoint/2010/main" val="4796099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m:t>8</m:t>
                    </m:r>
                    <m:r>
                      <m:rPr>
                        <m:nor/>
                      </m:rPr>
                      <a:rPr lang="en-IN" dirty="0"/>
                      <m:t>y</m:t>
                    </m:r>
                    <m:r>
                      <m:rPr>
                        <m:nor/>
                      </m:rPr>
                      <a:rPr lang="en-IN" dirty="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Because the real-shadow has integer solutions, we can check whether the dark-shadow has integer solutions.</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15167292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m:t>8</m:t>
                    </m:r>
                    <m:r>
                      <m:rPr>
                        <m:nor/>
                      </m:rPr>
                      <a:rPr lang="en-IN" dirty="0"/>
                      <m:t>y</m:t>
                    </m:r>
                    <m:r>
                      <m:rPr>
                        <m:nor/>
                      </m:rPr>
                      <a:rPr lang="en-IN" dirty="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3988288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14:m>
                  <m:oMath xmlns:m="http://schemas.openxmlformats.org/officeDocument/2006/math">
                    <m:r>
                      <a:rPr lang="en-IN" b="0" i="1" smtClean="0">
                        <a:latin typeface="Cambria Math" panose="02040503050406030204" pitchFamily="18" charset="0"/>
                      </a:rPr>
                      <m:t>12∗</m:t>
                    </m:r>
                    <m:d>
                      <m:dPr>
                        <m:ctrlPr>
                          <a:rPr lang="en-IN" b="0" i="1" smtClean="0">
                            <a:latin typeface="Cambria Math" panose="02040503050406030204" pitchFamily="18" charset="0"/>
                          </a:rPr>
                        </m:ctrlPr>
                      </m:dPr>
                      <m:e>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+9</m:t>
                        </m:r>
                      </m:e>
                    </m:d>
                    <m:r>
                      <a:rPr lang="en-IN" b="0" i="1" smtClean="0">
                        <a:latin typeface="Cambria Math" panose="02040503050406030204" pitchFamily="18" charset="0"/>
                      </a:rPr>
                      <m:t>−8∗</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+17</m:t>
                        </m:r>
                      </m:e>
                    </m:d>
                    <m:r>
                      <a:rPr lang="en-IN" b="0" i="1" smtClean="0">
                        <a:latin typeface="Cambria Math" panose="02040503050406030204" pitchFamily="18" charset="0"/>
                      </a:rPr>
                      <m:t>≥7∗11</m:t>
                    </m:r>
                  </m:oMath>
                </a14:m>
                <a:r>
                  <a:rPr lang="en-IN" dirty="0"/>
                  <a:t>          from (</a:t>
                </a:r>
                <a:r>
                  <a:rPr lang="en-IN" dirty="0" err="1"/>
                  <a:t>i</a:t>
                </a:r>
                <a:r>
                  <a:rPr lang="en-IN" dirty="0"/>
                  <a:t>) and (iii)</a:t>
                </a:r>
              </a:p>
              <a:p>
                <a:pPr marL="0" indent="0">
                  <a:buNone/>
                </a:pPr>
                <a14:m>
                  <m:oMath xmlns:m="http://schemas.openxmlformats.org/officeDocument/2006/math">
                    <m:r>
                      <a:rPr lang="en-IN" b="0" i="1" smtClean="0">
                        <a:latin typeface="Cambria Math" panose="02040503050406030204" pitchFamily="18" charset="0"/>
                      </a:rPr>
                      <m:t>12∗</m:t>
                    </m:r>
                    <m:d>
                      <m:dPr>
                        <m:ctrlPr>
                          <a:rPr lang="en-IN" b="0" i="1" smtClean="0">
                            <a:latin typeface="Cambria Math" panose="02040503050406030204" pitchFamily="18" charset="0"/>
                          </a:rPr>
                        </m:ctrlPr>
                      </m:dPr>
                      <m:e>
                        <m:r>
                          <a:rPr lang="en-IN" b="0" i="1" smtClean="0">
                            <a:latin typeface="Cambria Math" panose="02040503050406030204" pitchFamily="18" charset="0"/>
                          </a:rPr>
                          <m:t>15−2</m:t>
                        </m:r>
                        <m:r>
                          <a:rPr lang="en-IN" b="0" i="1" smtClean="0">
                            <a:latin typeface="Cambria Math" panose="02040503050406030204" pitchFamily="18" charset="0"/>
                          </a:rPr>
                          <m:t>𝑥</m:t>
                        </m:r>
                      </m:e>
                    </m:d>
                    <m:r>
                      <a:rPr lang="en-IN" b="0" i="1" smtClean="0">
                        <a:latin typeface="Cambria Math" panose="02040503050406030204" pitchFamily="18" charset="0"/>
                      </a:rPr>
                      <m:t>−4∗</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+17</m:t>
                        </m:r>
                      </m:e>
                    </m:d>
                    <m:r>
                      <a:rPr lang="en-IN" b="0" i="1" smtClean="0">
                        <a:latin typeface="Cambria Math" panose="02040503050406030204" pitchFamily="18" charset="0"/>
                      </a:rPr>
                      <m:t>≥3 ∗11</m:t>
                    </m:r>
                  </m:oMath>
                </a14:m>
                <a:r>
                  <a:rPr lang="en-IN" dirty="0"/>
                  <a:t>       from (ii) and (iii)</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b="-3081"/>
                </a:stretch>
              </a:blipFill>
            </p:spPr>
            <p:txBody>
              <a:bodyPr/>
              <a:lstStyle/>
              <a:p>
                <a:r>
                  <a:rPr lang="en-IN">
                    <a:noFill/>
                  </a:rPr>
                  <a:t> </a:t>
                </a:r>
              </a:p>
            </p:txBody>
          </p:sp>
        </mc:Fallback>
      </mc:AlternateContent>
    </p:spTree>
    <p:extLst>
      <p:ext uri="{BB962C8B-B14F-4D97-AF65-F5344CB8AC3E}">
        <p14:creationId xmlns:p14="http://schemas.microsoft.com/office/powerpoint/2010/main" val="27306152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Constraints after Dark-shadow elimination:</a:t>
                </a:r>
              </a:p>
              <a:p>
                <a:pPr marL="0" indent="0">
                  <a:buNone/>
                </a:pPr>
                <a:r>
                  <a:rPr lang="en-IN" dirty="0"/>
                  <a:t>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105</m:t>
                        </m:r>
                      </m:num>
                      <m:den>
                        <m:r>
                          <a:rPr lang="en-IN" b="0" i="1" smtClean="0">
                            <a:latin typeface="Cambria Math" panose="02040503050406030204" pitchFamily="18" charset="0"/>
                          </a:rPr>
                          <m:t>28</m:t>
                        </m:r>
                      </m:den>
                    </m:f>
                  </m:oMath>
                </a14:m>
                <a:endParaRPr lang="en-IN" b="0" dirty="0"/>
              </a:p>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79</m:t>
                        </m:r>
                      </m:num>
                      <m:den>
                        <m:r>
                          <a:rPr lang="en-IN" b="0" i="1" smtClean="0">
                            <a:latin typeface="Cambria Math" panose="02040503050406030204" pitchFamily="18" charset="0"/>
                          </a:rPr>
                          <m:t>28</m:t>
                        </m:r>
                      </m:den>
                    </m:f>
                  </m:oMath>
                </a14:m>
                <a:r>
                  <a:rPr lang="en-IN" dirty="0"/>
                  <a:t> </a:t>
                </a:r>
              </a:p>
              <a:p>
                <a:pPr marL="0" indent="0">
                  <a:buNone/>
                </a:pPr>
                <a:r>
                  <a:rPr lang="en-IN" dirty="0"/>
                  <a:t>The above constraints are unsatisfiable.</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20915441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36B2D-B5F9-29B3-962D-CE994E1DFDD0}"/>
              </a:ext>
            </a:extLst>
          </p:cNvPr>
          <p:cNvSpPr>
            <a:spLocks noGrp="1"/>
          </p:cNvSpPr>
          <p:nvPr>
            <p:ph type="title"/>
          </p:nvPr>
        </p:nvSpPr>
        <p:spPr/>
        <p:txBody>
          <a:bodyPr/>
          <a:lstStyle/>
          <a:p>
            <a:r>
              <a:rPr lang="en-IN" dirty="0"/>
              <a:t>Omega test</a:t>
            </a:r>
          </a:p>
        </p:txBody>
      </p:sp>
      <p:sp>
        <p:nvSpPr>
          <p:cNvPr id="3" name="Content Placeholder 2">
            <a:extLst>
              <a:ext uri="{FF2B5EF4-FFF2-40B4-BE49-F238E27FC236}">
                <a16:creationId xmlns:a16="http://schemas.microsoft.com/office/drawing/2014/main" id="{855D1A2A-BBB8-7968-216B-5924C892BA6D}"/>
              </a:ext>
            </a:extLst>
          </p:cNvPr>
          <p:cNvSpPr>
            <a:spLocks noGrp="1"/>
          </p:cNvSpPr>
          <p:nvPr>
            <p:ph idx="1"/>
          </p:nvPr>
        </p:nvSpPr>
        <p:spPr/>
        <p:txBody>
          <a:bodyPr/>
          <a:lstStyle/>
          <a:p>
            <a:r>
              <a:rPr lang="en-IN" dirty="0"/>
              <a:t>Even though the dark shadow doesn’t have any solution, the Gray shadow might have</a:t>
            </a:r>
          </a:p>
          <a:p>
            <a:pPr marL="0" indent="0">
              <a:buNone/>
            </a:pPr>
            <a:endParaRPr lang="en-IN" dirty="0"/>
          </a:p>
        </p:txBody>
      </p:sp>
    </p:spTree>
    <p:extLst>
      <p:ext uri="{BB962C8B-B14F-4D97-AF65-F5344CB8AC3E}">
        <p14:creationId xmlns:p14="http://schemas.microsoft.com/office/powerpoint/2010/main" val="29107860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Gray-shadow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Try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oMath>
                </a14:m>
                <a:r>
                  <a:rPr lang="en-IN" dirty="0"/>
                  <a:t> where </a:t>
                </a:r>
                <a14:m>
                  <m:oMath xmlns:m="http://schemas.openxmlformats.org/officeDocument/2006/math">
                    <m:r>
                      <a:rPr lang="en-IN">
                        <a:latin typeface="Cambria Math" panose="02040503050406030204" pitchFamily="18" charset="0"/>
                      </a:rPr>
                      <m:t>0</m:t>
                    </m:r>
                    <m:r>
                      <a:rPr lang="en-IN" b="0" i="0"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29549405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For </a:t>
                </a:r>
                <a14:m>
                  <m:oMath xmlns:m="http://schemas.openxmlformats.org/officeDocument/2006/math">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+17</m:t>
                    </m:r>
                  </m:oMath>
                </a14:m>
                <a:r>
                  <a:rPr lang="en-IN" dirty="0"/>
                  <a:t>, the possible values of c are 4 and 8. Pick the highest, i.e., 8.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r>
                      <a:rPr lang="en-IN" b="0" i="1" smtClean="0">
                        <a:latin typeface="Cambria Math" panose="02040503050406030204" pitchFamily="18" charset="0"/>
                      </a:rPr>
                      <m:t>=9</m:t>
                    </m:r>
                  </m:oMath>
                </a14:m>
                <a:endParaRPr lang="en-IN" dirty="0"/>
              </a:p>
              <a:p>
                <a:pPr marL="0" indent="0">
                  <a:buNone/>
                </a:pPr>
                <a:r>
                  <a:rPr lang="en-IN" dirty="0"/>
                  <a:t>Try </a:t>
                </a:r>
                <a14:m>
                  <m:oMath xmlns:m="http://schemas.openxmlformats.org/officeDocument/2006/math">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+17</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i="1">
                        <a:latin typeface="Cambria Math" panose="02040503050406030204" pitchFamily="18" charset="0"/>
                      </a:rPr>
                      <m:t>12</m:t>
                    </m:r>
                    <m:r>
                      <a:rPr lang="en-IN" i="1">
                        <a:latin typeface="Cambria Math" panose="02040503050406030204" pitchFamily="18" charset="0"/>
                      </a:rPr>
                      <m:t>𝑦</m:t>
                    </m:r>
                    <m:r>
                      <a:rPr lang="en-IN" i="1">
                        <a:latin typeface="Cambria Math" panose="02040503050406030204" pitchFamily="18" charset="0"/>
                      </a:rPr>
                      <m:t>=</m:t>
                    </m:r>
                    <m:r>
                      <a:rPr lang="en-IN" i="1">
                        <a:latin typeface="Cambria Math" panose="02040503050406030204" pitchFamily="18" charset="0"/>
                      </a:rPr>
                      <m:t>𝑥</m:t>
                    </m:r>
                    <m:r>
                      <a:rPr lang="en-IN" i="1">
                        <a:latin typeface="Cambria Math" panose="02040503050406030204" pitchFamily="18" charset="0"/>
                      </a:rPr>
                      <m:t>+18</m:t>
                    </m:r>
                  </m:oMath>
                </a14:m>
                <a:r>
                  <a:rPr lang="en-IN" dirty="0"/>
                  <a:t> </a:t>
                </a:r>
                <a14:m>
                  <m:oMath xmlns:m="http://schemas.openxmlformats.org/officeDocument/2006/math">
                    <m:r>
                      <a:rPr lang="en-IN" b="0" i="1" dirty="0" smtClean="0">
                        <a:latin typeface="Cambria Math" panose="02040503050406030204" pitchFamily="18" charset="0"/>
                      </a:rPr>
                      <m:t>∨</m:t>
                    </m:r>
                    <m:r>
                      <a:rPr lang="en-IN" i="1">
                        <a:latin typeface="Cambria Math" panose="02040503050406030204" pitchFamily="18" charset="0"/>
                      </a:rPr>
                      <m:t>12</m:t>
                    </m:r>
                    <m:r>
                      <a:rPr lang="en-IN" i="1">
                        <a:latin typeface="Cambria Math" panose="02040503050406030204" pitchFamily="18" charset="0"/>
                      </a:rPr>
                      <m:t>𝑦</m:t>
                    </m:r>
                    <m:r>
                      <a:rPr lang="en-IN" i="1">
                        <a:latin typeface="Cambria Math" panose="02040503050406030204" pitchFamily="18" charset="0"/>
                      </a:rPr>
                      <m:t>=</m:t>
                    </m:r>
                    <m:r>
                      <a:rPr lang="en-IN" i="1">
                        <a:latin typeface="Cambria Math" panose="02040503050406030204" pitchFamily="18" charset="0"/>
                      </a:rPr>
                      <m:t>𝑥</m:t>
                    </m:r>
                    <m:r>
                      <a:rPr lang="en-IN" i="1">
                        <a:latin typeface="Cambria Math" panose="02040503050406030204" pitchFamily="18" charset="0"/>
                      </a:rPr>
                      <m:t>+19 …∨12</m:t>
                    </m:r>
                    <m:r>
                      <a:rPr lang="en-IN" i="1">
                        <a:latin typeface="Cambria Math" panose="02040503050406030204" pitchFamily="18" charset="0"/>
                      </a:rPr>
                      <m:t>𝑦</m:t>
                    </m:r>
                    <m:r>
                      <a:rPr lang="en-IN" i="1">
                        <a:latin typeface="Cambria Math" panose="02040503050406030204" pitchFamily="18" charset="0"/>
                      </a:rPr>
                      <m:t>=</m:t>
                    </m:r>
                    <m:r>
                      <a:rPr lang="en-IN" i="1">
                        <a:latin typeface="Cambria Math" panose="02040503050406030204" pitchFamily="18" charset="0"/>
                      </a:rPr>
                      <m:t>𝑥</m:t>
                    </m:r>
                    <m:r>
                      <a:rPr lang="en-IN" i="1">
                        <a:latin typeface="Cambria Math" panose="02040503050406030204" pitchFamily="18" charset="0"/>
                      </a:rPr>
                      <m:t>+26</m:t>
                    </m:r>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53917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+17              −</m:t>
                      </m:r>
                      <m:d>
                        <m:dPr>
                          <m:ctrlPr>
                            <a:rPr lang="en-IN" i="1" dirty="0">
                              <a:latin typeface="Cambria Math" panose="02040503050406030204" pitchFamily="18" charset="0"/>
                            </a:rPr>
                          </m:ctrlPr>
                        </m:dPr>
                        <m:e>
                          <m:r>
                            <a:rPr lang="en-IN" i="1" dirty="0">
                              <a:latin typeface="Cambria Math" panose="02040503050406030204" pitchFamily="18" charset="0"/>
                            </a:rPr>
                            <m:t>𝑖𝑖𝑖</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−17</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−17</m:t>
                          </m:r>
                        </m:e>
                      </m:d>
                      <m:r>
                        <a:rPr lang="en-IN" b="0" i="1" smtClean="0">
                          <a:latin typeface="Cambria Math" panose="02040503050406030204" pitchFamily="18" charset="0"/>
                        </a:rPr>
                        <m:t>+9     →28</m:t>
                      </m:r>
                      <m:r>
                        <a:rPr lang="en-IN" b="0" i="1" smtClean="0">
                          <a:latin typeface="Cambria Math" panose="02040503050406030204" pitchFamily="18" charset="0"/>
                        </a:rPr>
                        <m:t>𝑦</m:t>
                      </m:r>
                      <m:r>
                        <a:rPr lang="en-IN" b="0" i="1" smtClean="0">
                          <a:latin typeface="Cambria Math" panose="02040503050406030204" pitchFamily="18" charset="0"/>
                        </a:rPr>
                        <m:t>≥42    →</m:t>
                      </m:r>
                      <m:r>
                        <a:rPr lang="en-IN" b="0" i="1" smtClean="0">
                          <a:latin typeface="Cambria Math" panose="02040503050406030204" pitchFamily="18" charset="0"/>
                        </a:rPr>
                        <m:t>𝑦</m:t>
                      </m:r>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≤15 −2</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−17</m:t>
                          </m:r>
                        </m:e>
                      </m:d>
                      <m:r>
                        <a:rPr lang="en-IN" b="0" i="1" smtClean="0">
                          <a:latin typeface="Cambria Math" panose="02040503050406030204" pitchFamily="18" charset="0"/>
                        </a:rPr>
                        <m:t>    →   28</m:t>
                      </m:r>
                      <m:r>
                        <a:rPr lang="en-IN" b="0" i="1" smtClean="0">
                          <a:latin typeface="Cambria Math" panose="02040503050406030204" pitchFamily="18" charset="0"/>
                        </a:rPr>
                        <m:t>𝑦</m:t>
                      </m:r>
                      <m:r>
                        <a:rPr lang="en-IN" b="0" i="1" smtClean="0">
                          <a:latin typeface="Cambria Math" panose="02040503050406030204" pitchFamily="18" charset="0"/>
                        </a:rPr>
                        <m:t>≤49    →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28320582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+18              −</m:t>
                      </m:r>
                      <m:d>
                        <m:dPr>
                          <m:ctrlPr>
                            <a:rPr lang="en-IN" i="1" dirty="0">
                              <a:latin typeface="Cambria Math" panose="02040503050406030204" pitchFamily="18" charset="0"/>
                            </a:rPr>
                          </m:ctrlPr>
                        </m:dPr>
                        <m:e>
                          <m:r>
                            <a:rPr lang="en-IN" i="1" dirty="0">
                              <a:latin typeface="Cambria Math" panose="02040503050406030204" pitchFamily="18" charset="0"/>
                            </a:rPr>
                            <m:t>𝑖𝑖𝑖</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−18</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−18</m:t>
                          </m:r>
                        </m:e>
                      </m:d>
                      <m:r>
                        <a:rPr lang="en-IN" b="0" i="1" smtClean="0">
                          <a:latin typeface="Cambria Math" panose="02040503050406030204" pitchFamily="18" charset="0"/>
                        </a:rPr>
                        <m:t>+9     →28</m:t>
                      </m:r>
                      <m:r>
                        <a:rPr lang="en-IN" b="0" i="1" smtClean="0">
                          <a:latin typeface="Cambria Math" panose="02040503050406030204" pitchFamily="18" charset="0"/>
                        </a:rPr>
                        <m:t>𝑦</m:t>
                      </m:r>
                      <m:r>
                        <a:rPr lang="en-IN" b="0" i="1" smtClean="0">
                          <a:latin typeface="Cambria Math" panose="02040503050406030204" pitchFamily="18" charset="0"/>
                        </a:rPr>
                        <m:t>≥45    →</m:t>
                      </m:r>
                      <m:r>
                        <a:rPr lang="en-IN" b="0" i="1" smtClean="0">
                          <a:latin typeface="Cambria Math" panose="02040503050406030204" pitchFamily="18" charset="0"/>
                        </a:rPr>
                        <m:t>𝑦</m:t>
                      </m:r>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≤15 −2</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−18</m:t>
                          </m:r>
                        </m:e>
                      </m:d>
                      <m:r>
                        <a:rPr lang="en-IN" b="0" i="1" smtClean="0">
                          <a:latin typeface="Cambria Math" panose="02040503050406030204" pitchFamily="18" charset="0"/>
                        </a:rPr>
                        <m:t>    →   28</m:t>
                      </m:r>
                      <m:r>
                        <a:rPr lang="en-IN" b="0" i="1" smtClean="0">
                          <a:latin typeface="Cambria Math" panose="02040503050406030204" pitchFamily="18" charset="0"/>
                        </a:rPr>
                        <m:t>𝑦</m:t>
                      </m:r>
                      <m:r>
                        <a:rPr lang="en-IN" b="0" i="1" smtClean="0">
                          <a:latin typeface="Cambria Math" panose="02040503050406030204" pitchFamily="18" charset="0"/>
                        </a:rPr>
                        <m:t>≤51    →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11502020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+19              −</m:t>
                      </m:r>
                      <m:d>
                        <m:dPr>
                          <m:ctrlPr>
                            <a:rPr lang="en-IN" i="1" dirty="0">
                              <a:latin typeface="Cambria Math" panose="02040503050406030204" pitchFamily="18" charset="0"/>
                            </a:rPr>
                          </m:ctrlPr>
                        </m:dPr>
                        <m:e>
                          <m:r>
                            <a:rPr lang="en-IN" i="1" dirty="0">
                              <a:latin typeface="Cambria Math" panose="02040503050406030204" pitchFamily="18" charset="0"/>
                            </a:rPr>
                            <m:t>𝑖𝑖𝑖</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−19</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−19</m:t>
                          </m:r>
                        </m:e>
                      </m:d>
                      <m:r>
                        <a:rPr lang="en-IN" b="0" i="1" smtClean="0">
                          <a:latin typeface="Cambria Math" panose="02040503050406030204" pitchFamily="18" charset="0"/>
                        </a:rPr>
                        <m:t>+9     →28</m:t>
                      </m:r>
                      <m:r>
                        <a:rPr lang="en-IN" b="0" i="1" smtClean="0">
                          <a:latin typeface="Cambria Math" panose="02040503050406030204" pitchFamily="18" charset="0"/>
                        </a:rPr>
                        <m:t>𝑦</m:t>
                      </m:r>
                      <m:r>
                        <a:rPr lang="en-IN" b="0" i="1" smtClean="0">
                          <a:latin typeface="Cambria Math" panose="02040503050406030204" pitchFamily="18" charset="0"/>
                        </a:rPr>
                        <m:t>≥48    →</m:t>
                      </m:r>
                      <m:r>
                        <a:rPr lang="en-IN" b="0" i="1" smtClean="0">
                          <a:latin typeface="Cambria Math" panose="02040503050406030204" pitchFamily="18" charset="0"/>
                        </a:rPr>
                        <m:t>𝑦</m:t>
                      </m:r>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≤15 −2</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−19</m:t>
                          </m:r>
                        </m:e>
                      </m:d>
                      <m:r>
                        <a:rPr lang="en-IN" b="0" i="1" smtClean="0">
                          <a:latin typeface="Cambria Math" panose="02040503050406030204" pitchFamily="18" charset="0"/>
                        </a:rPr>
                        <m:t>    →   28</m:t>
                      </m:r>
                      <m:r>
                        <a:rPr lang="en-IN" b="0" i="1" smtClean="0">
                          <a:latin typeface="Cambria Math" panose="02040503050406030204" pitchFamily="18" charset="0"/>
                        </a:rPr>
                        <m:t>𝑦</m:t>
                      </m:r>
                      <m:r>
                        <a:rPr lang="en-IN" b="0" i="1" smtClean="0">
                          <a:latin typeface="Cambria Math" panose="02040503050406030204" pitchFamily="18" charset="0"/>
                        </a:rPr>
                        <m:t>≤53    →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10668571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+20              −</m:t>
                      </m:r>
                      <m:d>
                        <m:dPr>
                          <m:ctrlPr>
                            <a:rPr lang="en-IN" i="1" dirty="0">
                              <a:latin typeface="Cambria Math" panose="02040503050406030204" pitchFamily="18" charset="0"/>
                            </a:rPr>
                          </m:ctrlPr>
                        </m:dPr>
                        <m:e>
                          <m:r>
                            <a:rPr lang="en-IN" i="1" dirty="0">
                              <a:latin typeface="Cambria Math" panose="02040503050406030204" pitchFamily="18" charset="0"/>
                            </a:rPr>
                            <m:t>𝑖𝑖𝑖</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167743"/>
                <a:ext cx="7456714" cy="2585323"/>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−20</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−20</m:t>
                          </m:r>
                        </m:e>
                      </m:d>
                      <m:r>
                        <a:rPr lang="en-IN" b="0" i="1" smtClean="0">
                          <a:latin typeface="Cambria Math" panose="02040503050406030204" pitchFamily="18" charset="0"/>
                        </a:rPr>
                        <m:t>+9     →28</m:t>
                      </m:r>
                      <m:r>
                        <a:rPr lang="en-IN" b="0" i="1" smtClean="0">
                          <a:latin typeface="Cambria Math" panose="02040503050406030204" pitchFamily="18" charset="0"/>
                        </a:rPr>
                        <m:t>𝑦</m:t>
                      </m:r>
                      <m:r>
                        <a:rPr lang="en-IN" b="0" i="1" smtClean="0">
                          <a:latin typeface="Cambria Math" panose="02040503050406030204" pitchFamily="18" charset="0"/>
                        </a:rPr>
                        <m:t>≥51    →</m:t>
                      </m:r>
                      <m:r>
                        <a:rPr lang="en-IN" b="0" i="1" smtClean="0">
                          <a:latin typeface="Cambria Math" panose="02040503050406030204" pitchFamily="18" charset="0"/>
                        </a:rPr>
                        <m:t>𝑦</m:t>
                      </m:r>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≤15 −2</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−20</m:t>
                          </m:r>
                        </m:e>
                      </m:d>
                      <m:r>
                        <a:rPr lang="en-IN" b="0" i="1" smtClean="0">
                          <a:latin typeface="Cambria Math" panose="02040503050406030204" pitchFamily="18" charset="0"/>
                        </a:rPr>
                        <m:t>    →   28</m:t>
                      </m:r>
                      <m:r>
                        <a:rPr lang="en-IN" b="0" i="1" smtClean="0">
                          <a:latin typeface="Cambria Math" panose="02040503050406030204" pitchFamily="18" charset="0"/>
                        </a:rPr>
                        <m:t>𝑦</m:t>
                      </m:r>
                      <m:r>
                        <a:rPr lang="en-IN" b="0" i="1" smtClean="0">
                          <a:latin typeface="Cambria Math" panose="02040503050406030204" pitchFamily="18" charset="0"/>
                        </a:rPr>
                        <m:t>≤55    →   </m:t>
                      </m:r>
                      <m:r>
                        <a:rPr lang="en-IN" b="0" i="1" smtClean="0">
                          <a:latin typeface="Cambria Math" panose="02040503050406030204" pitchFamily="18" charset="0"/>
                        </a:rPr>
                        <m:t>𝑦</m:t>
                      </m:r>
                      <m:r>
                        <a:rPr lang="en-IN" b="0" i="1" smtClean="0">
                          <a:latin typeface="Cambria Math" panose="02040503050406030204" pitchFamily="18" charset="0"/>
                        </a:rPr>
                        <m:t>≤1</m:t>
                      </m:r>
                    </m:oMath>
                  </m:oMathPara>
                </a14:m>
                <a:endParaRPr lang="en-IN" b="0" dirty="0"/>
              </a:p>
              <a:p>
                <a:endParaRPr lang="en-IN" dirty="0"/>
              </a:p>
              <a:p>
                <a:r>
                  <a:rPr lang="en-IN" dirty="0"/>
                  <a:t>the resulting constraints are</a:t>
                </a:r>
                <a:r>
                  <a:rPr lang="en-IN" b="0" dirty="0"/>
                  <a:t> unsatisfiable.</a:t>
                </a:r>
              </a:p>
              <a:p>
                <a:endParaRPr lang="en-IN" dirty="0"/>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167743"/>
                <a:ext cx="7456714" cy="2585323"/>
              </a:xfrm>
              <a:prstGeom prst="rect">
                <a:avLst/>
              </a:prstGeom>
              <a:blipFill>
                <a:blip r:embed="rId3"/>
                <a:stretch>
                  <a:fillRect l="-736" t="-1415"/>
                </a:stretch>
              </a:blipFill>
            </p:spPr>
            <p:txBody>
              <a:bodyPr/>
              <a:lstStyle/>
              <a:p>
                <a:r>
                  <a:rPr lang="en-IN">
                    <a:noFill/>
                  </a:rPr>
                  <a:t> </a:t>
                </a:r>
              </a:p>
            </p:txBody>
          </p:sp>
        </mc:Fallback>
      </mc:AlternateContent>
    </p:spTree>
    <p:extLst>
      <p:ext uri="{BB962C8B-B14F-4D97-AF65-F5344CB8AC3E}">
        <p14:creationId xmlns:p14="http://schemas.microsoft.com/office/powerpoint/2010/main" val="36500908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m:t>
                      </m:r>
                      <m:r>
                        <a:rPr lang="en-IN" i="1" dirty="0">
                          <a:latin typeface="Cambria Math" panose="02040503050406030204" pitchFamily="18" charset="0"/>
                        </a:rPr>
                        <m:t> </m:t>
                      </m:r>
                      <m:r>
                        <a:rPr lang="en-IN" i="1" dirty="0">
                          <a:latin typeface="Cambria Math" panose="02040503050406030204" pitchFamily="18" charset="0"/>
                        </a:rPr>
                        <m:t>𝑥</m:t>
                      </m:r>
                      <m:r>
                        <a:rPr lang="en-IN" i="1" dirty="0">
                          <a:latin typeface="Cambria Math" panose="02040503050406030204" pitchFamily="18" charset="0"/>
                        </a:rPr>
                        <m:t> +21              −</m:t>
                      </m:r>
                      <m:d>
                        <m:dPr>
                          <m:ctrlPr>
                            <a:rPr lang="en-IN" i="1" dirty="0">
                              <a:latin typeface="Cambria Math" panose="02040503050406030204" pitchFamily="18" charset="0"/>
                            </a:rPr>
                          </m:ctrlPr>
                        </m:dPr>
                        <m:e>
                          <m:r>
                            <a:rPr lang="en-IN" i="1" dirty="0">
                              <a:latin typeface="Cambria Math" panose="02040503050406030204" pitchFamily="18" charset="0"/>
                            </a:rPr>
                            <m:t>𝑖𝑖𝑖</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167743"/>
                <a:ext cx="7456714" cy="2862322"/>
              </a:xfrm>
              <a:prstGeom prst="rect">
                <a:avLst/>
              </a:prstGeom>
              <a:noFill/>
            </p:spPr>
            <p:txBody>
              <a:bodyPr wrap="square" rtlCol="0">
                <a:spAutoFit/>
              </a:bodyPr>
              <a:lstStyle/>
              <a:p>
                <a:r>
                  <a:rPr lang="en-IN" dirty="0"/>
                  <a:t>check if the above equations have integer solutions</a:t>
                </a:r>
              </a:p>
              <a:p>
                <a:r>
                  <a:rPr lang="en-IN" dirty="0" err="1"/>
                  <a:t>eq</a:t>
                </a:r>
                <a:r>
                  <a:rPr lang="en-IN" dirty="0"/>
                  <a:t> (iii) has integer solutions because the coefficient of x is one</a:t>
                </a:r>
              </a:p>
              <a:p>
                <a:endParaRPr lang="en-IN" dirty="0"/>
              </a:p>
              <a:p>
                <a:r>
                  <a:rPr lang="en-IN" dirty="0"/>
                  <a:t>eliminating x by substituting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−21</m:t>
                    </m:r>
                  </m:oMath>
                </a14:m>
                <a:r>
                  <a:rPr lang="en-IN" dirty="0"/>
                  <a:t> in </a:t>
                </a:r>
                <a:r>
                  <a:rPr lang="en-IN" dirty="0" err="1"/>
                  <a:t>eqs</a:t>
                </a:r>
                <a:r>
                  <a:rPr lang="en-IN" dirty="0"/>
                  <a:t> </a:t>
                </a:r>
                <a:r>
                  <a:rPr lang="en-IN" dirty="0" err="1"/>
                  <a:t>i</a:t>
                </a:r>
                <a:r>
                  <a:rPr lang="en-IN" dirty="0"/>
                  <a:t> and ii</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−21</m:t>
                          </m:r>
                        </m:e>
                      </m:d>
                      <m:r>
                        <a:rPr lang="en-IN" b="0" i="1" smtClean="0">
                          <a:latin typeface="Cambria Math" panose="02040503050406030204" pitchFamily="18" charset="0"/>
                        </a:rPr>
                        <m:t>     →28</m:t>
                      </m:r>
                      <m:r>
                        <a:rPr lang="en-IN" b="0" i="1" smtClean="0">
                          <a:latin typeface="Cambria Math" panose="02040503050406030204" pitchFamily="18" charset="0"/>
                        </a:rPr>
                        <m:t>𝑦</m:t>
                      </m:r>
                      <m:r>
                        <a:rPr lang="en-IN" b="0" i="1" smtClean="0">
                          <a:latin typeface="Cambria Math" panose="02040503050406030204" pitchFamily="18" charset="0"/>
                        </a:rPr>
                        <m:t>≥54    →</m:t>
                      </m:r>
                      <m:r>
                        <a:rPr lang="en-IN" b="0" i="1" smtClean="0">
                          <a:latin typeface="Cambria Math" panose="02040503050406030204" pitchFamily="18" charset="0"/>
                        </a:rPr>
                        <m:t>𝑦</m:t>
                      </m:r>
                      <m:r>
                        <a:rPr lang="en-IN" b="0" i="1" smtClean="0">
                          <a:latin typeface="Cambria Math" panose="02040503050406030204" pitchFamily="18" charset="0"/>
                        </a:rPr>
                        <m:t>≥2</m:t>
                      </m:r>
                    </m:oMath>
                  </m:oMathPara>
                </a14:m>
                <a:endParaRPr lang="en-IN" b="0"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≤15 −2</m:t>
                      </m:r>
                      <m:d>
                        <m:dPr>
                          <m:ctrlPr>
                            <a:rPr lang="en-IN" b="0" i="1" smtClean="0">
                              <a:latin typeface="Cambria Math" panose="02040503050406030204" pitchFamily="18" charset="0"/>
                            </a:rPr>
                          </m:ctrlPr>
                        </m:dPr>
                        <m:e>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−21</m:t>
                          </m:r>
                        </m:e>
                      </m:d>
                      <m:r>
                        <a:rPr lang="en-IN" b="0" i="1" smtClean="0">
                          <a:latin typeface="Cambria Math" panose="02040503050406030204" pitchFamily="18" charset="0"/>
                        </a:rPr>
                        <m:t>    →   28</m:t>
                      </m:r>
                      <m:r>
                        <a:rPr lang="en-IN" b="0" i="1" smtClean="0">
                          <a:latin typeface="Cambria Math" panose="02040503050406030204" pitchFamily="18" charset="0"/>
                        </a:rPr>
                        <m:t>𝑦</m:t>
                      </m:r>
                      <m:r>
                        <a:rPr lang="en-IN" b="0" i="1" smtClean="0">
                          <a:latin typeface="Cambria Math" panose="02040503050406030204" pitchFamily="18" charset="0"/>
                        </a:rPr>
                        <m:t>≤57    →   </m:t>
                      </m:r>
                      <m:r>
                        <a:rPr lang="en-IN" b="0" i="1" smtClean="0">
                          <a:latin typeface="Cambria Math" panose="02040503050406030204" pitchFamily="18" charset="0"/>
                        </a:rPr>
                        <m:t>𝑦</m:t>
                      </m:r>
                      <m:r>
                        <a:rPr lang="en-IN" b="0" i="1" smtClean="0">
                          <a:latin typeface="Cambria Math" panose="02040503050406030204" pitchFamily="18" charset="0"/>
                        </a:rPr>
                        <m:t>≤2</m:t>
                      </m:r>
                    </m:oMath>
                  </m:oMathPara>
                </a14:m>
                <a:endParaRPr lang="en-IN" b="0" dirty="0"/>
              </a:p>
              <a:p>
                <a:endParaRPr lang="en-IN" dirty="0"/>
              </a:p>
              <a:p>
                <a:r>
                  <a:rPr lang="en-IN" dirty="0"/>
                  <a:t>The constraints have an integer solution, i.e., y = 2.</a:t>
                </a:r>
              </a:p>
              <a:p>
                <a:r>
                  <a:rPr lang="en-IN" b="0" dirty="0"/>
                  <a:t>Therefore, y = 2, x = 3 is an integer solution.</a:t>
                </a:r>
              </a:p>
              <a:p>
                <a:endParaRPr lang="en-IN" dirty="0"/>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167743"/>
                <a:ext cx="7456714" cy="2862322"/>
              </a:xfrm>
              <a:prstGeom prst="rect">
                <a:avLst/>
              </a:prstGeom>
              <a:blipFill>
                <a:blip r:embed="rId3"/>
                <a:stretch>
                  <a:fillRect l="-736" t="-1279"/>
                </a:stretch>
              </a:blipFill>
            </p:spPr>
            <p:txBody>
              <a:bodyPr/>
              <a:lstStyle/>
              <a:p>
                <a:r>
                  <a:rPr lang="en-IN">
                    <a:noFill/>
                  </a:rPr>
                  <a:t> </a:t>
                </a:r>
              </a:p>
            </p:txBody>
          </p:sp>
        </mc:Fallback>
      </mc:AlternateContent>
    </p:spTree>
    <p:extLst>
      <p:ext uri="{BB962C8B-B14F-4D97-AF65-F5344CB8AC3E}">
        <p14:creationId xmlns:p14="http://schemas.microsoft.com/office/powerpoint/2010/main" val="42386375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Omega test</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260586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Example</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extLst>
              <p:ext uri="{D42A27DB-BD31-4B8C-83A1-F6EECF244321}">
                <p14:modId xmlns:p14="http://schemas.microsoft.com/office/powerpoint/2010/main" val="1427674223"/>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37380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394D7-F7DF-BBAA-82B4-9FA7538CB2DF}"/>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309B0C-1461-76E7-6599-D1F680C69534}"/>
                  </a:ext>
                </a:extLst>
              </p:cNvPr>
              <p:cNvSpPr>
                <a:spLocks noGrp="1"/>
              </p:cNvSpPr>
              <p:nvPr>
                <p:ph idx="1"/>
              </p:nvPr>
            </p:nvSpPr>
            <p:spPr/>
            <p:txBody>
              <a:bodyPr>
                <a:normAutofit fontScale="85000" lnSpcReduction="10000"/>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b="0" i="1" dirty="0" smtClean="0">
                        <a:latin typeface="Cambria Math" panose="02040503050406030204" pitchFamily="18" charset="0"/>
                      </a:rPr>
                      <m:t>≤</m:t>
                    </m:r>
                    <m:r>
                      <m:rPr>
                        <m:nor/>
                      </m:rPr>
                      <a:rPr lang="en-IN" dirty="0" smtClean="0"/>
                      <m:t> </m:t>
                    </m:r>
                    <m:r>
                      <m:rPr>
                        <m:nor/>
                      </m:rPr>
                      <a:rPr lang="en-IN" b="0" i="0" dirty="0" smtClean="0"/>
                      <m:t>3</m:t>
                    </m:r>
                    <m:r>
                      <m:rPr>
                        <m:nor/>
                      </m:rPr>
                      <a:rPr lang="en-IN" dirty="0" smtClean="0"/>
                      <m:t>x</m:t>
                    </m:r>
                    <m:r>
                      <m:rPr>
                        <m:nor/>
                      </m:rPr>
                      <a:rPr lang="en-IN" dirty="0" smtClean="0"/>
                      <m:t> </m:t>
                    </m:r>
                    <m:r>
                      <a:rPr lang="en-IN" b="0" i="1" dirty="0" smtClean="0">
                        <a:latin typeface="Cambria Math" panose="02040503050406030204" pitchFamily="18" charset="0"/>
                      </a:rPr>
                      <m:t>+</m:t>
                    </m:r>
                    <m:r>
                      <m:rPr>
                        <m:nor/>
                      </m:rPr>
                      <a:rPr lang="en-IN" dirty="0" smtClean="0"/>
                      <m:t> </m:t>
                    </m:r>
                    <m:r>
                      <m:rPr>
                        <m:nor/>
                      </m:rPr>
                      <a:rPr lang="en-IN" b="0" i="0" dirty="0" smtClean="0"/>
                      <m:t>9          </m:t>
                    </m:r>
                  </m:oMath>
                </a14:m>
                <a:r>
                  <a:rPr lang="en-IN" dirty="0"/>
                  <a:t>      </a:t>
                </a:r>
                <a14:m>
                  <m:oMath xmlns:m="http://schemas.openxmlformats.org/officeDocument/2006/math">
                    <m:r>
                      <a:rPr lang="en-IN" b="0" i="1" dirty="0" smtClean="0">
                        <a:latin typeface="Cambria Math" panose="02040503050406030204" pitchFamily="18" charset="0"/>
                      </a:rPr>
                      <m:t>−(</m:t>
                    </m:r>
                    <m:r>
                      <a:rPr lang="en-IN" b="0" i="1" dirty="0" smtClean="0">
                        <a:latin typeface="Cambria Math" panose="02040503050406030204" pitchFamily="18" charset="0"/>
                      </a:rPr>
                      <m:t>𝑖</m:t>
                    </m:r>
                    <m:r>
                      <a:rPr lang="en-IN" b="0" i="1" dirty="0" smtClean="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sz="2800" i="1" dirty="0" smtClean="0">
                          <a:latin typeface="Cambria Math" panose="02040503050406030204" pitchFamily="18" charset="0"/>
                        </a:rPr>
                        <m:t>𝑦</m:t>
                      </m:r>
                      <m:r>
                        <a:rPr lang="en-IN" sz="2800" i="1" dirty="0" smtClean="0">
                          <a:latin typeface="Cambria Math" panose="02040503050406030204" pitchFamily="18" charset="0"/>
                        </a:rPr>
                        <m:t>≤ 15 –2</m:t>
                      </m:r>
                      <m:r>
                        <a:rPr lang="en-IN" sz="2800" i="1" dirty="0" smtClean="0">
                          <a:latin typeface="Cambria Math" panose="02040503050406030204" pitchFamily="18" charset="0"/>
                        </a:rPr>
                        <m:t>𝑥</m:t>
                      </m:r>
                      <m:r>
                        <a:rPr lang="en-IN" sz="2800" b="0" i="1" dirty="0" smtClean="0">
                          <a:latin typeface="Cambria Math" panose="02040503050406030204" pitchFamily="18" charset="0"/>
                        </a:rPr>
                        <m:t>                −(</m:t>
                      </m:r>
                      <m:r>
                        <a:rPr lang="en-IN" sz="2800" b="0" i="1" dirty="0" smtClean="0">
                          <a:latin typeface="Cambria Math" panose="02040503050406030204" pitchFamily="18" charset="0"/>
                        </a:rPr>
                        <m:t>𝑖𝑖</m:t>
                      </m:r>
                      <m:r>
                        <a:rPr lang="en-IN" sz="2800" b="0" i="1" dirty="0"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i="1" dirty="0" smtClean="0">
                          <a:latin typeface="Cambria Math" panose="02040503050406030204" pitchFamily="18" charset="0"/>
                        </a:rPr>
                        <m:t>12</m:t>
                      </m:r>
                      <m:r>
                        <a:rPr lang="en-IN" sz="2800" i="1" dirty="0" smtClean="0">
                          <a:latin typeface="Cambria Math" panose="02040503050406030204" pitchFamily="18" charset="0"/>
                        </a:rPr>
                        <m:t>𝑦</m:t>
                      </m:r>
                      <m:r>
                        <a:rPr lang="en-IN" sz="2800" i="1" dirty="0" smtClean="0">
                          <a:latin typeface="Cambria Math" panose="02040503050406030204" pitchFamily="18" charset="0"/>
                        </a:rPr>
                        <m:t>≥2</m:t>
                      </m:r>
                      <m:r>
                        <a:rPr lang="en-IN" sz="2800" i="1" dirty="0" smtClean="0">
                          <a:latin typeface="Cambria Math" panose="02040503050406030204" pitchFamily="18" charset="0"/>
                        </a:rPr>
                        <m:t>𝑥</m:t>
                      </m:r>
                      <m:r>
                        <a:rPr lang="en-IN" sz="2800" i="1" dirty="0" smtClean="0">
                          <a:latin typeface="Cambria Math" panose="02040503050406030204" pitchFamily="18" charset="0"/>
                        </a:rPr>
                        <m:t> +17              −(</m:t>
                      </m:r>
                      <m:r>
                        <a:rPr lang="en-IN" sz="2800" b="0" i="1" dirty="0" smtClean="0">
                          <a:latin typeface="Cambria Math" panose="02040503050406030204" pitchFamily="18" charset="0"/>
                        </a:rPr>
                        <m:t>𝑖𝑖𝑖</m:t>
                      </m:r>
                      <m:r>
                        <a:rPr lang="en-IN" sz="2800" b="0" i="1" dirty="0" smtClean="0">
                          <a:latin typeface="Cambria Math" panose="02040503050406030204" pitchFamily="18" charset="0"/>
                        </a:rPr>
                        <m:t>)</m:t>
                      </m:r>
                    </m:oMath>
                  </m:oMathPara>
                </a14:m>
                <a:endParaRPr lang="en-IN" sz="2800" dirty="0"/>
              </a:p>
              <a:p>
                <a:pPr marL="0" indent="0">
                  <a:buNone/>
                </a:pPr>
                <a:endParaRPr lang="en-IN" dirty="0"/>
              </a:p>
              <a:p>
                <a:pPr marL="0" indent="0">
                  <a:buNone/>
                </a:pPr>
                <a:r>
                  <a:rPr lang="en-IN" sz="2800" dirty="0"/>
                  <a:t>Eliminate y and check if the rest of the constraints have integer solutions.</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3</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3</m:t>
                          </m:r>
                          <m:r>
                            <a:rPr lang="en-IN" sz="2800" b="0" i="1" smtClean="0">
                              <a:latin typeface="Cambria Math" panose="02040503050406030204" pitchFamily="18" charset="0"/>
                            </a:rPr>
                            <m:t>𝑥</m:t>
                          </m:r>
                          <m:r>
                            <a:rPr lang="en-IN" sz="2800" b="0" i="1" smtClean="0">
                              <a:latin typeface="Cambria Math" panose="02040503050406030204" pitchFamily="18" charset="0"/>
                            </a:rPr>
                            <m:t>+9</m:t>
                          </m:r>
                        </m:e>
                      </m:d>
                      <m:r>
                        <a:rPr lang="en-IN" sz="2800" b="0" i="1" smtClean="0">
                          <a:latin typeface="Cambria Math" panose="02040503050406030204" pitchFamily="18" charset="0"/>
                        </a:rPr>
                        <m:t>≥2</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2</m:t>
                          </m:r>
                          <m:r>
                            <a:rPr lang="en-IN" sz="2800" b="0" i="1" smtClean="0">
                              <a:latin typeface="Cambria Math" panose="02040503050406030204" pitchFamily="18" charset="0"/>
                            </a:rPr>
                            <m:t>𝑥</m:t>
                          </m:r>
                          <m:r>
                            <a:rPr lang="en-IN" sz="2800" b="0" i="1" smtClean="0">
                              <a:latin typeface="Cambria Math" panose="02040503050406030204" pitchFamily="18" charset="0"/>
                            </a:rPr>
                            <m:t>+17</m:t>
                          </m:r>
                        </m:e>
                      </m:d>
                      <m:r>
                        <a:rPr lang="en-IN" sz="2800" b="0" i="1" smtClean="0">
                          <a:latin typeface="Cambria Math" panose="02040503050406030204" pitchFamily="18" charset="0"/>
                        </a:rPr>
                        <m:t>              </m:t>
                      </m:r>
                      <m:r>
                        <a:rPr lang="en-IN" sz="2800" b="0" i="1" smtClean="0">
                          <a:latin typeface="Cambria Math" panose="02040503050406030204" pitchFamily="18" charset="0"/>
                        </a:rPr>
                        <m:t>𝑓𝑟𝑜𝑚</m:t>
                      </m:r>
                      <m:r>
                        <a:rPr lang="en-IN" sz="2800" b="0" i="1" smtClean="0">
                          <a:latin typeface="Cambria Math" panose="02040503050406030204" pitchFamily="18" charset="0"/>
                        </a:rPr>
                        <m:t> </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𝑖</m:t>
                          </m:r>
                        </m:e>
                      </m:d>
                      <m:r>
                        <a:rPr lang="en-IN" sz="2800" b="0" i="1" smtClean="0">
                          <a:latin typeface="Cambria Math" panose="02040503050406030204" pitchFamily="18" charset="0"/>
                        </a:rPr>
                        <m:t> </m:t>
                      </m:r>
                      <m:r>
                        <a:rPr lang="en-IN" sz="2800" b="0" i="1" smtClean="0">
                          <a:latin typeface="Cambria Math" panose="02040503050406030204" pitchFamily="18" charset="0"/>
                        </a:rPr>
                        <m:t>𝑎𝑛𝑑</m:t>
                      </m:r>
                      <m:r>
                        <a:rPr lang="en-IN" sz="2800" b="0" i="1" smtClean="0">
                          <a:latin typeface="Cambria Math" panose="02040503050406030204" pitchFamily="18" charset="0"/>
                        </a:rPr>
                        <m:t> (</m:t>
                      </m:r>
                      <m:r>
                        <a:rPr lang="en-IN" sz="2800" b="0" i="1" smtClean="0">
                          <a:latin typeface="Cambria Math" panose="02040503050406030204" pitchFamily="18" charset="0"/>
                        </a:rPr>
                        <m:t>𝑖𝑖𝑖</m:t>
                      </m:r>
                      <m:r>
                        <a:rPr lang="en-IN" sz="2800" b="0" i="1" smtClean="0">
                          <a:latin typeface="Cambria Math" panose="02040503050406030204" pitchFamily="18" charset="0"/>
                        </a:rPr>
                        <m:t>)</m:t>
                      </m:r>
                    </m:oMath>
                  </m:oMathPara>
                </a14:m>
                <a:endParaRPr lang="en-IN" sz="2800" dirty="0"/>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m:t>
                      </m:r>
                      <m:f>
                        <m:fPr>
                          <m:ctrlPr>
                            <a:rPr lang="en-IN" sz="2800" b="0" i="1" smtClean="0">
                              <a:latin typeface="Cambria Math" panose="02040503050406030204" pitchFamily="18" charset="0"/>
                            </a:rPr>
                          </m:ctrlPr>
                        </m:fPr>
                        <m:num>
                          <m:r>
                            <a:rPr lang="en-IN" sz="2800" b="0" i="1" smtClean="0">
                              <a:latin typeface="Cambria Math" panose="02040503050406030204" pitchFamily="18" charset="0"/>
                            </a:rPr>
                            <m:t>7</m:t>
                          </m:r>
                        </m:num>
                        <m:den>
                          <m:r>
                            <a:rPr lang="en-IN" sz="2800" b="0" i="1" smtClean="0">
                              <a:latin typeface="Cambria Math" panose="02040503050406030204" pitchFamily="18" charset="0"/>
                            </a:rPr>
                            <m:t>5</m:t>
                          </m:r>
                        </m:den>
                      </m:f>
                    </m:oMath>
                  </m:oMathPara>
                </a14:m>
                <a:endParaRPr lang="en-IN" sz="2800" b="0" dirty="0"/>
              </a:p>
              <a:p>
                <a:pPr marL="0" indent="0">
                  <a:buNone/>
                </a:pPr>
                <a14:m>
                  <m:oMath xmlns:m="http://schemas.openxmlformats.org/officeDocument/2006/math">
                    <m:r>
                      <a:rPr lang="en-IN" i="1">
                        <a:latin typeface="Cambria Math" panose="02040503050406030204" pitchFamily="18" charset="0"/>
                      </a:rPr>
                      <m:t>3</m:t>
                    </m:r>
                    <m:d>
                      <m:dPr>
                        <m:ctrlPr>
                          <a:rPr lang="en-IN" sz="2800" b="0" i="1" smtClean="0">
                            <a:latin typeface="Cambria Math" panose="02040503050406030204" pitchFamily="18" charset="0"/>
                          </a:rPr>
                        </m:ctrlPr>
                      </m:dPr>
                      <m:e>
                        <m:r>
                          <a:rPr lang="en-IN" sz="2800" b="0" i="1" smtClean="0">
                            <a:latin typeface="Cambria Math" panose="02040503050406030204" pitchFamily="18" charset="0"/>
                          </a:rPr>
                          <m:t>15−2</m:t>
                        </m:r>
                        <m:r>
                          <a:rPr lang="en-IN" sz="2800" b="0" i="1" smtClean="0">
                            <a:latin typeface="Cambria Math" panose="02040503050406030204" pitchFamily="18" charset="0"/>
                          </a:rPr>
                          <m:t>𝑥</m:t>
                        </m:r>
                      </m:e>
                    </m:d>
                    <m:r>
                      <a:rPr lang="en-IN" sz="2800" b="0" i="1" smtClean="0">
                        <a:latin typeface="Cambria Math" panose="02040503050406030204" pitchFamily="18" charset="0"/>
                      </a:rPr>
                      <m:t>≥2</m:t>
                    </m:r>
                    <m:r>
                      <a:rPr lang="en-IN" sz="2800" b="0" i="1" smtClean="0">
                        <a:latin typeface="Cambria Math" panose="02040503050406030204" pitchFamily="18" charset="0"/>
                      </a:rPr>
                      <m:t>𝑥</m:t>
                    </m:r>
                    <m:r>
                      <a:rPr lang="en-IN" sz="2800" b="0" i="1" smtClean="0">
                        <a:latin typeface="Cambria Math" panose="02040503050406030204" pitchFamily="18" charset="0"/>
                      </a:rPr>
                      <m:t>+17</m:t>
                    </m:r>
                  </m:oMath>
                </a14:m>
                <a:r>
                  <a:rPr lang="en-IN" sz="2800" dirty="0"/>
                  <a:t>                 from (ii) and (iii)</a:t>
                </a:r>
              </a:p>
              <a:p>
                <a:pPr marL="0" indent="0">
                  <a:buNone/>
                </a:pPr>
                <a14:m>
                  <m:oMathPara xmlns:m="http://schemas.openxmlformats.org/officeDocument/2006/math">
                    <m:oMathParaPr>
                      <m:jc m:val="left"/>
                    </m:oMathParaPr>
                    <m:oMath xmlns:m="http://schemas.openxmlformats.org/officeDocument/2006/math">
                      <m:r>
                        <a:rPr lang="en-IN" sz="2800" b="0" i="1" smtClean="0">
                          <a:latin typeface="Cambria Math" panose="02040503050406030204" pitchFamily="18" charset="0"/>
                        </a:rPr>
                        <m:t>𝑥</m:t>
                      </m:r>
                      <m:r>
                        <a:rPr lang="en-IN" sz="2800" b="0" i="1" smtClean="0">
                          <a:latin typeface="Cambria Math" panose="02040503050406030204" pitchFamily="18" charset="0"/>
                        </a:rPr>
                        <m:t>≤</m:t>
                      </m:r>
                      <m:f>
                        <m:fPr>
                          <m:ctrlPr>
                            <a:rPr lang="en-IN" sz="2800" b="0" i="1" smtClean="0">
                              <a:latin typeface="Cambria Math" panose="02040503050406030204" pitchFamily="18" charset="0"/>
                            </a:rPr>
                          </m:ctrlPr>
                        </m:fPr>
                        <m:num>
                          <m:r>
                            <a:rPr lang="en-IN" sz="2800" b="0" i="1" smtClean="0">
                              <a:latin typeface="Cambria Math" panose="02040503050406030204" pitchFamily="18" charset="0"/>
                            </a:rPr>
                            <m:t>28</m:t>
                          </m:r>
                        </m:num>
                        <m:den>
                          <m:r>
                            <a:rPr lang="en-IN" sz="2800" b="0" i="1" smtClean="0">
                              <a:latin typeface="Cambria Math" panose="02040503050406030204" pitchFamily="18" charset="0"/>
                            </a:rPr>
                            <m:t>8</m:t>
                          </m:r>
                        </m:den>
                      </m:f>
                    </m:oMath>
                  </m:oMathPara>
                </a14:m>
                <a:endParaRPr lang="en-IN" sz="2800" b="0" dirty="0"/>
              </a:p>
              <a:p>
                <a:pPr marL="0" indent="0">
                  <a:buNone/>
                </a:pPr>
                <a:r>
                  <a:rPr lang="en-IN" dirty="0"/>
                  <a:t>Thus, the rest of the formula has integer solutions.</a:t>
                </a:r>
                <a:endParaRPr lang="en-IN" sz="2800"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C3309B0C-1461-76E7-6599-D1F680C69534}"/>
                  </a:ext>
                </a:extLst>
              </p:cNvPr>
              <p:cNvSpPr>
                <a:spLocks noGrp="1" noRot="1" noChangeAspect="1" noMove="1" noResize="1" noEditPoints="1" noAdjustHandles="1" noChangeArrowheads="1" noChangeShapeType="1" noTextEdit="1"/>
              </p:cNvSpPr>
              <p:nvPr>
                <p:ph idx="1"/>
              </p:nvPr>
            </p:nvSpPr>
            <p:spPr>
              <a:blipFill>
                <a:blip r:embed="rId2"/>
                <a:stretch>
                  <a:fillRect l="-928" t="-420" b="-1821"/>
                </a:stretch>
              </a:blipFill>
            </p:spPr>
            <p:txBody>
              <a:bodyPr/>
              <a:lstStyle/>
              <a:p>
                <a:r>
                  <a:rPr lang="en-IN">
                    <a:noFill/>
                  </a:rPr>
                  <a:t> </a:t>
                </a:r>
              </a:p>
            </p:txBody>
          </p:sp>
        </mc:Fallback>
      </mc:AlternateContent>
    </p:spTree>
    <p:extLst>
      <p:ext uri="{BB962C8B-B14F-4D97-AF65-F5344CB8AC3E}">
        <p14:creationId xmlns:p14="http://schemas.microsoft.com/office/powerpoint/2010/main" val="665708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Because the real-shadow has integer solutions, we can check whether the dark-shadow has integer solutions.</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18244988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12959785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Dark-shadow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eliminate z using </a:t>
                </a:r>
                <a14:m>
                  <m:oMath xmlns:m="http://schemas.openxmlformats.org/officeDocument/2006/math">
                    <m:r>
                      <a:rPr lang="en-IN" b="0" i="1" smtClean="0">
                        <a:latin typeface="Cambria Math" panose="02040503050406030204" pitchFamily="18" charset="0"/>
                      </a:rPr>
                      <m:t>𝑏</m:t>
                    </m:r>
                    <m:r>
                      <a:rPr lang="en-IN" b="0" i="1" smtClean="0">
                        <a:latin typeface="Cambria Math" panose="02040503050406030204" pitchFamily="18" charset="0"/>
                      </a:rPr>
                      <m:t>𝛾</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𝑐</m:t>
                        </m:r>
                        <m:r>
                          <a:rPr lang="en-IN" b="0" i="1" smtClean="0">
                            <a:latin typeface="Cambria Math" panose="02040503050406030204" pitchFamily="18" charset="0"/>
                          </a:rPr>
                          <m:t>−1</m:t>
                        </m:r>
                      </m:e>
                    </m:d>
                    <m:d>
                      <m:dPr>
                        <m:ctrlPr>
                          <a:rPr lang="en-IN" b="0" i="1" smtClean="0">
                            <a:latin typeface="Cambria Math" panose="02040503050406030204" pitchFamily="18" charset="0"/>
                          </a:rPr>
                        </m:ctrlPr>
                      </m:dPr>
                      <m:e>
                        <m:r>
                          <a:rPr lang="en-IN" b="0" i="1" smtClean="0">
                            <a:latin typeface="Cambria Math" panose="02040503050406030204" pitchFamily="18" charset="0"/>
                          </a:rPr>
                          <m:t>𝑏</m:t>
                        </m:r>
                        <m:r>
                          <a:rPr lang="en-IN" b="0" i="1" smtClean="0">
                            <a:latin typeface="Cambria Math" panose="02040503050406030204" pitchFamily="18" charset="0"/>
                          </a:rPr>
                          <m:t>−1</m:t>
                        </m:r>
                      </m:e>
                    </m:d>
                  </m:oMath>
                </a14:m>
                <a:endParaRPr lang="en-IN" dirty="0"/>
              </a:p>
              <a:p>
                <a:pPr marL="0" indent="0">
                  <a:buNone/>
                </a:pPr>
                <a14:m>
                  <m:oMath xmlns:m="http://schemas.openxmlformats.org/officeDocument/2006/math">
                    <m:r>
                      <a:rPr lang="en-IN" b="0" i="1" smtClean="0">
                        <a:latin typeface="Cambria Math" panose="02040503050406030204" pitchFamily="18" charset="0"/>
                      </a:rPr>
                      <m:t>12∗</m:t>
                    </m:r>
                    <m:d>
                      <m:dPr>
                        <m:ctrlPr>
                          <a:rPr lang="en-IN" b="0" i="1" smtClean="0">
                            <a:latin typeface="Cambria Math" panose="02040503050406030204" pitchFamily="18" charset="0"/>
                          </a:rPr>
                        </m:ctrlPr>
                      </m:dPr>
                      <m:e>
                        <m:r>
                          <a:rPr lang="en-IN" b="0" i="1" smtClean="0">
                            <a:latin typeface="Cambria Math" panose="02040503050406030204" pitchFamily="18" charset="0"/>
                          </a:rPr>
                          <m:t>3</m:t>
                        </m:r>
                        <m:r>
                          <a:rPr lang="en-IN" b="0" i="1" smtClean="0">
                            <a:latin typeface="Cambria Math" panose="02040503050406030204" pitchFamily="18" charset="0"/>
                          </a:rPr>
                          <m:t>𝑥</m:t>
                        </m:r>
                        <m:r>
                          <a:rPr lang="en-IN" b="0" i="1" smtClean="0">
                            <a:latin typeface="Cambria Math" panose="02040503050406030204" pitchFamily="18" charset="0"/>
                          </a:rPr>
                          <m:t>+9</m:t>
                        </m:r>
                      </m:e>
                    </m:d>
                    <m:r>
                      <a:rPr lang="en-IN" b="0" i="1" smtClean="0">
                        <a:latin typeface="Cambria Math" panose="02040503050406030204" pitchFamily="18" charset="0"/>
                      </a:rPr>
                      <m:t>−8∗</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+17</m:t>
                        </m:r>
                      </m:e>
                    </m:d>
                    <m:r>
                      <a:rPr lang="en-IN" b="0" i="1" smtClean="0">
                        <a:latin typeface="Cambria Math" panose="02040503050406030204" pitchFamily="18" charset="0"/>
                      </a:rPr>
                      <m:t>≥7∗11</m:t>
                    </m:r>
                  </m:oMath>
                </a14:m>
                <a:r>
                  <a:rPr lang="en-IN" dirty="0"/>
                  <a:t>          from (</a:t>
                </a:r>
                <a:r>
                  <a:rPr lang="en-IN" dirty="0" err="1"/>
                  <a:t>i</a:t>
                </a:r>
                <a:r>
                  <a:rPr lang="en-IN" dirty="0"/>
                  <a:t>) and (iii)</a:t>
                </a:r>
              </a:p>
              <a:p>
                <a:pPr marL="0" indent="0">
                  <a:buNone/>
                </a:pPr>
                <a14:m>
                  <m:oMath xmlns:m="http://schemas.openxmlformats.org/officeDocument/2006/math">
                    <m:r>
                      <a:rPr lang="en-IN" b="0" i="1" smtClean="0">
                        <a:latin typeface="Cambria Math" panose="02040503050406030204" pitchFamily="18" charset="0"/>
                      </a:rPr>
                      <m:t>12∗</m:t>
                    </m:r>
                    <m:d>
                      <m:dPr>
                        <m:ctrlPr>
                          <a:rPr lang="en-IN" b="0" i="1" smtClean="0">
                            <a:latin typeface="Cambria Math" panose="02040503050406030204" pitchFamily="18" charset="0"/>
                          </a:rPr>
                        </m:ctrlPr>
                      </m:dPr>
                      <m:e>
                        <m:r>
                          <a:rPr lang="en-IN" b="0" i="1" smtClean="0">
                            <a:latin typeface="Cambria Math" panose="02040503050406030204" pitchFamily="18" charset="0"/>
                          </a:rPr>
                          <m:t>15−2</m:t>
                        </m:r>
                        <m:r>
                          <a:rPr lang="en-IN" b="0" i="1" smtClean="0">
                            <a:latin typeface="Cambria Math" panose="02040503050406030204" pitchFamily="18" charset="0"/>
                          </a:rPr>
                          <m:t>𝑥</m:t>
                        </m:r>
                      </m:e>
                    </m:d>
                    <m:r>
                      <a:rPr lang="en-IN" b="0" i="1" smtClean="0">
                        <a:latin typeface="Cambria Math" panose="02040503050406030204" pitchFamily="18" charset="0"/>
                      </a:rPr>
                      <m:t>−4∗</m:t>
                    </m:r>
                    <m:d>
                      <m:dPr>
                        <m:ctrlPr>
                          <a:rPr lang="en-IN" b="0" i="1" smtClean="0">
                            <a:latin typeface="Cambria Math" panose="02040503050406030204" pitchFamily="18" charset="0"/>
                          </a:rPr>
                        </m:ctrlPr>
                      </m:dPr>
                      <m:e>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+17</m:t>
                        </m:r>
                      </m:e>
                    </m:d>
                    <m:r>
                      <a:rPr lang="en-IN" b="0" i="1" smtClean="0">
                        <a:latin typeface="Cambria Math" panose="02040503050406030204" pitchFamily="18" charset="0"/>
                      </a:rPr>
                      <m:t>≥3 ∗11</m:t>
                    </m:r>
                  </m:oMath>
                </a14:m>
                <a:r>
                  <a:rPr lang="en-IN" dirty="0"/>
                  <a:t>       from (ii) and (iii)</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b="-3081"/>
                </a:stretch>
              </a:blipFill>
            </p:spPr>
            <p:txBody>
              <a:bodyPr/>
              <a:lstStyle/>
              <a:p>
                <a:r>
                  <a:rPr lang="en-IN">
                    <a:noFill/>
                  </a:rPr>
                  <a:t> </a:t>
                </a:r>
              </a:p>
            </p:txBody>
          </p:sp>
        </mc:Fallback>
      </mc:AlternateContent>
    </p:spTree>
    <p:extLst>
      <p:ext uri="{BB962C8B-B14F-4D97-AF65-F5344CB8AC3E}">
        <p14:creationId xmlns:p14="http://schemas.microsoft.com/office/powerpoint/2010/main" val="1424613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Constraints after Dark-shadow elimination:</a:t>
                </a:r>
              </a:p>
              <a:p>
                <a:pPr marL="0" indent="0">
                  <a:buNone/>
                </a:pPr>
                <a:r>
                  <a:rPr lang="en-IN" dirty="0"/>
                  <a:t>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105</m:t>
                        </m:r>
                      </m:num>
                      <m:den>
                        <m:r>
                          <a:rPr lang="en-IN" b="0" i="1" smtClean="0">
                            <a:latin typeface="Cambria Math" panose="02040503050406030204" pitchFamily="18" charset="0"/>
                          </a:rPr>
                          <m:t>20</m:t>
                        </m:r>
                      </m:den>
                    </m:f>
                  </m:oMath>
                </a14:m>
                <a:endParaRPr lang="en-IN" b="0" dirty="0"/>
              </a:p>
              <a:p>
                <a:pPr marL="0" indent="0">
                  <a:buNone/>
                </a:pP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79</m:t>
                        </m:r>
                      </m:num>
                      <m:den>
                        <m:r>
                          <a:rPr lang="en-IN" b="0" i="1" smtClean="0">
                            <a:latin typeface="Cambria Math" panose="02040503050406030204" pitchFamily="18" charset="0"/>
                          </a:rPr>
                          <m:t>32</m:t>
                        </m:r>
                      </m:den>
                    </m:f>
                  </m:oMath>
                </a14:m>
                <a:r>
                  <a:rPr lang="en-IN" dirty="0"/>
                  <a:t> </a:t>
                </a:r>
              </a:p>
              <a:p>
                <a:pPr marL="0" indent="0">
                  <a:buNone/>
                </a:pPr>
                <a:r>
                  <a:rPr lang="en-IN" dirty="0"/>
                  <a:t>The above constraints are unsatisfiable.</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500667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36B2D-B5F9-29B3-962D-CE994E1DFDD0}"/>
              </a:ext>
            </a:extLst>
          </p:cNvPr>
          <p:cNvSpPr>
            <a:spLocks noGrp="1"/>
          </p:cNvSpPr>
          <p:nvPr>
            <p:ph type="title"/>
          </p:nvPr>
        </p:nvSpPr>
        <p:spPr/>
        <p:txBody>
          <a:bodyPr/>
          <a:lstStyle/>
          <a:p>
            <a:r>
              <a:rPr lang="en-IN" dirty="0"/>
              <a:t>Omega test</a:t>
            </a:r>
          </a:p>
        </p:txBody>
      </p:sp>
      <p:sp>
        <p:nvSpPr>
          <p:cNvPr id="3" name="Content Placeholder 2">
            <a:extLst>
              <a:ext uri="{FF2B5EF4-FFF2-40B4-BE49-F238E27FC236}">
                <a16:creationId xmlns:a16="http://schemas.microsoft.com/office/drawing/2014/main" id="{855D1A2A-BBB8-7968-216B-5924C892BA6D}"/>
              </a:ext>
            </a:extLst>
          </p:cNvPr>
          <p:cNvSpPr>
            <a:spLocks noGrp="1"/>
          </p:cNvSpPr>
          <p:nvPr>
            <p:ph idx="1"/>
          </p:nvPr>
        </p:nvSpPr>
        <p:spPr/>
        <p:txBody>
          <a:bodyPr/>
          <a:lstStyle/>
          <a:p>
            <a:r>
              <a:rPr lang="en-IN" dirty="0"/>
              <a:t>Even though the dark shadow doesn’t have any solution, the Gray shadow might have</a:t>
            </a:r>
          </a:p>
          <a:p>
            <a:pPr marL="0" indent="0">
              <a:buNone/>
            </a:pPr>
            <a:endParaRPr lang="en-IN" dirty="0"/>
          </a:p>
        </p:txBody>
      </p:sp>
    </p:spTree>
    <p:extLst>
      <p:ext uri="{BB962C8B-B14F-4D97-AF65-F5344CB8AC3E}">
        <p14:creationId xmlns:p14="http://schemas.microsoft.com/office/powerpoint/2010/main" val="23838922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Gray-shadow test: </a:t>
                </a:r>
              </a:p>
              <a:p>
                <a:pPr marL="0" indent="0">
                  <a:buNone/>
                </a:pPr>
                <a:r>
                  <a:rPr lang="en-IN" dirty="0"/>
                  <a:t>For each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oMath>
                </a14:m>
                <a:r>
                  <a:rPr lang="en-IN" b="0" i="1" dirty="0">
                    <a:latin typeface="Cambria Math" panose="02040503050406030204" pitchFamily="18" charset="0"/>
                  </a:rPr>
                  <a:t> and </a:t>
                </a:r>
                <a14:m>
                  <m:oMath xmlns:m="http://schemas.openxmlformats.org/officeDocument/2006/math">
                    <m:r>
                      <a:rPr lang="en-IN" b="0" i="1" smtClean="0">
                        <a:latin typeface="Cambria Math" panose="02040503050406030204" pitchFamily="18" charset="0"/>
                      </a:rPr>
                      <m:t>𝑐𝑧</m:t>
                    </m:r>
                    <m:r>
                      <a:rPr lang="en-IN" b="0" i="1" smtClean="0">
                        <a:latin typeface="Cambria Math" panose="02040503050406030204" pitchFamily="18" charset="0"/>
                      </a:rPr>
                      <m:t>≤</m:t>
                    </m:r>
                    <m:r>
                      <a:rPr lang="en-IN" b="0" i="1" smtClean="0">
                        <a:latin typeface="Cambria Math" panose="02040503050406030204" pitchFamily="18" charset="0"/>
                      </a:rPr>
                      <m:t>𝛾</m:t>
                    </m:r>
                  </m:oMath>
                </a14:m>
                <a:endParaRPr lang="en-IN" b="0" i="1" dirty="0">
                  <a:latin typeface="Cambria Math" panose="02040503050406030204" pitchFamily="18" charset="0"/>
                </a:endParaRPr>
              </a:p>
              <a:p>
                <a:pPr marL="0" indent="0">
                  <a:buNone/>
                </a:pPr>
                <a:r>
                  <a:rPr lang="en-IN" dirty="0"/>
                  <a:t>Try </a:t>
                </a:r>
                <a14:m>
                  <m:oMath xmlns:m="http://schemas.openxmlformats.org/officeDocument/2006/math">
                    <m:r>
                      <a:rPr lang="en-IN" b="0" i="1" smtClean="0">
                        <a:latin typeface="Cambria Math" panose="02040503050406030204" pitchFamily="18" charset="0"/>
                      </a:rPr>
                      <m:t>𝑏𝑧</m:t>
                    </m:r>
                    <m:r>
                      <a:rPr lang="en-IN" b="0" i="1" smtClean="0">
                        <a:latin typeface="Cambria Math" panose="02040503050406030204" pitchFamily="18" charset="0"/>
                      </a:rPr>
                      <m:t>=</m:t>
                    </m:r>
                    <m:r>
                      <a:rPr lang="en-IN" b="0" i="1" smtClean="0">
                        <a:latin typeface="Cambria Math" panose="02040503050406030204" pitchFamily="18" charset="0"/>
                      </a:rPr>
                      <m:t>𝛽</m:t>
                    </m:r>
                    <m:r>
                      <a:rPr lang="en-IN" b="0" i="1"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oMath>
                </a14:m>
                <a:r>
                  <a:rPr lang="en-IN" dirty="0"/>
                  <a:t> where </a:t>
                </a:r>
                <a14:m>
                  <m:oMath xmlns:m="http://schemas.openxmlformats.org/officeDocument/2006/math">
                    <m:r>
                      <a:rPr lang="en-IN">
                        <a:latin typeface="Cambria Math" panose="02040503050406030204" pitchFamily="18" charset="0"/>
                      </a:rPr>
                      <m:t>0</m:t>
                    </m:r>
                    <m:r>
                      <a:rPr lang="en-IN" b="0" i="0" smtClean="0">
                        <a:latin typeface="Cambria Math" panose="02040503050406030204" pitchFamily="18" charset="0"/>
                      </a:rPr>
                      <m:t>≤</m:t>
                    </m:r>
                    <m:r>
                      <a:rPr lang="en-IN" b="0" i="1" smtClean="0">
                        <a:latin typeface="Cambria Math" panose="02040503050406030204" pitchFamily="18" charset="0"/>
                      </a:rPr>
                      <m:t>𝑖</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32795673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i="1" dirty="0">
                        <a:latin typeface="Cambria Math" panose="02040503050406030204" pitchFamily="18" charset="0"/>
                      </a:rPr>
                      <m:t>𝑖</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m:t>
                      </m:r>
                      <m:r>
                        <a:rPr lang="en-IN" i="1" dirty="0">
                          <a:latin typeface="Cambria Math" panose="02040503050406030204" pitchFamily="18" charset="0"/>
                        </a:rPr>
                        <m:t>𝑖𝑖</m:t>
                      </m:r>
                      <m:r>
                        <a:rPr lang="en-IN" i="1" dirty="0">
                          <a:latin typeface="Cambria Math" panose="02040503050406030204" pitchFamily="18" charset="0"/>
                        </a:rPr>
                        <m:t>)</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i="1" dirty="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r>
                        <a:rPr lang="en-IN" i="1" dirty="0">
                          <a:latin typeface="Cambria Math" panose="02040503050406030204" pitchFamily="18" charset="0"/>
                        </a:rPr>
                        <m:t>𝑖𝑖𝑖</m:t>
                      </m:r>
                      <m:r>
                        <a:rPr lang="en-IN" i="1" dirty="0">
                          <a:latin typeface="Cambria Math" panose="02040503050406030204" pitchFamily="18" charset="0"/>
                        </a:rPr>
                        <m:t>)</m:t>
                      </m:r>
                    </m:oMath>
                  </m:oMathPara>
                </a14:m>
                <a:endParaRPr lang="en-IN" dirty="0"/>
              </a:p>
              <a:p>
                <a:pPr marL="0" indent="0">
                  <a:buNone/>
                </a:pPr>
                <a:endParaRPr lang="en-IN" dirty="0"/>
              </a:p>
              <a:p>
                <a:pPr marL="0" indent="0">
                  <a:buNone/>
                </a:pPr>
                <a:r>
                  <a:rPr lang="en-IN" dirty="0"/>
                  <a:t>For </a:t>
                </a:r>
                <a14:m>
                  <m:oMath xmlns:m="http://schemas.openxmlformats.org/officeDocument/2006/math">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+17</m:t>
                    </m:r>
                  </m:oMath>
                </a14:m>
                <a:r>
                  <a:rPr lang="en-IN" dirty="0"/>
                  <a:t>, the possible values of c are 4 and 8. Pick the highest, i.e., 8.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𝑐𝑏</m:t>
                        </m:r>
                        <m:r>
                          <a:rPr lang="en-IN" b="0" i="1" smtClean="0">
                            <a:latin typeface="Cambria Math" panose="02040503050406030204" pitchFamily="18" charset="0"/>
                          </a:rPr>
                          <m:t> −</m:t>
                        </m:r>
                        <m:r>
                          <a:rPr lang="en-IN" b="0" i="1" smtClean="0">
                            <a:latin typeface="Cambria Math" panose="02040503050406030204" pitchFamily="18" charset="0"/>
                          </a:rPr>
                          <m:t>𝑐</m:t>
                        </m:r>
                        <m:r>
                          <a:rPr lang="en-IN" b="0" i="1" smtClean="0">
                            <a:latin typeface="Cambria Math" panose="02040503050406030204" pitchFamily="18" charset="0"/>
                          </a:rPr>
                          <m:t>−</m:t>
                        </m:r>
                        <m:r>
                          <a:rPr lang="en-IN" b="0" i="1" smtClean="0">
                            <a:latin typeface="Cambria Math" panose="02040503050406030204" pitchFamily="18" charset="0"/>
                          </a:rPr>
                          <m:t>𝑏</m:t>
                        </m:r>
                      </m:num>
                      <m:den>
                        <m:r>
                          <a:rPr lang="en-IN" b="0" i="1" smtClean="0">
                            <a:latin typeface="Cambria Math" panose="02040503050406030204" pitchFamily="18" charset="0"/>
                          </a:rPr>
                          <m:t>𝑐</m:t>
                        </m:r>
                      </m:den>
                    </m:f>
                    <m:r>
                      <a:rPr lang="en-IN" b="0" i="1" smtClean="0">
                        <a:latin typeface="Cambria Math" panose="02040503050406030204" pitchFamily="18" charset="0"/>
                      </a:rPr>
                      <m:t>=9</m:t>
                    </m:r>
                  </m:oMath>
                </a14:m>
                <a:endParaRPr lang="en-IN" dirty="0"/>
              </a:p>
              <a:p>
                <a:pPr marL="0" indent="0">
                  <a:buNone/>
                </a:pPr>
                <a:r>
                  <a:rPr lang="en-IN" dirty="0"/>
                  <a:t>Try </a:t>
                </a:r>
                <a14:m>
                  <m:oMath xmlns:m="http://schemas.openxmlformats.org/officeDocument/2006/math">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+17</m:t>
                    </m:r>
                  </m:oMath>
                </a14:m>
                <a:r>
                  <a:rPr lang="en-IN" dirty="0"/>
                  <a:t> </a:t>
                </a:r>
                <a14:m>
                  <m:oMath xmlns:m="http://schemas.openxmlformats.org/officeDocument/2006/math">
                    <m:r>
                      <a:rPr lang="en-IN" b="0" i="1" dirty="0" smtClean="0">
                        <a:latin typeface="Cambria Math" panose="02040503050406030204" pitchFamily="18" charset="0"/>
                      </a:rPr>
                      <m:t>∨</m:t>
                    </m:r>
                  </m:oMath>
                </a14:m>
                <a:r>
                  <a:rPr lang="en-IN" dirty="0"/>
                  <a:t> </a:t>
                </a:r>
                <a14:m>
                  <m:oMath xmlns:m="http://schemas.openxmlformats.org/officeDocument/2006/math">
                    <m:r>
                      <a:rPr lang="en-IN" i="1">
                        <a:latin typeface="Cambria Math" panose="02040503050406030204" pitchFamily="18" charset="0"/>
                      </a:rPr>
                      <m:t>12</m:t>
                    </m:r>
                    <m:r>
                      <a:rPr lang="en-IN" i="1">
                        <a:latin typeface="Cambria Math" panose="02040503050406030204" pitchFamily="18" charset="0"/>
                      </a:rPr>
                      <m:t>𝑦</m:t>
                    </m:r>
                    <m:r>
                      <a:rPr lang="en-IN" i="1">
                        <a:latin typeface="Cambria Math" panose="02040503050406030204" pitchFamily="18" charset="0"/>
                      </a:rPr>
                      <m:t>=2</m:t>
                    </m:r>
                    <m:r>
                      <a:rPr lang="en-IN" i="1">
                        <a:latin typeface="Cambria Math" panose="02040503050406030204" pitchFamily="18" charset="0"/>
                      </a:rPr>
                      <m:t>𝑥</m:t>
                    </m:r>
                    <m:r>
                      <a:rPr lang="en-IN" i="1">
                        <a:latin typeface="Cambria Math" panose="02040503050406030204" pitchFamily="18" charset="0"/>
                      </a:rPr>
                      <m:t>+18</m:t>
                    </m:r>
                  </m:oMath>
                </a14:m>
                <a:r>
                  <a:rPr lang="en-IN" dirty="0"/>
                  <a:t> </a:t>
                </a:r>
                <a14:m>
                  <m:oMath xmlns:m="http://schemas.openxmlformats.org/officeDocument/2006/math">
                    <m:r>
                      <a:rPr lang="en-IN" b="0" i="1" dirty="0" smtClean="0">
                        <a:latin typeface="Cambria Math" panose="02040503050406030204" pitchFamily="18" charset="0"/>
                      </a:rPr>
                      <m:t>∨</m:t>
                    </m:r>
                    <m:r>
                      <a:rPr lang="en-IN" i="1">
                        <a:latin typeface="Cambria Math" panose="02040503050406030204" pitchFamily="18" charset="0"/>
                      </a:rPr>
                      <m:t>12</m:t>
                    </m:r>
                    <m:r>
                      <a:rPr lang="en-IN" i="1">
                        <a:latin typeface="Cambria Math" panose="02040503050406030204" pitchFamily="18" charset="0"/>
                      </a:rPr>
                      <m:t>𝑦</m:t>
                    </m:r>
                    <m:r>
                      <a:rPr lang="en-IN" i="1">
                        <a:latin typeface="Cambria Math" panose="02040503050406030204" pitchFamily="18" charset="0"/>
                      </a:rPr>
                      <m:t>=2</m:t>
                    </m:r>
                    <m:r>
                      <a:rPr lang="en-IN" i="1">
                        <a:latin typeface="Cambria Math" panose="02040503050406030204" pitchFamily="18" charset="0"/>
                      </a:rPr>
                      <m:t>𝑥</m:t>
                    </m:r>
                    <m:r>
                      <a:rPr lang="en-IN" i="1">
                        <a:latin typeface="Cambria Math" panose="02040503050406030204" pitchFamily="18" charset="0"/>
                      </a:rPr>
                      <m:t>+19 …∨12</m:t>
                    </m:r>
                    <m:r>
                      <a:rPr lang="en-IN" i="1">
                        <a:latin typeface="Cambria Math" panose="02040503050406030204" pitchFamily="18" charset="0"/>
                      </a:rPr>
                      <m:t>𝑦</m:t>
                    </m:r>
                    <m:r>
                      <a:rPr lang="en-IN" i="1">
                        <a:latin typeface="Cambria Math" panose="02040503050406030204" pitchFamily="18" charset="0"/>
                      </a:rPr>
                      <m:t>=2</m:t>
                    </m:r>
                    <m:r>
                      <a:rPr lang="en-IN" i="1">
                        <a:latin typeface="Cambria Math" panose="02040503050406030204" pitchFamily="18" charset="0"/>
                      </a:rPr>
                      <m:t>𝑥</m:t>
                    </m:r>
                    <m:r>
                      <a:rPr lang="en-IN" i="1">
                        <a:latin typeface="Cambria Math" panose="02040503050406030204" pitchFamily="18" charset="0"/>
                      </a:rPr>
                      <m:t>+26</m:t>
                    </m:r>
                  </m:oMath>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IN">
                    <a:noFill/>
                  </a:rPr>
                  <a:t> </a:t>
                </a:r>
              </a:p>
            </p:txBody>
          </p:sp>
        </mc:Fallback>
      </mc:AlternateContent>
    </p:spTree>
    <p:extLst>
      <p:ext uri="{BB962C8B-B14F-4D97-AF65-F5344CB8AC3E}">
        <p14:creationId xmlns:p14="http://schemas.microsoft.com/office/powerpoint/2010/main" val="41944404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b="0" i="1" dirty="0" smtClean="0">
                        <a:latin typeface="Cambria Math" panose="02040503050406030204" pitchFamily="18" charset="0"/>
                      </a:rPr>
                      <m:t>1</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−(2)</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+17              −</m:t>
                      </m:r>
                      <m:d>
                        <m:dPr>
                          <m:ctrlPr>
                            <a:rPr lang="en-IN" i="1" dirty="0">
                              <a:latin typeface="Cambria Math" panose="02040503050406030204" pitchFamily="18" charset="0"/>
                            </a:rPr>
                          </m:ctrlPr>
                        </m:dPr>
                        <m:e>
                          <m:r>
                            <a:rPr lang="en-IN" b="0" i="1" dirty="0" smtClean="0">
                              <a:latin typeface="Cambria Math" panose="02040503050406030204" pitchFamily="18" charset="0"/>
                            </a:rPr>
                            <m:t>3</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037114"/>
                <a:ext cx="5431971" cy="3416320"/>
              </a:xfrm>
              <a:prstGeom prst="rect">
                <a:avLst/>
              </a:prstGeom>
              <a:noFill/>
            </p:spPr>
            <p:txBody>
              <a:bodyPr wrap="square" rtlCol="0">
                <a:spAutoFit/>
              </a:bodyPr>
              <a:lstStyle/>
              <a:p>
                <a:r>
                  <a:rPr lang="en-IN" dirty="0"/>
                  <a:t>check if the above equations have integer solutions</a:t>
                </a:r>
              </a:p>
              <a:p>
                <a:r>
                  <a:rPr lang="en-IN" dirty="0"/>
                  <a:t>eliminating equalities</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12</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𝑥</m:t>
                      </m:r>
                      <m:r>
                        <a:rPr lang="en-IN" b="0" i="1" smtClean="0">
                          <a:latin typeface="Cambria Math" panose="02040503050406030204" pitchFamily="18" charset="0"/>
                        </a:rPr>
                        <m:t>=17</m:t>
                      </m:r>
                    </m:oMath>
                  </m:oMathPara>
                </a14:m>
                <a:endParaRPr lang="en-IN" dirty="0"/>
              </a:p>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12 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𝑦</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3</m:t>
                          </m:r>
                        </m:e>
                      </m:d>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𝛼</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17 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3</m:t>
                          </m:r>
                        </m:e>
                      </m:d>
                    </m:oMath>
                  </m:oMathPara>
                </a14:m>
                <a:endParaRPr lang="en-IN" b="0" dirty="0"/>
              </a:p>
              <a:p>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=3</m:t>
                    </m:r>
                    <m:r>
                      <a:rPr lang="en-IN" b="0" i="1" smtClean="0">
                        <a:latin typeface="Cambria Math" panose="02040503050406030204" pitchFamily="18" charset="0"/>
                      </a:rPr>
                      <m:t>𝛼</m:t>
                    </m:r>
                    <m:r>
                      <a:rPr lang="en-IN" b="0" i="1" smtClean="0">
                        <a:latin typeface="Cambria Math" panose="02040503050406030204" pitchFamily="18" charset="0"/>
                      </a:rPr>
                      <m:t>−1</m:t>
                    </m:r>
                  </m:oMath>
                </a14:m>
                <a:r>
                  <a:rPr lang="en-IN" dirty="0"/>
                  <a:t>        - (4)</a:t>
                </a:r>
              </a:p>
              <a:p>
                <a:r>
                  <a:rPr lang="en-IN" dirty="0"/>
                  <a:t>substituting (4) in (1), (2), (3)</a:t>
                </a:r>
              </a:p>
              <a:p>
                <a14:m>
                  <m:oMath xmlns:m="http://schemas.openxmlformats.org/officeDocument/2006/math">
                    <m:r>
                      <a:rPr lang="en-IN"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≤9</m:t>
                    </m:r>
                    <m:r>
                      <a:rPr lang="en-IN" b="0" i="1" smtClean="0">
                        <a:latin typeface="Cambria Math" panose="02040503050406030204" pitchFamily="18" charset="0"/>
                      </a:rPr>
                      <m:t>𝛼</m:t>
                    </m:r>
                    <m:r>
                      <a:rPr lang="en-IN" b="0" i="1" smtClean="0">
                        <a:latin typeface="Cambria Math" panose="02040503050406030204" pitchFamily="18" charset="0"/>
                      </a:rPr>
                      <m:t>+6</m:t>
                    </m:r>
                  </m:oMath>
                </a14:m>
                <a:r>
                  <a:rPr lang="en-IN" b="0" dirty="0"/>
                  <a:t>              - (5)</a:t>
                </a:r>
              </a:p>
              <a:p>
                <a14:m>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≤17−6</m:t>
                    </m:r>
                    <m:r>
                      <a:rPr lang="en-IN" b="0" i="1" smtClean="0">
                        <a:latin typeface="Cambria Math" panose="02040503050406030204" pitchFamily="18" charset="0"/>
                      </a:rPr>
                      <m:t>𝛼</m:t>
                    </m:r>
                  </m:oMath>
                </a14:m>
                <a:r>
                  <a:rPr lang="en-IN" dirty="0"/>
                  <a:t>            - (6)</a:t>
                </a:r>
              </a:p>
              <a:p>
                <a14:m>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𝛼</m:t>
                    </m:r>
                    <m:r>
                      <a:rPr lang="en-IN" b="0" i="1" smtClean="0">
                        <a:latin typeface="Cambria Math" panose="02040503050406030204" pitchFamily="18" charset="0"/>
                      </a:rPr>
                      <m:t>=5</m:t>
                    </m:r>
                  </m:oMath>
                </a14:m>
                <a:r>
                  <a:rPr lang="en-IN" dirty="0"/>
                  <a:t>              - (7)</a:t>
                </a:r>
              </a:p>
              <a:p>
                <a:r>
                  <a:rPr lang="en-IN" dirty="0"/>
                  <a:t>eliminating equalities</a:t>
                </a:r>
                <a:endParaRPr lang="en-IN" b="0" dirty="0"/>
              </a:p>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4 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𝑦</m:t>
                      </m:r>
                      <m:r>
                        <a:rPr lang="en-IN" b="0" i="1" smtClean="0">
                          <a:latin typeface="Cambria Math" panose="02040503050406030204" pitchFamily="18" charset="0"/>
                        </a:rPr>
                        <m:t> −</m:t>
                      </m:r>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𝛼</m:t>
                      </m:r>
                      <m:r>
                        <a:rPr lang="en-IN" b="0" i="1" smtClean="0">
                          <a:latin typeface="Cambria Math" panose="02040503050406030204" pitchFamily="18" charset="0"/>
                        </a:rPr>
                        <m:t>=3</m:t>
                      </m:r>
                      <m:r>
                        <a:rPr lang="en-IN" b="0" i="1" smtClean="0">
                          <a:latin typeface="Cambria Math" panose="02040503050406030204" pitchFamily="18" charset="0"/>
                        </a:rPr>
                        <m:t>𝛽</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5 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3</m:t>
                          </m:r>
                        </m:e>
                      </m:d>
                    </m:oMath>
                  </m:oMathPara>
                </a14:m>
                <a:endParaRPr lang="en-IN" b="0" dirty="0"/>
              </a:p>
              <a:p>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𝛼</m:t>
                    </m:r>
                    <m:r>
                      <a:rPr lang="en-IN" b="0" i="1" smtClean="0">
                        <a:latin typeface="Cambria Math" panose="02040503050406030204" pitchFamily="18" charset="0"/>
                      </a:rPr>
                      <m:t>=3</m:t>
                    </m:r>
                    <m:r>
                      <a:rPr lang="en-IN" b="0" i="1" smtClean="0">
                        <a:latin typeface="Cambria Math" panose="02040503050406030204" pitchFamily="18" charset="0"/>
                      </a:rPr>
                      <m:t>𝛽</m:t>
                    </m:r>
                    <m:r>
                      <a:rPr lang="en-IN" b="0" i="1" smtClean="0">
                        <a:latin typeface="Cambria Math" panose="02040503050406030204" pitchFamily="18" charset="0"/>
                      </a:rPr>
                      <m:t>−1    →</m:t>
                    </m:r>
                  </m:oMath>
                </a14:m>
                <a:r>
                  <a:rPr lang="en-IN" dirty="0"/>
                  <a:t>   </a:t>
                </a:r>
                <a14:m>
                  <m:oMath xmlns:m="http://schemas.openxmlformats.org/officeDocument/2006/math">
                    <m:r>
                      <a:rPr lang="en-IN" b="0" i="1" dirty="0" smtClean="0">
                        <a:latin typeface="Cambria Math" panose="02040503050406030204" pitchFamily="18" charset="0"/>
                      </a:rPr>
                      <m:t>𝛼</m:t>
                    </m:r>
                    <m:r>
                      <a:rPr lang="en-IN" b="0" i="1" dirty="0" smtClean="0">
                        <a:latin typeface="Cambria Math" panose="02040503050406030204" pitchFamily="18" charset="0"/>
                      </a:rPr>
                      <m:t>=3</m:t>
                    </m:r>
                    <m:r>
                      <a:rPr lang="en-IN" b="0" i="1" dirty="0" smtClean="0">
                        <a:latin typeface="Cambria Math" panose="02040503050406030204" pitchFamily="18" charset="0"/>
                      </a:rPr>
                      <m:t>𝛽</m:t>
                    </m:r>
                    <m:r>
                      <a:rPr lang="en-IN" b="0" i="1" dirty="0" smtClean="0">
                        <a:latin typeface="Cambria Math" panose="02040503050406030204" pitchFamily="18" charset="0"/>
                      </a:rPr>
                      <m:t>−</m:t>
                    </m:r>
                    <m:r>
                      <a:rPr lang="en-IN" b="0" i="1" dirty="0" smtClean="0">
                        <a:latin typeface="Cambria Math" panose="02040503050406030204" pitchFamily="18" charset="0"/>
                      </a:rPr>
                      <m:t>𝑦</m:t>
                    </m:r>
                    <m:r>
                      <a:rPr lang="en-IN" b="0" i="1" dirty="0" smtClean="0">
                        <a:latin typeface="Cambria Math" panose="02040503050406030204" pitchFamily="18" charset="0"/>
                      </a:rPr>
                      <m:t>−1</m:t>
                    </m:r>
                  </m:oMath>
                </a14:m>
                <a:r>
                  <a:rPr lang="en-IN" dirty="0"/>
                  <a:t>       - (8)</a:t>
                </a:r>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037114"/>
                <a:ext cx="5431971" cy="3416320"/>
              </a:xfrm>
              <a:prstGeom prst="rect">
                <a:avLst/>
              </a:prstGeom>
              <a:blipFill>
                <a:blip r:embed="rId3"/>
                <a:stretch>
                  <a:fillRect l="-1010" t="-891" b="-17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1503F1A-C1A7-58F7-21C9-C272BCF910A3}"/>
                  </a:ext>
                </a:extLst>
              </p:cNvPr>
              <p:cNvSpPr txBox="1"/>
              <p:nvPr/>
            </p:nvSpPr>
            <p:spPr>
              <a:xfrm>
                <a:off x="6607623" y="2383971"/>
                <a:ext cx="5431971" cy="3807453"/>
              </a:xfrm>
              <a:prstGeom prst="rect">
                <a:avLst/>
              </a:prstGeom>
              <a:noFill/>
            </p:spPr>
            <p:txBody>
              <a:bodyPr wrap="square" rtlCol="0">
                <a:spAutoFit/>
              </a:bodyPr>
              <a:lstStyle/>
              <a:p>
                <a:r>
                  <a:rPr lang="en-IN" dirty="0"/>
                  <a:t>Substituting (8) in (5), (6), (7)</a:t>
                </a:r>
              </a:p>
              <a:p>
                <a14:m>
                  <m:oMath xmlns:m="http://schemas.openxmlformats.org/officeDocument/2006/math">
                    <m:r>
                      <a:rPr lang="en-IN" b="0" i="1" smtClean="0">
                        <a:latin typeface="Cambria Math" panose="02040503050406030204" pitchFamily="18" charset="0"/>
                      </a:rPr>
                      <m:t>17</m:t>
                    </m:r>
                    <m:r>
                      <a:rPr lang="en-IN" b="0" i="1" smtClean="0">
                        <a:latin typeface="Cambria Math" panose="02040503050406030204" pitchFamily="18" charset="0"/>
                      </a:rPr>
                      <m:t>𝑦</m:t>
                    </m:r>
                    <m:r>
                      <a:rPr lang="en-IN" b="0" i="1" smtClean="0">
                        <a:latin typeface="Cambria Math" panose="02040503050406030204" pitchFamily="18" charset="0"/>
                      </a:rPr>
                      <m:t>≤27</m:t>
                    </m:r>
                    <m:r>
                      <a:rPr lang="en-IN" b="0" i="1" smtClean="0">
                        <a:latin typeface="Cambria Math" panose="02040503050406030204" pitchFamily="18" charset="0"/>
                      </a:rPr>
                      <m:t>𝛽</m:t>
                    </m:r>
                    <m:r>
                      <a:rPr lang="en-IN" b="0" i="1" smtClean="0">
                        <a:latin typeface="Cambria Math" panose="02040503050406030204" pitchFamily="18" charset="0"/>
                      </a:rPr>
                      <m:t>−3</m:t>
                    </m:r>
                  </m:oMath>
                </a14:m>
                <a:r>
                  <a:rPr lang="en-IN" b="0" dirty="0"/>
                  <a:t>         - (9)</a:t>
                </a:r>
              </a:p>
              <a:p>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≥18</m:t>
                    </m:r>
                    <m:r>
                      <a:rPr lang="en-IN" b="0" i="1" smtClean="0">
                        <a:latin typeface="Cambria Math" panose="02040503050406030204" pitchFamily="18" charset="0"/>
                      </a:rPr>
                      <m:t>𝛽</m:t>
                    </m:r>
                    <m:r>
                      <a:rPr lang="en-IN" b="0" i="1" smtClean="0">
                        <a:latin typeface="Cambria Math" panose="02040503050406030204" pitchFamily="18" charset="0"/>
                      </a:rPr>
                      <m:t>−23</m:t>
                    </m:r>
                  </m:oMath>
                </a14:m>
                <a:r>
                  <a:rPr lang="en-IN" b="0" dirty="0"/>
                  <a:t>         - (10)</a:t>
                </a:r>
              </a:p>
              <a:p>
                <a14:m>
                  <m:oMath xmlns:m="http://schemas.openxmlformats.org/officeDocument/2006/math">
                    <m:r>
                      <a:rPr lang="en-IN" b="0" i="1" smtClean="0">
                        <a:latin typeface="Cambria Math" panose="02040503050406030204" pitchFamily="18" charset="0"/>
                      </a:rPr>
                      <m:t>2</m:t>
                    </m:r>
                    <m:r>
                      <a:rPr lang="en-IN" b="0" i="1" smtClean="0">
                        <a:latin typeface="Cambria Math" panose="02040503050406030204" pitchFamily="18" charset="0"/>
                      </a:rPr>
                      <m:t>𝑦</m:t>
                    </m:r>
                    <m:r>
                      <a:rPr lang="en-IN" b="0" i="1" smtClean="0">
                        <a:latin typeface="Cambria Math" panose="02040503050406030204" pitchFamily="18" charset="0"/>
                      </a:rPr>
                      <m:t>−2</m:t>
                    </m:r>
                    <m:r>
                      <a:rPr lang="en-IN" b="0" i="1" smtClean="0">
                        <a:latin typeface="Cambria Math" panose="02040503050406030204" pitchFamily="18" charset="0"/>
                      </a:rPr>
                      <m:t>𝛽</m:t>
                    </m:r>
                    <m:r>
                      <a:rPr lang="en-IN" b="0" i="1" smtClean="0">
                        <a:latin typeface="Cambria Math" panose="02040503050406030204" pitchFamily="18" charset="0"/>
                      </a:rPr>
                      <m:t>=1</m:t>
                    </m:r>
                  </m:oMath>
                </a14:m>
                <a:r>
                  <a:rPr lang="en-IN" dirty="0"/>
                  <a:t>              - (11)</a:t>
                </a:r>
              </a:p>
              <a:p>
                <a:r>
                  <a:rPr lang="en-IN" dirty="0"/>
                  <a:t>eliminating equalities</a:t>
                </a:r>
              </a:p>
              <a:p>
                <a:pPr/>
                <a14:m>
                  <m:oMathPara xmlns:m="http://schemas.openxmlformats.org/officeDocument/2006/math">
                    <m:oMathParaPr>
                      <m:jc m:val="left"/>
                    </m:oMathParaPr>
                    <m:oMath xmlns:m="http://schemas.openxmlformats.org/officeDocument/2006/math">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r>
                        <a:rPr lang="en-IN" b="0" i="1" smtClean="0">
                          <a:latin typeface="Cambria Math" panose="02040503050406030204" pitchFamily="18" charset="0"/>
                        </a:rPr>
                        <m:t>𝑦</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2 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 3</m:t>
                          </m:r>
                        </m:e>
                      </m:d>
                      <m:r>
                        <a:rPr lang="en-IN" b="0" i="1" smtClean="0">
                          <a:latin typeface="Cambria Math" panose="02040503050406030204" pitchFamily="18" charset="0"/>
                        </a:rPr>
                        <m:t>𝛽</m:t>
                      </m:r>
                      <m:r>
                        <a:rPr lang="en-IN" b="0" i="1" smtClean="0">
                          <a:latin typeface="Cambria Math" panose="02040503050406030204" pitchFamily="18" charset="0"/>
                        </a:rPr>
                        <m:t>=3</m:t>
                      </m:r>
                      <m:r>
                        <a:rPr lang="en-IN" b="0" i="1" smtClean="0">
                          <a:latin typeface="Cambria Math" panose="02040503050406030204" pitchFamily="18" charset="0"/>
                        </a:rPr>
                        <m:t>𝛾</m:t>
                      </m:r>
                      <m:r>
                        <a:rPr lang="en-IN" b="0" i="1" smtClean="0">
                          <a:latin typeface="Cambria Math" panose="02040503050406030204" pitchFamily="18" charset="0"/>
                        </a:rPr>
                        <m:t>+</m:t>
                      </m:r>
                      <m:d>
                        <m:dPr>
                          <m:ctrlPr>
                            <a:rPr lang="en-IN" b="0" i="1" smtClean="0">
                              <a:latin typeface="Cambria Math" panose="02040503050406030204" pitchFamily="18" charset="0"/>
                            </a:rPr>
                          </m:ctrlPr>
                        </m:dPr>
                        <m:e>
                          <m:r>
                            <a:rPr lang="en-IN" b="0" i="1" smtClean="0">
                              <a:latin typeface="Cambria Math" panose="02040503050406030204" pitchFamily="18" charset="0"/>
                            </a:rPr>
                            <m:t>1 </m:t>
                          </m:r>
                          <m:r>
                            <a:rPr lang="en-IN" b="0" i="1" smtClean="0">
                              <a:latin typeface="Cambria Math" panose="02040503050406030204" pitchFamily="18" charset="0"/>
                            </a:rPr>
                            <m:t>𝑚𝑜</m:t>
                          </m:r>
                          <m:sSup>
                            <m:sSupPr>
                              <m:ctrlPr>
                                <a:rPr lang="en-IN" b="0" i="1" smtClean="0">
                                  <a:latin typeface="Cambria Math" panose="02040503050406030204" pitchFamily="18" charset="0"/>
                                </a:rPr>
                              </m:ctrlPr>
                            </m:sSupPr>
                            <m:e>
                              <m:r>
                                <a:rPr lang="en-IN" b="0" i="1" smtClean="0">
                                  <a:latin typeface="Cambria Math" panose="02040503050406030204" pitchFamily="18" charset="0"/>
                                </a:rPr>
                                <m:t>𝑑</m:t>
                              </m:r>
                            </m:e>
                            <m:sup>
                              <m:r>
                                <a:rPr lang="en-IN" b="0" i="1" smtClean="0">
                                  <a:latin typeface="Cambria Math" panose="02040503050406030204" pitchFamily="18" charset="0"/>
                                </a:rPr>
                                <m:t>′</m:t>
                              </m:r>
                            </m:sup>
                          </m:sSup>
                          <m:r>
                            <a:rPr lang="en-IN" b="0" i="1" smtClean="0">
                              <a:latin typeface="Cambria Math" panose="02040503050406030204" pitchFamily="18" charset="0"/>
                            </a:rPr>
                            <m:t>3</m:t>
                          </m:r>
                        </m:e>
                      </m:d>
                    </m:oMath>
                  </m:oMathPara>
                </a14:m>
                <a:endParaRPr lang="en-IN" b="0" dirty="0"/>
              </a:p>
              <a:p>
                <a14:m>
                  <m:oMath xmlns:m="http://schemas.openxmlformats.org/officeDocument/2006/math">
                    <m:r>
                      <a:rPr lang="en-IN" b="0" i="1" smtClean="0">
                        <a:latin typeface="Cambria Math" panose="02040503050406030204" pitchFamily="18" charset="0"/>
                      </a:rPr>
                      <m:t>𝛽</m:t>
                    </m:r>
                    <m:r>
                      <a:rPr lang="en-IN" b="0" i="1" smtClean="0">
                        <a:latin typeface="Cambria Math" panose="02040503050406030204" pitchFamily="18" charset="0"/>
                      </a:rPr>
                      <m:t>=3</m:t>
                    </m:r>
                    <m:r>
                      <a:rPr lang="en-IN" b="0" i="1" smtClean="0">
                        <a:latin typeface="Cambria Math" panose="02040503050406030204" pitchFamily="18" charset="0"/>
                      </a:rPr>
                      <m:t>𝛾</m:t>
                    </m:r>
                    <m:r>
                      <a:rPr lang="en-IN" b="0" i="1" smtClean="0">
                        <a:latin typeface="Cambria Math" panose="02040503050406030204" pitchFamily="18" charset="0"/>
                      </a:rPr>
                      <m:t>+1+</m:t>
                    </m:r>
                    <m:r>
                      <a:rPr lang="en-IN" b="0" i="1" smtClean="0">
                        <a:latin typeface="Cambria Math" panose="02040503050406030204" pitchFamily="18" charset="0"/>
                      </a:rPr>
                      <m:t>𝑦</m:t>
                    </m:r>
                    <m:r>
                      <a:rPr lang="en-IN" b="0" i="1" smtClean="0">
                        <a:latin typeface="Cambria Math" panose="02040503050406030204" pitchFamily="18" charset="0"/>
                      </a:rPr>
                      <m:t>        </m:t>
                    </m:r>
                  </m:oMath>
                </a14:m>
                <a:r>
                  <a:rPr lang="en-IN" dirty="0"/>
                  <a:t> - (12)</a:t>
                </a:r>
              </a:p>
              <a:p>
                <a:r>
                  <a:rPr lang="en-IN" dirty="0"/>
                  <a:t>Substituting (12) in (9), (10), (11)</a:t>
                </a:r>
              </a:p>
              <a:p>
                <a14:m>
                  <m:oMath xmlns:m="http://schemas.openxmlformats.org/officeDocument/2006/math">
                    <m:r>
                      <a:rPr lang="en-IN" b="0" i="1" smtClean="0">
                        <a:latin typeface="Cambria Math" panose="02040503050406030204" pitchFamily="18" charset="0"/>
                      </a:rPr>
                      <m:t>10</m:t>
                    </m:r>
                    <m:r>
                      <a:rPr lang="en-IN" b="0" i="1" smtClean="0">
                        <a:latin typeface="Cambria Math" panose="02040503050406030204" pitchFamily="18" charset="0"/>
                      </a:rPr>
                      <m:t>𝑦</m:t>
                    </m:r>
                    <m:r>
                      <a:rPr lang="en-IN" b="0" i="1" smtClean="0">
                        <a:latin typeface="Cambria Math" panose="02040503050406030204" pitchFamily="18" charset="0"/>
                      </a:rPr>
                      <m:t>≥−81</m:t>
                    </m:r>
                    <m:r>
                      <a:rPr lang="en-IN" b="0" i="1" smtClean="0">
                        <a:latin typeface="Cambria Math" panose="02040503050406030204" pitchFamily="18" charset="0"/>
                      </a:rPr>
                      <m:t>𝛾</m:t>
                    </m:r>
                    <m:r>
                      <a:rPr lang="en-IN" b="0" i="1" smtClean="0">
                        <a:latin typeface="Cambria Math" panose="02040503050406030204" pitchFamily="18" charset="0"/>
                      </a:rPr>
                      <m:t>−24</m:t>
                    </m:r>
                  </m:oMath>
                </a14:m>
                <a:r>
                  <a:rPr lang="en-IN" dirty="0"/>
                  <a:t>          - (13)</a:t>
                </a:r>
              </a:p>
              <a:p>
                <a14:m>
                  <m:oMath xmlns:m="http://schemas.openxmlformats.org/officeDocument/2006/math">
                    <m:r>
                      <a:rPr lang="en-IN" b="0" i="1" smtClean="0">
                        <a:latin typeface="Cambria Math" panose="02040503050406030204" pitchFamily="18" charset="0"/>
                      </a:rPr>
                      <m:t>16</m:t>
                    </m:r>
                    <m:r>
                      <a:rPr lang="en-IN" b="0" i="1" smtClean="0">
                        <a:latin typeface="Cambria Math" panose="02040503050406030204" pitchFamily="18" charset="0"/>
                      </a:rPr>
                      <m:t>𝑦</m:t>
                    </m:r>
                    <m:r>
                      <a:rPr lang="en-IN" b="0" i="1" smtClean="0">
                        <a:latin typeface="Cambria Math" panose="02040503050406030204" pitchFamily="18" charset="0"/>
                      </a:rPr>
                      <m:t>≤−54</m:t>
                    </m:r>
                    <m:r>
                      <a:rPr lang="en-IN" b="0" i="1" smtClean="0">
                        <a:latin typeface="Cambria Math" panose="02040503050406030204" pitchFamily="18" charset="0"/>
                      </a:rPr>
                      <m:t>𝛾</m:t>
                    </m:r>
                    <m:r>
                      <a:rPr lang="en-IN" b="0" i="1" smtClean="0">
                        <a:latin typeface="Cambria Math" panose="02040503050406030204" pitchFamily="18" charset="0"/>
                      </a:rPr>
                      <m:t>+5</m:t>
                    </m:r>
                  </m:oMath>
                </a14:m>
                <a:r>
                  <a:rPr lang="en-IN" dirty="0"/>
                  <a:t>            - (14)</a:t>
                </a:r>
              </a:p>
              <a:p>
                <a14:m>
                  <m:oMath xmlns:m="http://schemas.openxmlformats.org/officeDocument/2006/math">
                    <m:r>
                      <a:rPr lang="en-IN" b="0" i="1" smtClean="0">
                        <a:latin typeface="Cambria Math" panose="02040503050406030204" pitchFamily="18" charset="0"/>
                      </a:rPr>
                      <m:t>𝛾</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2</m:t>
                        </m:r>
                      </m:den>
                    </m:f>
                  </m:oMath>
                </a14:m>
                <a:r>
                  <a:rPr lang="en-IN" dirty="0"/>
                  <a:t>                             - (15)</a:t>
                </a:r>
              </a:p>
              <a:p>
                <a:r>
                  <a:rPr lang="en-IN" dirty="0"/>
                  <a:t>Because </a:t>
                </a:r>
                <a14:m>
                  <m:oMath xmlns:m="http://schemas.openxmlformats.org/officeDocument/2006/math">
                    <m:r>
                      <a:rPr lang="en-IN" b="0" i="1" smtClean="0">
                        <a:latin typeface="Cambria Math" panose="02040503050406030204" pitchFamily="18" charset="0"/>
                      </a:rPr>
                      <m:t>𝛾</m:t>
                    </m:r>
                  </m:oMath>
                </a14:m>
                <a:r>
                  <a:rPr lang="en-IN" dirty="0"/>
                  <a:t> is not an integer, the equations 1, 2, 3 have no solution.</a:t>
                </a:r>
              </a:p>
            </p:txBody>
          </p:sp>
        </mc:Choice>
        <mc:Fallback xmlns="">
          <p:sp>
            <p:nvSpPr>
              <p:cNvPr id="5" name="TextBox 4">
                <a:extLst>
                  <a:ext uri="{FF2B5EF4-FFF2-40B4-BE49-F238E27FC236}">
                    <a16:creationId xmlns:a16="http://schemas.microsoft.com/office/drawing/2014/main" id="{41503F1A-C1A7-58F7-21C9-C272BCF910A3}"/>
                  </a:ext>
                </a:extLst>
              </p:cNvPr>
              <p:cNvSpPr txBox="1">
                <a:spLocks noRot="1" noChangeAspect="1" noMove="1" noResize="1" noEditPoints="1" noAdjustHandles="1" noChangeArrowheads="1" noChangeShapeType="1" noTextEdit="1"/>
              </p:cNvSpPr>
              <p:nvPr/>
            </p:nvSpPr>
            <p:spPr>
              <a:xfrm>
                <a:off x="6607623" y="2383971"/>
                <a:ext cx="5431971" cy="3807453"/>
              </a:xfrm>
              <a:prstGeom prst="rect">
                <a:avLst/>
              </a:prstGeom>
              <a:blipFill>
                <a:blip r:embed="rId4"/>
                <a:stretch>
                  <a:fillRect l="-1010" t="-800" b="-1600"/>
                </a:stretch>
              </a:blipFill>
            </p:spPr>
            <p:txBody>
              <a:bodyPr/>
              <a:lstStyle/>
              <a:p>
                <a:r>
                  <a:rPr lang="en-IN">
                    <a:noFill/>
                  </a:rPr>
                  <a:t> </a:t>
                </a:r>
              </a:p>
            </p:txBody>
          </p:sp>
        </mc:Fallback>
      </mc:AlternateContent>
    </p:spTree>
    <p:extLst>
      <p:ext uri="{BB962C8B-B14F-4D97-AF65-F5344CB8AC3E}">
        <p14:creationId xmlns:p14="http://schemas.microsoft.com/office/powerpoint/2010/main" val="20797089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0017-E46C-644F-1DF9-3E1911D6F476}"/>
              </a:ext>
            </a:extLst>
          </p:cNvPr>
          <p:cNvSpPr>
            <a:spLocks noGrp="1"/>
          </p:cNvSpPr>
          <p:nvPr>
            <p:ph type="title"/>
          </p:nvPr>
        </p:nvSpPr>
        <p:spPr/>
        <p:txBody>
          <a:bodyPr/>
          <a:lstStyle/>
          <a:p>
            <a:r>
              <a:rPr lang="en-IN" dirty="0"/>
              <a:t>Omega test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E9FE99-5DAC-8E77-0340-98CB20712B06}"/>
                  </a:ext>
                </a:extLst>
              </p:cNvPr>
              <p:cNvSpPr>
                <a:spLocks noGrp="1"/>
              </p:cNvSpPr>
              <p:nvPr>
                <p:ph idx="1"/>
              </p:nvPr>
            </p:nvSpPr>
            <p:spPr/>
            <p:txBody>
              <a:bodyPr>
                <a:normAutofit/>
              </a:bodyPr>
              <a:lstStyle/>
              <a:p>
                <a:pPr marL="0" indent="0">
                  <a:buNone/>
                </a:pPr>
                <a14:m>
                  <m:oMath xmlns:m="http://schemas.openxmlformats.org/officeDocument/2006/math">
                    <m:r>
                      <m:rPr>
                        <m:nor/>
                      </m:rPr>
                      <a:rPr lang="en-IN" dirty="0" smtClean="0"/>
                      <m:t>8</m:t>
                    </m:r>
                    <m:r>
                      <m:rPr>
                        <m:nor/>
                      </m:rPr>
                      <a:rPr lang="en-IN" dirty="0" smtClean="0"/>
                      <m:t>y</m:t>
                    </m:r>
                    <m:r>
                      <m:rPr>
                        <m:nor/>
                      </m:rPr>
                      <a:rPr lang="en-IN" dirty="0" smtClean="0"/>
                      <m:t> </m:t>
                    </m:r>
                    <m:r>
                      <a:rPr lang="en-IN" i="1" dirty="0">
                        <a:latin typeface="Cambria Math" panose="02040503050406030204" pitchFamily="18" charset="0"/>
                      </a:rPr>
                      <m:t>≤</m:t>
                    </m:r>
                    <m:r>
                      <m:rPr>
                        <m:nor/>
                      </m:rPr>
                      <a:rPr lang="en-IN" dirty="0"/>
                      <m:t> 3</m:t>
                    </m:r>
                    <m:r>
                      <m:rPr>
                        <m:nor/>
                      </m:rPr>
                      <a:rPr lang="en-IN" dirty="0"/>
                      <m:t>x</m:t>
                    </m:r>
                    <m:r>
                      <m:rPr>
                        <m:nor/>
                      </m:rPr>
                      <a:rPr lang="en-IN" dirty="0"/>
                      <m:t> </m:t>
                    </m:r>
                    <m:r>
                      <a:rPr lang="en-IN" i="1" dirty="0">
                        <a:latin typeface="Cambria Math" panose="02040503050406030204" pitchFamily="18" charset="0"/>
                      </a:rPr>
                      <m:t>+</m:t>
                    </m:r>
                    <m:r>
                      <m:rPr>
                        <m:nor/>
                      </m:rPr>
                      <a:rPr lang="en-IN" dirty="0"/>
                      <m:t> 9          </m:t>
                    </m:r>
                  </m:oMath>
                </a14:m>
                <a:r>
                  <a:rPr lang="en-IN" dirty="0"/>
                  <a:t>      </a:t>
                </a:r>
                <a14:m>
                  <m:oMath xmlns:m="http://schemas.openxmlformats.org/officeDocument/2006/math">
                    <m:r>
                      <a:rPr lang="en-IN" i="1" dirty="0">
                        <a:latin typeface="Cambria Math" panose="02040503050406030204" pitchFamily="18" charset="0"/>
                      </a:rPr>
                      <m:t>−(</m:t>
                    </m:r>
                    <m:r>
                      <a:rPr lang="en-IN" b="0" i="1" dirty="0" smtClean="0">
                        <a:latin typeface="Cambria Math" panose="02040503050406030204" pitchFamily="18" charset="0"/>
                      </a:rPr>
                      <m:t>1</m:t>
                    </m:r>
                    <m:r>
                      <a:rPr lang="en-IN" i="1" dirty="0">
                        <a:latin typeface="Cambria Math" panose="02040503050406030204" pitchFamily="18" charset="0"/>
                      </a:rPr>
                      <m:t>)</m:t>
                    </m:r>
                  </m:oMath>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4</m:t>
                      </m:r>
                      <m:r>
                        <a:rPr lang="en-IN" i="1" dirty="0">
                          <a:latin typeface="Cambria Math" panose="02040503050406030204" pitchFamily="18" charset="0"/>
                        </a:rPr>
                        <m:t>𝑦</m:t>
                      </m:r>
                      <m:r>
                        <a:rPr lang="en-IN" i="1" dirty="0">
                          <a:latin typeface="Cambria Math" panose="02040503050406030204" pitchFamily="18" charset="0"/>
                        </a:rPr>
                        <m:t>≤ 15 –2</m:t>
                      </m:r>
                      <m:r>
                        <a:rPr lang="en-IN" i="1" dirty="0">
                          <a:latin typeface="Cambria Math" panose="02040503050406030204" pitchFamily="18" charset="0"/>
                        </a:rPr>
                        <m:t>𝑥</m:t>
                      </m:r>
                      <m:r>
                        <a:rPr lang="en-IN" i="1" dirty="0">
                          <a:latin typeface="Cambria Math" panose="02040503050406030204" pitchFamily="18" charset="0"/>
                        </a:rPr>
                        <m:t>                −(2)</m:t>
                      </m:r>
                    </m:oMath>
                  </m:oMathPara>
                </a14:m>
                <a:endParaRPr lang="en-IN" dirty="0"/>
              </a:p>
              <a:p>
                <a:pPr marL="0" indent="0">
                  <a:buNone/>
                </a:pPr>
                <a14:m>
                  <m:oMathPara xmlns:m="http://schemas.openxmlformats.org/officeDocument/2006/math">
                    <m:oMathParaPr>
                      <m:jc m:val="left"/>
                    </m:oMathParaPr>
                    <m:oMath xmlns:m="http://schemas.openxmlformats.org/officeDocument/2006/math">
                      <m:r>
                        <a:rPr lang="en-IN" i="1" dirty="0">
                          <a:latin typeface="Cambria Math" panose="02040503050406030204" pitchFamily="18" charset="0"/>
                        </a:rPr>
                        <m:t>12</m:t>
                      </m:r>
                      <m:r>
                        <a:rPr lang="en-IN" i="1" dirty="0">
                          <a:latin typeface="Cambria Math" panose="02040503050406030204" pitchFamily="18" charset="0"/>
                        </a:rPr>
                        <m:t>𝑦</m:t>
                      </m:r>
                      <m:r>
                        <a:rPr lang="en-IN" b="0" i="1" dirty="0" smtClean="0">
                          <a:latin typeface="Cambria Math" panose="02040503050406030204" pitchFamily="18" charset="0"/>
                        </a:rPr>
                        <m:t>=2</m:t>
                      </m:r>
                      <m:r>
                        <a:rPr lang="en-IN" i="1" dirty="0">
                          <a:latin typeface="Cambria Math" panose="02040503050406030204" pitchFamily="18" charset="0"/>
                        </a:rPr>
                        <m:t>𝑥</m:t>
                      </m:r>
                      <m:r>
                        <a:rPr lang="en-IN" i="1" dirty="0">
                          <a:latin typeface="Cambria Math" panose="02040503050406030204" pitchFamily="18" charset="0"/>
                        </a:rPr>
                        <m:t> +18              −</m:t>
                      </m:r>
                      <m:d>
                        <m:dPr>
                          <m:ctrlPr>
                            <a:rPr lang="en-IN" i="1" dirty="0">
                              <a:latin typeface="Cambria Math" panose="02040503050406030204" pitchFamily="18" charset="0"/>
                            </a:rPr>
                          </m:ctrlPr>
                        </m:dPr>
                        <m:e>
                          <m:r>
                            <a:rPr lang="en-IN" b="0" i="1" dirty="0" smtClean="0">
                              <a:latin typeface="Cambria Math" panose="02040503050406030204" pitchFamily="18" charset="0"/>
                            </a:rPr>
                            <m:t>3</m:t>
                          </m:r>
                        </m:e>
                      </m:d>
                    </m:oMath>
                  </m:oMathPara>
                </a14:m>
                <a:endParaRPr lang="en-IN" dirty="0"/>
              </a:p>
              <a:p>
                <a:pPr marL="0" indent="0">
                  <a:buNone/>
                </a:pPr>
                <a:endParaRPr lang="en-IN" dirty="0"/>
              </a:p>
              <a:p>
                <a:pPr marL="0" indent="0">
                  <a:buNone/>
                </a:pPr>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D9E9FE99-5DAC-8E77-0340-98CB20712B06}"/>
                  </a:ext>
                </a:extLst>
              </p:cNvPr>
              <p:cNvSpPr>
                <a:spLocks noGrp="1" noRot="1" noChangeAspect="1" noMove="1" noResize="1" noEditPoints="1" noAdjustHandles="1" noChangeArrowheads="1" noChangeShapeType="1" noTextEdit="1"/>
              </p:cNvSpPr>
              <p:nvPr>
                <p:ph idx="1"/>
              </p:nvPr>
            </p:nvSpPr>
            <p:spPr>
              <a:blipFill>
                <a:blip r:embed="rId2"/>
                <a:stretch>
                  <a:fillRect l="-63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40EACEE-C763-00F4-29EB-21374F81D163}"/>
                  </a:ext>
                </a:extLst>
              </p:cNvPr>
              <p:cNvSpPr txBox="1"/>
              <p:nvPr/>
            </p:nvSpPr>
            <p:spPr>
              <a:xfrm>
                <a:off x="838200" y="3037114"/>
                <a:ext cx="5431971" cy="3626121"/>
              </a:xfrm>
              <a:prstGeom prst="rect">
                <a:avLst/>
              </a:prstGeom>
              <a:noFill/>
            </p:spPr>
            <p:txBody>
              <a:bodyPr wrap="square" rtlCol="0">
                <a:spAutoFit/>
              </a:bodyPr>
              <a:lstStyle/>
              <a:p>
                <a:r>
                  <a:rPr lang="en-IN" dirty="0"/>
                  <a:t>Simplify (3)</a:t>
                </a:r>
              </a:p>
              <a:p>
                <a14:m>
                  <m:oMath xmlns:m="http://schemas.openxmlformats.org/officeDocument/2006/math">
                    <m:r>
                      <a:rPr lang="en-IN" b="0" i="1" smtClean="0">
                        <a:latin typeface="Cambria Math" panose="02040503050406030204" pitchFamily="18" charset="0"/>
                      </a:rPr>
                      <m:t>6</m:t>
                    </m:r>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+9</m:t>
                    </m:r>
                  </m:oMath>
                </a14:m>
                <a:r>
                  <a:rPr lang="en-IN" b="0" dirty="0"/>
                  <a:t>       - (4)</a:t>
                </a:r>
              </a:p>
              <a:p>
                <a:r>
                  <a:rPr lang="en-IN" dirty="0"/>
                  <a:t>(4) has an integer solution. Eliminate x</a:t>
                </a:r>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8</m:t>
                      </m:r>
                      <m:r>
                        <a:rPr lang="en-IN" b="0" i="1" smtClean="0">
                          <a:latin typeface="Cambria Math" panose="02040503050406030204" pitchFamily="18" charset="0"/>
                        </a:rPr>
                        <m:t>𝑦</m:t>
                      </m:r>
                      <m:r>
                        <a:rPr lang="en-IN" b="0" i="1" smtClean="0">
                          <a:latin typeface="Cambria Math" panose="02040503050406030204" pitchFamily="18" charset="0"/>
                        </a:rPr>
                        <m:t>≤3</m:t>
                      </m:r>
                      <m:d>
                        <m:dPr>
                          <m:ctrlPr>
                            <a:rPr lang="en-IN" b="0" i="1" smtClean="0">
                              <a:latin typeface="Cambria Math" panose="02040503050406030204" pitchFamily="18" charset="0"/>
                            </a:rPr>
                          </m:ctrlPr>
                        </m:dPr>
                        <m:e>
                          <m:r>
                            <a:rPr lang="en-IN" b="0" i="1" smtClean="0">
                              <a:latin typeface="Cambria Math" panose="02040503050406030204" pitchFamily="18" charset="0"/>
                            </a:rPr>
                            <m:t>6</m:t>
                          </m:r>
                          <m:r>
                            <a:rPr lang="en-IN" b="0" i="1" smtClean="0">
                              <a:latin typeface="Cambria Math" panose="02040503050406030204" pitchFamily="18" charset="0"/>
                            </a:rPr>
                            <m:t>𝑦</m:t>
                          </m:r>
                          <m:r>
                            <a:rPr lang="en-IN" b="0" i="1" smtClean="0">
                              <a:latin typeface="Cambria Math" panose="02040503050406030204" pitchFamily="18" charset="0"/>
                            </a:rPr>
                            <m:t>−9</m:t>
                          </m:r>
                        </m:e>
                      </m:d>
                      <m:r>
                        <a:rPr lang="en-IN" b="0" i="1" smtClean="0">
                          <a:latin typeface="Cambria Math" panose="02040503050406030204" pitchFamily="18" charset="0"/>
                        </a:rPr>
                        <m:t>+9    →  </m:t>
                      </m:r>
                      <m:r>
                        <a:rPr lang="en-IN" b="0" i="1" smtClean="0">
                          <a:latin typeface="Cambria Math" panose="02040503050406030204" pitchFamily="18" charset="0"/>
                        </a:rPr>
                        <m:t>𝑦</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18</m:t>
                          </m:r>
                        </m:num>
                        <m:den>
                          <m:r>
                            <a:rPr lang="en-IN" b="0" i="1" smtClean="0">
                              <a:latin typeface="Cambria Math" panose="02040503050406030204" pitchFamily="18" charset="0"/>
                            </a:rPr>
                            <m:t>10</m:t>
                          </m:r>
                        </m:den>
                      </m:f>
                    </m:oMath>
                  </m:oMathPara>
                </a14:m>
                <a:endParaRPr lang="en-IN" b="0" dirty="0"/>
              </a:p>
              <a:p>
                <a:endParaRPr lang="en-IN" dirty="0"/>
              </a:p>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4</m:t>
                      </m:r>
                      <m:r>
                        <a:rPr lang="en-IN" b="0" i="1" smtClean="0">
                          <a:latin typeface="Cambria Math" panose="02040503050406030204" pitchFamily="18" charset="0"/>
                        </a:rPr>
                        <m:t>𝑦</m:t>
                      </m:r>
                      <m:r>
                        <a:rPr lang="en-IN" b="0" i="1" smtClean="0">
                          <a:latin typeface="Cambria Math" panose="02040503050406030204" pitchFamily="18" charset="0"/>
                        </a:rPr>
                        <m:t>≤15 −2</m:t>
                      </m:r>
                      <m:d>
                        <m:dPr>
                          <m:ctrlPr>
                            <a:rPr lang="en-IN" b="0" i="1" smtClean="0">
                              <a:latin typeface="Cambria Math" panose="02040503050406030204" pitchFamily="18" charset="0"/>
                            </a:rPr>
                          </m:ctrlPr>
                        </m:dPr>
                        <m:e>
                          <m:r>
                            <a:rPr lang="en-IN" b="0" i="1" smtClean="0">
                              <a:latin typeface="Cambria Math" panose="02040503050406030204" pitchFamily="18" charset="0"/>
                            </a:rPr>
                            <m:t>6</m:t>
                          </m:r>
                          <m:r>
                            <a:rPr lang="en-IN" b="0" i="1" smtClean="0">
                              <a:latin typeface="Cambria Math" panose="02040503050406030204" pitchFamily="18" charset="0"/>
                            </a:rPr>
                            <m:t>𝑦</m:t>
                          </m:r>
                          <m:r>
                            <a:rPr lang="en-IN" b="0" i="1" smtClean="0">
                              <a:latin typeface="Cambria Math" panose="02040503050406030204" pitchFamily="18" charset="0"/>
                            </a:rPr>
                            <m:t>−9</m:t>
                          </m:r>
                        </m:e>
                      </m:d>
                      <m:r>
                        <a:rPr lang="en-IN" b="0" i="1" smtClean="0">
                          <a:latin typeface="Cambria Math" panose="02040503050406030204" pitchFamily="18" charset="0"/>
                        </a:rPr>
                        <m:t>  →   </m:t>
                      </m:r>
                      <m:r>
                        <a:rPr lang="en-IN" b="0" i="1" smtClean="0">
                          <a:latin typeface="Cambria Math" panose="02040503050406030204" pitchFamily="18" charset="0"/>
                        </a:rPr>
                        <m:t>𝑦</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33</m:t>
                          </m:r>
                        </m:num>
                        <m:den>
                          <m:r>
                            <a:rPr lang="en-IN" b="0" i="1" smtClean="0">
                              <a:latin typeface="Cambria Math" panose="02040503050406030204" pitchFamily="18" charset="0"/>
                            </a:rPr>
                            <m:t>16</m:t>
                          </m:r>
                        </m:den>
                      </m:f>
                    </m:oMath>
                  </m:oMathPara>
                </a14:m>
                <a:endParaRPr lang="en-IN" b="0" dirty="0"/>
              </a:p>
              <a:p>
                <a:endParaRPr lang="en-IN" dirty="0"/>
              </a:p>
              <a:p>
                <a:r>
                  <a:rPr lang="en-IN" dirty="0"/>
                  <a:t>Therefore, </a:t>
                </a:r>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dirty="0"/>
                  <a:t> is an integer solution.</a:t>
                </a:r>
              </a:p>
              <a:p>
                <a:r>
                  <a:rPr lang="en-IN" dirty="0"/>
                  <a:t>We can find the corresponding </a:t>
                </a:r>
                <a14:m>
                  <m:oMath xmlns:m="http://schemas.openxmlformats.org/officeDocument/2006/math">
                    <m:r>
                      <a:rPr lang="en-IN" b="0" i="1" smtClean="0">
                        <a:latin typeface="Cambria Math" panose="02040503050406030204" pitchFamily="18" charset="0"/>
                      </a:rPr>
                      <m:t>𝑥</m:t>
                    </m:r>
                  </m:oMath>
                </a14:m>
                <a:r>
                  <a:rPr lang="en-IN" dirty="0"/>
                  <a:t> by substituting </a:t>
                </a:r>
                <a14:m>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=2</m:t>
                    </m:r>
                  </m:oMath>
                </a14:m>
                <a:r>
                  <a:rPr lang="en-IN" dirty="0"/>
                  <a:t> in equation 4, i.e.,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=3.</m:t>
                    </m:r>
                  </m:oMath>
                </a14:m>
                <a:endParaRPr lang="en-IN" dirty="0"/>
              </a:p>
              <a:p>
                <a:endParaRPr lang="en-IN" dirty="0"/>
              </a:p>
            </p:txBody>
          </p:sp>
        </mc:Choice>
        <mc:Fallback xmlns="">
          <p:sp>
            <p:nvSpPr>
              <p:cNvPr id="4" name="TextBox 3">
                <a:extLst>
                  <a:ext uri="{FF2B5EF4-FFF2-40B4-BE49-F238E27FC236}">
                    <a16:creationId xmlns:a16="http://schemas.microsoft.com/office/drawing/2014/main" id="{140EACEE-C763-00F4-29EB-21374F81D163}"/>
                  </a:ext>
                </a:extLst>
              </p:cNvPr>
              <p:cNvSpPr txBox="1">
                <a:spLocks noRot="1" noChangeAspect="1" noMove="1" noResize="1" noEditPoints="1" noAdjustHandles="1" noChangeArrowheads="1" noChangeShapeType="1" noTextEdit="1"/>
              </p:cNvSpPr>
              <p:nvPr/>
            </p:nvSpPr>
            <p:spPr>
              <a:xfrm>
                <a:off x="838200" y="3037114"/>
                <a:ext cx="5431971" cy="3626121"/>
              </a:xfrm>
              <a:prstGeom prst="rect">
                <a:avLst/>
              </a:prstGeom>
              <a:blipFill>
                <a:blip r:embed="rId3"/>
                <a:stretch>
                  <a:fillRect l="-1010" t="-840"/>
                </a:stretch>
              </a:blipFill>
            </p:spPr>
            <p:txBody>
              <a:bodyPr/>
              <a:lstStyle/>
              <a:p>
                <a:r>
                  <a:rPr lang="en-IN">
                    <a:noFill/>
                  </a:rPr>
                  <a:t> </a:t>
                </a:r>
              </a:p>
            </p:txBody>
          </p:sp>
        </mc:Fallback>
      </mc:AlternateContent>
    </p:spTree>
    <p:extLst>
      <p:ext uri="{BB962C8B-B14F-4D97-AF65-F5344CB8AC3E}">
        <p14:creationId xmlns:p14="http://schemas.microsoft.com/office/powerpoint/2010/main" val="27897449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235BD-FD54-9018-59BB-6083A5BEE6D3}"/>
              </a:ext>
            </a:extLst>
          </p:cNvPr>
          <p:cNvSpPr>
            <a:spLocks noGrp="1"/>
          </p:cNvSpPr>
          <p:nvPr>
            <p:ph type="title"/>
          </p:nvPr>
        </p:nvSpPr>
        <p:spPr/>
        <p:txBody>
          <a:bodyPr/>
          <a:lstStyle/>
          <a:p>
            <a:r>
              <a:rPr lang="en-IN" dirty="0"/>
              <a:t>Example</a:t>
            </a:r>
          </a:p>
        </p:txBody>
      </p:sp>
      <p:graphicFrame>
        <p:nvGraphicFramePr>
          <p:cNvPr id="6" name="Content Placeholder 5">
            <a:extLst>
              <a:ext uri="{FF2B5EF4-FFF2-40B4-BE49-F238E27FC236}">
                <a16:creationId xmlns:a16="http://schemas.microsoft.com/office/drawing/2014/main" id="{528DE0FD-89E6-6451-9462-570FA072F5A3}"/>
              </a:ext>
            </a:extLst>
          </p:cNvPr>
          <p:cNvGraphicFramePr>
            <a:graphicFrameLocks noGrp="1"/>
          </p:cNvGraphicFramePr>
          <p:nvPr>
            <p:ph idx="1"/>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96110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4266</TotalTime>
  <Words>5080</Words>
  <Application>Microsoft Office PowerPoint</Application>
  <PresentationFormat>Widescreen</PresentationFormat>
  <Paragraphs>656</Paragraphs>
  <Slides>78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Arial</vt:lpstr>
      <vt:lpstr>Calibri</vt:lpstr>
      <vt:lpstr>Calibri Light</vt:lpstr>
      <vt:lpstr>Cambria Math</vt:lpstr>
      <vt:lpstr>Office Theme</vt:lpstr>
      <vt:lpstr>PowerPoint Presentation</vt:lpstr>
      <vt:lpstr>References</vt:lpstr>
      <vt:lpstr>The Omega Test</vt:lpstr>
      <vt:lpstr>The Omega Test</vt:lpstr>
      <vt:lpstr>The Omega Test</vt:lpstr>
      <vt:lpstr>Simplification</vt:lpstr>
      <vt:lpstr>Example</vt:lpstr>
      <vt:lpstr>Simplification</vt:lpstr>
      <vt:lpstr>Example</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Equalities</vt:lpstr>
      <vt:lpstr>Omega Test</vt:lpstr>
      <vt:lpstr>Real shadow</vt:lpstr>
      <vt:lpstr>Dark shadow</vt:lpstr>
      <vt:lpstr>Gray shadow</vt:lpstr>
      <vt:lpstr>Gray shadow</vt:lpstr>
      <vt:lpstr>Real_Shadow</vt:lpstr>
      <vt:lpstr>Dark Shadow</vt:lpstr>
      <vt:lpstr>Dark Shadow</vt:lpstr>
      <vt:lpstr>Dark Shadow</vt:lpstr>
      <vt:lpstr>Dark Shadow</vt:lpstr>
      <vt:lpstr>Dark Shadow</vt:lpstr>
      <vt:lpstr>Dark Shadow</vt:lpstr>
      <vt:lpstr>Gray Shadow</vt:lpstr>
      <vt:lpstr>Gray Shadow</vt:lpstr>
      <vt:lpstr>Gray Shadow</vt:lpstr>
      <vt:lpstr>Gray Shadow</vt:lpstr>
      <vt:lpstr>Example</vt:lpstr>
      <vt:lpstr>Omega test</vt:lpstr>
      <vt:lpstr>Omega test</vt:lpstr>
      <vt:lpstr>Omega test</vt:lpstr>
      <vt:lpstr>Omega test</vt:lpstr>
      <vt:lpstr>Omega test</vt:lpstr>
      <vt:lpstr>Example</vt:lpstr>
      <vt:lpstr>Omega test</vt:lpstr>
      <vt:lpstr>Omega test</vt:lpstr>
      <vt:lpstr>Omega test</vt:lpstr>
      <vt:lpstr>Omega test</vt:lpstr>
      <vt:lpstr>Omega test</vt:lpstr>
      <vt:lpstr>Omega test</vt:lpstr>
      <vt:lpstr>Omega test</vt:lpstr>
      <vt:lpstr>Omega test</vt:lpstr>
      <vt:lpstr>Omega test</vt:lpstr>
      <vt:lpstr>Omega test</vt:lpstr>
      <vt:lpstr>Omega test</vt:lpstr>
      <vt:lpstr>Omega test</vt:lpstr>
      <vt:lpstr>Omega test</vt:lpstr>
      <vt:lpstr>Omega test</vt:lpstr>
      <vt:lpstr>Example</vt:lpstr>
      <vt:lpstr>Omega test</vt:lpstr>
      <vt:lpstr>Omega test</vt:lpstr>
      <vt:lpstr>Omega test</vt:lpstr>
      <vt:lpstr>Omega test</vt:lpstr>
      <vt:lpstr>Omega test</vt:lpstr>
      <vt:lpstr>Omega test</vt:lpstr>
      <vt:lpstr>Omega test</vt:lpstr>
      <vt:lpstr>Omega test</vt:lpstr>
      <vt:lpstr>Omega test</vt:lpstr>
      <vt:lpstr>Omega test</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Keshav Bhalotia</dc:creator>
  <cp:lastModifiedBy>Piyus Kedia</cp:lastModifiedBy>
  <cp:revision>72</cp:revision>
  <dcterms:created xsi:type="dcterms:W3CDTF">2023-08-23T06:42:54Z</dcterms:created>
  <dcterms:modified xsi:type="dcterms:W3CDTF">2024-10-15T16:22:42Z</dcterms:modified>
</cp:coreProperties>
</file>